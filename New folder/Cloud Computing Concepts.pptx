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62"/>
  </p:notesMasterIdLst>
  <p:sldIdLst>
    <p:sldId id="319"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Lst>
  <p:sldSz cx="9906000" cy="6858000" type="A4"/>
  <p:notesSz cx="9906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02" autoAdjust="0"/>
  </p:normalViewPr>
  <p:slideViewPr>
    <p:cSldViewPr>
      <p:cViewPr varScale="1">
        <p:scale>
          <a:sx n="61" d="100"/>
          <a:sy n="61" d="100"/>
        </p:scale>
        <p:origin x="129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926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11813" y="0"/>
            <a:ext cx="4292600" cy="344488"/>
          </a:xfrm>
          <a:prstGeom prst="rect">
            <a:avLst/>
          </a:prstGeom>
        </p:spPr>
        <p:txBody>
          <a:bodyPr vert="horz" lIns="91440" tIns="45720" rIns="91440" bIns="45720" rtlCol="0"/>
          <a:lstStyle>
            <a:lvl1pPr algn="r">
              <a:defRPr sz="1200"/>
            </a:lvl1pPr>
          </a:lstStyle>
          <a:p>
            <a:fld id="{C59319E4-0F87-4191-81F3-1387AF766310}" type="datetimeFigureOut">
              <a:rPr lang="en-GB" smtClean="0"/>
              <a:t>22/09/2026</a:t>
            </a:fld>
            <a:endParaRPr lang="en-GB"/>
          </a:p>
        </p:txBody>
      </p:sp>
      <p:sp>
        <p:nvSpPr>
          <p:cNvPr id="4" name="Slide Image Placeholder 3"/>
          <p:cNvSpPr>
            <a:spLocks noGrp="1" noRot="1" noChangeAspect="1"/>
          </p:cNvSpPr>
          <p:nvPr>
            <p:ph type="sldImg" idx="2"/>
          </p:nvPr>
        </p:nvSpPr>
        <p:spPr>
          <a:xfrm>
            <a:off x="3281363" y="857250"/>
            <a:ext cx="3343275"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0600" y="3300413"/>
            <a:ext cx="79248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42926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11813" y="6513513"/>
            <a:ext cx="4292600" cy="344487"/>
          </a:xfrm>
          <a:prstGeom prst="rect">
            <a:avLst/>
          </a:prstGeom>
        </p:spPr>
        <p:txBody>
          <a:bodyPr vert="horz" lIns="91440" tIns="45720" rIns="91440" bIns="45720" rtlCol="0" anchor="b"/>
          <a:lstStyle>
            <a:lvl1pPr algn="r">
              <a:defRPr sz="1200"/>
            </a:lvl1pPr>
          </a:lstStyle>
          <a:p>
            <a:fld id="{7F5C1A59-4BD6-4F03-BB06-BBB7B3725BFE}" type="slidenum">
              <a:rPr lang="en-GB" smtClean="0"/>
              <a:t>‹#›</a:t>
            </a:fld>
            <a:endParaRPr lang="en-GB"/>
          </a:p>
        </p:txBody>
      </p:sp>
    </p:spTree>
    <p:extLst>
      <p:ext uri="{BB962C8B-B14F-4D97-AF65-F5344CB8AC3E}">
        <p14:creationId xmlns:p14="http://schemas.microsoft.com/office/powerpoint/2010/main" val="936602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Computing is Expensive!</a:t>
            </a:r>
          </a:p>
          <a:p>
            <a:r>
              <a:rPr lang="en-GB" dirty="0"/>
              <a:t>Computing resources, such as </a:t>
            </a:r>
            <a:r>
              <a:rPr lang="en-GB" b="1" dirty="0"/>
              <a:t>hardware, electricity, cooling, and maintenance</a:t>
            </a:r>
            <a:r>
              <a:rPr lang="en-GB" dirty="0"/>
              <a:t>, have always been costly. In the early days, computers were massive, expensive machines that required significant investment. Organizations had to purchase </a:t>
            </a:r>
            <a:r>
              <a:rPr lang="en-GB" b="1" dirty="0"/>
              <a:t>mainframe computers</a:t>
            </a:r>
            <a:r>
              <a:rPr lang="en-GB" dirty="0"/>
              <a:t> to process large amounts of data, and maintaining them was costly due to high power consumption and specialized infrastructure.</a:t>
            </a:r>
          </a:p>
          <a:p>
            <a:r>
              <a:rPr lang="en-GB" b="1" dirty="0"/>
              <a:t>Virtualization Began in the 1960s</a:t>
            </a:r>
          </a:p>
          <a:p>
            <a:r>
              <a:rPr lang="en-GB" dirty="0"/>
              <a:t>To optimize the use of expensive mainframe computers, </a:t>
            </a:r>
            <a:r>
              <a:rPr lang="en-GB" b="1" dirty="0"/>
              <a:t>virtualization</a:t>
            </a:r>
            <a:r>
              <a:rPr lang="en-GB" dirty="0"/>
              <a:t> was introduced in the 1960s. The idea was to create multiple "virtual" machines on a </a:t>
            </a:r>
            <a:r>
              <a:rPr lang="en-GB" b="1" dirty="0"/>
              <a:t>single physical machine</a:t>
            </a:r>
            <a:r>
              <a:rPr lang="en-GB" dirty="0"/>
              <a:t>, allowing different applications to run simultaneously without interfering with each other.</a:t>
            </a:r>
          </a:p>
          <a:p>
            <a:r>
              <a:rPr lang="en-GB" dirty="0"/>
              <a:t>IBM was a pioneer in this field, developing </a:t>
            </a:r>
            <a:r>
              <a:rPr lang="en-GB" b="1" dirty="0"/>
              <a:t>time-sharing systems</a:t>
            </a:r>
            <a:r>
              <a:rPr lang="en-GB" dirty="0"/>
              <a:t> that allowed multiple users to access computing power from a single mainframe. This improved efficiency and reduced costs by maximizing hardware utilization.</a:t>
            </a:r>
          </a:p>
          <a:p>
            <a:r>
              <a:rPr lang="en-GB" b="1" dirty="0"/>
              <a:t>Method of Logically Dividing System Resources</a:t>
            </a:r>
          </a:p>
          <a:p>
            <a:r>
              <a:rPr lang="en-GB" dirty="0"/>
              <a:t>Virtualization works by </a:t>
            </a:r>
            <a:r>
              <a:rPr lang="en-GB" b="1" dirty="0"/>
              <a:t>logically partitioning</a:t>
            </a:r>
            <a:r>
              <a:rPr lang="en-GB" dirty="0"/>
              <a:t> the system resources (CPU, memory, storage, and network) among different applications or users. Instead of running one application on one physical machine, multiple applications could share the same hardware without conflict.</a:t>
            </a:r>
          </a:p>
          <a:p>
            <a:r>
              <a:rPr lang="en-GB" dirty="0"/>
              <a:t>This concept evolved into modern-day </a:t>
            </a:r>
            <a:r>
              <a:rPr lang="en-GB" b="1" dirty="0"/>
              <a:t>virtual machines (VMs)</a:t>
            </a:r>
            <a:r>
              <a:rPr lang="en-GB" dirty="0"/>
              <a:t> and </a:t>
            </a:r>
            <a:r>
              <a:rPr lang="en-GB" b="1" dirty="0"/>
              <a:t>cloud computing</a:t>
            </a:r>
            <a:r>
              <a:rPr lang="en-GB" dirty="0"/>
              <a:t>, where virtualization is a core technology. Today, virtualization enables cloud providers like AWS, Google Cloud, and Microsoft Azure to offer computing resources on demand, making computing </a:t>
            </a:r>
            <a:r>
              <a:rPr lang="en-GB" b="1" dirty="0"/>
              <a:t>more efficient and cost-effective</a:t>
            </a:r>
            <a:endParaRPr lang="en-GB" dirty="0"/>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4</a:t>
            </a:fld>
            <a:endParaRPr lang="en-GB"/>
          </a:p>
        </p:txBody>
      </p:sp>
    </p:spTree>
    <p:extLst>
      <p:ext uri="{BB962C8B-B14F-4D97-AF65-F5344CB8AC3E}">
        <p14:creationId xmlns:p14="http://schemas.microsoft.com/office/powerpoint/2010/main" val="30637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IBM VM/370 – A Virtual Machine Monitor (VMM) for IBM Mainframes (1970s)</a:t>
            </a:r>
          </a:p>
          <a:p>
            <a:r>
              <a:rPr lang="en-GB" dirty="0"/>
              <a:t>IBM introduced </a:t>
            </a:r>
            <a:r>
              <a:rPr lang="en-GB" b="1" dirty="0"/>
              <a:t>VM/370</a:t>
            </a:r>
            <a:r>
              <a:rPr lang="en-GB" dirty="0"/>
              <a:t> in the 1970s, a </a:t>
            </a:r>
            <a:r>
              <a:rPr lang="en-GB" b="1" dirty="0"/>
              <a:t>Virtual Machine Monitor (VMM)</a:t>
            </a:r>
            <a:r>
              <a:rPr lang="en-GB" dirty="0"/>
              <a:t> that allowed multiple users to run different </a:t>
            </a:r>
            <a:r>
              <a:rPr lang="en-GB" b="1" dirty="0"/>
              <a:t>operating system environments</a:t>
            </a:r>
            <a:r>
              <a:rPr lang="en-GB" dirty="0"/>
              <a:t> on a single </a:t>
            </a:r>
            <a:r>
              <a:rPr lang="en-GB" b="1" dirty="0"/>
              <a:t>IBM mainframe</a:t>
            </a:r>
            <a:r>
              <a:rPr lang="en-GB" dirty="0"/>
              <a:t>.</a:t>
            </a:r>
          </a:p>
          <a:p>
            <a:r>
              <a:rPr lang="en-GB" dirty="0"/>
              <a:t>This was highly beneficial because:</a:t>
            </a:r>
          </a:p>
          <a:p>
            <a:pPr>
              <a:buFont typeface="Arial" panose="020B0604020202020204" pitchFamily="34" charset="0"/>
              <a:buChar char="•"/>
            </a:pPr>
            <a:r>
              <a:rPr lang="en-GB" b="1" dirty="0"/>
              <a:t>Mainframes were expensive</a:t>
            </a:r>
            <a:r>
              <a:rPr lang="en-GB" dirty="0"/>
              <a:t> – Running multiple OS environments on one machine improved resource utilization.</a:t>
            </a:r>
          </a:p>
          <a:p>
            <a:pPr>
              <a:buFont typeface="Arial" panose="020B0604020202020204" pitchFamily="34" charset="0"/>
              <a:buChar char="•"/>
            </a:pPr>
            <a:r>
              <a:rPr lang="en-GB" b="1" dirty="0"/>
              <a:t>Few machines were available</a:t>
            </a:r>
            <a:r>
              <a:rPr lang="en-GB" dirty="0"/>
              <a:t> – Sharing computing power was necessary.</a:t>
            </a:r>
          </a:p>
          <a:p>
            <a:r>
              <a:rPr lang="en-GB" b="1" dirty="0"/>
              <a:t>Virtualization as a Research Trend (1960s-1970s)</a:t>
            </a:r>
          </a:p>
          <a:p>
            <a:pPr>
              <a:buFont typeface="Arial" panose="020B0604020202020204" pitchFamily="34" charset="0"/>
              <a:buChar char="•"/>
            </a:pPr>
            <a:r>
              <a:rPr lang="en-GB" dirty="0"/>
              <a:t>Virtualization was a </a:t>
            </a:r>
            <a:r>
              <a:rPr lang="en-GB" b="1" dirty="0"/>
              <a:t>popular research area</a:t>
            </a:r>
            <a:r>
              <a:rPr lang="en-GB" dirty="0"/>
              <a:t> during this time.</a:t>
            </a:r>
          </a:p>
          <a:p>
            <a:pPr>
              <a:buFont typeface="Arial" panose="020B0604020202020204" pitchFamily="34" charset="0"/>
              <a:buChar char="•"/>
            </a:pPr>
            <a:r>
              <a:rPr lang="en-GB" b="1" dirty="0"/>
              <a:t>Entire conferences</a:t>
            </a:r>
            <a:r>
              <a:rPr lang="en-GB" dirty="0"/>
              <a:t> were dedicated to </a:t>
            </a:r>
            <a:r>
              <a:rPr lang="en-GB" b="1" dirty="0"/>
              <a:t>Virtual Machine Monitors (VMMs)</a:t>
            </a:r>
            <a:r>
              <a:rPr lang="en-GB" dirty="0"/>
              <a:t>.</a:t>
            </a:r>
          </a:p>
          <a:p>
            <a:pPr>
              <a:buFont typeface="Arial" panose="020B0604020202020204" pitchFamily="34" charset="0"/>
              <a:buChar char="•"/>
            </a:pPr>
            <a:r>
              <a:rPr lang="en-GB" b="1" dirty="0"/>
              <a:t>Hardware, VMMs, and operating systems</a:t>
            </a:r>
            <a:r>
              <a:rPr lang="en-GB" dirty="0"/>
              <a:t> were designed together to maximize efficiency.</a:t>
            </a:r>
          </a:p>
          <a:p>
            <a:r>
              <a:rPr lang="en-GB" b="1" dirty="0"/>
              <a:t>Decline of Virtualization Interest (1980s-1990s)</a:t>
            </a:r>
          </a:p>
          <a:p>
            <a:r>
              <a:rPr lang="en-GB" dirty="0"/>
              <a:t>Virtualization lost popularity due to:</a:t>
            </a:r>
          </a:p>
          <a:p>
            <a:pPr>
              <a:buFont typeface="+mj-lt"/>
              <a:buAutoNum type="arabicPeriod"/>
            </a:pPr>
            <a:r>
              <a:rPr lang="en-GB" b="1" dirty="0"/>
              <a:t>Cheaper hardware</a:t>
            </a:r>
            <a:r>
              <a:rPr lang="en-GB" dirty="0"/>
              <a:t> – Organizations could afford multiple machines, reducing the need for sharing resources.</a:t>
            </a:r>
          </a:p>
          <a:p>
            <a:pPr>
              <a:buFont typeface="+mj-lt"/>
              <a:buAutoNum type="arabicPeriod"/>
            </a:pPr>
            <a:r>
              <a:rPr lang="en-GB" b="1" dirty="0"/>
              <a:t>More powerful operating systems</a:t>
            </a:r>
            <a:r>
              <a:rPr lang="en-GB" dirty="0"/>
              <a:t> – OSs like </a:t>
            </a:r>
            <a:r>
              <a:rPr lang="en-GB" b="1" dirty="0"/>
              <a:t>UNIX and Windows NT</a:t>
            </a:r>
            <a:r>
              <a:rPr lang="en-GB" dirty="0"/>
              <a:t> introduced </a:t>
            </a:r>
            <a:r>
              <a:rPr lang="en-GB" b="1" dirty="0"/>
              <a:t>multi-user support</a:t>
            </a:r>
            <a:r>
              <a:rPr lang="en-GB" dirty="0"/>
              <a:t>, reducing reliance on virtual machines.</a:t>
            </a:r>
          </a:p>
          <a:p>
            <a:r>
              <a:rPr lang="en-GB" dirty="0"/>
              <a:t>However, </a:t>
            </a:r>
            <a:r>
              <a:rPr lang="en-GB" b="1" dirty="0"/>
              <a:t>virtualization made a strong comeback in the 2000s</a:t>
            </a:r>
            <a:r>
              <a:rPr lang="en-GB" dirty="0"/>
              <a:t> with the rise of </a:t>
            </a:r>
            <a:r>
              <a:rPr lang="en-GB" b="1" dirty="0"/>
              <a:t>cloud computing</a:t>
            </a:r>
            <a:r>
              <a:rPr lang="en-GB" dirty="0"/>
              <a:t>, where virtualization became essential for resource efficiency</a:t>
            </a:r>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5</a:t>
            </a:fld>
            <a:endParaRPr lang="en-GB"/>
          </a:p>
        </p:txBody>
      </p:sp>
    </p:spTree>
    <p:extLst>
      <p:ext uri="{BB962C8B-B14F-4D97-AF65-F5344CB8AC3E}">
        <p14:creationId xmlns:p14="http://schemas.microsoft.com/office/powerpoint/2010/main" val="814566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VM Images as Files</a:t>
            </a:r>
            <a:endParaRPr lang="en-GB" dirty="0"/>
          </a:p>
          <a:p>
            <a:pPr>
              <a:buFont typeface="Arial" panose="020B0604020202020204" pitchFamily="34" charset="0"/>
              <a:buChar char="•"/>
            </a:pPr>
            <a:r>
              <a:rPr lang="en-GB" dirty="0"/>
              <a:t>Virtual machines are stored as </a:t>
            </a:r>
            <a:r>
              <a:rPr lang="en-GB" b="1" dirty="0"/>
              <a:t>files</a:t>
            </a:r>
            <a:r>
              <a:rPr lang="en-GB" dirty="0"/>
              <a:t> (e.g., .</a:t>
            </a:r>
            <a:r>
              <a:rPr lang="en-GB" dirty="0" err="1"/>
              <a:t>vmdk</a:t>
            </a:r>
            <a:r>
              <a:rPr lang="en-GB" dirty="0"/>
              <a:t>, .qcow2, .</a:t>
            </a:r>
            <a:r>
              <a:rPr lang="en-GB" dirty="0" err="1"/>
              <a:t>vdi</a:t>
            </a:r>
            <a:r>
              <a:rPr lang="en-GB" dirty="0"/>
              <a:t>).</a:t>
            </a:r>
          </a:p>
          <a:p>
            <a:pPr>
              <a:buFont typeface="Arial" panose="020B0604020202020204" pitchFamily="34" charset="0"/>
              <a:buChar char="•"/>
            </a:pPr>
            <a:r>
              <a:rPr lang="en-GB" dirty="0"/>
              <a:t>These files contain everything needed to run a VM, including:</a:t>
            </a:r>
          </a:p>
          <a:p>
            <a:pPr marL="742950" lvl="1" indent="-285750">
              <a:buFont typeface="Arial" panose="020B0604020202020204" pitchFamily="34" charset="0"/>
              <a:buChar char="•"/>
            </a:pPr>
            <a:r>
              <a:rPr lang="en-GB" b="1" dirty="0"/>
              <a:t>Operating system</a:t>
            </a:r>
            <a:r>
              <a:rPr lang="en-GB" dirty="0"/>
              <a:t> (e.g., Linux, Windows).</a:t>
            </a:r>
          </a:p>
          <a:p>
            <a:pPr marL="742950" lvl="1" indent="-285750">
              <a:buFont typeface="Arial" panose="020B0604020202020204" pitchFamily="34" charset="0"/>
              <a:buChar char="•"/>
            </a:pPr>
            <a:r>
              <a:rPr lang="en-GB" b="1" dirty="0"/>
              <a:t>Installed applications</a:t>
            </a:r>
            <a:r>
              <a:rPr lang="en-GB" dirty="0"/>
              <a:t> (e.g., databases, web servers).</a:t>
            </a:r>
          </a:p>
          <a:p>
            <a:pPr marL="742950" lvl="1" indent="-285750">
              <a:buFont typeface="Arial" panose="020B0604020202020204" pitchFamily="34" charset="0"/>
              <a:buChar char="•"/>
            </a:pPr>
            <a:r>
              <a:rPr lang="en-GB" b="1" dirty="0"/>
              <a:t>User data</a:t>
            </a:r>
            <a:r>
              <a:rPr lang="en-GB" dirty="0"/>
              <a:t> (files, configurations).</a:t>
            </a:r>
          </a:p>
          <a:p>
            <a:pPr marL="742950" lvl="1" indent="-285750">
              <a:buFont typeface="Arial" panose="020B0604020202020204" pitchFamily="34" charset="0"/>
              <a:buChar char="•"/>
            </a:pPr>
            <a:r>
              <a:rPr lang="en-GB" b="1" dirty="0"/>
              <a:t>Memory and device state</a:t>
            </a:r>
            <a:r>
              <a:rPr lang="en-GB" dirty="0"/>
              <a:t> (to resume execution).</a:t>
            </a:r>
          </a:p>
          <a:p>
            <a:r>
              <a:rPr lang="en-GB" b="1" dirty="0"/>
              <a:t>2. Enables VM Migration and Replication</a:t>
            </a:r>
            <a:endParaRPr lang="en-GB" dirty="0"/>
          </a:p>
          <a:p>
            <a:pPr>
              <a:buFont typeface="Arial" panose="020B0604020202020204" pitchFamily="34" charset="0"/>
              <a:buChar char="•"/>
            </a:pPr>
            <a:r>
              <a:rPr lang="en-GB" dirty="0"/>
              <a:t>Since VM images are just files, they can be </a:t>
            </a:r>
            <a:r>
              <a:rPr lang="en-GB" b="1" dirty="0"/>
              <a:t>moved across different physical machines</a:t>
            </a:r>
            <a:r>
              <a:rPr lang="en-GB" dirty="0"/>
              <a:t> (migration).</a:t>
            </a:r>
          </a:p>
          <a:p>
            <a:pPr>
              <a:buFont typeface="Arial" panose="020B0604020202020204" pitchFamily="34" charset="0"/>
              <a:buChar char="•"/>
            </a:pPr>
            <a:r>
              <a:rPr lang="en-GB" dirty="0"/>
              <a:t>VMs can be </a:t>
            </a:r>
            <a:r>
              <a:rPr lang="en-GB" b="1" dirty="0"/>
              <a:t>cloned</a:t>
            </a:r>
            <a:r>
              <a:rPr lang="en-GB" dirty="0"/>
              <a:t> to create identical copies (replication).</a:t>
            </a:r>
          </a:p>
          <a:p>
            <a:pPr>
              <a:buFont typeface="Arial" panose="020B0604020202020204" pitchFamily="34" charset="0"/>
              <a:buChar char="•"/>
            </a:pPr>
            <a:r>
              <a:rPr lang="en-GB" dirty="0"/>
              <a:t>This is useful in </a:t>
            </a:r>
            <a:r>
              <a:rPr lang="en-GB" b="1" dirty="0"/>
              <a:t>cloud computing</a:t>
            </a:r>
            <a:r>
              <a:rPr lang="en-GB" dirty="0"/>
              <a:t>, </a:t>
            </a:r>
            <a:r>
              <a:rPr lang="en-GB" b="1" dirty="0"/>
              <a:t>backup</a:t>
            </a:r>
            <a:r>
              <a:rPr lang="en-GB" dirty="0"/>
              <a:t>, and </a:t>
            </a:r>
            <a:r>
              <a:rPr lang="en-GB" b="1" dirty="0"/>
              <a:t>load balancing</a:t>
            </a:r>
            <a:r>
              <a:rPr lang="en-GB" dirty="0"/>
              <a:t>.</a:t>
            </a:r>
          </a:p>
          <a:p>
            <a:r>
              <a:rPr lang="en-GB" b="1" dirty="0"/>
              <a:t>3. Virtual Appliances for Easy Deployment</a:t>
            </a:r>
            <a:endParaRPr lang="en-GB" dirty="0"/>
          </a:p>
          <a:p>
            <a:pPr>
              <a:buFont typeface="Arial" panose="020B0604020202020204" pitchFamily="34" charset="0"/>
              <a:buChar char="•"/>
            </a:pPr>
            <a:r>
              <a:rPr lang="en-GB" b="1" dirty="0"/>
              <a:t>Preconfigured VMs</a:t>
            </a:r>
            <a:r>
              <a:rPr lang="en-GB" dirty="0"/>
              <a:t> are distributed as </a:t>
            </a:r>
            <a:r>
              <a:rPr lang="en-GB" b="1" dirty="0"/>
              <a:t>virtual appliances</a:t>
            </a:r>
            <a:r>
              <a:rPr lang="en-GB" dirty="0"/>
              <a:t> (e.g., .ova or .</a:t>
            </a:r>
            <a:r>
              <a:rPr lang="en-GB" dirty="0" err="1"/>
              <a:t>ovf</a:t>
            </a:r>
            <a:r>
              <a:rPr lang="en-GB" dirty="0"/>
              <a:t> files).</a:t>
            </a:r>
          </a:p>
          <a:p>
            <a:pPr>
              <a:buFont typeface="Arial" panose="020B0604020202020204" pitchFamily="34" charset="0"/>
              <a:buChar char="•"/>
            </a:pPr>
            <a:r>
              <a:rPr lang="en-GB" dirty="0"/>
              <a:t>These come with </a:t>
            </a:r>
            <a:r>
              <a:rPr lang="en-GB" b="1" dirty="0"/>
              <a:t>pre-installed software</a:t>
            </a:r>
            <a:r>
              <a:rPr lang="en-GB" dirty="0"/>
              <a:t> and settings for quick deployment.</a:t>
            </a:r>
          </a:p>
          <a:p>
            <a:pPr>
              <a:buFont typeface="Arial" panose="020B0604020202020204" pitchFamily="34" charset="0"/>
              <a:buChar char="•"/>
            </a:pPr>
            <a:r>
              <a:rPr lang="en-GB" dirty="0"/>
              <a:t>Simplifies </a:t>
            </a:r>
            <a:r>
              <a:rPr lang="en-GB" b="1" dirty="0"/>
              <a:t>initial provisioning</a:t>
            </a:r>
            <a:r>
              <a:rPr lang="en-GB" dirty="0"/>
              <a:t>, reducing setup time and configuration errors</a:t>
            </a:r>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7</a:t>
            </a:fld>
            <a:endParaRPr lang="en-GB"/>
          </a:p>
        </p:txBody>
      </p:sp>
    </p:spTree>
    <p:extLst>
      <p:ext uri="{BB962C8B-B14F-4D97-AF65-F5344CB8AC3E}">
        <p14:creationId xmlns:p14="http://schemas.microsoft.com/office/powerpoint/2010/main" val="2793536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Software Abstraction</a:t>
            </a:r>
          </a:p>
          <a:p>
            <a:pPr>
              <a:buFont typeface="Arial" panose="020B0604020202020204" pitchFamily="34" charset="0"/>
              <a:buChar char="•"/>
            </a:pPr>
            <a:r>
              <a:rPr lang="en-GB" dirty="0"/>
              <a:t>The VMM </a:t>
            </a:r>
            <a:r>
              <a:rPr lang="en-GB" b="1" dirty="0"/>
              <a:t>behaves like hardware</a:t>
            </a:r>
            <a:r>
              <a:rPr lang="en-GB" dirty="0"/>
              <a:t>, presenting a virtualized environment to each VM.</a:t>
            </a:r>
          </a:p>
          <a:p>
            <a:pPr>
              <a:buFont typeface="Arial" panose="020B0604020202020204" pitchFamily="34" charset="0"/>
              <a:buChar char="•"/>
            </a:pPr>
            <a:r>
              <a:rPr lang="en-GB" dirty="0"/>
              <a:t>It </a:t>
            </a:r>
            <a:r>
              <a:rPr lang="en-GB" b="1" dirty="0"/>
              <a:t>encapsulates</a:t>
            </a:r>
            <a:r>
              <a:rPr lang="en-GB" dirty="0"/>
              <a:t> all the </a:t>
            </a:r>
            <a:r>
              <a:rPr lang="en-GB" b="1" dirty="0"/>
              <a:t>OS and application state</a:t>
            </a:r>
            <a:r>
              <a:rPr lang="en-GB" dirty="0"/>
              <a:t>, meaning each VM is independent of the others.</a:t>
            </a:r>
          </a:p>
          <a:p>
            <a:pPr>
              <a:buFont typeface="Arial" panose="020B0604020202020204" pitchFamily="34" charset="0"/>
              <a:buChar char="•"/>
            </a:pPr>
            <a:r>
              <a:rPr lang="en-GB" dirty="0"/>
              <a:t>VMs </a:t>
            </a:r>
            <a:r>
              <a:rPr lang="en-GB" b="1" dirty="0"/>
              <a:t>believe they are running on real hardware</a:t>
            </a:r>
            <a:r>
              <a:rPr lang="en-GB" dirty="0"/>
              <a:t>, even though they share physical resources.</a:t>
            </a:r>
          </a:p>
          <a:p>
            <a:r>
              <a:rPr lang="en-GB" b="1" dirty="0"/>
              <a:t>2. Virtualization Layer</a:t>
            </a:r>
          </a:p>
          <a:p>
            <a:pPr>
              <a:buFont typeface="Arial" panose="020B0604020202020204" pitchFamily="34" charset="0"/>
              <a:buChar char="•"/>
            </a:pPr>
            <a:r>
              <a:rPr lang="en-GB" dirty="0"/>
              <a:t>Acts as an </a:t>
            </a:r>
            <a:r>
              <a:rPr lang="en-GB" b="1" dirty="0"/>
              <a:t>extra level of indirection</a:t>
            </a:r>
            <a:r>
              <a:rPr lang="en-GB" dirty="0"/>
              <a:t> between the physical hardware and VMs.</a:t>
            </a:r>
          </a:p>
          <a:p>
            <a:pPr>
              <a:buFont typeface="Arial" panose="020B0604020202020204" pitchFamily="34" charset="0"/>
              <a:buChar char="•"/>
            </a:pPr>
            <a:r>
              <a:rPr lang="en-GB" b="1" dirty="0"/>
              <a:t>Decouples hardware from the OS</a:t>
            </a:r>
            <a:r>
              <a:rPr lang="en-GB" dirty="0"/>
              <a:t>, allowing different OS versions to run on the same machine.</a:t>
            </a:r>
          </a:p>
          <a:p>
            <a:pPr>
              <a:buFont typeface="Arial" panose="020B0604020202020204" pitchFamily="34" charset="0"/>
              <a:buChar char="•"/>
            </a:pPr>
            <a:r>
              <a:rPr lang="en-GB" b="1" dirty="0"/>
              <a:t>Enforces isolation</a:t>
            </a:r>
            <a:r>
              <a:rPr lang="en-GB" dirty="0"/>
              <a:t>, ensuring that one VM cannot directly interfere with another.</a:t>
            </a:r>
          </a:p>
          <a:p>
            <a:r>
              <a:rPr lang="en-GB" b="1" dirty="0"/>
              <a:t>3. Multiplexing Physical Hardware</a:t>
            </a:r>
          </a:p>
          <a:p>
            <a:pPr>
              <a:buFont typeface="Arial" panose="020B0604020202020204" pitchFamily="34" charset="0"/>
              <a:buChar char="•"/>
            </a:pPr>
            <a:r>
              <a:rPr lang="en-GB" dirty="0"/>
              <a:t>The VMM shares CPU, memory, and I/O devices across multiple VMs.</a:t>
            </a:r>
          </a:p>
          <a:p>
            <a:pPr>
              <a:buFont typeface="Arial" panose="020B0604020202020204" pitchFamily="34" charset="0"/>
              <a:buChar char="•"/>
            </a:pPr>
            <a:r>
              <a:rPr lang="en-GB" dirty="0"/>
              <a:t>It dynamically </a:t>
            </a:r>
            <a:r>
              <a:rPr lang="en-GB" b="1" dirty="0"/>
              <a:t>allocates resources</a:t>
            </a:r>
            <a:r>
              <a:rPr lang="en-GB" dirty="0"/>
              <a:t> based on demand.</a:t>
            </a:r>
          </a:p>
          <a:p>
            <a:pPr>
              <a:buFont typeface="Arial" panose="020B0604020202020204" pitchFamily="34" charset="0"/>
              <a:buChar char="•"/>
            </a:pPr>
            <a:r>
              <a:rPr lang="en-GB" dirty="0"/>
              <a:t>Ensures efficient </a:t>
            </a:r>
            <a:r>
              <a:rPr lang="en-GB" b="1" dirty="0"/>
              <a:t>load balancing and fault tolerance</a:t>
            </a:r>
            <a:r>
              <a:rPr lang="en-GB" dirty="0"/>
              <a:t> in cloud environments.</a:t>
            </a:r>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8</a:t>
            </a:fld>
            <a:endParaRPr lang="en-GB"/>
          </a:p>
        </p:txBody>
      </p:sp>
    </p:spTree>
    <p:extLst>
      <p:ext uri="{BB962C8B-B14F-4D97-AF65-F5344CB8AC3E}">
        <p14:creationId xmlns:p14="http://schemas.microsoft.com/office/powerpoint/2010/main" val="996445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Performance in Virtualization: Techniques and Impact</a:t>
            </a:r>
          </a:p>
          <a:p>
            <a:r>
              <a:rPr lang="en-GB" dirty="0"/>
              <a:t>Virtualization performance is influenced by the </a:t>
            </a:r>
            <a:r>
              <a:rPr lang="en-GB" b="1" dirty="0"/>
              <a:t>virtualization technique</a:t>
            </a:r>
            <a:r>
              <a:rPr lang="en-GB" dirty="0"/>
              <a:t> used. Different methods impact speed, efficiency, and hardware compatibility.</a:t>
            </a:r>
          </a:p>
          <a:p>
            <a:r>
              <a:rPr lang="en-GB" b="1" dirty="0"/>
              <a:t>1. Emulation</a:t>
            </a:r>
          </a:p>
          <a:p>
            <a:r>
              <a:rPr lang="en-GB" dirty="0"/>
              <a:t>🔹 </a:t>
            </a:r>
            <a:r>
              <a:rPr lang="en-GB" b="1" dirty="0"/>
              <a:t>How it Works:</a:t>
            </a:r>
            <a:r>
              <a:rPr lang="en-GB" dirty="0"/>
              <a:t> The Virtual Machine Monitor (VMM) </a:t>
            </a:r>
            <a:r>
              <a:rPr lang="en-GB" b="1" dirty="0"/>
              <a:t>fully mimics</a:t>
            </a:r>
            <a:r>
              <a:rPr lang="en-GB" dirty="0"/>
              <a:t> a different hardware architecture for the guest VM.</a:t>
            </a:r>
            <a:br>
              <a:rPr lang="en-GB" dirty="0"/>
            </a:br>
            <a:r>
              <a:rPr lang="en-GB" dirty="0"/>
              <a:t>🔹 </a:t>
            </a:r>
            <a:r>
              <a:rPr lang="en-GB" b="1" dirty="0"/>
              <a:t>Use Case:</a:t>
            </a:r>
            <a:r>
              <a:rPr lang="en-GB" dirty="0"/>
              <a:t> Running software designed for </a:t>
            </a:r>
            <a:r>
              <a:rPr lang="en-GB" b="1" dirty="0"/>
              <a:t>one CPU architecture</a:t>
            </a:r>
            <a:r>
              <a:rPr lang="en-GB" dirty="0"/>
              <a:t> (e.g., x86) on another (e.g., ARM).</a:t>
            </a:r>
            <a:br>
              <a:rPr lang="en-GB" dirty="0"/>
            </a:br>
            <a:r>
              <a:rPr lang="en-GB" dirty="0"/>
              <a:t>🔹 </a:t>
            </a:r>
            <a:r>
              <a:rPr lang="en-GB" b="1" dirty="0"/>
              <a:t>Performance Impact:</a:t>
            </a:r>
            <a:br>
              <a:rPr lang="en-GB" dirty="0"/>
            </a:br>
            <a:r>
              <a:rPr lang="en-GB" dirty="0"/>
              <a:t>✅ </a:t>
            </a:r>
            <a:r>
              <a:rPr lang="en-GB" b="1" dirty="0"/>
              <a:t>Highly flexible</a:t>
            </a:r>
            <a:r>
              <a:rPr lang="en-GB" dirty="0"/>
              <a:t> (can run any OS on any hardware).</a:t>
            </a:r>
            <a:br>
              <a:rPr lang="en-GB" dirty="0"/>
            </a:br>
            <a:r>
              <a:rPr lang="en-GB" dirty="0"/>
              <a:t>❌ </a:t>
            </a:r>
            <a:r>
              <a:rPr lang="en-GB" b="1" dirty="0"/>
              <a:t>Very slow</a:t>
            </a:r>
            <a:r>
              <a:rPr lang="en-GB" dirty="0"/>
              <a:t> due to real-time instruction translation.</a:t>
            </a:r>
            <a:br>
              <a:rPr lang="en-GB" dirty="0"/>
            </a:br>
            <a:r>
              <a:rPr lang="en-GB" dirty="0"/>
              <a:t>🔹 </a:t>
            </a:r>
            <a:r>
              <a:rPr lang="en-GB" b="1" dirty="0"/>
              <a:t>Example:</a:t>
            </a:r>
            <a:r>
              <a:rPr lang="en-GB" dirty="0"/>
              <a:t> QEMU without hardware acceleration.</a:t>
            </a:r>
          </a:p>
          <a:p>
            <a:r>
              <a:rPr lang="en-GB" b="1" dirty="0"/>
              <a:t>2. Paravirtualization</a:t>
            </a:r>
          </a:p>
          <a:p>
            <a:r>
              <a:rPr lang="en-GB" dirty="0"/>
              <a:t>🔹 </a:t>
            </a:r>
            <a:r>
              <a:rPr lang="en-GB" b="1" dirty="0"/>
              <a:t>How it Works:</a:t>
            </a:r>
            <a:r>
              <a:rPr lang="en-GB" dirty="0"/>
              <a:t> The guest OS is </a:t>
            </a:r>
            <a:r>
              <a:rPr lang="en-GB" b="1" dirty="0"/>
              <a:t>modified</a:t>
            </a:r>
            <a:r>
              <a:rPr lang="en-GB" dirty="0"/>
              <a:t> to be aware that it is running in a virtualized environment. Instead of trapping privileged instructions, it </a:t>
            </a:r>
            <a:r>
              <a:rPr lang="en-GB" b="1" dirty="0"/>
              <a:t>communicates directly</a:t>
            </a:r>
            <a:r>
              <a:rPr lang="en-GB" dirty="0"/>
              <a:t> with the hypervisor.</a:t>
            </a:r>
            <a:br>
              <a:rPr lang="en-GB" dirty="0"/>
            </a:br>
            <a:r>
              <a:rPr lang="en-GB" dirty="0"/>
              <a:t>🔹 </a:t>
            </a:r>
            <a:r>
              <a:rPr lang="en-GB" b="1" dirty="0"/>
              <a:t>Use Case:</a:t>
            </a:r>
            <a:r>
              <a:rPr lang="en-GB" dirty="0"/>
              <a:t> High-performance virtualization where </a:t>
            </a:r>
            <a:r>
              <a:rPr lang="en-GB" b="1" dirty="0"/>
              <a:t>OS modification is possible</a:t>
            </a:r>
            <a:r>
              <a:rPr lang="en-GB" dirty="0"/>
              <a:t>.</a:t>
            </a:r>
            <a:br>
              <a:rPr lang="en-GB" dirty="0"/>
            </a:br>
            <a:r>
              <a:rPr lang="en-GB" dirty="0"/>
              <a:t>🔹 </a:t>
            </a:r>
            <a:r>
              <a:rPr lang="en-GB" b="1" dirty="0"/>
              <a:t>Performance Impact:</a:t>
            </a:r>
            <a:br>
              <a:rPr lang="en-GB" dirty="0"/>
            </a:br>
            <a:r>
              <a:rPr lang="en-GB" dirty="0"/>
              <a:t>✅ </a:t>
            </a:r>
            <a:r>
              <a:rPr lang="en-GB" b="1" dirty="0"/>
              <a:t>Much faster</a:t>
            </a:r>
            <a:r>
              <a:rPr lang="en-GB" dirty="0"/>
              <a:t> than emulation since there's no need for full hardware simulation.</a:t>
            </a:r>
            <a:br>
              <a:rPr lang="en-GB" dirty="0"/>
            </a:br>
            <a:r>
              <a:rPr lang="en-GB" dirty="0"/>
              <a:t>❌ </a:t>
            </a:r>
            <a:r>
              <a:rPr lang="en-GB" b="1" dirty="0"/>
              <a:t>Guest OS needs modification</a:t>
            </a:r>
            <a:r>
              <a:rPr lang="en-GB" dirty="0"/>
              <a:t> (not all OS support it).</a:t>
            </a:r>
            <a:br>
              <a:rPr lang="en-GB" dirty="0"/>
            </a:br>
            <a:r>
              <a:rPr lang="en-GB" dirty="0"/>
              <a:t>🔹 </a:t>
            </a:r>
            <a:r>
              <a:rPr lang="en-GB" b="1" dirty="0"/>
              <a:t>Example:</a:t>
            </a:r>
            <a:r>
              <a:rPr lang="en-GB" dirty="0"/>
              <a:t> Xen with Linux guests.</a:t>
            </a:r>
          </a:p>
          <a:p>
            <a:r>
              <a:rPr lang="en-GB" b="1" dirty="0"/>
              <a:t>3. Hardware-Assisted Virtualization</a:t>
            </a:r>
          </a:p>
          <a:p>
            <a:r>
              <a:rPr lang="en-GB" dirty="0"/>
              <a:t>🔹 </a:t>
            </a:r>
            <a:r>
              <a:rPr lang="en-GB" b="1" dirty="0"/>
              <a:t>How it Works:</a:t>
            </a:r>
            <a:r>
              <a:rPr lang="en-GB" dirty="0"/>
              <a:t> Uses </a:t>
            </a:r>
            <a:r>
              <a:rPr lang="en-GB" b="1" dirty="0"/>
              <a:t>CPU extensions</a:t>
            </a:r>
            <a:r>
              <a:rPr lang="en-GB" dirty="0"/>
              <a:t> like </a:t>
            </a:r>
            <a:r>
              <a:rPr lang="en-GB" b="1" dirty="0"/>
              <a:t>Intel VT-x</a:t>
            </a:r>
            <a:r>
              <a:rPr lang="en-GB" dirty="0"/>
              <a:t> and </a:t>
            </a:r>
            <a:r>
              <a:rPr lang="en-GB" b="1" dirty="0"/>
              <a:t>AMD-V</a:t>
            </a:r>
            <a:r>
              <a:rPr lang="en-GB" dirty="0"/>
              <a:t> to let guest OS run at near-native speed with direct access to some hardware functions.</a:t>
            </a:r>
            <a:br>
              <a:rPr lang="en-GB" dirty="0"/>
            </a:br>
            <a:r>
              <a:rPr lang="en-GB" dirty="0"/>
              <a:t>🔹 </a:t>
            </a:r>
            <a:r>
              <a:rPr lang="en-GB" b="1" dirty="0"/>
              <a:t>Use Case:</a:t>
            </a:r>
            <a:r>
              <a:rPr lang="en-GB" dirty="0"/>
              <a:t> Running unmodified guest OS efficiently on modern processors.</a:t>
            </a:r>
            <a:br>
              <a:rPr lang="en-GB" dirty="0"/>
            </a:br>
            <a:r>
              <a:rPr lang="en-GB" dirty="0"/>
              <a:t>🔹 </a:t>
            </a:r>
            <a:r>
              <a:rPr lang="en-GB" b="1" dirty="0"/>
              <a:t>Performance Impact:</a:t>
            </a:r>
            <a:br>
              <a:rPr lang="en-GB" dirty="0"/>
            </a:br>
            <a:r>
              <a:rPr lang="en-GB" dirty="0"/>
              <a:t>✅ </a:t>
            </a:r>
            <a:r>
              <a:rPr lang="en-GB" b="1" dirty="0"/>
              <a:t>Almost native speed</a:t>
            </a:r>
            <a:r>
              <a:rPr lang="en-GB" dirty="0"/>
              <a:t> performance.</a:t>
            </a:r>
            <a:br>
              <a:rPr lang="en-GB" dirty="0"/>
            </a:br>
            <a:r>
              <a:rPr lang="en-GB" dirty="0"/>
              <a:t>✅ </a:t>
            </a:r>
            <a:r>
              <a:rPr lang="en-GB" b="1" dirty="0"/>
              <a:t>No need to modify the guest OS</a:t>
            </a:r>
            <a:r>
              <a:rPr lang="en-GB" dirty="0"/>
              <a:t> (unlike paravirtualization).</a:t>
            </a:r>
            <a:br>
              <a:rPr lang="en-GB" dirty="0"/>
            </a:br>
            <a:r>
              <a:rPr lang="en-GB" dirty="0"/>
              <a:t>🔹 </a:t>
            </a:r>
            <a:r>
              <a:rPr lang="en-GB" b="1" dirty="0"/>
              <a:t>Example:</a:t>
            </a:r>
            <a:endParaRPr lang="en-GB" dirty="0"/>
          </a:p>
          <a:p>
            <a:pPr>
              <a:buFont typeface="Arial" panose="020B0604020202020204" pitchFamily="34" charset="0"/>
              <a:buChar char="•"/>
            </a:pPr>
            <a:r>
              <a:rPr lang="en-GB" dirty="0"/>
              <a:t>VMware Workstation, VirtualBox, KVM using </a:t>
            </a:r>
            <a:r>
              <a:rPr lang="en-GB" b="1" dirty="0"/>
              <a:t>Intel VT-x</a:t>
            </a:r>
            <a:r>
              <a:rPr lang="en-GB" dirty="0"/>
              <a:t> or </a:t>
            </a:r>
            <a:r>
              <a:rPr lang="en-GB" b="1" dirty="0"/>
              <a:t>AMD-V</a:t>
            </a:r>
            <a:r>
              <a:rPr lang="en-GB" dirty="0"/>
              <a:t>.</a:t>
            </a:r>
          </a:p>
          <a:p>
            <a:pPr>
              <a:buFont typeface="Arial" panose="020B0604020202020204" pitchFamily="34" charset="0"/>
              <a:buChar char="•"/>
            </a:pPr>
            <a:r>
              <a:rPr lang="en-GB" dirty="0"/>
              <a:t>VT-d (Intel) and AMD-Vi (AMD) extend this for </a:t>
            </a:r>
            <a:r>
              <a:rPr lang="en-GB" b="1" dirty="0"/>
              <a:t>direct I/O access</a:t>
            </a:r>
            <a:r>
              <a:rPr lang="en-GB" dirty="0"/>
              <a:t>.</a:t>
            </a:r>
          </a:p>
          <a:p>
            <a:r>
              <a:rPr lang="en-GB" b="1" dirty="0"/>
              <a:t>Comparison Table: Virtualization Techniques</a:t>
            </a:r>
          </a:p>
          <a:p>
            <a:r>
              <a:rPr lang="en-GB" dirty="0"/>
              <a:t>Technique  OS   </a:t>
            </a:r>
            <a:r>
              <a:rPr lang="en-GB" dirty="0" err="1"/>
              <a:t>ModificationSpeed</a:t>
            </a:r>
            <a:r>
              <a:rPr lang="en-GB" dirty="0"/>
              <a:t> Use Case</a:t>
            </a:r>
          </a:p>
          <a:p>
            <a:r>
              <a:rPr lang="en-GB" b="1" dirty="0"/>
              <a:t>Emulation  </a:t>
            </a:r>
            <a:r>
              <a:rPr lang="en-GB" dirty="0"/>
              <a:t>No ❌ </a:t>
            </a:r>
            <a:r>
              <a:rPr lang="en-GB" b="1" dirty="0"/>
              <a:t>Slow    </a:t>
            </a:r>
            <a:r>
              <a:rPr lang="en-GB" dirty="0"/>
              <a:t>Running different architectures (e.g., ARM on x86)</a:t>
            </a:r>
          </a:p>
          <a:p>
            <a:r>
              <a:rPr lang="en-GB" b="1" dirty="0" err="1"/>
              <a:t>Paravirtualization</a:t>
            </a:r>
            <a:r>
              <a:rPr lang="en-GB" dirty="0" err="1"/>
              <a:t>Yes</a:t>
            </a:r>
            <a:r>
              <a:rPr lang="en-GB" dirty="0"/>
              <a:t>⚡ </a:t>
            </a:r>
            <a:r>
              <a:rPr lang="en-GB" b="1" dirty="0" err="1"/>
              <a:t>Fast</a:t>
            </a:r>
            <a:r>
              <a:rPr lang="en-GB" dirty="0" err="1"/>
              <a:t>Custom</a:t>
            </a:r>
            <a:r>
              <a:rPr lang="en-GB" dirty="0"/>
              <a:t> high-performance VMs</a:t>
            </a:r>
          </a:p>
          <a:p>
            <a:r>
              <a:rPr lang="en-GB" b="1" dirty="0"/>
              <a:t>Hardware-</a:t>
            </a:r>
            <a:r>
              <a:rPr lang="en-GB" b="1" dirty="0" err="1"/>
              <a:t>Assisted</a:t>
            </a:r>
            <a:r>
              <a:rPr lang="en-GB" dirty="0" err="1"/>
              <a:t>No</a:t>
            </a:r>
            <a:r>
              <a:rPr lang="en-GB" dirty="0"/>
              <a:t>⚡ </a:t>
            </a:r>
            <a:r>
              <a:rPr lang="en-GB" b="1" dirty="0" err="1"/>
              <a:t>Fast</a:t>
            </a:r>
            <a:r>
              <a:rPr lang="en-GB" dirty="0" err="1"/>
              <a:t>Modern</a:t>
            </a:r>
            <a:r>
              <a:rPr lang="en-GB" dirty="0"/>
              <a:t> hypervisors for general virtualization</a:t>
            </a:r>
          </a:p>
        </p:txBody>
      </p:sp>
      <p:sp>
        <p:nvSpPr>
          <p:cNvPr id="4" name="Slide Number Placeholder 3"/>
          <p:cNvSpPr>
            <a:spLocks noGrp="1"/>
          </p:cNvSpPr>
          <p:nvPr>
            <p:ph type="sldNum" sz="quarter" idx="5"/>
          </p:nvPr>
        </p:nvSpPr>
        <p:spPr/>
        <p:txBody>
          <a:bodyPr/>
          <a:lstStyle/>
          <a:p>
            <a:fld id="{7F5C1A59-4BD6-4F03-BB06-BBB7B3725BFE}" type="slidenum">
              <a:rPr lang="en-GB" smtClean="0"/>
              <a:t>9</a:t>
            </a:fld>
            <a:endParaRPr lang="en-GB"/>
          </a:p>
        </p:txBody>
      </p:sp>
    </p:spTree>
    <p:extLst>
      <p:ext uri="{BB962C8B-B14F-4D97-AF65-F5344CB8AC3E}">
        <p14:creationId xmlns:p14="http://schemas.microsoft.com/office/powerpoint/2010/main" val="239921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Container virtualization is a </a:t>
            </a:r>
            <a:r>
              <a:rPr lang="en-GB" b="1" dirty="0"/>
              <a:t>lightweight virtualization model</a:t>
            </a:r>
            <a:r>
              <a:rPr lang="en-GB" dirty="0"/>
              <a:t> that enables running multiple isolated applications on a shared operating system (OS). Unlike traditional virtual machines (VMs), containers </a:t>
            </a:r>
            <a:r>
              <a:rPr lang="en-GB" b="1" dirty="0"/>
              <a:t>do not</a:t>
            </a:r>
            <a:r>
              <a:rPr lang="en-GB" dirty="0"/>
              <a:t> include a full OS but instead share the host OS kernel while maintaining separate user spaces.</a:t>
            </a:r>
          </a:p>
          <a:p>
            <a:r>
              <a:rPr lang="en-GB" b="1" dirty="0"/>
              <a:t>Key Features of Container Virtualization</a:t>
            </a:r>
          </a:p>
          <a:p>
            <a:r>
              <a:rPr lang="en-GB" b="1" dirty="0"/>
              <a:t>1. Lightweight Virtualization Model</a:t>
            </a:r>
          </a:p>
          <a:p>
            <a:r>
              <a:rPr lang="en-GB" dirty="0"/>
              <a:t>✅ Containers </a:t>
            </a:r>
            <a:r>
              <a:rPr lang="en-GB" b="1" dirty="0"/>
              <a:t>share the same OS kernel</a:t>
            </a:r>
            <a:r>
              <a:rPr lang="en-GB" dirty="0"/>
              <a:t>, making them more lightweight than full VMs.</a:t>
            </a:r>
            <a:br>
              <a:rPr lang="en-GB" dirty="0"/>
            </a:br>
            <a:r>
              <a:rPr lang="en-GB" dirty="0"/>
              <a:t>✅ Instead of virtualizing hardware, it </a:t>
            </a:r>
            <a:r>
              <a:rPr lang="en-GB" b="1" dirty="0"/>
              <a:t>virtualizes only the user space</a:t>
            </a:r>
            <a:r>
              <a:rPr lang="en-GB" dirty="0"/>
              <a:t> of an application.</a:t>
            </a:r>
          </a:p>
          <a:p>
            <a:r>
              <a:rPr lang="en-GB" b="1" dirty="0"/>
              <a:t>2. OS-Level Virtualization</a:t>
            </a:r>
          </a:p>
          <a:p>
            <a:r>
              <a:rPr lang="en-GB" dirty="0"/>
              <a:t>✅ Containers run </a:t>
            </a:r>
            <a:r>
              <a:rPr lang="en-GB" b="1" dirty="0"/>
              <a:t>on top of a single host OS</a:t>
            </a:r>
            <a:r>
              <a:rPr lang="en-GB" dirty="0"/>
              <a:t> rather than requiring separate OS instances like VMs.</a:t>
            </a:r>
            <a:br>
              <a:rPr lang="en-GB" dirty="0"/>
            </a:br>
            <a:r>
              <a:rPr lang="en-GB" dirty="0"/>
              <a:t>✅ The OS manages and isolates multiple containers efficiently.</a:t>
            </a:r>
          </a:p>
          <a:p>
            <a:r>
              <a:rPr lang="en-GB" b="1" dirty="0"/>
              <a:t>3. Images Only Contain Libraries and Application Code</a:t>
            </a:r>
          </a:p>
          <a:p>
            <a:r>
              <a:rPr lang="en-GB" dirty="0"/>
              <a:t>✅ Unlike VMs, containers </a:t>
            </a:r>
            <a:r>
              <a:rPr lang="en-GB" b="1" dirty="0"/>
              <a:t>do not package a full OS</a:t>
            </a:r>
            <a:r>
              <a:rPr lang="en-GB" dirty="0"/>
              <a:t>, only the </a:t>
            </a:r>
            <a:r>
              <a:rPr lang="en-GB" b="1" dirty="0"/>
              <a:t>necessary dependencies</a:t>
            </a:r>
            <a:r>
              <a:rPr lang="en-GB" dirty="0"/>
              <a:t> (libraries, binaries, application code).</a:t>
            </a:r>
            <a:br>
              <a:rPr lang="en-GB" dirty="0"/>
            </a:br>
            <a:r>
              <a:rPr lang="en-GB" dirty="0"/>
              <a:t>✅ This results in </a:t>
            </a:r>
            <a:r>
              <a:rPr lang="en-GB" b="1" dirty="0"/>
              <a:t>smaller images</a:t>
            </a:r>
            <a:r>
              <a:rPr lang="en-GB" dirty="0"/>
              <a:t> and faster deployment.</a:t>
            </a:r>
          </a:p>
          <a:p>
            <a:r>
              <a:rPr lang="en-GB" b="1" dirty="0"/>
              <a:t>4. "User Space"</a:t>
            </a:r>
          </a:p>
          <a:p>
            <a:r>
              <a:rPr lang="en-GB" dirty="0"/>
              <a:t>✅ Each container has its </a:t>
            </a:r>
            <a:r>
              <a:rPr lang="en-GB" b="1" dirty="0"/>
              <a:t>own isolated user space</a:t>
            </a:r>
            <a:r>
              <a:rPr lang="en-GB" dirty="0"/>
              <a:t> but shares the same kernel with other containers on the host system.</a:t>
            </a:r>
          </a:p>
          <a:p>
            <a:r>
              <a:rPr lang="en-GB" b="1" dirty="0"/>
              <a:t>5. Resource Allocation to Containers</a:t>
            </a:r>
          </a:p>
          <a:p>
            <a:r>
              <a:rPr lang="en-GB" dirty="0"/>
              <a:t>✅ Containers can have </a:t>
            </a:r>
            <a:r>
              <a:rPr lang="en-GB" b="1" dirty="0"/>
              <a:t>specific CPU, memory, and storage limits</a:t>
            </a:r>
            <a:r>
              <a:rPr lang="en-GB" dirty="0"/>
              <a:t> assigned to them.</a:t>
            </a:r>
            <a:br>
              <a:rPr lang="en-GB" dirty="0"/>
            </a:br>
            <a:r>
              <a:rPr lang="en-GB" dirty="0"/>
              <a:t>✅ The OS manages resource allocation dynamically.</a:t>
            </a:r>
          </a:p>
          <a:p>
            <a:r>
              <a:rPr lang="en-GB" b="1" dirty="0"/>
              <a:t>6. Faster Start-Up</a:t>
            </a:r>
          </a:p>
          <a:p>
            <a:r>
              <a:rPr lang="en-GB" dirty="0"/>
              <a:t>✅ Containers </a:t>
            </a:r>
            <a:r>
              <a:rPr lang="en-GB" b="1" dirty="0"/>
              <a:t>start in seconds</a:t>
            </a:r>
            <a:r>
              <a:rPr lang="en-GB" dirty="0"/>
              <a:t>, unlike VMs that require booting a full OS.</a:t>
            </a:r>
            <a:br>
              <a:rPr lang="en-GB" dirty="0"/>
            </a:br>
            <a:r>
              <a:rPr lang="en-GB" dirty="0"/>
              <a:t>✅ This makes them ideal for </a:t>
            </a:r>
            <a:r>
              <a:rPr lang="en-GB" b="1" dirty="0"/>
              <a:t>microservices</a:t>
            </a:r>
            <a:r>
              <a:rPr lang="en-GB" dirty="0"/>
              <a:t> and cloud-native applications.</a:t>
            </a:r>
          </a:p>
          <a:p>
            <a:r>
              <a:rPr lang="en-GB" b="1" dirty="0"/>
              <a:t>7. Easy Replication</a:t>
            </a:r>
          </a:p>
          <a:p>
            <a:r>
              <a:rPr lang="en-GB" dirty="0"/>
              <a:t>✅ Containers allow for </a:t>
            </a:r>
            <a:r>
              <a:rPr lang="en-GB" b="1" dirty="0"/>
              <a:t>quick duplication</a:t>
            </a:r>
            <a:r>
              <a:rPr lang="en-GB" dirty="0"/>
              <a:t> and deployment of applications across different environments.</a:t>
            </a:r>
            <a:br>
              <a:rPr lang="en-GB" dirty="0"/>
            </a:br>
            <a:r>
              <a:rPr lang="en-GB" dirty="0"/>
              <a:t>✅ This makes them useful in </a:t>
            </a:r>
            <a:r>
              <a:rPr lang="en-GB" b="1" dirty="0"/>
              <a:t>DevOps, CI/CD pipelines, and scaling applications</a:t>
            </a:r>
            <a:r>
              <a:rPr lang="en-GB" dirty="0"/>
              <a:t>.</a:t>
            </a:r>
          </a:p>
          <a:p>
            <a:r>
              <a:rPr lang="en-GB" b="1" dirty="0"/>
              <a:t>8. Worse Isolation Compared to VMs</a:t>
            </a:r>
          </a:p>
          <a:p>
            <a:r>
              <a:rPr lang="en-GB" dirty="0"/>
              <a:t>❌ Since containers </a:t>
            </a:r>
            <a:r>
              <a:rPr lang="en-GB" b="1" dirty="0"/>
              <a:t>share the same OS kernel</a:t>
            </a:r>
            <a:r>
              <a:rPr lang="en-GB" dirty="0"/>
              <a:t>, they are </a:t>
            </a:r>
            <a:r>
              <a:rPr lang="en-GB" b="1" dirty="0"/>
              <a:t>less isolated</a:t>
            </a:r>
            <a:r>
              <a:rPr lang="en-GB" dirty="0"/>
              <a:t> than VMs.</a:t>
            </a:r>
            <a:br>
              <a:rPr lang="en-GB" dirty="0"/>
            </a:br>
            <a:r>
              <a:rPr lang="en-GB" dirty="0"/>
              <a:t>❌ A security vulnerability in the host OS </a:t>
            </a:r>
            <a:r>
              <a:rPr lang="en-GB" b="1" dirty="0"/>
              <a:t>can affect all containers</a:t>
            </a:r>
            <a:r>
              <a:rPr lang="en-GB" dirty="0"/>
              <a:t> running on it.</a:t>
            </a:r>
            <a:br>
              <a:rPr lang="en-GB" dirty="0"/>
            </a:br>
            <a:r>
              <a:rPr lang="en-GB" dirty="0"/>
              <a:t>❌ Unlike VMs, </a:t>
            </a:r>
            <a:r>
              <a:rPr lang="en-GB" b="1" dirty="0"/>
              <a:t>containers do not have their own dedicated OS kernel</a:t>
            </a:r>
            <a:r>
              <a:rPr lang="en-GB" dirty="0"/>
              <a:t>, so an attacker may exploit kernel vulnerabilities.</a:t>
            </a:r>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10</a:t>
            </a:fld>
            <a:endParaRPr lang="en-GB"/>
          </a:p>
        </p:txBody>
      </p:sp>
    </p:spTree>
    <p:extLst>
      <p:ext uri="{BB962C8B-B14F-4D97-AF65-F5344CB8AC3E}">
        <p14:creationId xmlns:p14="http://schemas.microsoft.com/office/powerpoint/2010/main" val="940392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Virtualization is a method of running multiple isolated environments on the same hardware. However, there are two main types of virtualization: </a:t>
            </a:r>
            <a:r>
              <a:rPr lang="en-GB" b="1" dirty="0"/>
              <a:t>Traditional Virtualization (VMs)</a:t>
            </a:r>
            <a:r>
              <a:rPr lang="en-GB" dirty="0"/>
              <a:t> and </a:t>
            </a:r>
            <a:r>
              <a:rPr lang="en-GB" b="1" dirty="0"/>
              <a:t>Container Virtualization</a:t>
            </a:r>
            <a:r>
              <a:rPr lang="en-GB" dirty="0"/>
              <a:t>.</a:t>
            </a:r>
          </a:p>
          <a:p>
            <a:r>
              <a:rPr lang="en-GB" b="1" dirty="0"/>
              <a:t>1. Traditional Virtualization (VMs)</a:t>
            </a:r>
          </a:p>
          <a:p>
            <a:r>
              <a:rPr lang="en-GB" dirty="0"/>
              <a:t>🔹 Uses </a:t>
            </a:r>
            <a:r>
              <a:rPr lang="en-GB" b="1" dirty="0"/>
              <a:t>Hypervisors (VMMs)</a:t>
            </a:r>
            <a:r>
              <a:rPr lang="en-GB" dirty="0"/>
              <a:t> like VMware, VirtualBox, KVM, or Hyper-V.</a:t>
            </a:r>
            <a:br>
              <a:rPr lang="en-GB" dirty="0"/>
            </a:br>
            <a:r>
              <a:rPr lang="en-GB" dirty="0"/>
              <a:t>🔹 Each </a:t>
            </a:r>
            <a:r>
              <a:rPr lang="en-GB" b="1" dirty="0"/>
              <a:t>VM runs a full OS</a:t>
            </a:r>
            <a:r>
              <a:rPr lang="en-GB" dirty="0"/>
              <a:t>, including its own </a:t>
            </a:r>
            <a:r>
              <a:rPr lang="en-GB" b="1" dirty="0"/>
              <a:t>kernel</a:t>
            </a:r>
            <a:r>
              <a:rPr lang="en-GB" dirty="0"/>
              <a:t>, drivers, and system files.</a:t>
            </a:r>
            <a:br>
              <a:rPr lang="en-GB" dirty="0"/>
            </a:br>
            <a:r>
              <a:rPr lang="en-GB" dirty="0"/>
              <a:t>🔹 Requires </a:t>
            </a:r>
            <a:r>
              <a:rPr lang="en-GB" b="1" dirty="0"/>
              <a:t>hardware emulation</a:t>
            </a:r>
            <a:r>
              <a:rPr lang="en-GB" dirty="0"/>
              <a:t>, which increases overhead.</a:t>
            </a:r>
            <a:br>
              <a:rPr lang="en-GB" dirty="0"/>
            </a:br>
            <a:r>
              <a:rPr lang="en-GB" dirty="0"/>
              <a:t>🔹 VMs provide </a:t>
            </a:r>
            <a:r>
              <a:rPr lang="en-GB" b="1" dirty="0"/>
              <a:t>strong isolation</a:t>
            </a:r>
            <a:r>
              <a:rPr lang="en-GB" dirty="0"/>
              <a:t> but consume </a:t>
            </a:r>
            <a:r>
              <a:rPr lang="en-GB" b="1" dirty="0"/>
              <a:t>more resources</a:t>
            </a:r>
            <a:r>
              <a:rPr lang="en-GB" dirty="0"/>
              <a:t>.</a:t>
            </a:r>
            <a:br>
              <a:rPr lang="en-GB" dirty="0"/>
            </a:br>
            <a:r>
              <a:rPr lang="en-GB" dirty="0"/>
              <a:t>🔹 Each VM can run a </a:t>
            </a:r>
            <a:r>
              <a:rPr lang="en-GB" b="1" dirty="0"/>
              <a:t>different OS</a:t>
            </a:r>
            <a:r>
              <a:rPr lang="en-GB" dirty="0"/>
              <a:t> (e.g., Linux on Windows).</a:t>
            </a:r>
            <a:br>
              <a:rPr lang="en-GB" dirty="0"/>
            </a:br>
            <a:r>
              <a:rPr lang="en-GB" dirty="0"/>
              <a:t>🔹 </a:t>
            </a:r>
            <a:r>
              <a:rPr lang="en-GB" b="1" dirty="0"/>
              <a:t>Slower startup time</a:t>
            </a:r>
            <a:r>
              <a:rPr lang="en-GB" dirty="0"/>
              <a:t> due to full OS booting.</a:t>
            </a:r>
          </a:p>
          <a:p>
            <a:r>
              <a:rPr lang="en-GB" b="1" dirty="0"/>
              <a:t>Example: Running multiple OS environments (Windows, Linux) on a single physical machine.</a:t>
            </a:r>
          </a:p>
          <a:p>
            <a:r>
              <a:rPr lang="en-GB" b="1" dirty="0"/>
              <a:t>Architecture of Traditional Virtualization</a:t>
            </a:r>
          </a:p>
          <a:p>
            <a:r>
              <a:rPr lang="en-GB" dirty="0" err="1"/>
              <a:t>lua</a:t>
            </a:r>
            <a:endParaRPr lang="en-GB" dirty="0"/>
          </a:p>
          <a:p>
            <a:r>
              <a:rPr lang="en-GB" dirty="0" err="1"/>
              <a:t>CopyEdit</a:t>
            </a:r>
            <a:endParaRPr lang="en-GB" dirty="0"/>
          </a:p>
          <a:p>
            <a:pPr rtl="0"/>
            <a:r>
              <a:rPr lang="en-GB" dirty="0"/>
              <a:t>-------------------------------- | Physical Hardware | |------------------------------| | Hypervisor (VMM) | |------------------------------| | VM 1 | VM 2 | VM 3 | | OS 1 | OS 2 | OS 3 | -------------------------------- </a:t>
            </a:r>
          </a:p>
          <a:p>
            <a:r>
              <a:rPr lang="en-GB" b="1" dirty="0"/>
              <a:t>2. Virtual Containers</a:t>
            </a:r>
          </a:p>
          <a:p>
            <a:r>
              <a:rPr lang="en-GB" dirty="0"/>
              <a:t>🔹 Uses </a:t>
            </a:r>
            <a:r>
              <a:rPr lang="en-GB" b="1" dirty="0"/>
              <a:t>OS-level virtualization</a:t>
            </a:r>
            <a:r>
              <a:rPr lang="en-GB" dirty="0"/>
              <a:t> (e.g., Docker, LXC, </a:t>
            </a:r>
            <a:r>
              <a:rPr lang="en-GB" dirty="0" err="1"/>
              <a:t>Podman</a:t>
            </a:r>
            <a:r>
              <a:rPr lang="en-GB" dirty="0"/>
              <a:t>).</a:t>
            </a:r>
            <a:br>
              <a:rPr lang="en-GB" dirty="0"/>
            </a:br>
            <a:r>
              <a:rPr lang="en-GB" dirty="0"/>
              <a:t>🔹 Containers share the </a:t>
            </a:r>
            <a:r>
              <a:rPr lang="en-GB" b="1" dirty="0"/>
              <a:t>same OS kernel</a:t>
            </a:r>
            <a:r>
              <a:rPr lang="en-GB" dirty="0"/>
              <a:t>, making them </a:t>
            </a:r>
            <a:r>
              <a:rPr lang="en-GB" b="1" dirty="0"/>
              <a:t>lightweight</a:t>
            </a:r>
            <a:r>
              <a:rPr lang="en-GB" dirty="0"/>
              <a:t>.</a:t>
            </a:r>
            <a:br>
              <a:rPr lang="en-GB" dirty="0"/>
            </a:br>
            <a:r>
              <a:rPr lang="en-GB" dirty="0"/>
              <a:t>🔹 </a:t>
            </a:r>
            <a:r>
              <a:rPr lang="en-GB" b="1" dirty="0"/>
              <a:t>No full OS per container</a:t>
            </a:r>
            <a:r>
              <a:rPr lang="en-GB" dirty="0"/>
              <a:t>, only app-specific libraries and dependencies.</a:t>
            </a:r>
            <a:br>
              <a:rPr lang="en-GB" dirty="0"/>
            </a:br>
            <a:r>
              <a:rPr lang="en-GB" dirty="0"/>
              <a:t>🔹 </a:t>
            </a:r>
            <a:r>
              <a:rPr lang="en-GB" b="1" dirty="0"/>
              <a:t>Faster startup</a:t>
            </a:r>
            <a:r>
              <a:rPr lang="en-GB" dirty="0"/>
              <a:t> as there’s no OS boot process.</a:t>
            </a:r>
            <a:br>
              <a:rPr lang="en-GB" dirty="0"/>
            </a:br>
            <a:r>
              <a:rPr lang="en-GB" dirty="0"/>
              <a:t>🔹 </a:t>
            </a:r>
            <a:r>
              <a:rPr lang="en-GB" b="1" dirty="0"/>
              <a:t>Better performance</a:t>
            </a:r>
            <a:r>
              <a:rPr lang="en-GB" dirty="0"/>
              <a:t> since there's no hardware emulation.</a:t>
            </a:r>
            <a:br>
              <a:rPr lang="en-GB" dirty="0"/>
            </a:br>
            <a:r>
              <a:rPr lang="en-GB" dirty="0"/>
              <a:t>🔹 </a:t>
            </a:r>
            <a:r>
              <a:rPr lang="en-GB" b="1" dirty="0"/>
              <a:t>Weaker isolation</a:t>
            </a:r>
            <a:r>
              <a:rPr lang="en-GB" dirty="0"/>
              <a:t> than VMs (since all containers share the host kernel).</a:t>
            </a:r>
            <a:br>
              <a:rPr lang="en-GB" dirty="0"/>
            </a:br>
            <a:r>
              <a:rPr lang="en-GB" dirty="0"/>
              <a:t>🔹 Containers are </a:t>
            </a:r>
            <a:r>
              <a:rPr lang="en-GB" b="1" dirty="0"/>
              <a:t>portable and scalable</a:t>
            </a:r>
            <a:r>
              <a:rPr lang="en-GB" dirty="0"/>
              <a:t>, making them ideal for </a:t>
            </a:r>
            <a:r>
              <a:rPr lang="en-GB" b="1" dirty="0"/>
              <a:t>microservices and cloud applications</a:t>
            </a:r>
            <a:r>
              <a:rPr lang="en-GB" dirty="0"/>
              <a:t>.</a:t>
            </a:r>
          </a:p>
          <a:p>
            <a:r>
              <a:rPr lang="en-GB" b="1" dirty="0"/>
              <a:t>Example: Running multiple isolated applications (e.g., Nginx, MySQL, Redis) on a single OS.</a:t>
            </a:r>
          </a:p>
          <a:p>
            <a:r>
              <a:rPr lang="en-GB" b="1" dirty="0"/>
              <a:t>Architecture of Container Virtualization</a:t>
            </a:r>
          </a:p>
          <a:p>
            <a:r>
              <a:rPr lang="en-GB" dirty="0" err="1"/>
              <a:t>lua</a:t>
            </a:r>
            <a:endParaRPr lang="en-GB" dirty="0"/>
          </a:p>
          <a:p>
            <a:r>
              <a:rPr lang="en-GB" dirty="0" err="1"/>
              <a:t>CopyEdit</a:t>
            </a:r>
            <a:endParaRPr lang="en-GB" dirty="0"/>
          </a:p>
          <a:p>
            <a:pPr rtl="0"/>
            <a:r>
              <a:rPr lang="en-GB" dirty="0"/>
              <a:t>-------------------------------- | Physical Hardware | |------------------------------| | Host OS | |------------------------------| | Container Engine (Docker) | |------------------------------| | App 1 | App 2 | App 3 | | Libs | Libs | Libs | --------------------------------</a:t>
            </a:r>
          </a:p>
          <a:p>
            <a:endParaRPr lang="en-GB" dirty="0"/>
          </a:p>
        </p:txBody>
      </p:sp>
      <p:sp>
        <p:nvSpPr>
          <p:cNvPr id="4" name="Slide Number Placeholder 3"/>
          <p:cNvSpPr>
            <a:spLocks noGrp="1"/>
          </p:cNvSpPr>
          <p:nvPr>
            <p:ph type="sldNum" sz="quarter" idx="5"/>
          </p:nvPr>
        </p:nvSpPr>
        <p:spPr/>
        <p:txBody>
          <a:bodyPr/>
          <a:lstStyle/>
          <a:p>
            <a:fld id="{7F5C1A59-4BD6-4F03-BB06-BBB7B3725BFE}" type="slidenum">
              <a:rPr lang="en-GB" smtClean="0"/>
              <a:t>11</a:t>
            </a:fld>
            <a:endParaRPr lang="en-GB"/>
          </a:p>
        </p:txBody>
      </p:sp>
    </p:spTree>
    <p:extLst>
      <p:ext uri="{BB962C8B-B14F-4D97-AF65-F5344CB8AC3E}">
        <p14:creationId xmlns:p14="http://schemas.microsoft.com/office/powerpoint/2010/main" val="2125631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242C-9761-3777-DEBD-17F3705896FF}"/>
              </a:ext>
            </a:extLst>
          </p:cNvPr>
          <p:cNvSpPr>
            <a:spLocks noGrp="1"/>
          </p:cNvSpPr>
          <p:nvPr>
            <p:ph type="ctrTitle"/>
          </p:nvPr>
        </p:nvSpPr>
        <p:spPr>
          <a:xfrm>
            <a:off x="1238250" y="1122363"/>
            <a:ext cx="7429500" cy="2387600"/>
          </a:xfrm>
        </p:spPr>
        <p:txBody>
          <a:bodyPr anchor="b"/>
          <a:lstStyle>
            <a:lvl1pPr algn="ctr">
              <a:defRPr sz="4875"/>
            </a:lvl1pPr>
          </a:lstStyle>
          <a:p>
            <a:r>
              <a:rPr lang="en-US"/>
              <a:t>Click to edit Master title style</a:t>
            </a:r>
          </a:p>
        </p:txBody>
      </p:sp>
      <p:sp>
        <p:nvSpPr>
          <p:cNvPr id="3" name="Subtitle 2">
            <a:extLst>
              <a:ext uri="{FF2B5EF4-FFF2-40B4-BE49-F238E27FC236}">
                <a16:creationId xmlns:a16="http://schemas.microsoft.com/office/drawing/2014/main" id="{9758D072-2270-26CA-CDF3-B7A916A41694}"/>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4" name="Date Placeholder 3">
            <a:extLst>
              <a:ext uri="{FF2B5EF4-FFF2-40B4-BE49-F238E27FC236}">
                <a16:creationId xmlns:a16="http://schemas.microsoft.com/office/drawing/2014/main" id="{90B9CC7B-ECDE-63C0-60C8-122E8E5EDF57}"/>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4E27888E-D3A7-BECA-3A70-18E41B72E0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97E04-BEBF-77EC-22CD-1F0CCE4D22E4}"/>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314617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2161-D54D-A20E-C676-C7769E8AC3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8BADA4-9C7A-8E85-5ACF-763DDDD14A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E7735-57A3-5962-CE74-870EE8D58FD3}"/>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8A7C9146-7CA5-ED71-5873-245125CA6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07BE0-2AC2-5D67-B6FC-6C1E73D73FC2}"/>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2472577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DE54-0693-3740-EB9E-480BD838FD57}"/>
              </a:ext>
            </a:extLst>
          </p:cNvPr>
          <p:cNvSpPr>
            <a:spLocks noGrp="1"/>
          </p:cNvSpPr>
          <p:nvPr>
            <p:ph type="title"/>
          </p:nvPr>
        </p:nvSpPr>
        <p:spPr>
          <a:xfrm>
            <a:off x="675878" y="1709739"/>
            <a:ext cx="8543925" cy="2852737"/>
          </a:xfrm>
        </p:spPr>
        <p:txBody>
          <a:bodyPr anchor="b"/>
          <a:lstStyle>
            <a:lvl1pPr>
              <a:defRPr sz="4875"/>
            </a:lvl1pPr>
          </a:lstStyle>
          <a:p>
            <a:r>
              <a:rPr lang="en-US"/>
              <a:t>Click to edit Master title style</a:t>
            </a:r>
          </a:p>
        </p:txBody>
      </p:sp>
      <p:sp>
        <p:nvSpPr>
          <p:cNvPr id="3" name="Text Placeholder 2">
            <a:extLst>
              <a:ext uri="{FF2B5EF4-FFF2-40B4-BE49-F238E27FC236}">
                <a16:creationId xmlns:a16="http://schemas.microsoft.com/office/drawing/2014/main" id="{76D40114-D8CD-973D-022A-FD19F3D7E9F7}"/>
              </a:ext>
            </a:extLst>
          </p:cNvPr>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317527-CA8D-CB6C-A4E8-D704593B6EA8}"/>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78D8E1DD-EE5A-C9C5-BA5D-E8E4D7E473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40FB7-7A2D-79F2-C313-55C30DE30CDC}"/>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387206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9120-6284-BAE1-09CB-4D8AFBA07B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96D933-DBCA-C0A2-DD3F-E7EDB2AB1F21}"/>
              </a:ext>
            </a:extLst>
          </p:cNvPr>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91B8A5-40EE-5584-D65D-7A68B87454F7}"/>
              </a:ext>
            </a:extLst>
          </p:cNvPr>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CA34FF-A57C-FC60-A3FE-D0682B7B91DC}"/>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6" name="Footer Placeholder 5">
            <a:extLst>
              <a:ext uri="{FF2B5EF4-FFF2-40B4-BE49-F238E27FC236}">
                <a16:creationId xmlns:a16="http://schemas.microsoft.com/office/drawing/2014/main" id="{BF577EA2-8DF3-E989-4E8F-E194F05F9D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480AF8-386D-A083-C399-1800CD218096}"/>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3134492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0BF49-602B-2C89-7C8D-1DEF307BDBB2}"/>
              </a:ext>
            </a:extLst>
          </p:cNvPr>
          <p:cNvSpPr>
            <a:spLocks noGrp="1"/>
          </p:cNvSpPr>
          <p:nvPr>
            <p:ph type="title"/>
          </p:nvPr>
        </p:nvSpPr>
        <p:spPr>
          <a:xfrm>
            <a:off x="682328" y="365126"/>
            <a:ext cx="8543925"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D03ED8-4A78-A12B-D40B-9E433447768D}"/>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4" name="Content Placeholder 3">
            <a:extLst>
              <a:ext uri="{FF2B5EF4-FFF2-40B4-BE49-F238E27FC236}">
                <a16:creationId xmlns:a16="http://schemas.microsoft.com/office/drawing/2014/main" id="{68C642E4-0DEA-EC23-E8C8-9686B9FE9704}"/>
              </a:ext>
            </a:extLst>
          </p:cNvPr>
          <p:cNvSpPr>
            <a:spLocks noGrp="1"/>
          </p:cNvSpPr>
          <p:nvPr>
            <p:ph sz="half" idx="2"/>
          </p:nvPr>
        </p:nvSpPr>
        <p:spPr>
          <a:xfrm>
            <a:off x="682328"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72F91-FC9E-41CE-E5C7-4F427019D306}"/>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6" name="Content Placeholder 5">
            <a:extLst>
              <a:ext uri="{FF2B5EF4-FFF2-40B4-BE49-F238E27FC236}">
                <a16:creationId xmlns:a16="http://schemas.microsoft.com/office/drawing/2014/main" id="{C752FC35-7D37-928C-1CB6-5FEC40387904}"/>
              </a:ext>
            </a:extLst>
          </p:cNvPr>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228356-95C9-AE14-9E1C-C874A1E003B9}"/>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8" name="Footer Placeholder 7">
            <a:extLst>
              <a:ext uri="{FF2B5EF4-FFF2-40B4-BE49-F238E27FC236}">
                <a16:creationId xmlns:a16="http://schemas.microsoft.com/office/drawing/2014/main" id="{7A50A1AB-B707-4C7A-7B26-5CD0BB8C18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A4236D-4796-6C5D-E017-92325A8EADF2}"/>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207508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2A01-EC83-4C8A-3998-C86CDEC9CA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317698-0FF0-CFF5-949A-9BF0C894F1FA}"/>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4" name="Footer Placeholder 3">
            <a:extLst>
              <a:ext uri="{FF2B5EF4-FFF2-40B4-BE49-F238E27FC236}">
                <a16:creationId xmlns:a16="http://schemas.microsoft.com/office/drawing/2014/main" id="{52B89E89-151F-D726-383E-E25703066E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E72AF-8180-27BE-B652-790D67AB3F3B}"/>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3371888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74FFA4-E2AA-C56A-2E8E-DAC25E1217BB}"/>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3" name="Footer Placeholder 2">
            <a:extLst>
              <a:ext uri="{FF2B5EF4-FFF2-40B4-BE49-F238E27FC236}">
                <a16:creationId xmlns:a16="http://schemas.microsoft.com/office/drawing/2014/main" id="{565D09E2-2A4B-3970-D098-8962C5BFDE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E4613A-0D36-8258-F736-C8C049D87587}"/>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143103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09C31-E063-BF27-D029-56289DF36662}"/>
              </a:ext>
            </a:extLst>
          </p:cNvPr>
          <p:cNvSpPr>
            <a:spLocks noGrp="1"/>
          </p:cNvSpPr>
          <p:nvPr>
            <p:ph type="title"/>
          </p:nvPr>
        </p:nvSpPr>
        <p:spPr>
          <a:xfrm>
            <a:off x="682328" y="457200"/>
            <a:ext cx="3194943" cy="1600200"/>
          </a:xfrm>
        </p:spPr>
        <p:txBody>
          <a:bodyPr anchor="b"/>
          <a:lstStyle>
            <a:lvl1pPr>
              <a:defRPr sz="2600"/>
            </a:lvl1pPr>
          </a:lstStyle>
          <a:p>
            <a:r>
              <a:rPr lang="en-US"/>
              <a:t>Click to edit Master title style</a:t>
            </a:r>
          </a:p>
        </p:txBody>
      </p:sp>
      <p:sp>
        <p:nvSpPr>
          <p:cNvPr id="3" name="Content Placeholder 2">
            <a:extLst>
              <a:ext uri="{FF2B5EF4-FFF2-40B4-BE49-F238E27FC236}">
                <a16:creationId xmlns:a16="http://schemas.microsoft.com/office/drawing/2014/main" id="{6A262C29-AC65-877C-BDCC-54DB0BE6443D}"/>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C0E4C9-476F-845A-22D1-99EFFCE6208B}"/>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US"/>
              <a:t>Click to edit Master text styles</a:t>
            </a:r>
          </a:p>
        </p:txBody>
      </p:sp>
      <p:sp>
        <p:nvSpPr>
          <p:cNvPr id="5" name="Date Placeholder 4">
            <a:extLst>
              <a:ext uri="{FF2B5EF4-FFF2-40B4-BE49-F238E27FC236}">
                <a16:creationId xmlns:a16="http://schemas.microsoft.com/office/drawing/2014/main" id="{8AC65721-21FB-9DDF-8EDD-00DA1FC0C911}"/>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6" name="Footer Placeholder 5">
            <a:extLst>
              <a:ext uri="{FF2B5EF4-FFF2-40B4-BE49-F238E27FC236}">
                <a16:creationId xmlns:a16="http://schemas.microsoft.com/office/drawing/2014/main" id="{D53BBC3C-22D7-CA6F-CF74-ADDDBBB6AA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64EF4-24A8-43D8-3E2B-04CDB1756BFA}"/>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1916635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3D23-36D5-34ED-EEB0-1409B7B131D5}"/>
              </a:ext>
            </a:extLst>
          </p:cNvPr>
          <p:cNvSpPr>
            <a:spLocks noGrp="1"/>
          </p:cNvSpPr>
          <p:nvPr>
            <p:ph type="title"/>
          </p:nvPr>
        </p:nvSpPr>
        <p:spPr>
          <a:xfrm>
            <a:off x="682328" y="457200"/>
            <a:ext cx="3194943" cy="1600200"/>
          </a:xfrm>
        </p:spPr>
        <p:txBody>
          <a:bodyPr anchor="b"/>
          <a:lstStyle>
            <a:lvl1pPr>
              <a:defRPr sz="2600"/>
            </a:lvl1pPr>
          </a:lstStyle>
          <a:p>
            <a:r>
              <a:rPr lang="en-US"/>
              <a:t>Click to edit Master title style</a:t>
            </a:r>
          </a:p>
        </p:txBody>
      </p:sp>
      <p:sp>
        <p:nvSpPr>
          <p:cNvPr id="3" name="Picture Placeholder 2">
            <a:extLst>
              <a:ext uri="{FF2B5EF4-FFF2-40B4-BE49-F238E27FC236}">
                <a16:creationId xmlns:a16="http://schemas.microsoft.com/office/drawing/2014/main" id="{21EBEFA2-3A2F-4B55-F778-38997B4CA583}"/>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en-US"/>
          </a:p>
        </p:txBody>
      </p:sp>
      <p:sp>
        <p:nvSpPr>
          <p:cNvPr id="4" name="Text Placeholder 3">
            <a:extLst>
              <a:ext uri="{FF2B5EF4-FFF2-40B4-BE49-F238E27FC236}">
                <a16:creationId xmlns:a16="http://schemas.microsoft.com/office/drawing/2014/main" id="{2F92BD68-DC90-25E3-08E7-347264CC812E}"/>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US"/>
              <a:t>Click to edit Master text styles</a:t>
            </a:r>
          </a:p>
        </p:txBody>
      </p:sp>
      <p:sp>
        <p:nvSpPr>
          <p:cNvPr id="5" name="Date Placeholder 4">
            <a:extLst>
              <a:ext uri="{FF2B5EF4-FFF2-40B4-BE49-F238E27FC236}">
                <a16:creationId xmlns:a16="http://schemas.microsoft.com/office/drawing/2014/main" id="{B432E27A-5F7C-B374-31A6-9A32CD126B4A}"/>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6" name="Footer Placeholder 5">
            <a:extLst>
              <a:ext uri="{FF2B5EF4-FFF2-40B4-BE49-F238E27FC236}">
                <a16:creationId xmlns:a16="http://schemas.microsoft.com/office/drawing/2014/main" id="{D0A7DE5B-9944-3669-4D02-D55C5FADF1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642490-56DC-8D10-74C4-FAA2655D1168}"/>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2043776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53000-8931-CDA4-0864-E71AA4B2F7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1956A-7ABC-97BF-E1FF-F09F940EAC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4293E-0E68-36F6-0E60-B36F04F2FAB2}"/>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0B0E9AD9-292D-CF27-9277-F11735CE9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954F9-D287-703B-CA58-EA6B45EEB453}"/>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324529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4EF5E5-55FF-A132-A497-AA69941256FC}"/>
              </a:ext>
            </a:extLst>
          </p:cNvPr>
          <p:cNvSpPr>
            <a:spLocks noGrp="1"/>
          </p:cNvSpPr>
          <p:nvPr>
            <p:ph type="title" orient="vert"/>
          </p:nvPr>
        </p:nvSpPr>
        <p:spPr>
          <a:xfrm>
            <a:off x="7088981" y="365125"/>
            <a:ext cx="2135981"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41E0A1-4164-84B8-CEF9-ACBF68C2A15F}"/>
              </a:ext>
            </a:extLst>
          </p:cNvPr>
          <p:cNvSpPr>
            <a:spLocks noGrp="1"/>
          </p:cNvSpPr>
          <p:nvPr>
            <p:ph type="body" orient="vert" idx="1"/>
          </p:nvPr>
        </p:nvSpPr>
        <p:spPr>
          <a:xfrm>
            <a:off x="681037"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099E4E-0A33-9872-963F-058EE35B81BF}"/>
              </a:ext>
            </a:extLst>
          </p:cNvPr>
          <p:cNvSpPr>
            <a:spLocks noGrp="1"/>
          </p:cNvSpPr>
          <p:nvPr>
            <p:ph type="dt" sz="half" idx="10"/>
          </p:nvPr>
        </p:nvSpPr>
        <p:spPr/>
        <p:txBody>
          <a:body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E2CA113B-1E10-CA5A-B3BF-E2807C1D6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A3EBC7-9FA1-0AE2-58F4-3A4CA3ECF170}"/>
              </a:ext>
            </a:extLst>
          </p:cNvPr>
          <p:cNvSpPr>
            <a:spLocks noGrp="1"/>
          </p:cNvSpPr>
          <p:nvPr>
            <p:ph type="sldNum" sz="quarter" idx="12"/>
          </p:nvPr>
        </p:nvSpPr>
        <p:spPr/>
        <p:txBody>
          <a:body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885114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74040" y="679449"/>
            <a:ext cx="4211320" cy="635000"/>
          </a:xfrm>
          <a:prstGeom prst="rect">
            <a:avLst/>
          </a:prstGeom>
        </p:spPr>
        <p:txBody>
          <a:bodyPr wrap="square" lIns="0" tIns="0" rIns="0" bIns="0">
            <a:spAutoFit/>
          </a:bodyPr>
          <a:lstStyle>
            <a:lvl1pPr>
              <a:defRPr sz="4000" b="0" i="0">
                <a:solidFill>
                  <a:srgbClr val="E1751D"/>
                </a:solidFill>
                <a:latin typeface="Calibri"/>
                <a:cs typeface="Calibri"/>
              </a:defRPr>
            </a:lvl1pPr>
          </a:lstStyle>
          <a:p>
            <a:endParaRPr/>
          </a:p>
        </p:txBody>
      </p:sp>
      <p:sp>
        <p:nvSpPr>
          <p:cNvPr id="3" name="Holder 3"/>
          <p:cNvSpPr>
            <a:spLocks noGrp="1"/>
          </p:cNvSpPr>
          <p:nvPr>
            <p:ph type="subTitle" idx="4"/>
          </p:nvPr>
        </p:nvSpPr>
        <p:spPr>
          <a:xfrm>
            <a:off x="1485900" y="3840480"/>
            <a:ext cx="69342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defRPr sz="1400" b="1" i="0">
                <a:solidFill>
                  <a:srgbClr val="174A5B"/>
                </a:solidFill>
                <a:latin typeface="Calibri"/>
                <a:cs typeface="Calibri"/>
              </a:defRPr>
            </a:lvl1pPr>
          </a:lstStyle>
          <a:p>
            <a:pPr marL="127635">
              <a:lnSpc>
                <a:spcPts val="1435"/>
              </a:lnSpc>
            </a:pPr>
            <a:fld id="{81D60167-4931-47E6-BA6A-407CBD079E47}" type="slidenum">
              <a:rPr spc="-50" dirty="0"/>
              <a:t>‹#›</a:t>
            </a:fld>
            <a:endParaRPr spc="-50" dirty="0"/>
          </a:p>
        </p:txBody>
      </p:sp>
    </p:spTree>
    <p:extLst>
      <p:ext uri="{BB962C8B-B14F-4D97-AF65-F5344CB8AC3E}">
        <p14:creationId xmlns:p14="http://schemas.microsoft.com/office/powerpoint/2010/main" val="1088012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E1751D"/>
                </a:solidFill>
                <a:latin typeface="Calibri"/>
                <a:cs typeface="Calibri"/>
              </a:defRPr>
            </a:lvl1pPr>
          </a:lstStyle>
          <a:p>
            <a:endParaRPr/>
          </a:p>
        </p:txBody>
      </p:sp>
      <p:sp>
        <p:nvSpPr>
          <p:cNvPr id="3" name="Holder 3"/>
          <p:cNvSpPr>
            <a:spLocks noGrp="1"/>
          </p:cNvSpPr>
          <p:nvPr>
            <p:ph sz="half" idx="2"/>
          </p:nvPr>
        </p:nvSpPr>
        <p:spPr>
          <a:xfrm>
            <a:off x="495300" y="1577340"/>
            <a:ext cx="430911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7" name="Holder 7"/>
          <p:cNvSpPr>
            <a:spLocks noGrp="1"/>
          </p:cNvSpPr>
          <p:nvPr>
            <p:ph type="sldNum" sz="quarter" idx="7"/>
          </p:nvPr>
        </p:nvSpPr>
        <p:spPr/>
        <p:txBody>
          <a:bodyPr lIns="0" tIns="0" rIns="0" bIns="0"/>
          <a:lstStyle>
            <a:lvl1pPr>
              <a:defRPr sz="1400" b="1" i="0">
                <a:solidFill>
                  <a:srgbClr val="174A5B"/>
                </a:solidFill>
                <a:latin typeface="Calibri"/>
                <a:cs typeface="Calibri"/>
              </a:defRPr>
            </a:lvl1pPr>
          </a:lstStyle>
          <a:p>
            <a:pPr marL="127635">
              <a:lnSpc>
                <a:spcPts val="1435"/>
              </a:lnSpc>
            </a:pPr>
            <a:fld id="{81D60167-4931-47E6-BA6A-407CBD079E47}" type="slidenum">
              <a:rPr spc="-50" dirty="0"/>
              <a:t>‹#›</a:t>
            </a:fld>
            <a:endParaRPr spc="-50" dirty="0"/>
          </a:p>
        </p:txBody>
      </p:sp>
    </p:spTree>
    <p:extLst>
      <p:ext uri="{BB962C8B-B14F-4D97-AF65-F5344CB8AC3E}">
        <p14:creationId xmlns:p14="http://schemas.microsoft.com/office/powerpoint/2010/main" val="45820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DA6B89-3A8A-0B32-65F9-4029EED02D24}"/>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F1F6C7-6D93-3B73-E560-A5374BAA91A3}"/>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AA85C-428A-32BE-7C04-1287247005ED}"/>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1D8BD707-D9CF-40AE-B4C6-C98DA3205C09}" type="datetimeFigureOut">
              <a:rPr lang="en-US" smtClean="0"/>
              <a:t>9/22/2026</a:t>
            </a:fld>
            <a:endParaRPr lang="en-US"/>
          </a:p>
        </p:txBody>
      </p:sp>
      <p:sp>
        <p:nvSpPr>
          <p:cNvPr id="5" name="Footer Placeholder 4">
            <a:extLst>
              <a:ext uri="{FF2B5EF4-FFF2-40B4-BE49-F238E27FC236}">
                <a16:creationId xmlns:a16="http://schemas.microsoft.com/office/drawing/2014/main" id="{8F8F6DFB-6725-D2B3-018E-E7225C4C1FB8}"/>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DFB0B5-2DF6-B62E-C295-620912DB76D3}"/>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pPr marL="127635">
              <a:lnSpc>
                <a:spcPts val="1435"/>
              </a:lnSpc>
            </a:pPr>
            <a:fld id="{81D60167-4931-47E6-BA6A-407CBD079E47}" type="slidenum">
              <a:rPr lang="en-US" spc="-50" smtClean="0"/>
              <a:t>‹#›</a:t>
            </a:fld>
            <a:endParaRPr lang="en-US" spc="-50" dirty="0"/>
          </a:p>
        </p:txBody>
      </p:sp>
    </p:spTree>
    <p:extLst>
      <p:ext uri="{BB962C8B-B14F-4D97-AF65-F5344CB8AC3E}">
        <p14:creationId xmlns:p14="http://schemas.microsoft.com/office/powerpoint/2010/main" val="273844029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hyperlink" Target="https://docs.microsoft.com/en-us/virtualization/windowscontainers/about/containers-vs-v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datacenterknowledge.com/leed-platinum-data-centers" TargetMode="External"/><Relationship Id="rId2" Type="http://schemas.openxmlformats.org/officeDocument/2006/relationships/image" Target="../media/image12.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www.datacenterknowledge.com/leed-platinum-data-centers" TargetMode="External"/><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hyperlink" Target="http://www.bbc.co.uk/news/technology-54146718" TargetMode="External"/><Relationship Id="rId1" Type="http://schemas.openxmlformats.org/officeDocument/2006/relationships/slideLayout" Target="../slideLayouts/slideLayout12.xml"/><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g"/><Relationship Id="rId7"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20.jpg"/><Relationship Id="rId10" Type="http://schemas.openxmlformats.org/officeDocument/2006/relationships/image" Target="../media/image25.png"/><Relationship Id="rId4" Type="http://schemas.openxmlformats.org/officeDocument/2006/relationships/image" Target="../media/image19.jpg"/><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www.hl.co.uk/news/articles/archive/how-technology-companies-make-their-money" TargetMode="External"/><Relationship Id="rId5" Type="http://schemas.openxmlformats.org/officeDocument/2006/relationships/image" Target="../media/image43.jpg"/><Relationship Id="rId4" Type="http://schemas.openxmlformats.org/officeDocument/2006/relationships/image" Target="../media/image4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13.xml"/><Relationship Id="rId5" Type="http://schemas.openxmlformats.org/officeDocument/2006/relationships/image" Target="../media/image47.jpg"/><Relationship Id="rId4" Type="http://schemas.openxmlformats.org/officeDocument/2006/relationships/image" Target="../media/image4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5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jp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5.jp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EADB-9AC1-7CC9-DFDF-B5749A9B30F7}"/>
              </a:ext>
            </a:extLst>
          </p:cNvPr>
          <p:cNvSpPr>
            <a:spLocks noGrp="1"/>
          </p:cNvSpPr>
          <p:nvPr>
            <p:ph type="title"/>
          </p:nvPr>
        </p:nvSpPr>
        <p:spPr>
          <a:xfrm>
            <a:off x="574040" y="679448"/>
            <a:ext cx="8327390" cy="1354217"/>
          </a:xfrm>
        </p:spPr>
        <p:txBody>
          <a:bodyPr/>
          <a:lstStyle/>
          <a:p>
            <a:r>
              <a:rPr lang="en-GB" sz="8800" b="1" dirty="0"/>
              <a:t>Cloud computing</a:t>
            </a:r>
          </a:p>
        </p:txBody>
      </p:sp>
    </p:spTree>
    <p:extLst>
      <p:ext uri="{BB962C8B-B14F-4D97-AF65-F5344CB8AC3E}">
        <p14:creationId xmlns:p14="http://schemas.microsoft.com/office/powerpoint/2010/main" val="2604657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Contents</a:t>
            </a:r>
          </a:p>
        </p:txBody>
      </p:sp>
      <p:sp>
        <p:nvSpPr>
          <p:cNvPr id="3" name="object 3"/>
          <p:cNvSpPr txBox="1">
            <a:spLocks noGrp="1"/>
          </p:cNvSpPr>
          <p:nvPr>
            <p:ph idx="1"/>
          </p:nvPr>
        </p:nvSpPr>
        <p:spPr>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b="1" spc="-10" dirty="0">
                <a:solidFill>
                  <a:srgbClr val="234957"/>
                </a:solidFill>
                <a:latin typeface="Calibri"/>
                <a:cs typeface="Calibri"/>
              </a:rPr>
              <a:t>Virtualisation</a:t>
            </a:r>
          </a:p>
          <a:p>
            <a:pPr marL="194945" indent="-182245">
              <a:lnSpc>
                <a:spcPct val="100000"/>
              </a:lnSpc>
              <a:spcBef>
                <a:spcPts val="770"/>
              </a:spcBef>
              <a:buClr>
                <a:srgbClr val="2C7B9F"/>
              </a:buClr>
              <a:buSzPct val="84375"/>
              <a:buFont typeface="Arial MT"/>
              <a:buChar char="•"/>
              <a:tabLst>
                <a:tab pos="194945" algn="l"/>
              </a:tabLst>
            </a:pPr>
            <a:r>
              <a:rPr spc="-10" dirty="0"/>
              <a:t>Datacentres</a:t>
            </a:r>
          </a:p>
          <a:p>
            <a:pPr marL="194945" indent="-182245">
              <a:lnSpc>
                <a:spcPct val="100000"/>
              </a:lnSpc>
              <a:spcBef>
                <a:spcPts val="765"/>
              </a:spcBef>
              <a:buClr>
                <a:srgbClr val="2C7B9F"/>
              </a:buClr>
              <a:buSzPct val="84375"/>
              <a:buFont typeface="Arial MT"/>
              <a:buChar char="•"/>
              <a:tabLst>
                <a:tab pos="194945" algn="l"/>
              </a:tabLst>
            </a:pPr>
            <a:r>
              <a:rPr dirty="0"/>
              <a:t>Cloud</a:t>
            </a:r>
            <a:r>
              <a:rPr spc="-110" dirty="0"/>
              <a:t> </a:t>
            </a:r>
            <a:r>
              <a:rPr dirty="0"/>
              <a:t>Computing</a:t>
            </a:r>
            <a:r>
              <a:rPr spc="-70" dirty="0"/>
              <a:t> </a:t>
            </a:r>
            <a:r>
              <a:rPr spc="-10" dirty="0"/>
              <a:t>drivers</a:t>
            </a:r>
          </a:p>
          <a:p>
            <a:pPr marL="194945" indent="-182245">
              <a:lnSpc>
                <a:spcPct val="100000"/>
              </a:lnSpc>
              <a:spcBef>
                <a:spcPts val="770"/>
              </a:spcBef>
              <a:buClr>
                <a:srgbClr val="2C7B9F"/>
              </a:buClr>
              <a:buSzPct val="84375"/>
              <a:buFont typeface="Arial MT"/>
              <a:buChar char="•"/>
              <a:tabLst>
                <a:tab pos="194945" algn="l"/>
              </a:tabLst>
            </a:pPr>
            <a:r>
              <a:rPr dirty="0"/>
              <a:t>Cloud</a:t>
            </a:r>
            <a:r>
              <a:rPr spc="-80" dirty="0"/>
              <a:t> </a:t>
            </a:r>
            <a:r>
              <a:rPr spc="-10" dirty="0"/>
              <a:t>Computing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127635">
              <a:lnSpc>
                <a:spcPts val="1435"/>
              </a:lnSpc>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550669"/>
            <a:ext cx="8730615" cy="4069704"/>
          </a:xfrm>
          <a:prstGeom prst="rect">
            <a:avLst/>
          </a:prstGeom>
        </p:spPr>
        <p:txBody>
          <a:bodyPr vert="horz" wrap="square" lIns="0" tIns="12065" rIns="0" bIns="0" rtlCol="0">
            <a:spAutoFit/>
          </a:bodyPr>
          <a:lstStyle/>
          <a:p>
            <a:pPr marL="194945" marR="742950" indent="-182880">
              <a:lnSpc>
                <a:spcPct val="100000"/>
              </a:lnSpc>
              <a:spcBef>
                <a:spcPts val="95"/>
              </a:spcBef>
              <a:buClr>
                <a:srgbClr val="2C7B9F"/>
              </a:buClr>
              <a:buSzPct val="83928"/>
              <a:buFont typeface="Arial MT"/>
              <a:buChar char="•"/>
              <a:tabLst>
                <a:tab pos="194945" algn="l"/>
              </a:tabLst>
            </a:pPr>
            <a:r>
              <a:rPr sz="2800" dirty="0">
                <a:latin typeface="Calibri"/>
                <a:cs typeface="Calibri"/>
              </a:rPr>
              <a:t>Virtualisation:</a:t>
            </a:r>
            <a:r>
              <a:rPr sz="2800" spc="-60" dirty="0">
                <a:latin typeface="Calibri"/>
                <a:cs typeface="Calibri"/>
              </a:rPr>
              <a:t> </a:t>
            </a:r>
            <a:r>
              <a:rPr sz="2800" dirty="0">
                <a:latin typeface="Calibri"/>
                <a:cs typeface="Calibri"/>
              </a:rPr>
              <a:t>creation</a:t>
            </a:r>
            <a:r>
              <a:rPr sz="2800" spc="-10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a</a:t>
            </a:r>
            <a:r>
              <a:rPr sz="2800" spc="-70" dirty="0">
                <a:latin typeface="Calibri"/>
                <a:cs typeface="Calibri"/>
              </a:rPr>
              <a:t> </a:t>
            </a:r>
            <a:r>
              <a:rPr sz="2800" b="1" dirty="0">
                <a:solidFill>
                  <a:srgbClr val="234957"/>
                </a:solidFill>
                <a:latin typeface="Calibri"/>
                <a:cs typeface="Calibri"/>
              </a:rPr>
              <a:t>virtual</a:t>
            </a:r>
            <a:r>
              <a:rPr sz="2800" b="1" spc="-70" dirty="0">
                <a:solidFill>
                  <a:srgbClr val="234957"/>
                </a:solidFill>
                <a:latin typeface="Calibri"/>
                <a:cs typeface="Calibri"/>
              </a:rPr>
              <a:t> </a:t>
            </a:r>
            <a:r>
              <a:rPr sz="2800" dirty="0">
                <a:latin typeface="Calibri"/>
                <a:cs typeface="Calibri"/>
              </a:rPr>
              <a:t>version</a:t>
            </a:r>
            <a:r>
              <a:rPr sz="2800" spc="-75" dirty="0">
                <a:latin typeface="Calibri"/>
                <a:cs typeface="Calibri"/>
              </a:rPr>
              <a:t> </a:t>
            </a:r>
            <a:r>
              <a:rPr sz="2800" spc="-10" dirty="0">
                <a:latin typeface="Calibri"/>
                <a:cs typeface="Calibri"/>
              </a:rPr>
              <a:t>(instead</a:t>
            </a:r>
            <a:r>
              <a:rPr sz="2800" spc="-75" dirty="0">
                <a:latin typeface="Calibri"/>
                <a:cs typeface="Calibri"/>
              </a:rPr>
              <a:t> </a:t>
            </a:r>
            <a:r>
              <a:rPr sz="2800" spc="-25" dirty="0">
                <a:latin typeface="Calibri"/>
                <a:cs typeface="Calibri"/>
              </a:rPr>
              <a:t>of </a:t>
            </a:r>
            <a:r>
              <a:rPr sz="2800" dirty="0">
                <a:latin typeface="Calibri"/>
                <a:cs typeface="Calibri"/>
              </a:rPr>
              <a:t>actual)</a:t>
            </a:r>
            <a:r>
              <a:rPr sz="2800" spc="-75"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something,</a:t>
            </a:r>
            <a:r>
              <a:rPr sz="2800" spc="-85" dirty="0">
                <a:latin typeface="Calibri"/>
                <a:cs typeface="Calibri"/>
              </a:rPr>
              <a:t> </a:t>
            </a:r>
            <a:r>
              <a:rPr sz="2800" b="1" spc="-10" dirty="0">
                <a:solidFill>
                  <a:srgbClr val="234957"/>
                </a:solidFill>
                <a:latin typeface="Calibri"/>
                <a:cs typeface="Calibri"/>
              </a:rPr>
              <a:t>abstracting</a:t>
            </a:r>
            <a:r>
              <a:rPr sz="2800" b="1" spc="-35" dirty="0">
                <a:solidFill>
                  <a:srgbClr val="234957"/>
                </a:solidFill>
                <a:latin typeface="Calibri"/>
                <a:cs typeface="Calibri"/>
              </a:rPr>
              <a:t> </a:t>
            </a:r>
            <a:r>
              <a:rPr sz="2800" dirty="0">
                <a:latin typeface="Calibri"/>
                <a:cs typeface="Calibri"/>
              </a:rPr>
              <a:t>from</a:t>
            </a:r>
            <a:r>
              <a:rPr sz="2800" spc="-8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real</a:t>
            </a:r>
            <a:r>
              <a:rPr sz="2800" spc="-75" dirty="0">
                <a:latin typeface="Calibri"/>
                <a:cs typeface="Calibri"/>
              </a:rPr>
              <a:t> </a:t>
            </a:r>
            <a:r>
              <a:rPr sz="2800" spc="-10" dirty="0">
                <a:latin typeface="Calibri"/>
                <a:cs typeface="Calibri"/>
              </a:rPr>
              <a:t>details</a:t>
            </a:r>
            <a:endParaRPr sz="2800" dirty="0">
              <a:latin typeface="Calibri"/>
              <a:cs typeface="Calibri"/>
            </a:endParaRPr>
          </a:p>
          <a:p>
            <a:pPr marL="194945" marR="5080" indent="-182880">
              <a:lnSpc>
                <a:spcPct val="100000"/>
              </a:lnSpc>
              <a:spcBef>
                <a:spcPts val="670"/>
              </a:spcBef>
              <a:buClr>
                <a:srgbClr val="2C7B9F"/>
              </a:buClr>
              <a:buSzPct val="83928"/>
              <a:buFont typeface="Arial MT"/>
              <a:buChar char="•"/>
              <a:tabLst>
                <a:tab pos="194945" algn="l"/>
              </a:tabLst>
            </a:pPr>
            <a:r>
              <a:rPr sz="2800" b="1" spc="-10" dirty="0">
                <a:solidFill>
                  <a:srgbClr val="234957"/>
                </a:solidFill>
                <a:latin typeface="Calibri"/>
                <a:cs typeface="Calibri"/>
              </a:rPr>
              <a:t>Hardware</a:t>
            </a:r>
            <a:r>
              <a:rPr sz="2800" b="1" spc="-55" dirty="0">
                <a:solidFill>
                  <a:srgbClr val="234957"/>
                </a:solidFill>
                <a:latin typeface="Calibri"/>
                <a:cs typeface="Calibri"/>
              </a:rPr>
              <a:t> </a:t>
            </a:r>
            <a:r>
              <a:rPr sz="2800" b="1" spc="-10" dirty="0">
                <a:solidFill>
                  <a:srgbClr val="234957"/>
                </a:solidFill>
                <a:latin typeface="Calibri"/>
                <a:cs typeface="Calibri"/>
              </a:rPr>
              <a:t>virtualisation</a:t>
            </a:r>
            <a:r>
              <a:rPr sz="2800" b="1" spc="-50" dirty="0">
                <a:solidFill>
                  <a:srgbClr val="234957"/>
                </a:solidFill>
                <a:latin typeface="Calibri"/>
                <a:cs typeface="Calibri"/>
              </a:rPr>
              <a:t> </a:t>
            </a:r>
            <a:r>
              <a:rPr sz="2800" dirty="0">
                <a:latin typeface="Calibri"/>
                <a:cs typeface="Calibri"/>
              </a:rPr>
              <a:t>consists</a:t>
            </a:r>
            <a:r>
              <a:rPr sz="2800" spc="-4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showing</a:t>
            </a:r>
            <a:r>
              <a:rPr sz="2800" spc="-55" dirty="0">
                <a:latin typeface="Calibri"/>
                <a:cs typeface="Calibri"/>
              </a:rPr>
              <a:t> </a:t>
            </a:r>
            <a:r>
              <a:rPr sz="2800" dirty="0">
                <a:latin typeface="Calibri"/>
                <a:cs typeface="Calibri"/>
              </a:rPr>
              <a:t>an</a:t>
            </a:r>
            <a:r>
              <a:rPr sz="2800" spc="-60" dirty="0">
                <a:latin typeface="Calibri"/>
                <a:cs typeface="Calibri"/>
              </a:rPr>
              <a:t> </a:t>
            </a:r>
            <a:r>
              <a:rPr sz="2800" spc="-10" dirty="0">
                <a:latin typeface="Calibri"/>
                <a:cs typeface="Calibri"/>
              </a:rPr>
              <a:t>abstract </a:t>
            </a:r>
            <a:r>
              <a:rPr sz="2800" dirty="0">
                <a:latin typeface="Calibri"/>
                <a:cs typeface="Calibri"/>
              </a:rPr>
              <a:t>computing</a:t>
            </a:r>
            <a:r>
              <a:rPr sz="2800" spc="-65" dirty="0">
                <a:latin typeface="Calibri"/>
                <a:cs typeface="Calibri"/>
              </a:rPr>
              <a:t> </a:t>
            </a:r>
            <a:r>
              <a:rPr sz="2800" dirty="0">
                <a:latin typeface="Calibri"/>
                <a:cs typeface="Calibri"/>
              </a:rPr>
              <a:t>platform,</a:t>
            </a:r>
            <a:r>
              <a:rPr sz="2800" spc="-80" dirty="0">
                <a:latin typeface="Calibri"/>
                <a:cs typeface="Calibri"/>
              </a:rPr>
              <a:t> </a:t>
            </a:r>
            <a:r>
              <a:rPr sz="2800" dirty="0">
                <a:latin typeface="Calibri"/>
                <a:cs typeface="Calibri"/>
              </a:rPr>
              <a:t>hiding</a:t>
            </a:r>
            <a:r>
              <a:rPr sz="2800" spc="-60"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physical</a:t>
            </a:r>
            <a:r>
              <a:rPr sz="2800" spc="-70" dirty="0">
                <a:latin typeface="Calibri"/>
                <a:cs typeface="Calibri"/>
              </a:rPr>
              <a:t> </a:t>
            </a:r>
            <a:r>
              <a:rPr sz="2800" spc="-10" dirty="0">
                <a:latin typeface="Calibri"/>
                <a:cs typeface="Calibri"/>
              </a:rPr>
              <a:t>characteristics</a:t>
            </a:r>
            <a:r>
              <a:rPr sz="2800" spc="-70" dirty="0">
                <a:latin typeface="Calibri"/>
                <a:cs typeface="Calibri"/>
              </a:rPr>
              <a:t> </a:t>
            </a:r>
            <a:r>
              <a:rPr sz="2800" dirty="0">
                <a:latin typeface="Calibri"/>
                <a:cs typeface="Calibri"/>
              </a:rPr>
              <a:t>of</a:t>
            </a:r>
            <a:r>
              <a:rPr sz="2800" spc="-90" dirty="0">
                <a:latin typeface="Calibri"/>
                <a:cs typeface="Calibri"/>
              </a:rPr>
              <a:t> </a:t>
            </a:r>
            <a:r>
              <a:rPr sz="2800" spc="-50" dirty="0">
                <a:latin typeface="Calibri"/>
                <a:cs typeface="Calibri"/>
              </a:rPr>
              <a:t>a </a:t>
            </a:r>
            <a:r>
              <a:rPr sz="2800" dirty="0">
                <a:latin typeface="Calibri"/>
                <a:cs typeface="Calibri"/>
              </a:rPr>
              <a:t>computing</a:t>
            </a:r>
            <a:r>
              <a:rPr sz="2800" spc="-85" dirty="0">
                <a:latin typeface="Calibri"/>
                <a:cs typeface="Calibri"/>
              </a:rPr>
              <a:t> </a:t>
            </a:r>
            <a:r>
              <a:rPr sz="2800" dirty="0">
                <a:latin typeface="Calibri"/>
                <a:cs typeface="Calibri"/>
              </a:rPr>
              <a:t>platform</a:t>
            </a:r>
            <a:r>
              <a:rPr sz="2800" spc="-105" dirty="0">
                <a:latin typeface="Calibri"/>
                <a:cs typeface="Calibri"/>
              </a:rPr>
              <a:t> </a:t>
            </a:r>
            <a:r>
              <a:rPr sz="2800" dirty="0">
                <a:latin typeface="Calibri"/>
                <a:cs typeface="Calibri"/>
              </a:rPr>
              <a:t>from</a:t>
            </a:r>
            <a:r>
              <a:rPr sz="2800" spc="-105" dirty="0">
                <a:latin typeface="Calibri"/>
                <a:cs typeface="Calibri"/>
              </a:rPr>
              <a:t> </a:t>
            </a:r>
            <a:r>
              <a:rPr sz="2800" spc="-10" dirty="0">
                <a:latin typeface="Calibri"/>
                <a:cs typeface="Calibri"/>
              </a:rPr>
              <a:t>users.</a:t>
            </a:r>
            <a:endParaRPr sz="2800" dirty="0">
              <a:latin typeface="Calibri"/>
              <a:cs typeface="Calibri"/>
            </a:endParaRPr>
          </a:p>
          <a:p>
            <a:pPr marL="193675" marR="2980690" indent="-181610" algn="just">
              <a:lnSpc>
                <a:spcPct val="100000"/>
              </a:lnSpc>
              <a:spcBef>
                <a:spcPts val="675"/>
              </a:spcBef>
              <a:buClr>
                <a:srgbClr val="2C7B9F"/>
              </a:buClr>
              <a:buSzPct val="83928"/>
              <a:buFont typeface="Arial MT"/>
              <a:buChar char="•"/>
              <a:tabLst>
                <a:tab pos="194945" algn="l"/>
              </a:tabLst>
            </a:pPr>
            <a:r>
              <a:rPr sz="2800" dirty="0">
                <a:latin typeface="Calibri"/>
                <a:cs typeface="Calibri"/>
              </a:rPr>
              <a:t>The</a:t>
            </a:r>
            <a:r>
              <a:rPr sz="2800" spc="-40" dirty="0">
                <a:latin typeface="Calibri"/>
                <a:cs typeface="Calibri"/>
              </a:rPr>
              <a:t> </a:t>
            </a:r>
            <a:r>
              <a:rPr sz="2800" b="1" dirty="0">
                <a:solidFill>
                  <a:srgbClr val="234957"/>
                </a:solidFill>
                <a:latin typeface="Calibri"/>
                <a:cs typeface="Calibri"/>
              </a:rPr>
              <a:t>VMM</a:t>
            </a:r>
            <a:r>
              <a:rPr sz="2800" b="1" spc="-40" dirty="0">
                <a:solidFill>
                  <a:srgbClr val="234957"/>
                </a:solidFill>
                <a:latin typeface="Calibri"/>
                <a:cs typeface="Calibri"/>
              </a:rPr>
              <a:t> </a:t>
            </a:r>
            <a:r>
              <a:rPr sz="2800" dirty="0">
                <a:latin typeface="Calibri"/>
                <a:cs typeface="Calibri"/>
              </a:rPr>
              <a:t>(Virtual</a:t>
            </a:r>
            <a:r>
              <a:rPr sz="2800" spc="-40" dirty="0">
                <a:latin typeface="Calibri"/>
                <a:cs typeface="Calibri"/>
              </a:rPr>
              <a:t> </a:t>
            </a:r>
            <a:r>
              <a:rPr sz="2800" dirty="0">
                <a:latin typeface="Calibri"/>
                <a:cs typeface="Calibri"/>
              </a:rPr>
              <a:t>Machine</a:t>
            </a:r>
            <a:r>
              <a:rPr sz="2800" spc="-15" dirty="0">
                <a:latin typeface="Calibri"/>
                <a:cs typeface="Calibri"/>
              </a:rPr>
              <a:t> </a:t>
            </a:r>
            <a:r>
              <a:rPr sz="2800" spc="-10" dirty="0">
                <a:latin typeface="Calibri"/>
                <a:cs typeface="Calibri"/>
              </a:rPr>
              <a:t>Monitor)</a:t>
            </a:r>
            <a:r>
              <a:rPr lang="en-GB" sz="2800" spc="-10" dirty="0">
                <a:latin typeface="Calibri"/>
                <a:cs typeface="Calibri"/>
              </a:rPr>
              <a:t> S</a:t>
            </a:r>
            <a:r>
              <a:rPr sz="2800" dirty="0">
                <a:latin typeface="Calibri"/>
                <a:cs typeface="Calibri"/>
              </a:rPr>
              <a:t>software</a:t>
            </a:r>
            <a:r>
              <a:rPr sz="2800" spc="-65" dirty="0">
                <a:latin typeface="Calibri"/>
                <a:cs typeface="Calibri"/>
              </a:rPr>
              <a:t> </a:t>
            </a:r>
            <a:r>
              <a:rPr sz="2800" spc="-10" dirty="0">
                <a:latin typeface="Calibri"/>
                <a:cs typeface="Calibri"/>
              </a:rPr>
              <a:t>controls</a:t>
            </a:r>
            <a:r>
              <a:rPr sz="2800" spc="-45"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virtual</a:t>
            </a:r>
            <a:r>
              <a:rPr sz="2800" spc="-60" dirty="0">
                <a:latin typeface="Calibri"/>
                <a:cs typeface="Calibri"/>
              </a:rPr>
              <a:t> </a:t>
            </a:r>
            <a:r>
              <a:rPr sz="2800" spc="-10" dirty="0">
                <a:latin typeface="Calibri"/>
                <a:cs typeface="Calibri"/>
              </a:rPr>
              <a:t>machines</a:t>
            </a:r>
            <a:r>
              <a:rPr lang="en-GB" sz="2800" spc="-10" dirty="0">
                <a:latin typeface="Calibri"/>
                <a:cs typeface="Calibri"/>
              </a:rPr>
              <a:t>  </a:t>
            </a:r>
            <a:r>
              <a:rPr sz="2800" spc="-10" dirty="0">
                <a:latin typeface="Calibri"/>
                <a:cs typeface="Calibri"/>
              </a:rPr>
              <a:t>	</a:t>
            </a:r>
            <a:r>
              <a:rPr sz="2800" dirty="0">
                <a:latin typeface="Calibri"/>
                <a:cs typeface="Calibri"/>
              </a:rPr>
              <a:t>and</a:t>
            </a:r>
            <a:r>
              <a:rPr sz="2800" spc="-35" dirty="0">
                <a:latin typeface="Calibri"/>
                <a:cs typeface="Calibri"/>
              </a:rPr>
              <a:t> </a:t>
            </a:r>
            <a:r>
              <a:rPr sz="2800" dirty="0">
                <a:latin typeface="Calibri"/>
                <a:cs typeface="Calibri"/>
              </a:rPr>
              <a:t>mediates</a:t>
            </a:r>
            <a:r>
              <a:rPr sz="2800" spc="-55" dirty="0">
                <a:latin typeface="Calibri"/>
                <a:cs typeface="Calibri"/>
              </a:rPr>
              <a:t> </a:t>
            </a:r>
            <a:r>
              <a:rPr sz="2800" dirty="0">
                <a:latin typeface="Calibri"/>
                <a:cs typeface="Calibri"/>
              </a:rPr>
              <a:t>with</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real</a:t>
            </a:r>
            <a:r>
              <a:rPr sz="2800" spc="-70" dirty="0">
                <a:latin typeface="Calibri"/>
                <a:cs typeface="Calibri"/>
              </a:rPr>
              <a:t> </a:t>
            </a:r>
            <a:r>
              <a:rPr sz="2800" spc="-10" dirty="0">
                <a:latin typeface="Calibri"/>
                <a:cs typeface="Calibri"/>
              </a:rPr>
              <a:t>hardware</a:t>
            </a:r>
            <a:endParaRPr sz="28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5" dirty="0"/>
              <a:t>Virtualisation</a:t>
            </a:r>
          </a:p>
        </p:txBody>
      </p:sp>
      <p:sp>
        <p:nvSpPr>
          <p:cNvPr id="4" name="object 4"/>
          <p:cNvSpPr txBox="1"/>
          <p:nvPr/>
        </p:nvSpPr>
        <p:spPr>
          <a:xfrm>
            <a:off x="9277857" y="6502095"/>
            <a:ext cx="116205" cy="240029"/>
          </a:xfrm>
          <a:prstGeom prst="rect">
            <a:avLst/>
          </a:prstGeom>
        </p:spPr>
        <p:txBody>
          <a:bodyPr vert="horz" wrap="square" lIns="0" tIns="13335" rIns="0" bIns="0" rtlCol="0">
            <a:spAutoFit/>
          </a:bodyPr>
          <a:lstStyle/>
          <a:p>
            <a:pPr marL="12700">
              <a:lnSpc>
                <a:spcPct val="100000"/>
              </a:lnSpc>
              <a:spcBef>
                <a:spcPts val="105"/>
              </a:spcBef>
            </a:pPr>
            <a:r>
              <a:rPr sz="1400" b="1" spc="-50" dirty="0">
                <a:solidFill>
                  <a:srgbClr val="174A5B"/>
                </a:solidFill>
                <a:latin typeface="Calibri"/>
                <a:cs typeface="Calibri"/>
              </a:rPr>
              <a:t>5</a:t>
            </a:r>
            <a:endParaRPr sz="1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50695"/>
            <a:ext cx="4563745" cy="4708525"/>
          </a:xfrm>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sz="3200" dirty="0">
                <a:latin typeface="Calibri"/>
                <a:cs typeface="Calibri"/>
              </a:rPr>
              <a:t>Computing</a:t>
            </a:r>
            <a:r>
              <a:rPr sz="3200" spc="-35" dirty="0">
                <a:latin typeface="Calibri"/>
                <a:cs typeface="Calibri"/>
              </a:rPr>
              <a:t> </a:t>
            </a:r>
            <a:r>
              <a:rPr sz="3200" dirty="0">
                <a:latin typeface="Calibri"/>
                <a:cs typeface="Calibri"/>
              </a:rPr>
              <a:t>is</a:t>
            </a:r>
            <a:r>
              <a:rPr sz="3200" spc="-70" dirty="0">
                <a:latin typeface="Calibri"/>
                <a:cs typeface="Calibri"/>
              </a:rPr>
              <a:t> </a:t>
            </a:r>
            <a:r>
              <a:rPr sz="3200" spc="-10" dirty="0">
                <a:latin typeface="Calibri"/>
                <a:cs typeface="Calibri"/>
              </a:rPr>
              <a:t>expensive!</a:t>
            </a:r>
            <a:endParaRPr sz="3200" dirty="0">
              <a:latin typeface="Calibri"/>
              <a:cs typeface="Calibri"/>
            </a:endParaRPr>
          </a:p>
          <a:p>
            <a:pPr marL="194945" marR="5080" indent="-182880">
              <a:lnSpc>
                <a:spcPct val="100000"/>
              </a:lnSpc>
              <a:spcBef>
                <a:spcPts val="770"/>
              </a:spcBef>
              <a:buClr>
                <a:srgbClr val="2C7B9F"/>
              </a:buClr>
              <a:buSzPct val="84375"/>
              <a:buFont typeface="Arial MT"/>
              <a:buChar char="•"/>
              <a:tabLst>
                <a:tab pos="194945" algn="l"/>
              </a:tabLst>
            </a:pPr>
            <a:r>
              <a:rPr sz="3200" spc="-10" dirty="0">
                <a:latin typeface="Calibri"/>
                <a:cs typeface="Calibri"/>
              </a:rPr>
              <a:t>Virtualisation</a:t>
            </a:r>
            <a:r>
              <a:rPr sz="3200" spc="-80" dirty="0">
                <a:latin typeface="Calibri"/>
                <a:cs typeface="Calibri"/>
              </a:rPr>
              <a:t> </a:t>
            </a:r>
            <a:r>
              <a:rPr sz="3200" dirty="0">
                <a:latin typeface="Calibri"/>
                <a:cs typeface="Calibri"/>
              </a:rPr>
              <a:t>began</a:t>
            </a:r>
            <a:r>
              <a:rPr sz="3200" spc="-100" dirty="0">
                <a:latin typeface="Calibri"/>
                <a:cs typeface="Calibri"/>
              </a:rPr>
              <a:t> </a:t>
            </a:r>
            <a:r>
              <a:rPr sz="3200" dirty="0">
                <a:latin typeface="Calibri"/>
                <a:cs typeface="Calibri"/>
              </a:rPr>
              <a:t>in</a:t>
            </a:r>
            <a:r>
              <a:rPr sz="3200" spc="-85" dirty="0">
                <a:latin typeface="Calibri"/>
                <a:cs typeface="Calibri"/>
              </a:rPr>
              <a:t> </a:t>
            </a:r>
            <a:r>
              <a:rPr sz="3200" spc="-25" dirty="0">
                <a:latin typeface="Calibri"/>
                <a:cs typeface="Calibri"/>
              </a:rPr>
              <a:t>the </a:t>
            </a:r>
            <a:r>
              <a:rPr sz="3200" spc="-10" dirty="0">
                <a:latin typeface="Calibri"/>
                <a:cs typeface="Calibri"/>
              </a:rPr>
              <a:t>1960s</a:t>
            </a:r>
            <a:endParaRPr sz="3200" dirty="0">
              <a:latin typeface="Calibri"/>
              <a:cs typeface="Calibri"/>
            </a:endParaRPr>
          </a:p>
          <a:p>
            <a:pPr marL="194945" marR="695960" indent="-182880">
              <a:lnSpc>
                <a:spcPct val="100000"/>
              </a:lnSpc>
              <a:spcBef>
                <a:spcPts val="770"/>
              </a:spcBef>
              <a:buClr>
                <a:srgbClr val="2C7B9F"/>
              </a:buClr>
              <a:buSzPct val="84375"/>
              <a:buFont typeface="Arial MT"/>
              <a:buChar char="•"/>
              <a:tabLst>
                <a:tab pos="194945" algn="l"/>
              </a:tabLst>
            </a:pPr>
            <a:r>
              <a:rPr sz="3200" dirty="0">
                <a:latin typeface="Calibri"/>
                <a:cs typeface="Calibri"/>
              </a:rPr>
              <a:t>Method</a:t>
            </a:r>
            <a:r>
              <a:rPr sz="3200" spc="-45" dirty="0">
                <a:latin typeface="Calibri"/>
                <a:cs typeface="Calibri"/>
              </a:rPr>
              <a:t> </a:t>
            </a:r>
            <a:r>
              <a:rPr sz="3200" dirty="0">
                <a:latin typeface="Calibri"/>
                <a:cs typeface="Calibri"/>
              </a:rPr>
              <a:t>of</a:t>
            </a:r>
            <a:r>
              <a:rPr sz="3200" spc="-45" dirty="0">
                <a:latin typeface="Calibri"/>
                <a:cs typeface="Calibri"/>
              </a:rPr>
              <a:t> </a:t>
            </a:r>
            <a:r>
              <a:rPr sz="3200" spc="-10" dirty="0">
                <a:latin typeface="Calibri"/>
                <a:cs typeface="Calibri"/>
              </a:rPr>
              <a:t>logically </a:t>
            </a:r>
            <a:r>
              <a:rPr sz="3200" dirty="0">
                <a:latin typeface="Calibri"/>
                <a:cs typeface="Calibri"/>
              </a:rPr>
              <a:t>dividing</a:t>
            </a:r>
            <a:r>
              <a:rPr sz="3200" spc="-10" dirty="0">
                <a:latin typeface="Calibri"/>
                <a:cs typeface="Calibri"/>
              </a:rPr>
              <a:t> </a:t>
            </a:r>
            <a:r>
              <a:rPr sz="3200" dirty="0">
                <a:latin typeface="Calibri"/>
                <a:cs typeface="Calibri"/>
              </a:rPr>
              <a:t>the</a:t>
            </a:r>
            <a:r>
              <a:rPr sz="3200" spc="-50" dirty="0">
                <a:latin typeface="Calibri"/>
                <a:cs typeface="Calibri"/>
              </a:rPr>
              <a:t> </a:t>
            </a:r>
            <a:r>
              <a:rPr sz="3200" spc="-10" dirty="0">
                <a:latin typeface="Calibri"/>
                <a:cs typeface="Calibri"/>
              </a:rPr>
              <a:t>system </a:t>
            </a:r>
            <a:r>
              <a:rPr sz="3200" dirty="0">
                <a:latin typeface="Calibri"/>
                <a:cs typeface="Calibri"/>
              </a:rPr>
              <a:t>resources</a:t>
            </a:r>
            <a:r>
              <a:rPr sz="3200" spc="-150" dirty="0">
                <a:latin typeface="Calibri"/>
                <a:cs typeface="Calibri"/>
              </a:rPr>
              <a:t> </a:t>
            </a:r>
            <a:r>
              <a:rPr sz="3200" dirty="0">
                <a:latin typeface="Calibri"/>
                <a:cs typeface="Calibri"/>
              </a:rPr>
              <a:t>provided</a:t>
            </a:r>
            <a:r>
              <a:rPr sz="3200" spc="-125" dirty="0">
                <a:latin typeface="Calibri"/>
                <a:cs typeface="Calibri"/>
              </a:rPr>
              <a:t> </a:t>
            </a:r>
            <a:r>
              <a:rPr sz="3200" spc="-25" dirty="0">
                <a:latin typeface="Calibri"/>
                <a:cs typeface="Calibri"/>
              </a:rPr>
              <a:t>by </a:t>
            </a:r>
            <a:r>
              <a:rPr sz="3200" dirty="0">
                <a:latin typeface="Calibri"/>
                <a:cs typeface="Calibri"/>
              </a:rPr>
              <a:t>mainframe</a:t>
            </a:r>
            <a:r>
              <a:rPr sz="3200" spc="-160" dirty="0">
                <a:latin typeface="Calibri"/>
                <a:cs typeface="Calibri"/>
              </a:rPr>
              <a:t> </a:t>
            </a:r>
            <a:r>
              <a:rPr sz="3200" spc="-10" dirty="0">
                <a:latin typeface="Calibri"/>
                <a:cs typeface="Calibri"/>
              </a:rPr>
              <a:t>computers </a:t>
            </a:r>
            <a:r>
              <a:rPr sz="3200" dirty="0">
                <a:latin typeface="Calibri"/>
                <a:cs typeface="Calibri"/>
              </a:rPr>
              <a:t>between</a:t>
            </a:r>
            <a:r>
              <a:rPr sz="3200" spc="-70" dirty="0">
                <a:latin typeface="Calibri"/>
                <a:cs typeface="Calibri"/>
              </a:rPr>
              <a:t> </a:t>
            </a:r>
            <a:r>
              <a:rPr sz="3200" spc="-10" dirty="0">
                <a:latin typeface="Calibri"/>
                <a:cs typeface="Calibri"/>
              </a:rPr>
              <a:t>different applications</a:t>
            </a:r>
            <a:endParaRPr sz="32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Origins</a:t>
            </a:r>
            <a:r>
              <a:rPr spc="-185" dirty="0"/>
              <a:t> </a:t>
            </a:r>
            <a:r>
              <a:rPr spc="-70" dirty="0"/>
              <a:t>of</a:t>
            </a:r>
            <a:r>
              <a:rPr spc="-155" dirty="0"/>
              <a:t> </a:t>
            </a:r>
            <a:r>
              <a:rPr spc="-90" dirty="0"/>
              <a:t>virtualisation</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118745">
              <a:lnSpc>
                <a:spcPts val="1655"/>
              </a:lnSpc>
            </a:pPr>
            <a:fld id="{81D60167-4931-47E6-BA6A-407CBD079E47}" type="slidenum">
              <a:rPr spc="-50" dirty="0">
                <a:solidFill>
                  <a:srgbClr val="000000"/>
                </a:solidFill>
                <a:latin typeface="Arial"/>
                <a:cs typeface="Arial"/>
              </a:rPr>
              <a:t>4</a:t>
            </a:fld>
            <a:endParaRPr spc="-50" dirty="0">
              <a:solidFill>
                <a:srgbClr val="000000"/>
              </a:solidFill>
              <a:latin typeface="Arial"/>
              <a:cs typeface="Arial"/>
            </a:endParaRPr>
          </a:p>
        </p:txBody>
      </p:sp>
      <p:pic>
        <p:nvPicPr>
          <p:cNvPr id="4" name="object 4"/>
          <p:cNvPicPr/>
          <p:nvPr/>
        </p:nvPicPr>
        <p:blipFill>
          <a:blip r:embed="rId3" cstate="print"/>
          <a:stretch>
            <a:fillRect/>
          </a:stretch>
        </p:blipFill>
        <p:spPr>
          <a:xfrm>
            <a:off x="5687186" y="1505203"/>
            <a:ext cx="3769995" cy="3429000"/>
          </a:xfrm>
          <a:prstGeom prst="rect">
            <a:avLst/>
          </a:prstGeom>
        </p:spPr>
      </p:pic>
      <p:sp>
        <p:nvSpPr>
          <p:cNvPr id="6" name="object 6"/>
          <p:cNvSpPr txBox="1"/>
          <p:nvPr/>
        </p:nvSpPr>
        <p:spPr>
          <a:xfrm>
            <a:off x="882192" y="6598538"/>
            <a:ext cx="2284730" cy="224790"/>
          </a:xfrm>
          <a:prstGeom prst="rect">
            <a:avLst/>
          </a:prstGeom>
        </p:spPr>
        <p:txBody>
          <a:bodyPr vert="horz" wrap="square" lIns="0" tIns="0" rIns="0" bIns="0" rtlCol="0">
            <a:spAutoFit/>
          </a:bodyPr>
          <a:lstStyle/>
          <a:p>
            <a:pPr marL="12700">
              <a:lnSpc>
                <a:spcPts val="1650"/>
              </a:lnSpc>
            </a:pPr>
            <a:r>
              <a:rPr sz="1400" b="1" dirty="0">
                <a:latin typeface="Arial"/>
                <a:cs typeface="Arial"/>
              </a:rPr>
              <a:t>Adapted</a:t>
            </a:r>
            <a:r>
              <a:rPr sz="1400" b="1" spc="-25" dirty="0">
                <a:latin typeface="Arial"/>
                <a:cs typeface="Arial"/>
              </a:rPr>
              <a:t> </a:t>
            </a:r>
            <a:r>
              <a:rPr sz="1400" b="1" dirty="0">
                <a:latin typeface="Arial"/>
                <a:cs typeface="Arial"/>
              </a:rPr>
              <a:t>from:</a:t>
            </a:r>
            <a:r>
              <a:rPr sz="1400" b="1" spc="-50" dirty="0">
                <a:latin typeface="Arial"/>
                <a:cs typeface="Arial"/>
              </a:rPr>
              <a:t> </a:t>
            </a:r>
            <a:r>
              <a:rPr sz="1400" b="1" dirty="0">
                <a:latin typeface="Arial"/>
                <a:cs typeface="Arial"/>
              </a:rPr>
              <a:t>Ken</a:t>
            </a:r>
            <a:r>
              <a:rPr sz="1400" b="1" spc="-40" dirty="0">
                <a:latin typeface="Arial"/>
                <a:cs typeface="Arial"/>
              </a:rPr>
              <a:t> </a:t>
            </a:r>
            <a:r>
              <a:rPr sz="1400" b="1" spc="-10" dirty="0">
                <a:latin typeface="Arial"/>
                <a:cs typeface="Arial"/>
              </a:rPr>
              <a:t>Birman</a:t>
            </a:r>
            <a:endParaRPr sz="14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42639"/>
            <a:ext cx="8380730" cy="4429125"/>
          </a:xfrm>
          <a:prstGeom prst="rect">
            <a:avLst/>
          </a:prstGeom>
        </p:spPr>
        <p:txBody>
          <a:bodyPr vert="horz" wrap="square" lIns="0" tIns="118110" rIns="0" bIns="0" rtlCol="0">
            <a:spAutoFit/>
          </a:bodyPr>
          <a:lstStyle/>
          <a:p>
            <a:pPr marL="194945" indent="-182245">
              <a:lnSpc>
                <a:spcPct val="100000"/>
              </a:lnSpc>
              <a:spcBef>
                <a:spcPts val="930"/>
              </a:spcBef>
              <a:buClr>
                <a:srgbClr val="2C7B9F"/>
              </a:buClr>
              <a:buSzPct val="84375"/>
              <a:buFont typeface="Arial MT"/>
              <a:buChar char="•"/>
              <a:tabLst>
                <a:tab pos="194945" algn="l"/>
              </a:tabLst>
            </a:pPr>
            <a:r>
              <a:rPr sz="3200" dirty="0">
                <a:latin typeface="Calibri"/>
                <a:cs typeface="Calibri"/>
              </a:rPr>
              <a:t>1970s:</a:t>
            </a:r>
            <a:r>
              <a:rPr sz="3200" spc="-5" dirty="0">
                <a:latin typeface="Calibri"/>
                <a:cs typeface="Calibri"/>
              </a:rPr>
              <a:t> </a:t>
            </a:r>
            <a:r>
              <a:rPr sz="3200" dirty="0">
                <a:latin typeface="Calibri"/>
                <a:cs typeface="Calibri"/>
              </a:rPr>
              <a:t>IBM</a:t>
            </a:r>
            <a:r>
              <a:rPr sz="3200" spc="-25" dirty="0">
                <a:latin typeface="Calibri"/>
                <a:cs typeface="Calibri"/>
              </a:rPr>
              <a:t> </a:t>
            </a:r>
            <a:r>
              <a:rPr sz="3200" dirty="0">
                <a:latin typeface="Calibri"/>
                <a:cs typeface="Calibri"/>
              </a:rPr>
              <a:t>VM/370</a:t>
            </a:r>
            <a:r>
              <a:rPr sz="3200" spc="-4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a:t>
            </a:r>
            <a:r>
              <a:rPr sz="3200" spc="-25" dirty="0">
                <a:latin typeface="Calibri"/>
                <a:cs typeface="Calibri"/>
              </a:rPr>
              <a:t> </a:t>
            </a:r>
            <a:r>
              <a:rPr sz="3200" dirty="0">
                <a:latin typeface="Calibri"/>
                <a:cs typeface="Calibri"/>
              </a:rPr>
              <a:t>VMM</a:t>
            </a:r>
            <a:r>
              <a:rPr sz="3200" spc="-30" dirty="0">
                <a:latin typeface="Calibri"/>
                <a:cs typeface="Calibri"/>
              </a:rPr>
              <a:t> </a:t>
            </a:r>
            <a:r>
              <a:rPr sz="3200" dirty="0">
                <a:latin typeface="Calibri"/>
                <a:cs typeface="Calibri"/>
              </a:rPr>
              <a:t>for</a:t>
            </a:r>
            <a:r>
              <a:rPr sz="3200" spc="-15" dirty="0">
                <a:latin typeface="Calibri"/>
                <a:cs typeface="Calibri"/>
              </a:rPr>
              <a:t> </a:t>
            </a:r>
            <a:r>
              <a:rPr sz="3200" dirty="0">
                <a:latin typeface="Calibri"/>
                <a:cs typeface="Calibri"/>
              </a:rPr>
              <a:t>IBM</a:t>
            </a:r>
            <a:r>
              <a:rPr sz="3200" spc="-25" dirty="0">
                <a:latin typeface="Calibri"/>
                <a:cs typeface="Calibri"/>
              </a:rPr>
              <a:t> </a:t>
            </a:r>
            <a:r>
              <a:rPr sz="3200" spc="-10" dirty="0">
                <a:latin typeface="Calibri"/>
                <a:cs typeface="Calibri"/>
              </a:rPr>
              <a:t>mainframe</a:t>
            </a:r>
            <a:endParaRPr sz="3200" dirty="0">
              <a:latin typeface="Calibri"/>
              <a:cs typeface="Calibri"/>
            </a:endParaRPr>
          </a:p>
          <a:p>
            <a:pPr marL="469900" lvl="1" indent="-182880">
              <a:lnSpc>
                <a:spcPct val="100000"/>
              </a:lnSpc>
              <a:spcBef>
                <a:spcPts val="620"/>
              </a:spcBef>
              <a:buClr>
                <a:srgbClr val="2C7B9F"/>
              </a:buClr>
              <a:buSzPct val="85416"/>
              <a:buFont typeface="Arial MT"/>
              <a:buChar char="•"/>
              <a:tabLst>
                <a:tab pos="469900" algn="l"/>
              </a:tabLst>
            </a:pPr>
            <a:r>
              <a:rPr sz="2400" dirty="0">
                <a:latin typeface="Calibri"/>
                <a:cs typeface="Calibri"/>
              </a:rPr>
              <a:t>Multiple</a:t>
            </a:r>
            <a:r>
              <a:rPr sz="2400" spc="-40" dirty="0">
                <a:latin typeface="Calibri"/>
                <a:cs typeface="Calibri"/>
              </a:rPr>
              <a:t> </a:t>
            </a:r>
            <a:r>
              <a:rPr sz="2400" dirty="0">
                <a:latin typeface="Calibri"/>
                <a:cs typeface="Calibri"/>
              </a:rPr>
              <a:t>users,</a:t>
            </a:r>
            <a:r>
              <a:rPr sz="2400" spc="-30" dirty="0">
                <a:latin typeface="Calibri"/>
                <a:cs typeface="Calibri"/>
              </a:rPr>
              <a:t> </a:t>
            </a:r>
            <a:r>
              <a:rPr sz="2400" dirty="0">
                <a:latin typeface="Calibri"/>
                <a:cs typeface="Calibri"/>
              </a:rPr>
              <a:t>OS</a:t>
            </a:r>
            <a:r>
              <a:rPr sz="2400" spc="-35" dirty="0">
                <a:latin typeface="Calibri"/>
                <a:cs typeface="Calibri"/>
              </a:rPr>
              <a:t> </a:t>
            </a:r>
            <a:r>
              <a:rPr sz="2400" spc="-20" dirty="0">
                <a:latin typeface="Calibri"/>
                <a:cs typeface="Calibri"/>
              </a:rPr>
              <a:t>environments</a:t>
            </a:r>
            <a:r>
              <a:rPr sz="2400" spc="-45" dirty="0">
                <a:latin typeface="Calibri"/>
                <a:cs typeface="Calibri"/>
              </a:rPr>
              <a:t> </a:t>
            </a:r>
            <a:r>
              <a:rPr sz="2400" dirty="0">
                <a:latin typeface="Calibri"/>
                <a:cs typeface="Calibri"/>
              </a:rPr>
              <a:t>on</a:t>
            </a:r>
            <a:r>
              <a:rPr sz="2400" spc="-40" dirty="0">
                <a:latin typeface="Calibri"/>
                <a:cs typeface="Calibri"/>
              </a:rPr>
              <a:t> </a:t>
            </a:r>
            <a:r>
              <a:rPr sz="2400" spc="-10" dirty="0">
                <a:latin typeface="Calibri"/>
                <a:cs typeface="Calibri"/>
              </a:rPr>
              <a:t>expensive</a:t>
            </a:r>
            <a:r>
              <a:rPr sz="2400" spc="-20" dirty="0">
                <a:latin typeface="Calibri"/>
                <a:cs typeface="Calibri"/>
              </a:rPr>
              <a:t> </a:t>
            </a:r>
            <a:r>
              <a:rPr sz="2400" spc="-10" dirty="0">
                <a:latin typeface="Calibri"/>
                <a:cs typeface="Calibri"/>
              </a:rPr>
              <a:t>hardware</a:t>
            </a:r>
            <a:endParaRPr sz="2400" dirty="0">
              <a:latin typeface="Calibri"/>
              <a:cs typeface="Calibri"/>
            </a:endParaRPr>
          </a:p>
          <a:p>
            <a:pPr marL="469900" lvl="1" indent="-182880">
              <a:lnSpc>
                <a:spcPct val="100000"/>
              </a:lnSpc>
              <a:spcBef>
                <a:spcPts val="575"/>
              </a:spcBef>
              <a:buClr>
                <a:srgbClr val="2C7B9F"/>
              </a:buClr>
              <a:buSzPct val="85416"/>
              <a:buFont typeface="Arial MT"/>
              <a:buChar char="•"/>
              <a:tabLst>
                <a:tab pos="469900" algn="l"/>
              </a:tabLst>
            </a:pPr>
            <a:r>
              <a:rPr sz="2400" spc="-10" dirty="0">
                <a:latin typeface="Calibri"/>
                <a:cs typeface="Calibri"/>
              </a:rPr>
              <a:t>Desirable</a:t>
            </a:r>
            <a:r>
              <a:rPr sz="2400" spc="-85" dirty="0">
                <a:latin typeface="Calibri"/>
                <a:cs typeface="Calibri"/>
              </a:rPr>
              <a:t> </a:t>
            </a:r>
            <a:r>
              <a:rPr sz="2400" dirty="0">
                <a:latin typeface="Calibri"/>
                <a:cs typeface="Calibri"/>
              </a:rPr>
              <a:t>when</a:t>
            </a:r>
            <a:r>
              <a:rPr sz="2400" spc="-80" dirty="0">
                <a:latin typeface="Calibri"/>
                <a:cs typeface="Calibri"/>
              </a:rPr>
              <a:t> </a:t>
            </a:r>
            <a:r>
              <a:rPr sz="2400" dirty="0">
                <a:latin typeface="Calibri"/>
                <a:cs typeface="Calibri"/>
              </a:rPr>
              <a:t>few</a:t>
            </a:r>
            <a:r>
              <a:rPr sz="2400" spc="-85" dirty="0">
                <a:latin typeface="Calibri"/>
                <a:cs typeface="Calibri"/>
              </a:rPr>
              <a:t> </a:t>
            </a:r>
            <a:r>
              <a:rPr sz="2400" dirty="0">
                <a:latin typeface="Calibri"/>
                <a:cs typeface="Calibri"/>
              </a:rPr>
              <a:t>machines</a:t>
            </a:r>
            <a:r>
              <a:rPr sz="2400" spc="-85" dirty="0">
                <a:latin typeface="Calibri"/>
                <a:cs typeface="Calibri"/>
              </a:rPr>
              <a:t> </a:t>
            </a:r>
            <a:r>
              <a:rPr sz="2400" dirty="0">
                <a:latin typeface="Calibri"/>
                <a:cs typeface="Calibri"/>
              </a:rPr>
              <a:t>were</a:t>
            </a:r>
            <a:r>
              <a:rPr sz="2400" spc="-75" dirty="0">
                <a:latin typeface="Calibri"/>
                <a:cs typeface="Calibri"/>
              </a:rPr>
              <a:t> </a:t>
            </a:r>
            <a:r>
              <a:rPr sz="2400" spc="-10" dirty="0">
                <a:latin typeface="Calibri"/>
                <a:cs typeface="Calibri"/>
              </a:rPr>
              <a:t>around</a:t>
            </a:r>
            <a:endParaRPr sz="2400" dirty="0">
              <a:latin typeface="Calibri"/>
              <a:cs typeface="Calibri"/>
            </a:endParaRPr>
          </a:p>
          <a:p>
            <a:pPr marL="194945" indent="-182245">
              <a:lnSpc>
                <a:spcPct val="100000"/>
              </a:lnSpc>
              <a:spcBef>
                <a:spcPts val="725"/>
              </a:spcBef>
              <a:buClr>
                <a:srgbClr val="2C7B9F"/>
              </a:buClr>
              <a:buSzPct val="84375"/>
              <a:buFont typeface="Arial MT"/>
              <a:buChar char="•"/>
              <a:tabLst>
                <a:tab pos="194945" algn="l"/>
              </a:tabLst>
            </a:pPr>
            <a:r>
              <a:rPr sz="3200" dirty="0">
                <a:latin typeface="Calibri"/>
                <a:cs typeface="Calibri"/>
              </a:rPr>
              <a:t>Popular</a:t>
            </a:r>
            <a:r>
              <a:rPr sz="3200" spc="-65" dirty="0">
                <a:latin typeface="Calibri"/>
                <a:cs typeface="Calibri"/>
              </a:rPr>
              <a:t> </a:t>
            </a:r>
            <a:r>
              <a:rPr sz="3200" dirty="0">
                <a:latin typeface="Calibri"/>
                <a:cs typeface="Calibri"/>
              </a:rPr>
              <a:t>research</a:t>
            </a:r>
            <a:r>
              <a:rPr sz="3200" spc="-100" dirty="0">
                <a:latin typeface="Calibri"/>
                <a:cs typeface="Calibri"/>
              </a:rPr>
              <a:t> </a:t>
            </a:r>
            <a:r>
              <a:rPr sz="3200" dirty="0">
                <a:latin typeface="Calibri"/>
                <a:cs typeface="Calibri"/>
              </a:rPr>
              <a:t>idea</a:t>
            </a:r>
            <a:r>
              <a:rPr sz="3200" spc="-70" dirty="0">
                <a:latin typeface="Calibri"/>
                <a:cs typeface="Calibri"/>
              </a:rPr>
              <a:t> </a:t>
            </a:r>
            <a:r>
              <a:rPr sz="3200" dirty="0">
                <a:latin typeface="Calibri"/>
                <a:cs typeface="Calibri"/>
              </a:rPr>
              <a:t>in</a:t>
            </a:r>
            <a:r>
              <a:rPr sz="3200" spc="-65" dirty="0">
                <a:latin typeface="Calibri"/>
                <a:cs typeface="Calibri"/>
              </a:rPr>
              <a:t> </a:t>
            </a:r>
            <a:r>
              <a:rPr sz="3200" dirty="0">
                <a:latin typeface="Calibri"/>
                <a:cs typeface="Calibri"/>
              </a:rPr>
              <a:t>1960s</a:t>
            </a:r>
            <a:r>
              <a:rPr sz="3200" spc="-75" dirty="0">
                <a:latin typeface="Calibri"/>
                <a:cs typeface="Calibri"/>
              </a:rPr>
              <a:t> </a:t>
            </a:r>
            <a:r>
              <a:rPr sz="3200" dirty="0">
                <a:latin typeface="Calibri"/>
                <a:cs typeface="Calibri"/>
              </a:rPr>
              <a:t>and</a:t>
            </a:r>
            <a:r>
              <a:rPr sz="3200" spc="-60" dirty="0">
                <a:latin typeface="Calibri"/>
                <a:cs typeface="Calibri"/>
              </a:rPr>
              <a:t> </a:t>
            </a:r>
            <a:r>
              <a:rPr sz="3200" spc="-10" dirty="0">
                <a:latin typeface="Calibri"/>
                <a:cs typeface="Calibri"/>
              </a:rPr>
              <a:t>1970s</a:t>
            </a:r>
            <a:endParaRPr sz="3200" dirty="0">
              <a:latin typeface="Calibri"/>
              <a:cs typeface="Calibri"/>
            </a:endParaRPr>
          </a:p>
          <a:p>
            <a:pPr marL="469900" lvl="1" indent="-182880">
              <a:lnSpc>
                <a:spcPct val="100000"/>
              </a:lnSpc>
              <a:spcBef>
                <a:spcPts val="620"/>
              </a:spcBef>
              <a:buClr>
                <a:srgbClr val="2C7B9F"/>
              </a:buClr>
              <a:buSzPct val="85416"/>
              <a:buFont typeface="Arial MT"/>
              <a:buChar char="•"/>
              <a:tabLst>
                <a:tab pos="469900" algn="l"/>
              </a:tabLst>
            </a:pPr>
            <a:r>
              <a:rPr sz="2400" dirty="0">
                <a:latin typeface="Calibri"/>
                <a:cs typeface="Calibri"/>
              </a:rPr>
              <a:t>Entire</a:t>
            </a:r>
            <a:r>
              <a:rPr sz="2400" spc="-75" dirty="0">
                <a:latin typeface="Calibri"/>
                <a:cs typeface="Calibri"/>
              </a:rPr>
              <a:t> </a:t>
            </a:r>
            <a:r>
              <a:rPr sz="2400" spc="-10" dirty="0">
                <a:latin typeface="Calibri"/>
                <a:cs typeface="Calibri"/>
              </a:rPr>
              <a:t>conferences</a:t>
            </a:r>
            <a:r>
              <a:rPr sz="2400" spc="-80" dirty="0">
                <a:latin typeface="Calibri"/>
                <a:cs typeface="Calibri"/>
              </a:rPr>
              <a:t> </a:t>
            </a:r>
            <a:r>
              <a:rPr sz="2400" dirty="0">
                <a:latin typeface="Calibri"/>
                <a:cs typeface="Calibri"/>
              </a:rPr>
              <a:t>on</a:t>
            </a:r>
            <a:r>
              <a:rPr sz="2400" spc="-85" dirty="0">
                <a:latin typeface="Calibri"/>
                <a:cs typeface="Calibri"/>
              </a:rPr>
              <a:t> </a:t>
            </a:r>
            <a:r>
              <a:rPr sz="2400" dirty="0">
                <a:latin typeface="Calibri"/>
                <a:cs typeface="Calibri"/>
              </a:rPr>
              <a:t>virtual</a:t>
            </a:r>
            <a:r>
              <a:rPr sz="2400" spc="-70" dirty="0">
                <a:latin typeface="Calibri"/>
                <a:cs typeface="Calibri"/>
              </a:rPr>
              <a:t> </a:t>
            </a:r>
            <a:r>
              <a:rPr sz="2400" dirty="0">
                <a:latin typeface="Calibri"/>
                <a:cs typeface="Calibri"/>
              </a:rPr>
              <a:t>machine</a:t>
            </a:r>
            <a:r>
              <a:rPr sz="2400" spc="-95" dirty="0">
                <a:latin typeface="Calibri"/>
                <a:cs typeface="Calibri"/>
              </a:rPr>
              <a:t> </a:t>
            </a:r>
            <a:r>
              <a:rPr sz="2400" spc="-10" dirty="0">
                <a:latin typeface="Calibri"/>
                <a:cs typeface="Calibri"/>
              </a:rPr>
              <a:t>monitors</a:t>
            </a:r>
            <a:endParaRPr sz="2400" dirty="0">
              <a:latin typeface="Calibri"/>
              <a:cs typeface="Calibri"/>
            </a:endParaRPr>
          </a:p>
          <a:p>
            <a:pPr marL="470534" lvl="1" indent="-183515">
              <a:lnSpc>
                <a:spcPct val="100000"/>
              </a:lnSpc>
              <a:spcBef>
                <a:spcPts val="575"/>
              </a:spcBef>
              <a:buClr>
                <a:srgbClr val="2C7B9F"/>
              </a:buClr>
              <a:buSzPct val="85416"/>
              <a:buFont typeface="Arial MT"/>
              <a:buChar char="•"/>
              <a:tabLst>
                <a:tab pos="470534" algn="l"/>
              </a:tabLst>
            </a:pPr>
            <a:r>
              <a:rPr sz="2400" spc="-10" dirty="0">
                <a:latin typeface="Calibri"/>
                <a:cs typeface="Calibri"/>
              </a:rPr>
              <a:t>Hardware/VMM/OS</a:t>
            </a:r>
            <a:r>
              <a:rPr sz="2400" spc="-45" dirty="0">
                <a:latin typeface="Calibri"/>
                <a:cs typeface="Calibri"/>
              </a:rPr>
              <a:t> </a:t>
            </a:r>
            <a:r>
              <a:rPr sz="2400" dirty="0">
                <a:latin typeface="Calibri"/>
                <a:cs typeface="Calibri"/>
              </a:rPr>
              <a:t>designed</a:t>
            </a:r>
            <a:r>
              <a:rPr sz="2400" spc="-45" dirty="0">
                <a:latin typeface="Calibri"/>
                <a:cs typeface="Calibri"/>
              </a:rPr>
              <a:t> </a:t>
            </a:r>
            <a:r>
              <a:rPr sz="2400" spc="-10" dirty="0">
                <a:latin typeface="Calibri"/>
                <a:cs typeface="Calibri"/>
              </a:rPr>
              <a:t>together</a:t>
            </a:r>
            <a:endParaRPr sz="2400" dirty="0">
              <a:latin typeface="Calibri"/>
              <a:cs typeface="Calibri"/>
            </a:endParaRPr>
          </a:p>
          <a:p>
            <a:pPr marL="194945" indent="-182245">
              <a:lnSpc>
                <a:spcPct val="100000"/>
              </a:lnSpc>
              <a:spcBef>
                <a:spcPts val="730"/>
              </a:spcBef>
              <a:buClr>
                <a:srgbClr val="2C7B9F"/>
              </a:buClr>
              <a:buSzPct val="84375"/>
              <a:buFont typeface="Arial MT"/>
              <a:buChar char="•"/>
              <a:tabLst>
                <a:tab pos="194945" algn="l"/>
              </a:tabLst>
            </a:pPr>
            <a:r>
              <a:rPr sz="3200" spc="-10" dirty="0">
                <a:latin typeface="Calibri"/>
                <a:cs typeface="Calibri"/>
              </a:rPr>
              <a:t>Interest</a:t>
            </a:r>
            <a:r>
              <a:rPr sz="3200" spc="-60" dirty="0">
                <a:latin typeface="Calibri"/>
                <a:cs typeface="Calibri"/>
              </a:rPr>
              <a:t> </a:t>
            </a:r>
            <a:r>
              <a:rPr sz="3200" dirty="0">
                <a:latin typeface="Calibri"/>
                <a:cs typeface="Calibri"/>
              </a:rPr>
              <a:t>died</a:t>
            </a:r>
            <a:r>
              <a:rPr sz="3200" spc="-50" dirty="0">
                <a:latin typeface="Calibri"/>
                <a:cs typeface="Calibri"/>
              </a:rPr>
              <a:t> </a:t>
            </a:r>
            <a:r>
              <a:rPr sz="3200" dirty="0">
                <a:latin typeface="Calibri"/>
                <a:cs typeface="Calibri"/>
              </a:rPr>
              <a:t>out</a:t>
            </a:r>
            <a:r>
              <a:rPr sz="3200" spc="-50" dirty="0">
                <a:latin typeface="Calibri"/>
                <a:cs typeface="Calibri"/>
              </a:rPr>
              <a:t> </a:t>
            </a:r>
            <a:r>
              <a:rPr sz="3200" dirty="0">
                <a:latin typeface="Calibri"/>
                <a:cs typeface="Calibri"/>
              </a:rPr>
              <a:t>in</a:t>
            </a:r>
            <a:r>
              <a:rPr sz="3200" spc="-45" dirty="0">
                <a:latin typeface="Calibri"/>
                <a:cs typeface="Calibri"/>
              </a:rPr>
              <a:t> </a:t>
            </a:r>
            <a:r>
              <a:rPr sz="3200" dirty="0">
                <a:latin typeface="Calibri"/>
                <a:cs typeface="Calibri"/>
              </a:rPr>
              <a:t>the</a:t>
            </a:r>
            <a:r>
              <a:rPr sz="3200" spc="-55" dirty="0">
                <a:latin typeface="Calibri"/>
                <a:cs typeface="Calibri"/>
              </a:rPr>
              <a:t> </a:t>
            </a:r>
            <a:r>
              <a:rPr sz="3200" dirty="0">
                <a:latin typeface="Calibri"/>
                <a:cs typeface="Calibri"/>
              </a:rPr>
              <a:t>1980s</a:t>
            </a:r>
            <a:r>
              <a:rPr sz="3200" spc="-55" dirty="0">
                <a:latin typeface="Calibri"/>
                <a:cs typeface="Calibri"/>
              </a:rPr>
              <a:t> </a:t>
            </a:r>
            <a:r>
              <a:rPr sz="3200" dirty="0">
                <a:latin typeface="Calibri"/>
                <a:cs typeface="Calibri"/>
              </a:rPr>
              <a:t>and</a:t>
            </a:r>
            <a:r>
              <a:rPr sz="3200" spc="-40" dirty="0">
                <a:latin typeface="Calibri"/>
                <a:cs typeface="Calibri"/>
              </a:rPr>
              <a:t> </a:t>
            </a:r>
            <a:r>
              <a:rPr sz="3200" spc="-10" dirty="0">
                <a:latin typeface="Calibri"/>
                <a:cs typeface="Calibri"/>
              </a:rPr>
              <a:t>1990s</a:t>
            </a:r>
            <a:endParaRPr sz="3200" dirty="0">
              <a:latin typeface="Calibri"/>
              <a:cs typeface="Calibri"/>
            </a:endParaRPr>
          </a:p>
          <a:p>
            <a:pPr marL="469900" lvl="1" indent="-182880">
              <a:lnSpc>
                <a:spcPct val="100000"/>
              </a:lnSpc>
              <a:spcBef>
                <a:spcPts val="620"/>
              </a:spcBef>
              <a:buClr>
                <a:srgbClr val="2C7B9F"/>
              </a:buClr>
              <a:buSzPct val="85416"/>
              <a:buFont typeface="Arial MT"/>
              <a:buChar char="•"/>
              <a:tabLst>
                <a:tab pos="469900" algn="l"/>
              </a:tabLst>
            </a:pPr>
            <a:r>
              <a:rPr sz="2400" spc="-10" dirty="0">
                <a:latin typeface="Calibri"/>
                <a:cs typeface="Calibri"/>
              </a:rPr>
              <a:t>Hardware</a:t>
            </a:r>
            <a:r>
              <a:rPr sz="2400" spc="-60" dirty="0">
                <a:latin typeface="Calibri"/>
                <a:cs typeface="Calibri"/>
              </a:rPr>
              <a:t> </a:t>
            </a:r>
            <a:r>
              <a:rPr sz="2400" dirty="0">
                <a:latin typeface="Calibri"/>
                <a:cs typeface="Calibri"/>
              </a:rPr>
              <a:t>got</a:t>
            </a:r>
            <a:r>
              <a:rPr sz="2400" spc="-70" dirty="0">
                <a:latin typeface="Calibri"/>
                <a:cs typeface="Calibri"/>
              </a:rPr>
              <a:t> </a:t>
            </a:r>
            <a:r>
              <a:rPr sz="2400" spc="-10" dirty="0">
                <a:latin typeface="Calibri"/>
                <a:cs typeface="Calibri"/>
              </a:rPr>
              <a:t>cheaper</a:t>
            </a:r>
            <a:endParaRPr sz="2400" dirty="0">
              <a:latin typeface="Calibri"/>
              <a:cs typeface="Calibri"/>
            </a:endParaRPr>
          </a:p>
          <a:p>
            <a:pPr marL="470534" lvl="1" indent="-183515">
              <a:lnSpc>
                <a:spcPct val="100000"/>
              </a:lnSpc>
              <a:spcBef>
                <a:spcPts val="575"/>
              </a:spcBef>
              <a:buClr>
                <a:srgbClr val="2C7B9F"/>
              </a:buClr>
              <a:buSzPct val="85416"/>
              <a:buFont typeface="Arial MT"/>
              <a:buChar char="•"/>
              <a:tabLst>
                <a:tab pos="470534" algn="l"/>
              </a:tabLst>
            </a:pPr>
            <a:r>
              <a:rPr sz="2400" dirty="0">
                <a:latin typeface="Calibri"/>
                <a:cs typeface="Calibri"/>
              </a:rPr>
              <a:t>Operating</a:t>
            </a:r>
            <a:r>
              <a:rPr sz="2400" spc="-80" dirty="0">
                <a:latin typeface="Calibri"/>
                <a:cs typeface="Calibri"/>
              </a:rPr>
              <a:t> </a:t>
            </a:r>
            <a:r>
              <a:rPr sz="2400" spc="-10" dirty="0">
                <a:latin typeface="Calibri"/>
                <a:cs typeface="Calibri"/>
              </a:rPr>
              <a:t>systems</a:t>
            </a:r>
            <a:r>
              <a:rPr sz="2400" spc="-65" dirty="0">
                <a:latin typeface="Calibri"/>
                <a:cs typeface="Calibri"/>
              </a:rPr>
              <a:t> </a:t>
            </a:r>
            <a:r>
              <a:rPr sz="2400" dirty="0">
                <a:latin typeface="Calibri"/>
                <a:cs typeface="Calibri"/>
              </a:rPr>
              <a:t>got</a:t>
            </a:r>
            <a:r>
              <a:rPr sz="2400" spc="-75" dirty="0">
                <a:latin typeface="Calibri"/>
                <a:cs typeface="Calibri"/>
              </a:rPr>
              <a:t> </a:t>
            </a:r>
            <a:r>
              <a:rPr sz="2400" dirty="0">
                <a:latin typeface="Calibri"/>
                <a:cs typeface="Calibri"/>
              </a:rPr>
              <a:t>more</a:t>
            </a:r>
            <a:r>
              <a:rPr sz="2400" spc="-55" dirty="0">
                <a:latin typeface="Calibri"/>
                <a:cs typeface="Calibri"/>
              </a:rPr>
              <a:t> </a:t>
            </a:r>
            <a:r>
              <a:rPr sz="2400" dirty="0">
                <a:latin typeface="Calibri"/>
                <a:cs typeface="Calibri"/>
              </a:rPr>
              <a:t>powerful</a:t>
            </a:r>
            <a:r>
              <a:rPr sz="2400" spc="-40" dirty="0">
                <a:latin typeface="Calibri"/>
                <a:cs typeface="Calibri"/>
              </a:rPr>
              <a:t> </a:t>
            </a:r>
            <a:r>
              <a:rPr sz="2400" dirty="0">
                <a:latin typeface="Calibri"/>
                <a:cs typeface="Calibri"/>
              </a:rPr>
              <a:t>(e.g.</a:t>
            </a:r>
            <a:r>
              <a:rPr sz="2400" spc="-75" dirty="0">
                <a:latin typeface="Calibri"/>
                <a:cs typeface="Calibri"/>
              </a:rPr>
              <a:t> </a:t>
            </a:r>
            <a:r>
              <a:rPr sz="2400" spc="-10" dirty="0">
                <a:latin typeface="Calibri"/>
                <a:cs typeface="Calibri"/>
              </a:rPr>
              <a:t>multi-user)</a:t>
            </a:r>
            <a:endParaRPr sz="24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Origins</a:t>
            </a:r>
            <a:r>
              <a:rPr spc="-185" dirty="0"/>
              <a:t> </a:t>
            </a:r>
            <a:r>
              <a:rPr spc="-70" dirty="0"/>
              <a:t>of</a:t>
            </a:r>
            <a:r>
              <a:rPr spc="-155" dirty="0"/>
              <a:t> </a:t>
            </a:r>
            <a:r>
              <a:rPr spc="-90" dirty="0"/>
              <a:t>virtualisation</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118745">
              <a:lnSpc>
                <a:spcPts val="1655"/>
              </a:lnSpc>
            </a:pPr>
            <a:fld id="{81D60167-4931-47E6-BA6A-407CBD079E47}" type="slidenum">
              <a:rPr spc="-50" dirty="0">
                <a:solidFill>
                  <a:srgbClr val="000000"/>
                </a:solidFill>
                <a:latin typeface="Arial"/>
                <a:cs typeface="Arial"/>
              </a:rPr>
              <a:t>5</a:t>
            </a:fld>
            <a:endParaRPr spc="-50" dirty="0">
              <a:solidFill>
                <a:srgbClr val="000000"/>
              </a:solidFill>
              <a:latin typeface="Arial"/>
              <a:cs typeface="Arial"/>
            </a:endParaRPr>
          </a:p>
        </p:txBody>
      </p:sp>
      <p:pic>
        <p:nvPicPr>
          <p:cNvPr id="4" name="object 4"/>
          <p:cNvPicPr/>
          <p:nvPr/>
        </p:nvPicPr>
        <p:blipFill>
          <a:blip r:embed="rId3" cstate="print"/>
          <a:stretch>
            <a:fillRect/>
          </a:stretch>
        </p:blipFill>
        <p:spPr>
          <a:xfrm>
            <a:off x="8534400" y="587311"/>
            <a:ext cx="1085850" cy="1087437"/>
          </a:xfrm>
          <a:prstGeom prst="rect">
            <a:avLst/>
          </a:prstGeom>
        </p:spPr>
      </p:pic>
      <p:sp>
        <p:nvSpPr>
          <p:cNvPr id="6" name="object 6"/>
          <p:cNvSpPr txBox="1"/>
          <p:nvPr/>
        </p:nvSpPr>
        <p:spPr>
          <a:xfrm>
            <a:off x="882192" y="6598538"/>
            <a:ext cx="2284730" cy="224790"/>
          </a:xfrm>
          <a:prstGeom prst="rect">
            <a:avLst/>
          </a:prstGeom>
        </p:spPr>
        <p:txBody>
          <a:bodyPr vert="horz" wrap="square" lIns="0" tIns="0" rIns="0" bIns="0" rtlCol="0">
            <a:spAutoFit/>
          </a:bodyPr>
          <a:lstStyle/>
          <a:p>
            <a:pPr marL="12700">
              <a:lnSpc>
                <a:spcPts val="1650"/>
              </a:lnSpc>
            </a:pPr>
            <a:r>
              <a:rPr sz="1400" b="1" dirty="0">
                <a:latin typeface="Arial"/>
                <a:cs typeface="Arial"/>
              </a:rPr>
              <a:t>Adapted</a:t>
            </a:r>
            <a:r>
              <a:rPr sz="1400" b="1" spc="-25" dirty="0">
                <a:latin typeface="Arial"/>
                <a:cs typeface="Arial"/>
              </a:rPr>
              <a:t> </a:t>
            </a:r>
            <a:r>
              <a:rPr sz="1400" b="1" dirty="0">
                <a:latin typeface="Arial"/>
                <a:cs typeface="Arial"/>
              </a:rPr>
              <a:t>from:</a:t>
            </a:r>
            <a:r>
              <a:rPr sz="1400" b="1" spc="-50" dirty="0">
                <a:latin typeface="Arial"/>
                <a:cs typeface="Arial"/>
              </a:rPr>
              <a:t> </a:t>
            </a:r>
            <a:r>
              <a:rPr sz="1400" b="1" dirty="0">
                <a:latin typeface="Arial"/>
                <a:cs typeface="Arial"/>
              </a:rPr>
              <a:t>Ken</a:t>
            </a:r>
            <a:r>
              <a:rPr sz="1400" b="1" spc="-40" dirty="0">
                <a:latin typeface="Arial"/>
                <a:cs typeface="Arial"/>
              </a:rPr>
              <a:t> </a:t>
            </a:r>
            <a:r>
              <a:rPr sz="1400" b="1" spc="-10" dirty="0">
                <a:latin typeface="Arial"/>
                <a:cs typeface="Arial"/>
              </a:rPr>
              <a:t>Birman</a:t>
            </a:r>
            <a:endParaRPr sz="14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10" dirty="0"/>
              <a:t>Virtualisation</a:t>
            </a:r>
            <a:r>
              <a:rPr spc="-135" dirty="0"/>
              <a:t> </a:t>
            </a:r>
            <a:r>
              <a:rPr spc="-95" dirty="0"/>
              <a:t>advantages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6</a:t>
            </a:fld>
            <a:endParaRPr spc="-25" dirty="0"/>
          </a:p>
        </p:txBody>
      </p:sp>
      <p:sp>
        <p:nvSpPr>
          <p:cNvPr id="3" name="object 3"/>
          <p:cNvSpPr txBox="1"/>
          <p:nvPr/>
        </p:nvSpPr>
        <p:spPr>
          <a:xfrm>
            <a:off x="574040" y="1447030"/>
            <a:ext cx="8775700" cy="3750310"/>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dirty="0">
                <a:latin typeface="Calibri"/>
                <a:cs typeface="Calibri"/>
              </a:rPr>
              <a:t>Better</a:t>
            </a:r>
            <a:r>
              <a:rPr sz="3200" spc="-105" dirty="0">
                <a:latin typeface="Calibri"/>
                <a:cs typeface="Calibri"/>
              </a:rPr>
              <a:t> </a:t>
            </a:r>
            <a:r>
              <a:rPr sz="3200" dirty="0">
                <a:latin typeface="Calibri"/>
                <a:cs typeface="Calibri"/>
              </a:rPr>
              <a:t>resource</a:t>
            </a:r>
            <a:r>
              <a:rPr sz="3200" spc="-125" dirty="0">
                <a:latin typeface="Calibri"/>
                <a:cs typeface="Calibri"/>
              </a:rPr>
              <a:t> </a:t>
            </a:r>
            <a:r>
              <a:rPr sz="3200" spc="-10" dirty="0">
                <a:latin typeface="Calibri"/>
                <a:cs typeface="Calibri"/>
              </a:rPr>
              <a:t>usage</a:t>
            </a:r>
            <a:endParaRPr sz="3200">
              <a:latin typeface="Calibri"/>
              <a:cs typeface="Calibri"/>
            </a:endParaRPr>
          </a:p>
          <a:p>
            <a:pPr marL="469900" marR="377825" lvl="1" indent="-182880">
              <a:lnSpc>
                <a:spcPct val="100000"/>
              </a:lnSpc>
              <a:spcBef>
                <a:spcPts val="690"/>
              </a:spcBef>
              <a:buClr>
                <a:srgbClr val="2C7B9F"/>
              </a:buClr>
              <a:buSzPct val="83928"/>
              <a:buFont typeface="Arial MT"/>
              <a:buChar char="•"/>
              <a:tabLst>
                <a:tab pos="469900" algn="l"/>
              </a:tabLst>
            </a:pPr>
            <a:r>
              <a:rPr sz="2800" spc="-10" dirty="0">
                <a:latin typeface="Calibri"/>
                <a:cs typeface="Calibri"/>
              </a:rPr>
              <a:t>Processors,</a:t>
            </a:r>
            <a:r>
              <a:rPr sz="2800" spc="-40" dirty="0">
                <a:latin typeface="Calibri"/>
                <a:cs typeface="Calibri"/>
              </a:rPr>
              <a:t> </a:t>
            </a:r>
            <a:r>
              <a:rPr sz="2800" dirty="0">
                <a:latin typeface="Calibri"/>
                <a:cs typeface="Calibri"/>
              </a:rPr>
              <a:t>RAM</a:t>
            </a:r>
            <a:r>
              <a:rPr sz="2800" spc="-45" dirty="0">
                <a:latin typeface="Calibri"/>
                <a:cs typeface="Calibri"/>
              </a:rPr>
              <a:t> </a:t>
            </a:r>
            <a:r>
              <a:rPr sz="2800" dirty="0">
                <a:latin typeface="Calibri"/>
                <a:cs typeface="Calibri"/>
              </a:rPr>
              <a:t>and</a:t>
            </a:r>
            <a:r>
              <a:rPr sz="2800" spc="-50" dirty="0">
                <a:latin typeface="Calibri"/>
                <a:cs typeface="Calibri"/>
              </a:rPr>
              <a:t> </a:t>
            </a:r>
            <a:r>
              <a:rPr sz="2800" dirty="0">
                <a:latin typeface="Calibri"/>
                <a:cs typeface="Calibri"/>
              </a:rPr>
              <a:t>disk</a:t>
            </a:r>
            <a:r>
              <a:rPr sz="2800" spc="-45" dirty="0">
                <a:latin typeface="Calibri"/>
                <a:cs typeface="Calibri"/>
              </a:rPr>
              <a:t> </a:t>
            </a:r>
            <a:r>
              <a:rPr sz="2800" dirty="0">
                <a:latin typeface="Calibri"/>
                <a:cs typeface="Calibri"/>
              </a:rPr>
              <a:t>space</a:t>
            </a:r>
            <a:r>
              <a:rPr sz="2800" spc="-65" dirty="0">
                <a:latin typeface="Calibri"/>
                <a:cs typeface="Calibri"/>
              </a:rPr>
              <a:t> </a:t>
            </a:r>
            <a:r>
              <a:rPr sz="2800" dirty="0">
                <a:latin typeface="Calibri"/>
                <a:cs typeface="Calibri"/>
              </a:rPr>
              <a:t>are</a:t>
            </a:r>
            <a:r>
              <a:rPr sz="2800" spc="-65" dirty="0">
                <a:latin typeface="Calibri"/>
                <a:cs typeface="Calibri"/>
              </a:rPr>
              <a:t> </a:t>
            </a:r>
            <a:r>
              <a:rPr sz="2800" dirty="0">
                <a:latin typeface="Calibri"/>
                <a:cs typeface="Calibri"/>
              </a:rPr>
              <a:t>partitioned</a:t>
            </a:r>
            <a:r>
              <a:rPr sz="2800" spc="-55" dirty="0">
                <a:latin typeface="Calibri"/>
                <a:cs typeface="Calibri"/>
              </a:rPr>
              <a:t> </a:t>
            </a:r>
            <a:r>
              <a:rPr sz="2800" spc="-10" dirty="0">
                <a:latin typeface="Calibri"/>
                <a:cs typeface="Calibri"/>
              </a:rPr>
              <a:t>among </a:t>
            </a:r>
            <a:r>
              <a:rPr sz="2800" dirty="0">
                <a:latin typeface="Calibri"/>
                <a:cs typeface="Calibri"/>
              </a:rPr>
              <a:t>multiple</a:t>
            </a:r>
            <a:r>
              <a:rPr sz="2800" spc="-85" dirty="0">
                <a:latin typeface="Calibri"/>
                <a:cs typeface="Calibri"/>
              </a:rPr>
              <a:t> </a:t>
            </a:r>
            <a:r>
              <a:rPr sz="2800" spc="-25" dirty="0">
                <a:latin typeface="Calibri"/>
                <a:cs typeface="Calibri"/>
              </a:rPr>
              <a:t>VMs</a:t>
            </a:r>
            <a:endParaRPr sz="2800">
              <a:latin typeface="Calibri"/>
              <a:cs typeface="Calibri"/>
            </a:endParaRPr>
          </a:p>
          <a:p>
            <a:pPr marL="194945" indent="-182245">
              <a:lnSpc>
                <a:spcPct val="100000"/>
              </a:lnSpc>
              <a:spcBef>
                <a:spcPts val="750"/>
              </a:spcBef>
              <a:buClr>
                <a:srgbClr val="2C7B9F"/>
              </a:buClr>
              <a:buSzPct val="84375"/>
              <a:buFont typeface="Arial MT"/>
              <a:buChar char="•"/>
              <a:tabLst>
                <a:tab pos="194945" algn="l"/>
              </a:tabLst>
            </a:pPr>
            <a:r>
              <a:rPr sz="3200" dirty="0">
                <a:latin typeface="Calibri"/>
                <a:cs typeface="Calibri"/>
              </a:rPr>
              <a:t>Performance</a:t>
            </a:r>
            <a:r>
              <a:rPr sz="3200" spc="-145" dirty="0">
                <a:latin typeface="Calibri"/>
                <a:cs typeface="Calibri"/>
              </a:rPr>
              <a:t> </a:t>
            </a:r>
            <a:r>
              <a:rPr sz="3200" spc="-10" dirty="0">
                <a:latin typeface="Calibri"/>
                <a:cs typeface="Calibri"/>
              </a:rPr>
              <a:t>isolation</a:t>
            </a:r>
            <a:endParaRPr sz="3200">
              <a:latin typeface="Calibri"/>
              <a:cs typeface="Calibri"/>
            </a:endParaRPr>
          </a:p>
          <a:p>
            <a:pPr marL="182245" marR="4150995" lvl="1" indent="-182245" algn="r">
              <a:lnSpc>
                <a:spcPct val="100000"/>
              </a:lnSpc>
              <a:spcBef>
                <a:spcPts val="690"/>
              </a:spcBef>
              <a:buClr>
                <a:srgbClr val="2C7B9F"/>
              </a:buClr>
              <a:buSzPct val="83928"/>
              <a:buFont typeface="Arial MT"/>
              <a:buChar char="•"/>
              <a:tabLst>
                <a:tab pos="182245" algn="l"/>
              </a:tabLst>
            </a:pPr>
            <a:r>
              <a:rPr sz="2800" dirty="0">
                <a:latin typeface="Calibri"/>
                <a:cs typeface="Calibri"/>
              </a:rPr>
              <a:t>Each</a:t>
            </a:r>
            <a:r>
              <a:rPr sz="2800" spc="-70" dirty="0">
                <a:latin typeface="Calibri"/>
                <a:cs typeface="Calibri"/>
              </a:rPr>
              <a:t> </a:t>
            </a:r>
            <a:r>
              <a:rPr sz="2800" dirty="0">
                <a:latin typeface="Calibri"/>
                <a:cs typeface="Calibri"/>
              </a:rPr>
              <a:t>VM</a:t>
            </a:r>
            <a:r>
              <a:rPr sz="2800" spc="-50" dirty="0">
                <a:latin typeface="Calibri"/>
                <a:cs typeface="Calibri"/>
              </a:rPr>
              <a:t> </a:t>
            </a:r>
            <a:r>
              <a:rPr sz="2800" dirty="0">
                <a:latin typeface="Calibri"/>
                <a:cs typeface="Calibri"/>
              </a:rPr>
              <a:t>runs</a:t>
            </a:r>
            <a:r>
              <a:rPr sz="2800" spc="-50" dirty="0">
                <a:latin typeface="Calibri"/>
                <a:cs typeface="Calibri"/>
              </a:rPr>
              <a:t> </a:t>
            </a:r>
            <a:r>
              <a:rPr sz="2800" spc="-10" dirty="0">
                <a:latin typeface="Calibri"/>
                <a:cs typeface="Calibri"/>
              </a:rPr>
              <a:t>independently</a:t>
            </a:r>
            <a:endParaRPr sz="2800">
              <a:latin typeface="Calibri"/>
              <a:cs typeface="Calibri"/>
            </a:endParaRPr>
          </a:p>
          <a:p>
            <a:pPr marL="182245" marR="4175125" indent="-182245" algn="r">
              <a:lnSpc>
                <a:spcPct val="100000"/>
              </a:lnSpc>
              <a:spcBef>
                <a:spcPts val="755"/>
              </a:spcBef>
              <a:buClr>
                <a:srgbClr val="2C7B9F"/>
              </a:buClr>
              <a:buSzPct val="84375"/>
              <a:buFont typeface="Arial MT"/>
              <a:buChar char="•"/>
              <a:tabLst>
                <a:tab pos="182245" algn="l"/>
              </a:tabLst>
            </a:pPr>
            <a:r>
              <a:rPr sz="3200" dirty="0">
                <a:latin typeface="Calibri"/>
                <a:cs typeface="Calibri"/>
              </a:rPr>
              <a:t>Reduced</a:t>
            </a:r>
            <a:r>
              <a:rPr sz="3200" spc="-55" dirty="0">
                <a:latin typeface="Calibri"/>
                <a:cs typeface="Calibri"/>
              </a:rPr>
              <a:t> </a:t>
            </a:r>
            <a:r>
              <a:rPr sz="3200" dirty="0">
                <a:latin typeface="Calibri"/>
                <a:cs typeface="Calibri"/>
              </a:rPr>
              <a:t>impact</a:t>
            </a:r>
            <a:r>
              <a:rPr sz="3200" spc="-40" dirty="0">
                <a:latin typeface="Calibri"/>
                <a:cs typeface="Calibri"/>
              </a:rPr>
              <a:t> </a:t>
            </a:r>
            <a:r>
              <a:rPr sz="3200" dirty="0">
                <a:latin typeface="Calibri"/>
                <a:cs typeface="Calibri"/>
              </a:rPr>
              <a:t>of</a:t>
            </a:r>
            <a:r>
              <a:rPr sz="3200" spc="-55" dirty="0">
                <a:latin typeface="Calibri"/>
                <a:cs typeface="Calibri"/>
              </a:rPr>
              <a:t> </a:t>
            </a:r>
            <a:r>
              <a:rPr sz="3200" spc="-10" dirty="0">
                <a:latin typeface="Calibri"/>
                <a:cs typeface="Calibri"/>
              </a:rPr>
              <a:t>failures</a:t>
            </a:r>
            <a:endParaRPr sz="3200">
              <a:latin typeface="Calibri"/>
              <a:cs typeface="Calibri"/>
            </a:endParaRPr>
          </a:p>
          <a:p>
            <a:pPr marL="469265" lvl="1" indent="-182245">
              <a:lnSpc>
                <a:spcPct val="100000"/>
              </a:lnSpc>
              <a:spcBef>
                <a:spcPts val="685"/>
              </a:spcBef>
              <a:buClr>
                <a:srgbClr val="2C7B9F"/>
              </a:buClr>
              <a:buSzPct val="83928"/>
              <a:buFont typeface="Arial MT"/>
              <a:buChar char="•"/>
              <a:tabLst>
                <a:tab pos="469265" algn="l"/>
              </a:tabLst>
            </a:pPr>
            <a:r>
              <a:rPr sz="2800" dirty="0">
                <a:latin typeface="Calibri"/>
                <a:cs typeface="Calibri"/>
              </a:rPr>
              <a:t>Failure</a:t>
            </a:r>
            <a:r>
              <a:rPr sz="2800" spc="-70" dirty="0">
                <a:latin typeface="Calibri"/>
                <a:cs typeface="Calibri"/>
              </a:rPr>
              <a:t> </a:t>
            </a:r>
            <a:r>
              <a:rPr sz="2800" dirty="0">
                <a:latin typeface="Calibri"/>
                <a:cs typeface="Calibri"/>
              </a:rPr>
              <a:t>in</a:t>
            </a:r>
            <a:r>
              <a:rPr sz="2800" spc="-70" dirty="0">
                <a:latin typeface="Calibri"/>
                <a:cs typeface="Calibri"/>
              </a:rPr>
              <a:t> </a:t>
            </a:r>
            <a:r>
              <a:rPr sz="2800" dirty="0">
                <a:latin typeface="Calibri"/>
                <a:cs typeface="Calibri"/>
              </a:rPr>
              <a:t>one</a:t>
            </a:r>
            <a:r>
              <a:rPr sz="2800" spc="-75" dirty="0">
                <a:latin typeface="Calibri"/>
                <a:cs typeface="Calibri"/>
              </a:rPr>
              <a:t> </a:t>
            </a:r>
            <a:r>
              <a:rPr sz="2800" dirty="0">
                <a:latin typeface="Calibri"/>
                <a:cs typeface="Calibri"/>
              </a:rPr>
              <a:t>VM</a:t>
            </a:r>
            <a:r>
              <a:rPr sz="2800" spc="-60" dirty="0">
                <a:latin typeface="Calibri"/>
                <a:cs typeface="Calibri"/>
              </a:rPr>
              <a:t> </a:t>
            </a:r>
            <a:r>
              <a:rPr sz="2800" dirty="0">
                <a:latin typeface="Calibri"/>
                <a:cs typeface="Calibri"/>
              </a:rPr>
              <a:t>does</a:t>
            </a:r>
            <a:r>
              <a:rPr sz="2800" spc="-70" dirty="0">
                <a:latin typeface="Calibri"/>
                <a:cs typeface="Calibri"/>
              </a:rPr>
              <a:t> </a:t>
            </a:r>
            <a:r>
              <a:rPr sz="2800" dirty="0">
                <a:latin typeface="Calibri"/>
                <a:cs typeface="Calibri"/>
              </a:rPr>
              <a:t>not</a:t>
            </a:r>
            <a:r>
              <a:rPr sz="2800" spc="-65" dirty="0">
                <a:latin typeface="Calibri"/>
                <a:cs typeface="Calibri"/>
              </a:rPr>
              <a:t> </a:t>
            </a:r>
            <a:r>
              <a:rPr sz="2800" dirty="0">
                <a:latin typeface="Calibri"/>
                <a:cs typeface="Calibri"/>
              </a:rPr>
              <a:t>affect</a:t>
            </a:r>
            <a:r>
              <a:rPr sz="2800" spc="-75" dirty="0">
                <a:latin typeface="Calibri"/>
                <a:cs typeface="Calibri"/>
              </a:rPr>
              <a:t> </a:t>
            </a:r>
            <a:r>
              <a:rPr sz="2800" dirty="0">
                <a:latin typeface="Calibri"/>
                <a:cs typeface="Calibri"/>
              </a:rPr>
              <a:t>the</a:t>
            </a:r>
            <a:r>
              <a:rPr sz="2800" spc="-85" dirty="0">
                <a:latin typeface="Calibri"/>
                <a:cs typeface="Calibri"/>
              </a:rPr>
              <a:t> </a:t>
            </a:r>
            <a:r>
              <a:rPr sz="2800" spc="-10" dirty="0">
                <a:latin typeface="Calibri"/>
                <a:cs typeface="Calibri"/>
              </a:rPr>
              <a:t>remaining</a:t>
            </a:r>
            <a:r>
              <a:rPr sz="2800" spc="-50" dirty="0">
                <a:latin typeface="Calibri"/>
                <a:cs typeface="Calibri"/>
              </a:rPr>
              <a:t> </a:t>
            </a:r>
            <a:r>
              <a:rPr sz="2800" spc="-10" dirty="0">
                <a:latin typeface="Calibri"/>
                <a:cs typeface="Calibri"/>
              </a:rPr>
              <a:t>elements</a:t>
            </a:r>
            <a:endParaRPr sz="28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903392" y="1345276"/>
            <a:ext cx="3514711" cy="2505601"/>
          </a:xfrm>
          <a:prstGeom prst="rect">
            <a:avLst/>
          </a:prstGeom>
        </p:spPr>
      </p:pic>
      <p:sp>
        <p:nvSpPr>
          <p:cNvPr id="3" name="object 3"/>
          <p:cNvSpPr txBox="1">
            <a:spLocks noGrp="1"/>
          </p:cNvSpPr>
          <p:nvPr>
            <p:ph type="title"/>
          </p:nvPr>
        </p:nvSpPr>
        <p:spPr>
          <a:xfrm>
            <a:off x="574040" y="679449"/>
            <a:ext cx="4612005" cy="635000"/>
          </a:xfrm>
          <a:prstGeom prst="rect">
            <a:avLst/>
          </a:prstGeom>
        </p:spPr>
        <p:txBody>
          <a:bodyPr vert="horz" wrap="square" lIns="0" tIns="12065" rIns="0" bIns="0" rtlCol="0">
            <a:spAutoFit/>
          </a:bodyPr>
          <a:lstStyle/>
          <a:p>
            <a:pPr marL="12700">
              <a:lnSpc>
                <a:spcPct val="100000"/>
              </a:lnSpc>
              <a:spcBef>
                <a:spcPts val="95"/>
              </a:spcBef>
            </a:pPr>
            <a:r>
              <a:rPr spc="-100" dirty="0"/>
              <a:t>Virtual</a:t>
            </a:r>
            <a:r>
              <a:rPr spc="-195" dirty="0"/>
              <a:t> </a:t>
            </a:r>
            <a:r>
              <a:rPr spc="-100" dirty="0"/>
              <a:t>Machine</a:t>
            </a:r>
            <a:r>
              <a:rPr spc="-185" dirty="0"/>
              <a:t> </a:t>
            </a:r>
            <a:r>
              <a:rPr spc="-55" dirty="0"/>
              <a:t>images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7</a:t>
            </a:fld>
            <a:endParaRPr spc="-25" dirty="0"/>
          </a:p>
        </p:txBody>
      </p:sp>
      <p:sp>
        <p:nvSpPr>
          <p:cNvPr id="4" name="object 4"/>
          <p:cNvSpPr txBox="1"/>
          <p:nvPr/>
        </p:nvSpPr>
        <p:spPr>
          <a:xfrm>
            <a:off x="574040" y="1447030"/>
            <a:ext cx="5540375" cy="4298950"/>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dirty="0">
                <a:latin typeface="Calibri"/>
                <a:cs typeface="Calibri"/>
              </a:rPr>
              <a:t>VM</a:t>
            </a:r>
            <a:r>
              <a:rPr sz="3200" spc="-55" dirty="0">
                <a:latin typeface="Calibri"/>
                <a:cs typeface="Calibri"/>
              </a:rPr>
              <a:t> </a:t>
            </a:r>
            <a:r>
              <a:rPr sz="3200" dirty="0">
                <a:latin typeface="Calibri"/>
                <a:cs typeface="Calibri"/>
              </a:rPr>
              <a:t>images</a:t>
            </a:r>
            <a:r>
              <a:rPr sz="3200" spc="-50" dirty="0">
                <a:latin typeface="Calibri"/>
                <a:cs typeface="Calibri"/>
              </a:rPr>
              <a:t> </a:t>
            </a:r>
            <a:r>
              <a:rPr sz="3200" dirty="0">
                <a:latin typeface="Calibri"/>
                <a:cs typeface="Calibri"/>
              </a:rPr>
              <a:t>are</a:t>
            </a:r>
            <a:r>
              <a:rPr sz="3200" spc="-60" dirty="0">
                <a:latin typeface="Calibri"/>
                <a:cs typeface="Calibri"/>
              </a:rPr>
              <a:t> </a:t>
            </a:r>
            <a:r>
              <a:rPr sz="3200" dirty="0">
                <a:latin typeface="Calibri"/>
                <a:cs typeface="Calibri"/>
              </a:rPr>
              <a:t>handled</a:t>
            </a:r>
            <a:r>
              <a:rPr sz="3200" spc="-25" dirty="0">
                <a:latin typeface="Calibri"/>
                <a:cs typeface="Calibri"/>
              </a:rPr>
              <a:t> </a:t>
            </a:r>
            <a:r>
              <a:rPr sz="3200" dirty="0">
                <a:latin typeface="Calibri"/>
                <a:cs typeface="Calibri"/>
              </a:rPr>
              <a:t>as</a:t>
            </a:r>
            <a:r>
              <a:rPr sz="3200" spc="-45" dirty="0">
                <a:latin typeface="Calibri"/>
                <a:cs typeface="Calibri"/>
              </a:rPr>
              <a:t> </a:t>
            </a:r>
            <a:r>
              <a:rPr sz="3200" spc="-10" dirty="0">
                <a:latin typeface="Calibri"/>
                <a:cs typeface="Calibri"/>
              </a:rPr>
              <a:t>files</a:t>
            </a:r>
            <a:endParaRPr sz="3200" dirty="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spc="-10" dirty="0">
                <a:latin typeface="Calibri"/>
                <a:cs typeface="Calibri"/>
              </a:rPr>
              <a:t>Contains</a:t>
            </a:r>
            <a:r>
              <a:rPr sz="2800" spc="-65" dirty="0">
                <a:latin typeface="Calibri"/>
                <a:cs typeface="Calibri"/>
              </a:rPr>
              <a:t> </a:t>
            </a:r>
            <a:r>
              <a:rPr sz="2800" dirty="0">
                <a:latin typeface="Calibri"/>
                <a:cs typeface="Calibri"/>
              </a:rPr>
              <a:t>OS,</a:t>
            </a:r>
            <a:r>
              <a:rPr sz="2800" spc="-70" dirty="0">
                <a:latin typeface="Calibri"/>
                <a:cs typeface="Calibri"/>
              </a:rPr>
              <a:t> </a:t>
            </a:r>
            <a:r>
              <a:rPr sz="2800" spc="-10" dirty="0">
                <a:latin typeface="Calibri"/>
                <a:cs typeface="Calibri"/>
              </a:rPr>
              <a:t>applications,</a:t>
            </a:r>
            <a:r>
              <a:rPr sz="2800" spc="-50" dirty="0">
                <a:latin typeface="Calibri"/>
                <a:cs typeface="Calibri"/>
              </a:rPr>
              <a:t> </a:t>
            </a:r>
            <a:r>
              <a:rPr sz="2800" spc="-20" dirty="0">
                <a:latin typeface="Calibri"/>
                <a:cs typeface="Calibri"/>
              </a:rPr>
              <a:t>data</a:t>
            </a:r>
            <a:endParaRPr sz="2800" dirty="0">
              <a:latin typeface="Calibri"/>
              <a:cs typeface="Calibri"/>
            </a:endParaRPr>
          </a:p>
          <a:p>
            <a:pPr marL="468630" lvl="1" indent="-181610">
              <a:lnSpc>
                <a:spcPct val="100000"/>
              </a:lnSpc>
              <a:spcBef>
                <a:spcPts val="670"/>
              </a:spcBef>
              <a:buClr>
                <a:srgbClr val="2C7B9F"/>
              </a:buClr>
              <a:buSzPct val="83928"/>
              <a:buFont typeface="Arial MT"/>
              <a:buChar char="•"/>
              <a:tabLst>
                <a:tab pos="468630" algn="l"/>
              </a:tabLst>
            </a:pPr>
            <a:r>
              <a:rPr sz="2800" dirty="0">
                <a:latin typeface="Calibri"/>
                <a:cs typeface="Calibri"/>
              </a:rPr>
              <a:t>Memory</a:t>
            </a:r>
            <a:r>
              <a:rPr sz="2800" spc="-40" dirty="0">
                <a:latin typeface="Calibri"/>
                <a:cs typeface="Calibri"/>
              </a:rPr>
              <a:t> </a:t>
            </a:r>
            <a:r>
              <a:rPr sz="2800" dirty="0">
                <a:latin typeface="Calibri"/>
                <a:cs typeface="Calibri"/>
              </a:rPr>
              <a:t>and</a:t>
            </a:r>
            <a:r>
              <a:rPr sz="2800" spc="-50" dirty="0">
                <a:latin typeface="Calibri"/>
                <a:cs typeface="Calibri"/>
              </a:rPr>
              <a:t> </a:t>
            </a:r>
            <a:r>
              <a:rPr sz="2800" dirty="0">
                <a:latin typeface="Calibri"/>
                <a:cs typeface="Calibri"/>
              </a:rPr>
              <a:t>device</a:t>
            </a:r>
            <a:r>
              <a:rPr sz="2800" spc="-35" dirty="0">
                <a:latin typeface="Calibri"/>
                <a:cs typeface="Calibri"/>
              </a:rPr>
              <a:t> </a:t>
            </a:r>
            <a:r>
              <a:rPr sz="2800" spc="-10" dirty="0">
                <a:latin typeface="Calibri"/>
                <a:cs typeface="Calibri"/>
              </a:rPr>
              <a:t>state</a:t>
            </a:r>
            <a:endParaRPr sz="2800" dirty="0">
              <a:latin typeface="Calibri"/>
              <a:cs typeface="Calibri"/>
            </a:endParaRPr>
          </a:p>
          <a:p>
            <a:pPr marL="194945" indent="-182245">
              <a:lnSpc>
                <a:spcPct val="100000"/>
              </a:lnSpc>
              <a:spcBef>
                <a:spcPts val="755"/>
              </a:spcBef>
              <a:buClr>
                <a:srgbClr val="2C7B9F"/>
              </a:buClr>
              <a:buSzPct val="84375"/>
              <a:buFont typeface="Arial MT"/>
              <a:buChar char="•"/>
              <a:tabLst>
                <a:tab pos="194945" algn="l"/>
              </a:tabLst>
            </a:pPr>
            <a:r>
              <a:rPr sz="3200" dirty="0">
                <a:latin typeface="Calibri"/>
                <a:cs typeface="Calibri"/>
              </a:rPr>
              <a:t>Enables</a:t>
            </a:r>
            <a:r>
              <a:rPr sz="3200" spc="-70" dirty="0">
                <a:latin typeface="Calibri"/>
                <a:cs typeface="Calibri"/>
              </a:rPr>
              <a:t> </a:t>
            </a:r>
            <a:r>
              <a:rPr sz="3200" dirty="0">
                <a:latin typeface="Calibri"/>
                <a:cs typeface="Calibri"/>
              </a:rPr>
              <a:t>VM</a:t>
            </a:r>
            <a:r>
              <a:rPr sz="3200" spc="-85" dirty="0">
                <a:latin typeface="Calibri"/>
                <a:cs typeface="Calibri"/>
              </a:rPr>
              <a:t> </a:t>
            </a:r>
            <a:r>
              <a:rPr sz="3200" b="1" dirty="0">
                <a:solidFill>
                  <a:srgbClr val="234957"/>
                </a:solidFill>
                <a:latin typeface="Calibri"/>
                <a:cs typeface="Calibri"/>
              </a:rPr>
              <a:t>migration</a:t>
            </a:r>
            <a:r>
              <a:rPr sz="3200" b="1" spc="-95" dirty="0">
                <a:solidFill>
                  <a:srgbClr val="234957"/>
                </a:solidFill>
                <a:latin typeface="Calibri"/>
                <a:cs typeface="Calibri"/>
              </a:rPr>
              <a:t> </a:t>
            </a:r>
            <a:r>
              <a:rPr sz="3200" spc="-25" dirty="0">
                <a:latin typeface="Calibri"/>
                <a:cs typeface="Calibri"/>
              </a:rPr>
              <a:t>and</a:t>
            </a:r>
            <a:endParaRPr sz="3200" dirty="0">
              <a:latin typeface="Calibri"/>
              <a:cs typeface="Calibri"/>
            </a:endParaRPr>
          </a:p>
          <a:p>
            <a:pPr marL="194945">
              <a:lnSpc>
                <a:spcPct val="100000"/>
              </a:lnSpc>
            </a:pPr>
            <a:r>
              <a:rPr sz="3200" b="1" spc="-10" dirty="0">
                <a:solidFill>
                  <a:srgbClr val="234957"/>
                </a:solidFill>
                <a:latin typeface="Calibri"/>
                <a:cs typeface="Calibri"/>
              </a:rPr>
              <a:t>replication</a:t>
            </a:r>
            <a:endParaRPr sz="3200" dirty="0">
              <a:latin typeface="Calibri"/>
              <a:cs typeface="Calibri"/>
            </a:endParaRPr>
          </a:p>
          <a:p>
            <a:pPr marL="194945" marR="5080" indent="-182880">
              <a:lnSpc>
                <a:spcPct val="100000"/>
              </a:lnSpc>
              <a:spcBef>
                <a:spcPts val="770"/>
              </a:spcBef>
              <a:buClr>
                <a:srgbClr val="2C7B9F"/>
              </a:buClr>
              <a:buSzPct val="84375"/>
              <a:buFont typeface="Arial MT"/>
              <a:buChar char="•"/>
              <a:tabLst>
                <a:tab pos="194945" algn="l"/>
              </a:tabLst>
            </a:pPr>
            <a:r>
              <a:rPr sz="3200" spc="-10" dirty="0">
                <a:latin typeface="Calibri"/>
                <a:cs typeface="Calibri"/>
              </a:rPr>
              <a:t>Preconfigured</a:t>
            </a:r>
            <a:r>
              <a:rPr sz="3200" spc="-140" dirty="0">
                <a:latin typeface="Calibri"/>
                <a:cs typeface="Calibri"/>
              </a:rPr>
              <a:t> </a:t>
            </a:r>
            <a:r>
              <a:rPr sz="3200" dirty="0">
                <a:latin typeface="Calibri"/>
                <a:cs typeface="Calibri"/>
              </a:rPr>
              <a:t>machines</a:t>
            </a:r>
            <a:r>
              <a:rPr sz="3200" spc="-105" dirty="0">
                <a:latin typeface="Calibri"/>
                <a:cs typeface="Calibri"/>
              </a:rPr>
              <a:t> </a:t>
            </a:r>
            <a:r>
              <a:rPr sz="3200" spc="-25" dirty="0">
                <a:latin typeface="Calibri"/>
                <a:cs typeface="Calibri"/>
              </a:rPr>
              <a:t>are </a:t>
            </a:r>
            <a:r>
              <a:rPr sz="3200" dirty="0">
                <a:latin typeface="Calibri"/>
                <a:cs typeface="Calibri"/>
              </a:rPr>
              <a:t>distributed</a:t>
            </a:r>
            <a:r>
              <a:rPr sz="3200" spc="-40" dirty="0">
                <a:latin typeface="Calibri"/>
                <a:cs typeface="Calibri"/>
              </a:rPr>
              <a:t> </a:t>
            </a:r>
            <a:r>
              <a:rPr sz="3200" dirty="0">
                <a:latin typeface="Calibri"/>
                <a:cs typeface="Calibri"/>
              </a:rPr>
              <a:t>as</a:t>
            </a:r>
            <a:r>
              <a:rPr sz="3200" spc="-80" dirty="0">
                <a:latin typeface="Calibri"/>
                <a:cs typeface="Calibri"/>
              </a:rPr>
              <a:t> </a:t>
            </a:r>
            <a:r>
              <a:rPr sz="3200" b="1" dirty="0">
                <a:solidFill>
                  <a:srgbClr val="234957"/>
                </a:solidFill>
                <a:latin typeface="Calibri"/>
                <a:cs typeface="Calibri"/>
              </a:rPr>
              <a:t>virtual</a:t>
            </a:r>
            <a:r>
              <a:rPr sz="3200" b="1" spc="-95" dirty="0">
                <a:solidFill>
                  <a:srgbClr val="234957"/>
                </a:solidFill>
                <a:latin typeface="Calibri"/>
                <a:cs typeface="Calibri"/>
              </a:rPr>
              <a:t> </a:t>
            </a:r>
            <a:r>
              <a:rPr sz="3200" b="1" spc="-10" dirty="0">
                <a:solidFill>
                  <a:srgbClr val="234957"/>
                </a:solidFill>
                <a:latin typeface="Calibri"/>
                <a:cs typeface="Calibri"/>
              </a:rPr>
              <a:t>appliances</a:t>
            </a:r>
            <a:endParaRPr sz="3200" dirty="0">
              <a:latin typeface="Calibri"/>
              <a:cs typeface="Calibri"/>
            </a:endParaRPr>
          </a:p>
          <a:p>
            <a:pPr marL="468630" lvl="1" indent="-181610">
              <a:lnSpc>
                <a:spcPct val="100000"/>
              </a:lnSpc>
              <a:spcBef>
                <a:spcPts val="685"/>
              </a:spcBef>
              <a:buClr>
                <a:srgbClr val="2C7B9F"/>
              </a:buClr>
              <a:buSzPct val="83928"/>
              <a:buFont typeface="Arial MT"/>
              <a:buChar char="•"/>
              <a:tabLst>
                <a:tab pos="468630" algn="l"/>
              </a:tabLst>
            </a:pPr>
            <a:r>
              <a:rPr sz="2800" dirty="0">
                <a:latin typeface="Calibri"/>
                <a:cs typeface="Calibri"/>
              </a:rPr>
              <a:t>Simplifies</a:t>
            </a:r>
            <a:r>
              <a:rPr sz="2800" spc="-45" dirty="0">
                <a:latin typeface="Calibri"/>
                <a:cs typeface="Calibri"/>
              </a:rPr>
              <a:t> </a:t>
            </a:r>
            <a:r>
              <a:rPr sz="2800" dirty="0">
                <a:latin typeface="Calibri"/>
                <a:cs typeface="Calibri"/>
              </a:rPr>
              <a:t>initial</a:t>
            </a:r>
            <a:r>
              <a:rPr sz="2800" spc="-50" dirty="0">
                <a:latin typeface="Calibri"/>
                <a:cs typeface="Calibri"/>
              </a:rPr>
              <a:t> </a:t>
            </a:r>
            <a:r>
              <a:rPr sz="2800" spc="-10" dirty="0">
                <a:latin typeface="Calibri"/>
                <a:cs typeface="Calibri"/>
              </a:rPr>
              <a:t>provisioning</a:t>
            </a:r>
            <a:endParaRPr sz="28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4040" y="679449"/>
            <a:ext cx="3663950" cy="635000"/>
          </a:xfrm>
          <a:prstGeom prst="rect">
            <a:avLst/>
          </a:prstGeom>
        </p:spPr>
        <p:txBody>
          <a:bodyPr vert="horz" wrap="square" lIns="0" tIns="12065" rIns="0" bIns="0" rtlCol="0">
            <a:spAutoFit/>
          </a:bodyPr>
          <a:lstStyle/>
          <a:p>
            <a:pPr marL="12700">
              <a:lnSpc>
                <a:spcPct val="100000"/>
              </a:lnSpc>
              <a:spcBef>
                <a:spcPts val="95"/>
              </a:spcBef>
            </a:pPr>
            <a:r>
              <a:rPr spc="-100" dirty="0"/>
              <a:t>VMM</a:t>
            </a:r>
            <a:r>
              <a:rPr spc="-180" dirty="0"/>
              <a:t> </a:t>
            </a:r>
            <a:r>
              <a:rPr spc="-100" dirty="0"/>
              <a:t>Architecture</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8</a:t>
            </a:fld>
            <a:endParaRPr spc="-25" dirty="0"/>
          </a:p>
        </p:txBody>
      </p:sp>
      <p:pic>
        <p:nvPicPr>
          <p:cNvPr id="3" name="object 3"/>
          <p:cNvPicPr/>
          <p:nvPr/>
        </p:nvPicPr>
        <p:blipFill>
          <a:blip r:embed="rId3" cstate="print"/>
          <a:stretch>
            <a:fillRect/>
          </a:stretch>
        </p:blipFill>
        <p:spPr>
          <a:xfrm>
            <a:off x="249237" y="533400"/>
            <a:ext cx="4630552" cy="4052824"/>
          </a:xfrm>
          <a:prstGeom prst="rect">
            <a:avLst/>
          </a:prstGeom>
        </p:spPr>
      </p:pic>
      <p:sp>
        <p:nvSpPr>
          <p:cNvPr id="4" name="object 4"/>
          <p:cNvSpPr txBox="1"/>
          <p:nvPr/>
        </p:nvSpPr>
        <p:spPr>
          <a:xfrm>
            <a:off x="5162803" y="1238313"/>
            <a:ext cx="4013200" cy="4573047"/>
          </a:xfrm>
          <a:prstGeom prst="rect">
            <a:avLst/>
          </a:prstGeom>
        </p:spPr>
        <p:txBody>
          <a:bodyPr vert="horz" wrap="square" lIns="0" tIns="114300" rIns="0" bIns="0" rtlCol="0">
            <a:spAutoFit/>
          </a:bodyPr>
          <a:lstStyle/>
          <a:p>
            <a:pPr marL="182245" marR="342265" indent="-182245" algn="r">
              <a:lnSpc>
                <a:spcPct val="100000"/>
              </a:lnSpc>
              <a:spcBef>
                <a:spcPts val="900"/>
              </a:spcBef>
              <a:buClr>
                <a:srgbClr val="2C7B9F"/>
              </a:buClr>
              <a:buSzPct val="84375"/>
              <a:buFont typeface="Arial MT"/>
              <a:buChar char="•"/>
              <a:tabLst>
                <a:tab pos="182245" algn="l"/>
              </a:tabLst>
            </a:pPr>
            <a:r>
              <a:rPr sz="2800" dirty="0">
                <a:latin typeface="Calibri"/>
                <a:cs typeface="Calibri"/>
              </a:rPr>
              <a:t>Software</a:t>
            </a:r>
            <a:r>
              <a:rPr sz="2800" spc="-90" dirty="0">
                <a:latin typeface="Calibri"/>
                <a:cs typeface="Calibri"/>
              </a:rPr>
              <a:t> </a:t>
            </a:r>
            <a:r>
              <a:rPr sz="2800" spc="-10" dirty="0">
                <a:latin typeface="Calibri"/>
                <a:cs typeface="Calibri"/>
              </a:rPr>
              <a:t>Abstraction</a:t>
            </a:r>
            <a:endParaRPr sz="2800" dirty="0">
              <a:latin typeface="Calibri"/>
              <a:cs typeface="Calibri"/>
            </a:endParaRPr>
          </a:p>
          <a:p>
            <a:pPr marL="182245" marR="314325" lvl="1" indent="-182245" algn="r">
              <a:lnSpc>
                <a:spcPct val="100000"/>
              </a:lnSpc>
              <a:spcBef>
                <a:spcPts val="690"/>
              </a:spcBef>
              <a:buClr>
                <a:srgbClr val="2C7B9F"/>
              </a:buClr>
              <a:buSzPct val="83928"/>
              <a:buFont typeface="Arial MT"/>
              <a:buChar char="•"/>
              <a:tabLst>
                <a:tab pos="182245" algn="l"/>
              </a:tabLst>
            </a:pPr>
            <a:r>
              <a:rPr sz="2400" dirty="0">
                <a:latin typeface="Calibri"/>
                <a:cs typeface="Calibri"/>
              </a:rPr>
              <a:t>Behaves</a:t>
            </a:r>
            <a:r>
              <a:rPr sz="2400" spc="-135" dirty="0">
                <a:latin typeface="Calibri"/>
                <a:cs typeface="Calibri"/>
              </a:rPr>
              <a:t> </a:t>
            </a:r>
            <a:r>
              <a:rPr sz="2400" dirty="0">
                <a:latin typeface="Calibri"/>
                <a:cs typeface="Calibri"/>
              </a:rPr>
              <a:t>like</a:t>
            </a:r>
            <a:r>
              <a:rPr sz="2400" spc="-135" dirty="0">
                <a:latin typeface="Calibri"/>
                <a:cs typeface="Calibri"/>
              </a:rPr>
              <a:t> </a:t>
            </a:r>
            <a:r>
              <a:rPr sz="2400" spc="-10" dirty="0">
                <a:latin typeface="Calibri"/>
                <a:cs typeface="Calibri"/>
              </a:rPr>
              <a:t>hardware</a:t>
            </a:r>
            <a:endParaRPr sz="2400" dirty="0">
              <a:latin typeface="Calibri"/>
              <a:cs typeface="Calibri"/>
            </a:endParaRPr>
          </a:p>
          <a:p>
            <a:pPr marL="469900" marR="149225" lvl="1" indent="-182880">
              <a:lnSpc>
                <a:spcPct val="100000"/>
              </a:lnSpc>
              <a:spcBef>
                <a:spcPts val="670"/>
              </a:spcBef>
              <a:buClr>
                <a:srgbClr val="2C7B9F"/>
              </a:buClr>
              <a:buSzPct val="83928"/>
              <a:buFont typeface="Arial MT"/>
              <a:buChar char="•"/>
              <a:tabLst>
                <a:tab pos="469900" algn="l"/>
              </a:tabLst>
            </a:pPr>
            <a:r>
              <a:rPr sz="2400" spc="-10" dirty="0">
                <a:latin typeface="Calibri"/>
                <a:cs typeface="Calibri"/>
              </a:rPr>
              <a:t>Encapsulates</a:t>
            </a:r>
            <a:r>
              <a:rPr sz="2400" spc="-35" dirty="0">
                <a:latin typeface="Calibri"/>
                <a:cs typeface="Calibri"/>
              </a:rPr>
              <a:t> </a:t>
            </a:r>
            <a:r>
              <a:rPr sz="2400" dirty="0">
                <a:latin typeface="Calibri"/>
                <a:cs typeface="Calibri"/>
              </a:rPr>
              <a:t>all</a:t>
            </a:r>
            <a:r>
              <a:rPr sz="2400" spc="-60" dirty="0">
                <a:latin typeface="Calibri"/>
                <a:cs typeface="Calibri"/>
              </a:rPr>
              <a:t> </a:t>
            </a:r>
            <a:r>
              <a:rPr sz="2400" dirty="0">
                <a:latin typeface="Calibri"/>
                <a:cs typeface="Calibri"/>
              </a:rPr>
              <a:t>OS</a:t>
            </a:r>
            <a:r>
              <a:rPr sz="2400" spc="-60" dirty="0">
                <a:latin typeface="Calibri"/>
                <a:cs typeface="Calibri"/>
              </a:rPr>
              <a:t> </a:t>
            </a:r>
            <a:r>
              <a:rPr sz="2400" spc="-25" dirty="0">
                <a:latin typeface="Calibri"/>
                <a:cs typeface="Calibri"/>
              </a:rPr>
              <a:t>and </a:t>
            </a:r>
            <a:r>
              <a:rPr sz="2400" spc="-10" dirty="0">
                <a:latin typeface="Calibri"/>
                <a:cs typeface="Calibri"/>
              </a:rPr>
              <a:t>application</a:t>
            </a:r>
            <a:r>
              <a:rPr sz="2400" spc="-65" dirty="0">
                <a:latin typeface="Calibri"/>
                <a:cs typeface="Calibri"/>
              </a:rPr>
              <a:t> </a:t>
            </a:r>
            <a:r>
              <a:rPr sz="2400" spc="-20" dirty="0">
                <a:latin typeface="Calibri"/>
                <a:cs typeface="Calibri"/>
              </a:rPr>
              <a:t>state</a:t>
            </a:r>
            <a:endParaRPr sz="2400" dirty="0">
              <a:latin typeface="Calibri"/>
              <a:cs typeface="Calibri"/>
            </a:endParaRPr>
          </a:p>
          <a:p>
            <a:pPr marL="194945" indent="-182245">
              <a:lnSpc>
                <a:spcPct val="100000"/>
              </a:lnSpc>
              <a:spcBef>
                <a:spcPts val="755"/>
              </a:spcBef>
              <a:buClr>
                <a:srgbClr val="2C7B9F"/>
              </a:buClr>
              <a:buSzPct val="84375"/>
              <a:buFont typeface="Arial MT"/>
              <a:buChar char="•"/>
              <a:tabLst>
                <a:tab pos="194945" algn="l"/>
              </a:tabLst>
            </a:pPr>
            <a:r>
              <a:rPr sz="2800" dirty="0">
                <a:latin typeface="Calibri"/>
                <a:cs typeface="Calibri"/>
              </a:rPr>
              <a:t>Virtualisation</a:t>
            </a:r>
            <a:r>
              <a:rPr sz="2800" spc="-165" dirty="0">
                <a:latin typeface="Calibri"/>
                <a:cs typeface="Calibri"/>
              </a:rPr>
              <a:t> </a:t>
            </a:r>
            <a:r>
              <a:rPr sz="2800" spc="-20" dirty="0">
                <a:latin typeface="Calibri"/>
                <a:cs typeface="Calibri"/>
              </a:rPr>
              <a:t>Layer</a:t>
            </a:r>
            <a:endParaRPr sz="2800" dirty="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400" dirty="0">
                <a:latin typeface="Calibri"/>
                <a:cs typeface="Calibri"/>
              </a:rPr>
              <a:t>Extra</a:t>
            </a:r>
            <a:r>
              <a:rPr sz="2400" spc="-50" dirty="0">
                <a:latin typeface="Calibri"/>
                <a:cs typeface="Calibri"/>
              </a:rPr>
              <a:t> </a:t>
            </a:r>
            <a:r>
              <a:rPr sz="2400" dirty="0">
                <a:latin typeface="Calibri"/>
                <a:cs typeface="Calibri"/>
              </a:rPr>
              <a:t>level</a:t>
            </a:r>
            <a:r>
              <a:rPr sz="2400" spc="-45" dirty="0">
                <a:latin typeface="Calibri"/>
                <a:cs typeface="Calibri"/>
              </a:rPr>
              <a:t> </a:t>
            </a:r>
            <a:r>
              <a:rPr sz="2400" dirty="0">
                <a:latin typeface="Calibri"/>
                <a:cs typeface="Calibri"/>
              </a:rPr>
              <a:t>of</a:t>
            </a:r>
            <a:r>
              <a:rPr sz="2400" spc="-50" dirty="0">
                <a:latin typeface="Calibri"/>
                <a:cs typeface="Calibri"/>
              </a:rPr>
              <a:t> </a:t>
            </a:r>
            <a:r>
              <a:rPr sz="2400" spc="-10" dirty="0">
                <a:latin typeface="Calibri"/>
                <a:cs typeface="Calibri"/>
              </a:rPr>
              <a:t>indirection</a:t>
            </a:r>
            <a:endParaRPr sz="2400" dirty="0">
              <a:latin typeface="Calibri"/>
              <a:cs typeface="Calibri"/>
            </a:endParaRPr>
          </a:p>
          <a:p>
            <a:pPr marL="468630" lvl="1" indent="-181610">
              <a:lnSpc>
                <a:spcPct val="100000"/>
              </a:lnSpc>
              <a:spcBef>
                <a:spcPts val="670"/>
              </a:spcBef>
              <a:buClr>
                <a:srgbClr val="2C7B9F"/>
              </a:buClr>
              <a:buSzPct val="83928"/>
              <a:buFont typeface="Arial MT"/>
              <a:buChar char="•"/>
              <a:tabLst>
                <a:tab pos="468630" algn="l"/>
              </a:tabLst>
            </a:pPr>
            <a:r>
              <a:rPr sz="2400" dirty="0">
                <a:latin typeface="Calibri"/>
                <a:cs typeface="Calibri"/>
              </a:rPr>
              <a:t>Decouples</a:t>
            </a:r>
            <a:r>
              <a:rPr sz="2400" spc="-105" dirty="0">
                <a:latin typeface="Calibri"/>
                <a:cs typeface="Calibri"/>
              </a:rPr>
              <a:t> </a:t>
            </a:r>
            <a:r>
              <a:rPr sz="2400" spc="-10" dirty="0">
                <a:latin typeface="Calibri"/>
                <a:cs typeface="Calibri"/>
              </a:rPr>
              <a:t>hardware,</a:t>
            </a:r>
            <a:r>
              <a:rPr sz="2400" spc="-125" dirty="0">
                <a:latin typeface="Calibri"/>
                <a:cs typeface="Calibri"/>
              </a:rPr>
              <a:t> </a:t>
            </a:r>
            <a:r>
              <a:rPr sz="2400" spc="-35" dirty="0">
                <a:latin typeface="Calibri"/>
                <a:cs typeface="Calibri"/>
              </a:rPr>
              <a:t>OS</a:t>
            </a:r>
            <a:endParaRPr sz="2400" dirty="0">
              <a:latin typeface="Calibri"/>
              <a:cs typeface="Calibri"/>
            </a:endParaRPr>
          </a:p>
          <a:p>
            <a:pPr marL="469265" lvl="1" indent="-182245">
              <a:lnSpc>
                <a:spcPct val="100000"/>
              </a:lnSpc>
              <a:spcBef>
                <a:spcPts val="675"/>
              </a:spcBef>
              <a:buClr>
                <a:srgbClr val="2C7B9F"/>
              </a:buClr>
              <a:buSzPct val="83928"/>
              <a:buFont typeface="Arial MT"/>
              <a:buChar char="•"/>
              <a:tabLst>
                <a:tab pos="469265" algn="l"/>
              </a:tabLst>
            </a:pPr>
            <a:r>
              <a:rPr sz="2400" spc="-20" dirty="0">
                <a:latin typeface="Calibri"/>
                <a:cs typeface="Calibri"/>
              </a:rPr>
              <a:t>Enforces</a:t>
            </a:r>
            <a:r>
              <a:rPr sz="2400" spc="-70" dirty="0">
                <a:latin typeface="Calibri"/>
                <a:cs typeface="Calibri"/>
              </a:rPr>
              <a:t> </a:t>
            </a:r>
            <a:r>
              <a:rPr sz="2400" spc="-10" dirty="0">
                <a:latin typeface="Calibri"/>
                <a:cs typeface="Calibri"/>
              </a:rPr>
              <a:t>isolation</a:t>
            </a:r>
            <a:endParaRPr sz="2400" dirty="0">
              <a:latin typeface="Calibri"/>
              <a:cs typeface="Calibri"/>
            </a:endParaRPr>
          </a:p>
          <a:p>
            <a:pPr marL="469900" marR="444500" lvl="1" indent="-182880">
              <a:lnSpc>
                <a:spcPct val="100000"/>
              </a:lnSpc>
              <a:spcBef>
                <a:spcPts val="670"/>
              </a:spcBef>
              <a:buClr>
                <a:srgbClr val="2C7B9F"/>
              </a:buClr>
              <a:buSzPct val="83928"/>
              <a:buFont typeface="Arial MT"/>
              <a:buChar char="•"/>
              <a:tabLst>
                <a:tab pos="469900" algn="l"/>
              </a:tabLst>
            </a:pPr>
            <a:r>
              <a:rPr sz="2400" spc="-10" dirty="0">
                <a:latin typeface="Calibri"/>
                <a:cs typeface="Calibri"/>
              </a:rPr>
              <a:t>Multiplexes</a:t>
            </a:r>
            <a:r>
              <a:rPr sz="2400" spc="-135" dirty="0">
                <a:latin typeface="Calibri"/>
                <a:cs typeface="Calibri"/>
              </a:rPr>
              <a:t> </a:t>
            </a:r>
            <a:r>
              <a:rPr sz="2400" spc="-10" dirty="0">
                <a:latin typeface="Calibri"/>
                <a:cs typeface="Calibri"/>
              </a:rPr>
              <a:t>physical hardware</a:t>
            </a:r>
            <a:r>
              <a:rPr sz="2400" spc="-114" dirty="0">
                <a:latin typeface="Calibri"/>
                <a:cs typeface="Calibri"/>
              </a:rPr>
              <a:t> </a:t>
            </a:r>
            <a:r>
              <a:rPr sz="2400" dirty="0">
                <a:latin typeface="Calibri"/>
                <a:cs typeface="Calibri"/>
              </a:rPr>
              <a:t>across</a:t>
            </a:r>
            <a:r>
              <a:rPr sz="2400" spc="-114" dirty="0">
                <a:latin typeface="Calibri"/>
                <a:cs typeface="Calibri"/>
              </a:rPr>
              <a:t> </a:t>
            </a:r>
            <a:r>
              <a:rPr sz="2400" spc="-25" dirty="0">
                <a:latin typeface="Calibri"/>
                <a:cs typeface="Calibri"/>
              </a:rPr>
              <a:t>VMs</a:t>
            </a:r>
            <a:endParaRPr sz="2400" dirty="0">
              <a:latin typeface="Calibri"/>
              <a:cs typeface="Calibri"/>
            </a:endParaRPr>
          </a:p>
        </p:txBody>
      </p:sp>
      <p:sp>
        <p:nvSpPr>
          <p:cNvPr id="6" name="TextBox 5">
            <a:extLst>
              <a:ext uri="{FF2B5EF4-FFF2-40B4-BE49-F238E27FC236}">
                <a16:creationId xmlns:a16="http://schemas.microsoft.com/office/drawing/2014/main" id="{6810F073-120B-7C36-86D4-A09604EA52B5}"/>
              </a:ext>
            </a:extLst>
          </p:cNvPr>
          <p:cNvSpPr txBox="1"/>
          <p:nvPr/>
        </p:nvSpPr>
        <p:spPr>
          <a:xfrm>
            <a:off x="304800" y="4907340"/>
            <a:ext cx="5105400" cy="1323439"/>
          </a:xfrm>
          <a:prstGeom prst="rect">
            <a:avLst/>
          </a:prstGeom>
          <a:noFill/>
        </p:spPr>
        <p:txBody>
          <a:bodyPr wrap="square" rtlCol="0">
            <a:spAutoFit/>
          </a:bodyPr>
          <a:lstStyle/>
          <a:p>
            <a:r>
              <a:rPr lang="en-GB" sz="1600" b="1" dirty="0"/>
              <a:t>Example of VMMs</a:t>
            </a:r>
          </a:p>
          <a:p>
            <a:pPr>
              <a:buFont typeface="Arial" panose="020B0604020202020204" pitchFamily="34" charset="0"/>
              <a:buChar char="•"/>
            </a:pPr>
            <a:r>
              <a:rPr lang="en-GB" sz="1600" b="1" dirty="0"/>
              <a:t>Type 1 (Bare-metal):</a:t>
            </a:r>
            <a:r>
              <a:rPr lang="en-GB" sz="1600" dirty="0"/>
              <a:t> Runs directly on hardware (e.g., VMware </a:t>
            </a:r>
            <a:r>
              <a:rPr lang="en-GB" sz="1600" dirty="0" err="1"/>
              <a:t>ESXi</a:t>
            </a:r>
            <a:r>
              <a:rPr lang="en-GB" sz="1600" dirty="0"/>
              <a:t>, Microsoft Hyper-V, Xen).</a:t>
            </a:r>
          </a:p>
          <a:p>
            <a:pPr>
              <a:buFont typeface="Arial" panose="020B0604020202020204" pitchFamily="34" charset="0"/>
              <a:buChar char="•"/>
            </a:pPr>
            <a:r>
              <a:rPr lang="en-GB" sz="1600" b="1" dirty="0"/>
              <a:t>Type 2 (Hosted):</a:t>
            </a:r>
            <a:r>
              <a:rPr lang="en-GB" sz="1600" dirty="0"/>
              <a:t> Runs on top of an OS (e.g., VirtualBox, VMware Workstation).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64716"/>
            <a:ext cx="8916670" cy="4675505"/>
          </a:xfrm>
          <a:prstGeom prst="rect">
            <a:avLst/>
          </a:prstGeom>
        </p:spPr>
        <p:txBody>
          <a:bodyPr vert="horz" wrap="square" lIns="0" tIns="97790" rIns="0" bIns="0" rtlCol="0">
            <a:spAutoFit/>
          </a:bodyPr>
          <a:lstStyle/>
          <a:p>
            <a:pPr marL="194945" indent="-182245">
              <a:lnSpc>
                <a:spcPct val="100000"/>
              </a:lnSpc>
              <a:spcBef>
                <a:spcPts val="770"/>
              </a:spcBef>
              <a:buClr>
                <a:srgbClr val="2C7B9F"/>
              </a:buClr>
              <a:buSzPct val="83928"/>
              <a:buFont typeface="Arial MT"/>
              <a:buChar char="•"/>
              <a:tabLst>
                <a:tab pos="194945" algn="l"/>
              </a:tabLst>
            </a:pPr>
            <a:r>
              <a:rPr sz="2800" spc="-10" dirty="0">
                <a:latin typeface="Calibri"/>
                <a:cs typeface="Calibri"/>
              </a:rPr>
              <a:t>Performance</a:t>
            </a:r>
            <a:r>
              <a:rPr sz="2800" spc="-60" dirty="0">
                <a:latin typeface="Calibri"/>
                <a:cs typeface="Calibri"/>
              </a:rPr>
              <a:t> </a:t>
            </a:r>
            <a:r>
              <a:rPr sz="2800" dirty="0">
                <a:latin typeface="Calibri"/>
                <a:cs typeface="Calibri"/>
              </a:rPr>
              <a:t>depends</a:t>
            </a:r>
            <a:r>
              <a:rPr sz="2800" spc="-55" dirty="0">
                <a:latin typeface="Calibri"/>
                <a:cs typeface="Calibri"/>
              </a:rPr>
              <a:t> </a:t>
            </a:r>
            <a:r>
              <a:rPr sz="2800" dirty="0">
                <a:latin typeface="Calibri"/>
                <a:cs typeface="Calibri"/>
              </a:rPr>
              <a:t>on</a:t>
            </a:r>
            <a:r>
              <a:rPr sz="2800" spc="-75"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virtualisation</a:t>
            </a:r>
            <a:r>
              <a:rPr sz="2800" spc="-60" dirty="0">
                <a:latin typeface="Calibri"/>
                <a:cs typeface="Calibri"/>
              </a:rPr>
              <a:t> </a:t>
            </a:r>
            <a:r>
              <a:rPr sz="2800" spc="-10" dirty="0">
                <a:latin typeface="Calibri"/>
                <a:cs typeface="Calibri"/>
              </a:rPr>
              <a:t>technique</a:t>
            </a:r>
            <a:endParaRPr sz="2800" dirty="0">
              <a:latin typeface="Calibri"/>
              <a:cs typeface="Calibri"/>
            </a:endParaRPr>
          </a:p>
          <a:p>
            <a:pPr marL="194945" marR="686435" indent="-182880">
              <a:lnSpc>
                <a:spcPct val="100000"/>
              </a:lnSpc>
              <a:spcBef>
                <a:spcPts val="675"/>
              </a:spcBef>
              <a:buClr>
                <a:srgbClr val="2C7B9F"/>
              </a:buClr>
              <a:buSzPct val="83928"/>
              <a:buFont typeface="Arial MT"/>
              <a:buChar char="•"/>
              <a:tabLst>
                <a:tab pos="194945" algn="l"/>
              </a:tabLst>
            </a:pPr>
            <a:r>
              <a:rPr sz="2800" b="1" dirty="0">
                <a:solidFill>
                  <a:srgbClr val="234957"/>
                </a:solidFill>
                <a:latin typeface="Calibri"/>
                <a:cs typeface="Calibri"/>
              </a:rPr>
              <a:t>Emulation</a:t>
            </a:r>
            <a:r>
              <a:rPr sz="2800" b="1" spc="-75" dirty="0">
                <a:solidFill>
                  <a:srgbClr val="234957"/>
                </a:solidFill>
                <a:latin typeface="Calibri"/>
                <a:cs typeface="Calibri"/>
              </a:rPr>
              <a:t> </a:t>
            </a:r>
            <a:r>
              <a:rPr sz="2800" dirty="0">
                <a:latin typeface="Calibri"/>
                <a:cs typeface="Calibri"/>
              </a:rPr>
              <a:t>mimics</a:t>
            </a:r>
            <a:r>
              <a:rPr sz="2800" spc="-55" dirty="0">
                <a:latin typeface="Calibri"/>
                <a:cs typeface="Calibri"/>
              </a:rPr>
              <a:t> </a:t>
            </a:r>
            <a:r>
              <a:rPr sz="2800" dirty="0">
                <a:latin typeface="Calibri"/>
                <a:cs typeface="Calibri"/>
              </a:rPr>
              <a:t>as</a:t>
            </a:r>
            <a:r>
              <a:rPr sz="2800" spc="-60" dirty="0">
                <a:latin typeface="Calibri"/>
                <a:cs typeface="Calibri"/>
              </a:rPr>
              <a:t> </a:t>
            </a:r>
            <a:r>
              <a:rPr sz="2800" dirty="0">
                <a:latin typeface="Calibri"/>
                <a:cs typeface="Calibri"/>
              </a:rPr>
              <a:t>faithfully</a:t>
            </a:r>
            <a:r>
              <a:rPr sz="2800" spc="-60" dirty="0">
                <a:latin typeface="Calibri"/>
                <a:cs typeface="Calibri"/>
              </a:rPr>
              <a:t> </a:t>
            </a:r>
            <a:r>
              <a:rPr sz="2800" dirty="0">
                <a:latin typeface="Calibri"/>
                <a:cs typeface="Calibri"/>
              </a:rPr>
              <a:t>as</a:t>
            </a:r>
            <a:r>
              <a:rPr sz="2800" spc="-75" dirty="0">
                <a:latin typeface="Calibri"/>
                <a:cs typeface="Calibri"/>
              </a:rPr>
              <a:t> </a:t>
            </a:r>
            <a:r>
              <a:rPr sz="2800" dirty="0">
                <a:latin typeface="Calibri"/>
                <a:cs typeface="Calibri"/>
              </a:rPr>
              <a:t>possible</a:t>
            </a:r>
            <a:r>
              <a:rPr sz="2800" spc="-40" dirty="0">
                <a:latin typeface="Calibri"/>
                <a:cs typeface="Calibri"/>
              </a:rPr>
              <a:t> </a:t>
            </a:r>
            <a:r>
              <a:rPr sz="2800" dirty="0">
                <a:latin typeface="Calibri"/>
                <a:cs typeface="Calibri"/>
              </a:rPr>
              <a:t>the</a:t>
            </a:r>
            <a:r>
              <a:rPr sz="2800" spc="-65" dirty="0">
                <a:latin typeface="Calibri"/>
                <a:cs typeface="Calibri"/>
              </a:rPr>
              <a:t> </a:t>
            </a:r>
            <a:r>
              <a:rPr sz="2800" spc="-10" dirty="0">
                <a:latin typeface="Calibri"/>
                <a:cs typeface="Calibri"/>
              </a:rPr>
              <a:t>hardware </a:t>
            </a:r>
            <a:r>
              <a:rPr sz="2800" dirty="0">
                <a:latin typeface="Calibri"/>
                <a:cs typeface="Calibri"/>
              </a:rPr>
              <a:t>platform</a:t>
            </a:r>
            <a:r>
              <a:rPr sz="2800" spc="-70"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guest</a:t>
            </a:r>
            <a:r>
              <a:rPr sz="2800" spc="-65" dirty="0">
                <a:latin typeface="Calibri"/>
                <a:cs typeface="Calibri"/>
              </a:rPr>
              <a:t> </a:t>
            </a:r>
            <a:r>
              <a:rPr sz="2800" spc="-25" dirty="0">
                <a:latin typeface="Calibri"/>
                <a:cs typeface="Calibri"/>
              </a:rPr>
              <a:t>VM</a:t>
            </a:r>
            <a:endParaRPr sz="2800" dirty="0">
              <a:latin typeface="Calibri"/>
              <a:cs typeface="Calibri"/>
            </a:endParaRPr>
          </a:p>
          <a:p>
            <a:pPr marL="469900" lvl="1" indent="-182880">
              <a:lnSpc>
                <a:spcPct val="100000"/>
              </a:lnSpc>
              <a:spcBef>
                <a:spcPts val="605"/>
              </a:spcBef>
              <a:buClr>
                <a:srgbClr val="2C7B9F"/>
              </a:buClr>
              <a:buSzPct val="85416"/>
              <a:buFont typeface="Arial MT"/>
              <a:buChar char="•"/>
              <a:tabLst>
                <a:tab pos="469900" algn="l"/>
              </a:tabLst>
            </a:pPr>
            <a:r>
              <a:rPr sz="2400" spc="-10" dirty="0">
                <a:latin typeface="Calibri"/>
                <a:cs typeface="Calibri"/>
              </a:rPr>
              <a:t>Required</a:t>
            </a:r>
            <a:r>
              <a:rPr sz="2400" spc="-6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virtualizing</a:t>
            </a:r>
            <a:r>
              <a:rPr sz="2400" spc="-55" dirty="0">
                <a:latin typeface="Calibri"/>
                <a:cs typeface="Calibri"/>
              </a:rPr>
              <a:t> </a:t>
            </a:r>
            <a:r>
              <a:rPr sz="2400" spc="-20" dirty="0">
                <a:latin typeface="Calibri"/>
                <a:cs typeface="Calibri"/>
              </a:rPr>
              <a:t>different</a:t>
            </a:r>
            <a:r>
              <a:rPr sz="2400" spc="-45" dirty="0">
                <a:latin typeface="Calibri"/>
                <a:cs typeface="Calibri"/>
              </a:rPr>
              <a:t> </a:t>
            </a:r>
            <a:r>
              <a:rPr sz="2400" spc="-10" dirty="0">
                <a:latin typeface="Calibri"/>
                <a:cs typeface="Calibri"/>
              </a:rPr>
              <a:t>architectures</a:t>
            </a:r>
            <a:endParaRPr sz="2400" dirty="0">
              <a:latin typeface="Calibri"/>
              <a:cs typeface="Calibri"/>
            </a:endParaRPr>
          </a:p>
          <a:p>
            <a:pPr marL="469900" lvl="1" indent="-182880">
              <a:lnSpc>
                <a:spcPct val="100000"/>
              </a:lnSpc>
              <a:spcBef>
                <a:spcPts val="575"/>
              </a:spcBef>
              <a:buClr>
                <a:srgbClr val="2C7B9F"/>
              </a:buClr>
              <a:buSzPct val="85416"/>
              <a:buFont typeface="Arial MT"/>
              <a:buChar char="•"/>
              <a:tabLst>
                <a:tab pos="469900" algn="l"/>
              </a:tabLst>
            </a:pPr>
            <a:r>
              <a:rPr sz="2400" dirty="0">
                <a:latin typeface="Calibri"/>
                <a:cs typeface="Calibri"/>
              </a:rPr>
              <a:t>Huge</a:t>
            </a:r>
            <a:r>
              <a:rPr sz="2400" spc="-85" dirty="0">
                <a:latin typeface="Calibri"/>
                <a:cs typeface="Calibri"/>
              </a:rPr>
              <a:t> </a:t>
            </a:r>
            <a:r>
              <a:rPr sz="2400" dirty="0">
                <a:latin typeface="Calibri"/>
                <a:cs typeface="Calibri"/>
              </a:rPr>
              <a:t>performance</a:t>
            </a:r>
            <a:r>
              <a:rPr sz="2400" spc="-90" dirty="0">
                <a:latin typeface="Calibri"/>
                <a:cs typeface="Calibri"/>
              </a:rPr>
              <a:t> </a:t>
            </a:r>
            <a:r>
              <a:rPr sz="2400" spc="-20" dirty="0">
                <a:latin typeface="Calibri"/>
                <a:cs typeface="Calibri"/>
              </a:rPr>
              <a:t>cost</a:t>
            </a:r>
            <a:endParaRPr sz="2400" dirty="0">
              <a:latin typeface="Calibri"/>
              <a:cs typeface="Calibri"/>
            </a:endParaRPr>
          </a:p>
          <a:p>
            <a:pPr marL="193675" marR="140335" indent="-181610">
              <a:lnSpc>
                <a:spcPct val="100000"/>
              </a:lnSpc>
              <a:spcBef>
                <a:spcPts val="645"/>
              </a:spcBef>
              <a:buClr>
                <a:srgbClr val="2C7B9F"/>
              </a:buClr>
              <a:buSzPct val="83928"/>
              <a:buFont typeface="Arial MT"/>
              <a:buChar char="•"/>
              <a:tabLst>
                <a:tab pos="194945" algn="l"/>
              </a:tabLst>
            </a:pPr>
            <a:r>
              <a:rPr sz="2800" b="1" spc="-10" dirty="0">
                <a:solidFill>
                  <a:srgbClr val="234957"/>
                </a:solidFill>
                <a:latin typeface="Calibri"/>
                <a:cs typeface="Calibri"/>
              </a:rPr>
              <a:t>Paravirtualisation</a:t>
            </a:r>
            <a:r>
              <a:rPr sz="2800" b="1" spc="-45" dirty="0">
                <a:solidFill>
                  <a:srgbClr val="234957"/>
                </a:solidFill>
                <a:latin typeface="Calibri"/>
                <a:cs typeface="Calibri"/>
              </a:rPr>
              <a:t> </a:t>
            </a:r>
            <a:r>
              <a:rPr sz="2800" dirty="0">
                <a:latin typeface="Calibri"/>
                <a:cs typeface="Calibri"/>
              </a:rPr>
              <a:t>modifies</a:t>
            </a:r>
            <a:r>
              <a:rPr sz="2800" spc="-45"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guest</a:t>
            </a:r>
            <a:r>
              <a:rPr sz="2800" spc="-55" dirty="0">
                <a:latin typeface="Calibri"/>
                <a:cs typeface="Calibri"/>
              </a:rPr>
              <a:t> </a:t>
            </a:r>
            <a:r>
              <a:rPr sz="2800" dirty="0">
                <a:latin typeface="Calibri"/>
                <a:cs typeface="Calibri"/>
              </a:rPr>
              <a:t>VM</a:t>
            </a:r>
            <a:r>
              <a:rPr sz="2800" spc="-60" dirty="0">
                <a:latin typeface="Calibri"/>
                <a:cs typeface="Calibri"/>
              </a:rPr>
              <a:t> </a:t>
            </a:r>
            <a:r>
              <a:rPr sz="2800" dirty="0">
                <a:latin typeface="Calibri"/>
                <a:cs typeface="Calibri"/>
              </a:rPr>
              <a:t>so</a:t>
            </a:r>
            <a:r>
              <a:rPr sz="2800" spc="-50" dirty="0">
                <a:latin typeface="Calibri"/>
                <a:cs typeface="Calibri"/>
              </a:rPr>
              <a:t> </a:t>
            </a:r>
            <a:r>
              <a:rPr sz="2800" dirty="0">
                <a:latin typeface="Calibri"/>
                <a:cs typeface="Calibri"/>
              </a:rPr>
              <a:t>that</a:t>
            </a:r>
            <a:r>
              <a:rPr sz="2800" spc="-65" dirty="0">
                <a:latin typeface="Calibri"/>
                <a:cs typeface="Calibri"/>
              </a:rPr>
              <a:t> </a:t>
            </a:r>
            <a:r>
              <a:rPr sz="2800" dirty="0">
                <a:latin typeface="Calibri"/>
                <a:cs typeface="Calibri"/>
              </a:rPr>
              <a:t>it</a:t>
            </a:r>
            <a:r>
              <a:rPr sz="2800" spc="-55" dirty="0">
                <a:latin typeface="Calibri"/>
                <a:cs typeface="Calibri"/>
              </a:rPr>
              <a:t> </a:t>
            </a:r>
            <a:r>
              <a:rPr sz="2800" dirty="0">
                <a:latin typeface="Calibri"/>
                <a:cs typeface="Calibri"/>
              </a:rPr>
              <a:t>is</a:t>
            </a:r>
            <a:r>
              <a:rPr sz="2800" spc="-60" dirty="0">
                <a:latin typeface="Calibri"/>
                <a:cs typeface="Calibri"/>
              </a:rPr>
              <a:t> </a:t>
            </a:r>
            <a:r>
              <a:rPr sz="2800" spc="-10" dirty="0">
                <a:latin typeface="Calibri"/>
                <a:cs typeface="Calibri"/>
              </a:rPr>
              <a:t>aware 	</a:t>
            </a:r>
            <a:r>
              <a:rPr sz="2800" dirty="0">
                <a:latin typeface="Calibri"/>
                <a:cs typeface="Calibri"/>
              </a:rPr>
              <a:t>of</a:t>
            </a:r>
            <a:r>
              <a:rPr sz="2800" spc="-50" dirty="0">
                <a:latin typeface="Calibri"/>
                <a:cs typeface="Calibri"/>
              </a:rPr>
              <a:t> </a:t>
            </a:r>
            <a:r>
              <a:rPr sz="2800" dirty="0">
                <a:latin typeface="Calibri"/>
                <a:cs typeface="Calibri"/>
              </a:rPr>
              <a:t>its</a:t>
            </a:r>
            <a:r>
              <a:rPr sz="2800" spc="-40" dirty="0">
                <a:latin typeface="Calibri"/>
                <a:cs typeface="Calibri"/>
              </a:rPr>
              <a:t> </a:t>
            </a:r>
            <a:r>
              <a:rPr sz="2800" dirty="0">
                <a:latin typeface="Calibri"/>
                <a:cs typeface="Calibri"/>
              </a:rPr>
              <a:t>virtualisation</a:t>
            </a:r>
            <a:r>
              <a:rPr sz="2800" spc="-30" dirty="0">
                <a:latin typeface="Calibri"/>
                <a:cs typeface="Calibri"/>
              </a:rPr>
              <a:t> </a:t>
            </a:r>
            <a:r>
              <a:rPr sz="2800" spc="-10" dirty="0">
                <a:latin typeface="Calibri"/>
                <a:cs typeface="Calibri"/>
              </a:rPr>
              <a:t>status</a:t>
            </a:r>
            <a:endParaRPr sz="2800" dirty="0">
              <a:latin typeface="Calibri"/>
              <a:cs typeface="Calibri"/>
            </a:endParaRPr>
          </a:p>
          <a:p>
            <a:pPr marL="194945" marR="5080" indent="-182880">
              <a:lnSpc>
                <a:spcPct val="100000"/>
              </a:lnSpc>
              <a:spcBef>
                <a:spcPts val="675"/>
              </a:spcBef>
              <a:buClr>
                <a:srgbClr val="2C7B9F"/>
              </a:buClr>
              <a:buSzPct val="83928"/>
              <a:buFont typeface="Arial MT"/>
              <a:buChar char="•"/>
              <a:tabLst>
                <a:tab pos="194945" algn="l"/>
              </a:tabLst>
            </a:pPr>
            <a:r>
              <a:rPr sz="2800" b="1" spc="-35" dirty="0">
                <a:solidFill>
                  <a:srgbClr val="234957"/>
                </a:solidFill>
                <a:latin typeface="Calibri"/>
                <a:cs typeface="Calibri"/>
              </a:rPr>
              <a:t>Hardware-</a:t>
            </a:r>
            <a:r>
              <a:rPr sz="2800" b="1" dirty="0">
                <a:solidFill>
                  <a:srgbClr val="234957"/>
                </a:solidFill>
                <a:latin typeface="Calibri"/>
                <a:cs typeface="Calibri"/>
              </a:rPr>
              <a:t>assisted</a:t>
            </a:r>
            <a:r>
              <a:rPr sz="2800" b="1" spc="-25" dirty="0">
                <a:solidFill>
                  <a:srgbClr val="234957"/>
                </a:solidFill>
                <a:latin typeface="Calibri"/>
                <a:cs typeface="Calibri"/>
              </a:rPr>
              <a:t> </a:t>
            </a:r>
            <a:r>
              <a:rPr sz="2800" b="1" spc="-10" dirty="0">
                <a:solidFill>
                  <a:srgbClr val="234957"/>
                </a:solidFill>
                <a:latin typeface="Calibri"/>
                <a:cs typeface="Calibri"/>
              </a:rPr>
              <a:t>virtualisation</a:t>
            </a:r>
            <a:r>
              <a:rPr sz="2800" b="1" spc="-45" dirty="0">
                <a:solidFill>
                  <a:srgbClr val="234957"/>
                </a:solidFill>
                <a:latin typeface="Calibri"/>
                <a:cs typeface="Calibri"/>
              </a:rPr>
              <a:t> </a:t>
            </a:r>
            <a:r>
              <a:rPr sz="2800" dirty="0">
                <a:latin typeface="Calibri"/>
                <a:cs typeface="Calibri"/>
              </a:rPr>
              <a:t>provides</a:t>
            </a:r>
            <a:r>
              <a:rPr sz="2800" spc="-50" dirty="0">
                <a:latin typeface="Calibri"/>
                <a:cs typeface="Calibri"/>
              </a:rPr>
              <a:t> </a:t>
            </a:r>
            <a:r>
              <a:rPr sz="2800" spc="-20" dirty="0">
                <a:latin typeface="Calibri"/>
                <a:cs typeface="Calibri"/>
              </a:rPr>
              <a:t>near-</a:t>
            </a:r>
            <a:r>
              <a:rPr sz="2800" spc="-10" dirty="0">
                <a:latin typeface="Calibri"/>
                <a:cs typeface="Calibri"/>
              </a:rPr>
              <a:t>optimum </a:t>
            </a:r>
            <a:r>
              <a:rPr sz="2800" dirty="0">
                <a:latin typeface="Calibri"/>
                <a:cs typeface="Calibri"/>
              </a:rPr>
              <a:t>performance</a:t>
            </a:r>
            <a:r>
              <a:rPr sz="2800" spc="-5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guest</a:t>
            </a:r>
            <a:r>
              <a:rPr sz="2800" spc="-45" dirty="0">
                <a:latin typeface="Calibri"/>
                <a:cs typeface="Calibri"/>
              </a:rPr>
              <a:t> </a:t>
            </a:r>
            <a:r>
              <a:rPr sz="2800" dirty="0">
                <a:latin typeface="Calibri"/>
                <a:cs typeface="Calibri"/>
              </a:rPr>
              <a:t>VMs</a:t>
            </a:r>
            <a:r>
              <a:rPr sz="2800" spc="-45"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same</a:t>
            </a:r>
            <a:r>
              <a:rPr sz="2800" spc="-50" dirty="0">
                <a:latin typeface="Calibri"/>
                <a:cs typeface="Calibri"/>
              </a:rPr>
              <a:t> </a:t>
            </a:r>
            <a:r>
              <a:rPr sz="2800" dirty="0">
                <a:latin typeface="Calibri"/>
                <a:cs typeface="Calibri"/>
              </a:rPr>
              <a:t>physical</a:t>
            </a:r>
            <a:r>
              <a:rPr sz="2800" spc="-45" dirty="0">
                <a:latin typeface="Calibri"/>
                <a:cs typeface="Calibri"/>
              </a:rPr>
              <a:t> </a:t>
            </a:r>
            <a:r>
              <a:rPr sz="2800" spc="-10" dirty="0">
                <a:latin typeface="Calibri"/>
                <a:cs typeface="Calibri"/>
              </a:rPr>
              <a:t>architecture</a:t>
            </a:r>
            <a:endParaRPr sz="2800" dirty="0">
              <a:latin typeface="Calibri"/>
              <a:cs typeface="Calibri"/>
            </a:endParaRPr>
          </a:p>
          <a:p>
            <a:pPr marL="469900" lvl="1" indent="-182880">
              <a:lnSpc>
                <a:spcPct val="100000"/>
              </a:lnSpc>
              <a:spcBef>
                <a:spcPts val="605"/>
              </a:spcBef>
              <a:buClr>
                <a:srgbClr val="2C7B9F"/>
              </a:buClr>
              <a:buSzPct val="85416"/>
              <a:buFont typeface="Arial MT"/>
              <a:buChar char="•"/>
              <a:tabLst>
                <a:tab pos="469900" algn="l"/>
              </a:tabLst>
            </a:pPr>
            <a:r>
              <a:rPr sz="2400" dirty="0">
                <a:latin typeface="Calibri"/>
                <a:cs typeface="Calibri"/>
              </a:rPr>
              <a:t>Intel</a:t>
            </a:r>
            <a:r>
              <a:rPr sz="2400" spc="-35" dirty="0">
                <a:latin typeface="Calibri"/>
                <a:cs typeface="Calibri"/>
              </a:rPr>
              <a:t> </a:t>
            </a:r>
            <a:r>
              <a:rPr sz="2400" spc="-25" dirty="0">
                <a:latin typeface="Calibri"/>
                <a:cs typeface="Calibri"/>
              </a:rPr>
              <a:t>VT-</a:t>
            </a:r>
            <a:r>
              <a:rPr sz="2400" dirty="0">
                <a:latin typeface="Calibri"/>
                <a:cs typeface="Calibri"/>
              </a:rPr>
              <a:t>x, </a:t>
            </a:r>
            <a:r>
              <a:rPr sz="2400" spc="-25" dirty="0">
                <a:latin typeface="Calibri"/>
                <a:cs typeface="Calibri"/>
              </a:rPr>
              <a:t>VT-</a:t>
            </a:r>
            <a:r>
              <a:rPr sz="2400" dirty="0">
                <a:latin typeface="Calibri"/>
                <a:cs typeface="Calibri"/>
              </a:rPr>
              <a:t>d</a:t>
            </a:r>
            <a:r>
              <a:rPr sz="2400" spc="-10" dirty="0">
                <a:latin typeface="Calibri"/>
                <a:cs typeface="Calibri"/>
              </a:rPr>
              <a:t> </a:t>
            </a:r>
            <a:r>
              <a:rPr sz="2400" dirty="0">
                <a:latin typeface="Calibri"/>
                <a:cs typeface="Calibri"/>
              </a:rPr>
              <a:t>instruction</a:t>
            </a:r>
            <a:r>
              <a:rPr sz="2400" spc="-60" dirty="0">
                <a:latin typeface="Calibri"/>
                <a:cs typeface="Calibri"/>
              </a:rPr>
              <a:t> </a:t>
            </a:r>
            <a:r>
              <a:rPr sz="2400" spc="-20" dirty="0">
                <a:latin typeface="Calibri"/>
                <a:cs typeface="Calibri"/>
              </a:rPr>
              <a:t>sets</a:t>
            </a:r>
            <a:endParaRPr sz="24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10" dirty="0"/>
              <a:t>Virtualisation</a:t>
            </a:r>
            <a:r>
              <a:rPr spc="-135" dirty="0"/>
              <a:t> </a:t>
            </a:r>
            <a:r>
              <a:rPr spc="-95" dirty="0"/>
              <a:t>Performance</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50695"/>
            <a:ext cx="7675245" cy="4561840"/>
          </a:xfrm>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sz="3200" spc="-10" dirty="0">
                <a:latin typeface="Calibri"/>
                <a:cs typeface="Calibri"/>
              </a:rPr>
              <a:t>Lightweight</a:t>
            </a:r>
            <a:r>
              <a:rPr sz="3200" spc="-145" dirty="0">
                <a:latin typeface="Calibri"/>
                <a:cs typeface="Calibri"/>
              </a:rPr>
              <a:t> </a:t>
            </a:r>
            <a:r>
              <a:rPr sz="3200" dirty="0">
                <a:latin typeface="Calibri"/>
                <a:cs typeface="Calibri"/>
              </a:rPr>
              <a:t>virtualisation</a:t>
            </a:r>
            <a:r>
              <a:rPr sz="3200" spc="-125" dirty="0">
                <a:latin typeface="Calibri"/>
                <a:cs typeface="Calibri"/>
              </a:rPr>
              <a:t> </a:t>
            </a:r>
            <a:r>
              <a:rPr sz="3200" spc="-10" dirty="0">
                <a:latin typeface="Calibri"/>
                <a:cs typeface="Calibri"/>
              </a:rPr>
              <a:t>model</a:t>
            </a:r>
            <a:endParaRPr sz="3200" dirty="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dirty="0">
                <a:latin typeface="Calibri"/>
                <a:cs typeface="Calibri"/>
              </a:rPr>
              <a:t>Operating</a:t>
            </a:r>
            <a:r>
              <a:rPr sz="3200" spc="-80" dirty="0">
                <a:latin typeface="Calibri"/>
                <a:cs typeface="Calibri"/>
              </a:rPr>
              <a:t> </a:t>
            </a:r>
            <a:r>
              <a:rPr sz="3200" spc="-35" dirty="0">
                <a:latin typeface="Calibri"/>
                <a:cs typeface="Calibri"/>
              </a:rPr>
              <a:t>System-</a:t>
            </a:r>
            <a:r>
              <a:rPr sz="3200" dirty="0">
                <a:latin typeface="Calibri"/>
                <a:cs typeface="Calibri"/>
              </a:rPr>
              <a:t>level</a:t>
            </a:r>
            <a:r>
              <a:rPr sz="3200" spc="-100" dirty="0">
                <a:latin typeface="Calibri"/>
                <a:cs typeface="Calibri"/>
              </a:rPr>
              <a:t> </a:t>
            </a:r>
            <a:r>
              <a:rPr sz="3200" spc="-10" dirty="0">
                <a:latin typeface="Calibri"/>
                <a:cs typeface="Calibri"/>
              </a:rPr>
              <a:t>virtualisation</a:t>
            </a:r>
            <a:endParaRPr sz="3200" dirty="0">
              <a:latin typeface="Calibri"/>
              <a:cs typeface="Calibri"/>
            </a:endParaRPr>
          </a:p>
          <a:p>
            <a:pPr marL="468630" lvl="1" indent="-181610">
              <a:lnSpc>
                <a:spcPct val="100000"/>
              </a:lnSpc>
              <a:spcBef>
                <a:spcPts val="685"/>
              </a:spcBef>
              <a:buClr>
                <a:srgbClr val="2C7B9F"/>
              </a:buClr>
              <a:buSzPct val="83928"/>
              <a:buFont typeface="Arial MT"/>
              <a:buChar char="•"/>
              <a:tabLst>
                <a:tab pos="468630" algn="l"/>
              </a:tabLst>
            </a:pPr>
            <a:r>
              <a:rPr sz="2800" dirty="0">
                <a:latin typeface="Calibri"/>
                <a:cs typeface="Calibri"/>
              </a:rPr>
              <a:t>Images</a:t>
            </a:r>
            <a:r>
              <a:rPr sz="2800" spc="-110" dirty="0">
                <a:latin typeface="Calibri"/>
                <a:cs typeface="Calibri"/>
              </a:rPr>
              <a:t> </a:t>
            </a:r>
            <a:r>
              <a:rPr sz="2800" dirty="0">
                <a:latin typeface="Calibri"/>
                <a:cs typeface="Calibri"/>
              </a:rPr>
              <a:t>only</a:t>
            </a:r>
            <a:r>
              <a:rPr sz="2800" spc="-95" dirty="0">
                <a:latin typeface="Calibri"/>
                <a:cs typeface="Calibri"/>
              </a:rPr>
              <a:t> </a:t>
            </a:r>
            <a:r>
              <a:rPr sz="2800" dirty="0">
                <a:latin typeface="Calibri"/>
                <a:cs typeface="Calibri"/>
              </a:rPr>
              <a:t>contain</a:t>
            </a:r>
            <a:r>
              <a:rPr sz="2800" spc="-80" dirty="0">
                <a:latin typeface="Calibri"/>
                <a:cs typeface="Calibri"/>
              </a:rPr>
              <a:t> </a:t>
            </a:r>
            <a:r>
              <a:rPr sz="2800" dirty="0">
                <a:latin typeface="Calibri"/>
                <a:cs typeface="Calibri"/>
              </a:rPr>
              <a:t>libraries</a:t>
            </a:r>
            <a:r>
              <a:rPr sz="2800" spc="-85" dirty="0">
                <a:latin typeface="Calibri"/>
                <a:cs typeface="Calibri"/>
              </a:rPr>
              <a:t> </a:t>
            </a:r>
            <a:r>
              <a:rPr sz="2800" dirty="0">
                <a:latin typeface="Calibri"/>
                <a:cs typeface="Calibri"/>
              </a:rPr>
              <a:t>and</a:t>
            </a:r>
            <a:r>
              <a:rPr sz="2800" spc="-90" dirty="0">
                <a:latin typeface="Calibri"/>
                <a:cs typeface="Calibri"/>
              </a:rPr>
              <a:t> </a:t>
            </a:r>
            <a:r>
              <a:rPr sz="2800" dirty="0">
                <a:latin typeface="Calibri"/>
                <a:cs typeface="Calibri"/>
              </a:rPr>
              <a:t>application</a:t>
            </a:r>
            <a:r>
              <a:rPr sz="2800" spc="-85" dirty="0">
                <a:latin typeface="Calibri"/>
                <a:cs typeface="Calibri"/>
              </a:rPr>
              <a:t> </a:t>
            </a:r>
            <a:r>
              <a:rPr sz="2800" spc="-20" dirty="0">
                <a:latin typeface="Calibri"/>
                <a:cs typeface="Calibri"/>
              </a:rPr>
              <a:t>code</a:t>
            </a:r>
            <a:endParaRPr sz="2800" dirty="0">
              <a:latin typeface="Calibri"/>
              <a:cs typeface="Calibri"/>
            </a:endParaRPr>
          </a:p>
          <a:p>
            <a:pPr marL="194945" indent="-182245">
              <a:lnSpc>
                <a:spcPct val="100000"/>
              </a:lnSpc>
              <a:spcBef>
                <a:spcPts val="755"/>
              </a:spcBef>
              <a:buClr>
                <a:srgbClr val="2C7B9F"/>
              </a:buClr>
              <a:buSzPct val="84375"/>
              <a:buFont typeface="Arial MT"/>
              <a:buChar char="•"/>
              <a:tabLst>
                <a:tab pos="194945" algn="l"/>
              </a:tabLst>
            </a:pPr>
            <a:r>
              <a:rPr sz="3200" dirty="0">
                <a:latin typeface="Calibri"/>
                <a:cs typeface="Calibri"/>
              </a:rPr>
              <a:t>“User </a:t>
            </a:r>
            <a:r>
              <a:rPr sz="3200" spc="-10" dirty="0">
                <a:latin typeface="Calibri"/>
                <a:cs typeface="Calibri"/>
              </a:rPr>
              <a:t>space”</a:t>
            </a:r>
            <a:endParaRPr sz="3200" dirty="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Allocation</a:t>
            </a:r>
            <a:r>
              <a:rPr sz="2800" spc="-80" dirty="0">
                <a:latin typeface="Calibri"/>
                <a:cs typeface="Calibri"/>
              </a:rPr>
              <a:t> </a:t>
            </a:r>
            <a:r>
              <a:rPr sz="2800" dirty="0">
                <a:latin typeface="Calibri"/>
                <a:cs typeface="Calibri"/>
              </a:rPr>
              <a:t>of</a:t>
            </a:r>
            <a:r>
              <a:rPr sz="2800" spc="-80" dirty="0">
                <a:latin typeface="Calibri"/>
                <a:cs typeface="Calibri"/>
              </a:rPr>
              <a:t> </a:t>
            </a:r>
            <a:r>
              <a:rPr sz="2800" spc="-10" dirty="0">
                <a:latin typeface="Calibri"/>
                <a:cs typeface="Calibri"/>
              </a:rPr>
              <a:t>resources</a:t>
            </a:r>
            <a:r>
              <a:rPr sz="2800" spc="-55" dirty="0">
                <a:latin typeface="Calibri"/>
                <a:cs typeface="Calibri"/>
              </a:rPr>
              <a:t> </a:t>
            </a:r>
            <a:r>
              <a:rPr sz="2800" dirty="0">
                <a:latin typeface="Calibri"/>
                <a:cs typeface="Calibri"/>
              </a:rPr>
              <a:t>to</a:t>
            </a:r>
            <a:r>
              <a:rPr sz="2800" spc="-85" dirty="0">
                <a:latin typeface="Calibri"/>
                <a:cs typeface="Calibri"/>
              </a:rPr>
              <a:t> </a:t>
            </a:r>
            <a:r>
              <a:rPr sz="2800" spc="-10" dirty="0">
                <a:latin typeface="Calibri"/>
                <a:cs typeface="Calibri"/>
              </a:rPr>
              <a:t>container</a:t>
            </a:r>
            <a:endParaRPr sz="2800" dirty="0">
              <a:latin typeface="Calibri"/>
              <a:cs typeface="Calibri"/>
            </a:endParaRPr>
          </a:p>
          <a:p>
            <a:pPr marL="194945" indent="-182245">
              <a:lnSpc>
                <a:spcPct val="100000"/>
              </a:lnSpc>
              <a:spcBef>
                <a:spcPts val="755"/>
              </a:spcBef>
              <a:buClr>
                <a:srgbClr val="2C7B9F"/>
              </a:buClr>
              <a:buSzPct val="84375"/>
              <a:buFont typeface="Arial MT"/>
              <a:buChar char="•"/>
              <a:tabLst>
                <a:tab pos="194945" algn="l"/>
              </a:tabLst>
            </a:pPr>
            <a:r>
              <a:rPr sz="3200" spc="-10" dirty="0">
                <a:latin typeface="Calibri"/>
                <a:cs typeface="Calibri"/>
              </a:rPr>
              <a:t>Faster</a:t>
            </a:r>
            <a:r>
              <a:rPr sz="3200" spc="-100" dirty="0">
                <a:latin typeface="Calibri"/>
                <a:cs typeface="Calibri"/>
              </a:rPr>
              <a:t> </a:t>
            </a:r>
            <a:r>
              <a:rPr sz="3200" spc="-30" dirty="0">
                <a:latin typeface="Calibri"/>
                <a:cs typeface="Calibri"/>
              </a:rPr>
              <a:t>start-</a:t>
            </a:r>
            <a:r>
              <a:rPr sz="3200" spc="-25" dirty="0">
                <a:latin typeface="Calibri"/>
                <a:cs typeface="Calibri"/>
              </a:rPr>
              <a:t>up</a:t>
            </a:r>
            <a:endParaRPr sz="3200" dirty="0">
              <a:latin typeface="Calibri"/>
              <a:cs typeface="Calibri"/>
            </a:endParaRPr>
          </a:p>
          <a:p>
            <a:pPr marL="194945" indent="-182245">
              <a:lnSpc>
                <a:spcPct val="100000"/>
              </a:lnSpc>
              <a:spcBef>
                <a:spcPts val="765"/>
              </a:spcBef>
              <a:buClr>
                <a:srgbClr val="2C7B9F"/>
              </a:buClr>
              <a:buSzPct val="84375"/>
              <a:buFont typeface="Arial MT"/>
              <a:buChar char="•"/>
              <a:tabLst>
                <a:tab pos="194945" algn="l"/>
              </a:tabLst>
            </a:pPr>
            <a:r>
              <a:rPr sz="3200" dirty="0">
                <a:latin typeface="Calibri"/>
                <a:cs typeface="Calibri"/>
              </a:rPr>
              <a:t>Easy</a:t>
            </a:r>
            <a:r>
              <a:rPr sz="3200" spc="-114" dirty="0">
                <a:latin typeface="Calibri"/>
                <a:cs typeface="Calibri"/>
              </a:rPr>
              <a:t> </a:t>
            </a:r>
            <a:r>
              <a:rPr sz="3200" spc="-10" dirty="0">
                <a:latin typeface="Calibri"/>
                <a:cs typeface="Calibri"/>
              </a:rPr>
              <a:t>replication</a:t>
            </a:r>
            <a:endParaRPr sz="3200" dirty="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spc="-10" dirty="0">
                <a:latin typeface="Calibri"/>
                <a:cs typeface="Calibri"/>
              </a:rPr>
              <a:t>Worse</a:t>
            </a:r>
            <a:r>
              <a:rPr sz="3200" spc="-145" dirty="0">
                <a:latin typeface="Calibri"/>
                <a:cs typeface="Calibri"/>
              </a:rPr>
              <a:t> </a:t>
            </a:r>
            <a:r>
              <a:rPr sz="3200" spc="-10" dirty="0">
                <a:latin typeface="Calibri"/>
                <a:cs typeface="Calibri"/>
              </a:rPr>
              <a:t>isolation</a:t>
            </a:r>
            <a:endParaRPr sz="3200" dirty="0">
              <a:latin typeface="Calibri"/>
              <a:cs typeface="Calibri"/>
            </a:endParaRPr>
          </a:p>
        </p:txBody>
      </p:sp>
      <p:sp>
        <p:nvSpPr>
          <p:cNvPr id="3" name="object 3"/>
          <p:cNvSpPr txBox="1">
            <a:spLocks noGrp="1"/>
          </p:cNvSpPr>
          <p:nvPr>
            <p:ph type="title"/>
          </p:nvPr>
        </p:nvSpPr>
        <p:spPr>
          <a:xfrm>
            <a:off x="574040" y="679449"/>
            <a:ext cx="3515360" cy="635000"/>
          </a:xfrm>
          <a:prstGeom prst="rect">
            <a:avLst/>
          </a:prstGeom>
        </p:spPr>
        <p:txBody>
          <a:bodyPr vert="horz" wrap="square" lIns="0" tIns="12065" rIns="0" bIns="0" rtlCol="0">
            <a:spAutoFit/>
          </a:bodyPr>
          <a:lstStyle/>
          <a:p>
            <a:pPr marL="12700">
              <a:lnSpc>
                <a:spcPct val="100000"/>
              </a:lnSpc>
              <a:spcBef>
                <a:spcPts val="95"/>
              </a:spcBef>
            </a:pPr>
            <a:r>
              <a:rPr spc="-100" dirty="0"/>
              <a:t>Virtual</a:t>
            </a:r>
            <a:r>
              <a:rPr spc="-185" dirty="0"/>
              <a:t> </a:t>
            </a:r>
            <a:r>
              <a:rPr spc="-90" dirty="0"/>
              <a:t>Containers</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10</a:t>
            </a:fld>
            <a:endParaRPr spc="-25" dirty="0"/>
          </a:p>
        </p:txBody>
      </p:sp>
      <p:pic>
        <p:nvPicPr>
          <p:cNvPr id="4" name="object 4"/>
          <p:cNvPicPr/>
          <p:nvPr/>
        </p:nvPicPr>
        <p:blipFill>
          <a:blip r:embed="rId3" cstate="print"/>
          <a:stretch>
            <a:fillRect/>
          </a:stretch>
        </p:blipFill>
        <p:spPr>
          <a:xfrm>
            <a:off x="5965825" y="3198812"/>
            <a:ext cx="3940175" cy="3517900"/>
          </a:xfrm>
          <a:prstGeom prst="rect">
            <a:avLst/>
          </a:prstGeom>
        </p:spPr>
      </p:pic>
      <p:pic>
        <p:nvPicPr>
          <p:cNvPr id="5" name="object 5"/>
          <p:cNvPicPr/>
          <p:nvPr/>
        </p:nvPicPr>
        <p:blipFill>
          <a:blip r:embed="rId4" cstate="print"/>
          <a:stretch>
            <a:fillRect/>
          </a:stretch>
        </p:blipFill>
        <p:spPr>
          <a:xfrm>
            <a:off x="7038975" y="819150"/>
            <a:ext cx="2371725" cy="1581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3"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xfrm>
            <a:off x="574040" y="560578"/>
            <a:ext cx="7848600" cy="574040"/>
          </a:xfrm>
          <a:prstGeom prst="rect">
            <a:avLst/>
          </a:prstGeom>
        </p:spPr>
        <p:txBody>
          <a:bodyPr vert="horz" wrap="square" lIns="0" tIns="12700" rIns="0" bIns="0" rtlCol="0">
            <a:spAutoFit/>
          </a:bodyPr>
          <a:lstStyle/>
          <a:p>
            <a:pPr marL="12700">
              <a:lnSpc>
                <a:spcPct val="100000"/>
              </a:lnSpc>
              <a:spcBef>
                <a:spcPts val="100"/>
              </a:spcBef>
            </a:pPr>
            <a:r>
              <a:rPr sz="3600" spc="-130" dirty="0"/>
              <a:t>Traditional</a:t>
            </a:r>
            <a:r>
              <a:rPr sz="3600" spc="-185" dirty="0"/>
              <a:t> </a:t>
            </a:r>
            <a:r>
              <a:rPr sz="3600" spc="-110" dirty="0"/>
              <a:t>virtualisation</a:t>
            </a:r>
            <a:r>
              <a:rPr sz="3600" spc="-185" dirty="0"/>
              <a:t> </a:t>
            </a:r>
            <a:r>
              <a:rPr sz="3600" spc="-65" dirty="0"/>
              <a:t>vs</a:t>
            </a:r>
            <a:r>
              <a:rPr sz="3600" spc="-150" dirty="0"/>
              <a:t> </a:t>
            </a:r>
            <a:r>
              <a:rPr sz="3600" spc="-95" dirty="0"/>
              <a:t>Virtual</a:t>
            </a:r>
            <a:r>
              <a:rPr sz="3600" spc="-190" dirty="0"/>
              <a:t> </a:t>
            </a:r>
            <a:r>
              <a:rPr sz="3600" spc="-70" dirty="0"/>
              <a:t>Containers</a:t>
            </a:r>
            <a:endParaRPr sz="3600" dirty="0"/>
          </a:p>
        </p:txBody>
      </p:sp>
      <p:pic>
        <p:nvPicPr>
          <p:cNvPr id="9" name="object 9"/>
          <p:cNvPicPr/>
          <p:nvPr/>
        </p:nvPicPr>
        <p:blipFill>
          <a:blip r:embed="rId4" cstate="print"/>
          <a:stretch>
            <a:fillRect/>
          </a:stretch>
        </p:blipFill>
        <p:spPr>
          <a:xfrm>
            <a:off x="6966944" y="2896861"/>
            <a:ext cx="2513024" cy="2144778"/>
          </a:xfrm>
          <a:prstGeom prst="rect">
            <a:avLst/>
          </a:prstGeom>
        </p:spPr>
      </p:pic>
      <p:sp>
        <p:nvSpPr>
          <p:cNvPr id="10" name="object 10"/>
          <p:cNvSpPr txBox="1"/>
          <p:nvPr/>
        </p:nvSpPr>
        <p:spPr>
          <a:xfrm>
            <a:off x="839152" y="3343237"/>
            <a:ext cx="2032635" cy="660400"/>
          </a:xfrm>
          <a:prstGeom prst="rect">
            <a:avLst/>
          </a:prstGeom>
          <a:solidFill>
            <a:srgbClr val="3E8DE1"/>
          </a:solidFill>
        </p:spPr>
        <p:txBody>
          <a:bodyPr vert="horz" wrap="square" lIns="0" tIns="178435" rIns="0" bIns="0" rtlCol="0">
            <a:spAutoFit/>
          </a:bodyPr>
          <a:lstStyle/>
          <a:p>
            <a:pPr marR="12700" algn="ctr">
              <a:lnSpc>
                <a:spcPct val="100000"/>
              </a:lnSpc>
              <a:spcBef>
                <a:spcPts val="1405"/>
              </a:spcBef>
            </a:pPr>
            <a:r>
              <a:rPr sz="1800" b="1" spc="-25" dirty="0">
                <a:solidFill>
                  <a:srgbClr val="FFFFFF"/>
                </a:solidFill>
                <a:latin typeface="Calibri"/>
                <a:cs typeface="Calibri"/>
              </a:rPr>
              <a:t>VMM</a:t>
            </a:r>
            <a:endParaRPr sz="1800">
              <a:latin typeface="Calibri"/>
              <a:cs typeface="Calibri"/>
            </a:endParaRPr>
          </a:p>
        </p:txBody>
      </p:sp>
      <p:sp>
        <p:nvSpPr>
          <p:cNvPr id="11" name="object 11"/>
          <p:cNvSpPr txBox="1"/>
          <p:nvPr/>
        </p:nvSpPr>
        <p:spPr>
          <a:xfrm>
            <a:off x="839152" y="4778463"/>
            <a:ext cx="2032635" cy="660400"/>
          </a:xfrm>
          <a:prstGeom prst="rect">
            <a:avLst/>
          </a:prstGeom>
          <a:solidFill>
            <a:srgbClr val="0E3660"/>
          </a:solidFill>
        </p:spPr>
        <p:txBody>
          <a:bodyPr vert="horz" wrap="square" lIns="0" tIns="178435" rIns="0" bIns="0" rtlCol="0">
            <a:spAutoFit/>
          </a:bodyPr>
          <a:lstStyle/>
          <a:p>
            <a:pPr marL="111125">
              <a:lnSpc>
                <a:spcPct val="100000"/>
              </a:lnSpc>
              <a:spcBef>
                <a:spcPts val="1405"/>
              </a:spcBef>
            </a:pPr>
            <a:r>
              <a:rPr sz="1800" b="1" dirty="0">
                <a:solidFill>
                  <a:srgbClr val="FFFFFF"/>
                </a:solidFill>
                <a:latin typeface="Calibri"/>
                <a:cs typeface="Calibri"/>
              </a:rPr>
              <a:t>Host</a:t>
            </a:r>
            <a:r>
              <a:rPr sz="1800" b="1" spc="-45" dirty="0">
                <a:solidFill>
                  <a:srgbClr val="FFFFFF"/>
                </a:solidFill>
                <a:latin typeface="Calibri"/>
                <a:cs typeface="Calibri"/>
              </a:rPr>
              <a:t> </a:t>
            </a:r>
            <a:r>
              <a:rPr sz="1800" b="1" spc="-10" dirty="0">
                <a:solidFill>
                  <a:srgbClr val="FFFFFF"/>
                </a:solidFill>
                <a:latin typeface="Calibri"/>
                <a:cs typeface="Calibri"/>
              </a:rPr>
              <a:t>infrastructure</a:t>
            </a:r>
            <a:endParaRPr sz="1800">
              <a:latin typeface="Calibri"/>
              <a:cs typeface="Calibri"/>
            </a:endParaRPr>
          </a:p>
        </p:txBody>
      </p:sp>
      <p:graphicFrame>
        <p:nvGraphicFramePr>
          <p:cNvPr id="12" name="object 12"/>
          <p:cNvGraphicFramePr>
            <a:graphicFrameLocks noGrp="1"/>
          </p:cNvGraphicFramePr>
          <p:nvPr/>
        </p:nvGraphicFramePr>
        <p:xfrm>
          <a:off x="818515" y="1362036"/>
          <a:ext cx="2065653" cy="1888490"/>
        </p:xfrm>
        <a:graphic>
          <a:graphicData uri="http://schemas.openxmlformats.org/drawingml/2006/table">
            <a:tbl>
              <a:tblPr firstRow="1" bandRow="1">
                <a:tableStyleId>{2D5ABB26-0587-4C30-8999-92F81FD0307C}</a:tableStyleId>
              </a:tblPr>
              <a:tblGrid>
                <a:gridCol w="402590">
                  <a:extLst>
                    <a:ext uri="{9D8B030D-6E8A-4147-A177-3AD203B41FA5}">
                      <a16:colId xmlns:a16="http://schemas.microsoft.com/office/drawing/2014/main" val="20000"/>
                    </a:ext>
                  </a:extLst>
                </a:gridCol>
                <a:gridCol w="422275">
                  <a:extLst>
                    <a:ext uri="{9D8B030D-6E8A-4147-A177-3AD203B41FA5}">
                      <a16:colId xmlns:a16="http://schemas.microsoft.com/office/drawing/2014/main" val="20001"/>
                    </a:ext>
                  </a:extLst>
                </a:gridCol>
                <a:gridCol w="422275">
                  <a:extLst>
                    <a:ext uri="{9D8B030D-6E8A-4147-A177-3AD203B41FA5}">
                      <a16:colId xmlns:a16="http://schemas.microsoft.com/office/drawing/2014/main" val="20002"/>
                    </a:ext>
                  </a:extLst>
                </a:gridCol>
                <a:gridCol w="425449">
                  <a:extLst>
                    <a:ext uri="{9D8B030D-6E8A-4147-A177-3AD203B41FA5}">
                      <a16:colId xmlns:a16="http://schemas.microsoft.com/office/drawing/2014/main" val="20003"/>
                    </a:ext>
                  </a:extLst>
                </a:gridCol>
                <a:gridCol w="393064">
                  <a:extLst>
                    <a:ext uri="{9D8B030D-6E8A-4147-A177-3AD203B41FA5}">
                      <a16:colId xmlns:a16="http://schemas.microsoft.com/office/drawing/2014/main" val="20004"/>
                    </a:ext>
                  </a:extLst>
                </a:gridCol>
              </a:tblGrid>
              <a:tr h="1188720">
                <a:tc>
                  <a:txBody>
                    <a:bodyPr/>
                    <a:lstStyle/>
                    <a:p>
                      <a:pPr marL="426084">
                        <a:lnSpc>
                          <a:spcPct val="100000"/>
                        </a:lnSpc>
                        <a:spcBef>
                          <a:spcPts val="295"/>
                        </a:spcBef>
                      </a:pPr>
                      <a:r>
                        <a:rPr sz="1800" b="1" spc="-25" dirty="0">
                          <a:solidFill>
                            <a:srgbClr val="FFFFFF"/>
                          </a:solidFill>
                          <a:latin typeface="Calibri"/>
                          <a:cs typeface="Calibri"/>
                        </a:rPr>
                        <a:t>App</a:t>
                      </a:r>
                      <a:endParaRPr sz="1800">
                        <a:latin typeface="Calibri"/>
                        <a:cs typeface="Calibri"/>
                      </a:endParaRPr>
                    </a:p>
                  </a:txBody>
                  <a:tcPr marL="0" marR="0" marT="37465" marB="0" vert="vert270">
                    <a:lnR w="57150">
                      <a:solidFill>
                        <a:srgbClr val="FFFFFF"/>
                      </a:solidFill>
                      <a:prstDash val="solid"/>
                    </a:lnR>
                    <a:lnB w="80225">
                      <a:solidFill>
                        <a:srgbClr val="FFFFFF"/>
                      </a:solidFill>
                      <a:prstDash val="solid"/>
                    </a:lnB>
                    <a:solidFill>
                      <a:srgbClr val="C5DDF6"/>
                    </a:solidFill>
                  </a:tcPr>
                </a:tc>
                <a:tc>
                  <a:txBody>
                    <a:bodyPr/>
                    <a:lstStyle/>
                    <a:p>
                      <a:pPr marL="426084">
                        <a:lnSpc>
                          <a:spcPct val="100000"/>
                        </a:lnSpc>
                        <a:spcBef>
                          <a:spcPts val="475"/>
                        </a:spcBef>
                      </a:pPr>
                      <a:r>
                        <a:rPr sz="1800" b="1" spc="-25" dirty="0">
                          <a:solidFill>
                            <a:srgbClr val="FFFFFF"/>
                          </a:solidFill>
                          <a:latin typeface="Calibri"/>
                          <a:cs typeface="Calibri"/>
                        </a:rPr>
                        <a:t>App</a:t>
                      </a:r>
                      <a:endParaRPr sz="1800">
                        <a:latin typeface="Calibri"/>
                        <a:cs typeface="Calibri"/>
                      </a:endParaRPr>
                    </a:p>
                  </a:txBody>
                  <a:tcPr marL="0" marR="0" marT="60325" marB="0" vert="vert270">
                    <a:lnL w="57150">
                      <a:solidFill>
                        <a:srgbClr val="FFFFFF"/>
                      </a:solidFill>
                      <a:prstDash val="solid"/>
                    </a:lnL>
                    <a:lnR w="57150">
                      <a:solidFill>
                        <a:srgbClr val="FFFFFF"/>
                      </a:solidFill>
                      <a:prstDash val="solid"/>
                    </a:lnR>
                    <a:lnB w="80225">
                      <a:solidFill>
                        <a:srgbClr val="FFFFFF"/>
                      </a:solidFill>
                      <a:prstDash val="solid"/>
                    </a:lnB>
                    <a:solidFill>
                      <a:srgbClr val="C5DDF6"/>
                    </a:solidFill>
                  </a:tcPr>
                </a:tc>
                <a:tc>
                  <a:txBody>
                    <a:bodyPr/>
                    <a:lstStyle/>
                    <a:p>
                      <a:pPr marL="426084">
                        <a:lnSpc>
                          <a:spcPct val="100000"/>
                        </a:lnSpc>
                        <a:spcBef>
                          <a:spcPts val="450"/>
                        </a:spcBef>
                      </a:pPr>
                      <a:r>
                        <a:rPr sz="1800" b="1" spc="-25" dirty="0">
                          <a:solidFill>
                            <a:srgbClr val="FFFFFF"/>
                          </a:solidFill>
                          <a:latin typeface="Calibri"/>
                          <a:cs typeface="Calibri"/>
                        </a:rPr>
                        <a:t>App</a:t>
                      </a:r>
                      <a:endParaRPr sz="1800">
                        <a:latin typeface="Calibri"/>
                        <a:cs typeface="Calibri"/>
                      </a:endParaRPr>
                    </a:p>
                  </a:txBody>
                  <a:tcPr marL="0" marR="0" marT="57150" marB="0" vert="vert270">
                    <a:lnL w="57150">
                      <a:solidFill>
                        <a:srgbClr val="FFFFFF"/>
                      </a:solidFill>
                      <a:prstDash val="solid"/>
                    </a:lnL>
                    <a:lnR w="57150">
                      <a:solidFill>
                        <a:srgbClr val="FFFFFF"/>
                      </a:solidFill>
                      <a:prstDash val="solid"/>
                    </a:lnR>
                    <a:lnB w="80225">
                      <a:solidFill>
                        <a:srgbClr val="FFFFFF"/>
                      </a:solidFill>
                      <a:prstDash val="solid"/>
                    </a:lnB>
                    <a:solidFill>
                      <a:srgbClr val="C5DDF6"/>
                    </a:solidFill>
                  </a:tcPr>
                </a:tc>
                <a:tc>
                  <a:txBody>
                    <a:bodyPr/>
                    <a:lstStyle/>
                    <a:p>
                      <a:pPr marL="414655">
                        <a:lnSpc>
                          <a:spcPct val="100000"/>
                        </a:lnSpc>
                        <a:spcBef>
                          <a:spcPts val="475"/>
                        </a:spcBef>
                      </a:pPr>
                      <a:r>
                        <a:rPr sz="1800" b="1" spc="-25" dirty="0">
                          <a:solidFill>
                            <a:srgbClr val="FFFFFF"/>
                          </a:solidFill>
                          <a:latin typeface="Calibri"/>
                          <a:cs typeface="Calibri"/>
                        </a:rPr>
                        <a:t>App</a:t>
                      </a:r>
                      <a:endParaRPr sz="1800">
                        <a:latin typeface="Calibri"/>
                        <a:cs typeface="Calibri"/>
                      </a:endParaRPr>
                    </a:p>
                  </a:txBody>
                  <a:tcPr marL="0" marR="0" marT="60325" marB="0" vert="vert270">
                    <a:lnL w="57150">
                      <a:solidFill>
                        <a:srgbClr val="FFFFFF"/>
                      </a:solidFill>
                      <a:prstDash val="solid"/>
                    </a:lnL>
                    <a:lnR w="57150">
                      <a:solidFill>
                        <a:srgbClr val="FFFFFF"/>
                      </a:solidFill>
                      <a:prstDash val="solid"/>
                    </a:lnR>
                    <a:lnB w="80225">
                      <a:solidFill>
                        <a:srgbClr val="FFFFFF"/>
                      </a:solidFill>
                      <a:prstDash val="solid"/>
                    </a:lnB>
                    <a:solidFill>
                      <a:srgbClr val="C5DDF6"/>
                    </a:solidFill>
                  </a:tcPr>
                </a:tc>
                <a:tc>
                  <a:txBody>
                    <a:bodyPr/>
                    <a:lstStyle/>
                    <a:p>
                      <a:pPr marL="426084">
                        <a:lnSpc>
                          <a:spcPct val="100000"/>
                        </a:lnSpc>
                        <a:spcBef>
                          <a:spcPts val="480"/>
                        </a:spcBef>
                      </a:pPr>
                      <a:r>
                        <a:rPr sz="1800" b="1" spc="-25" dirty="0">
                          <a:solidFill>
                            <a:srgbClr val="FFFFFF"/>
                          </a:solidFill>
                          <a:latin typeface="Calibri"/>
                          <a:cs typeface="Calibri"/>
                        </a:rPr>
                        <a:t>App</a:t>
                      </a:r>
                      <a:endParaRPr sz="1800">
                        <a:latin typeface="Calibri"/>
                        <a:cs typeface="Calibri"/>
                      </a:endParaRPr>
                    </a:p>
                  </a:txBody>
                  <a:tcPr marL="0" marR="0" marT="60960" marB="0" vert="vert270">
                    <a:lnL w="57150">
                      <a:solidFill>
                        <a:srgbClr val="FFFFFF"/>
                      </a:solidFill>
                      <a:prstDash val="solid"/>
                    </a:lnL>
                    <a:lnB w="80225">
                      <a:solidFill>
                        <a:srgbClr val="FFFFFF"/>
                      </a:solidFill>
                      <a:prstDash val="solid"/>
                    </a:lnB>
                    <a:solidFill>
                      <a:srgbClr val="C5DDF6"/>
                    </a:solidFill>
                  </a:tcPr>
                </a:tc>
                <a:extLst>
                  <a:ext uri="{0D108BD9-81ED-4DB2-BD59-A6C34878D82A}">
                    <a16:rowId xmlns:a16="http://schemas.microsoft.com/office/drawing/2014/main" val="10000"/>
                  </a:ext>
                </a:extLst>
              </a:tr>
              <a:tr h="699770">
                <a:tc gridSpan="5">
                  <a:txBody>
                    <a:bodyPr/>
                    <a:lstStyle/>
                    <a:p>
                      <a:pPr marL="593725">
                        <a:lnSpc>
                          <a:spcPct val="100000"/>
                        </a:lnSpc>
                        <a:spcBef>
                          <a:spcPts val="1720"/>
                        </a:spcBef>
                      </a:pPr>
                      <a:r>
                        <a:rPr sz="1800" b="1" dirty="0">
                          <a:solidFill>
                            <a:srgbClr val="FFFFFF"/>
                          </a:solidFill>
                          <a:latin typeface="Calibri"/>
                          <a:cs typeface="Calibri"/>
                        </a:rPr>
                        <a:t>Guest</a:t>
                      </a:r>
                      <a:r>
                        <a:rPr sz="1800" b="1" spc="-55" dirty="0">
                          <a:solidFill>
                            <a:srgbClr val="FFFFFF"/>
                          </a:solidFill>
                          <a:latin typeface="Calibri"/>
                          <a:cs typeface="Calibri"/>
                        </a:rPr>
                        <a:t> </a:t>
                      </a:r>
                      <a:r>
                        <a:rPr sz="1800" b="1" spc="-25" dirty="0">
                          <a:solidFill>
                            <a:srgbClr val="FFFFFF"/>
                          </a:solidFill>
                          <a:latin typeface="Calibri"/>
                          <a:cs typeface="Calibri"/>
                        </a:rPr>
                        <a:t>OS</a:t>
                      </a:r>
                      <a:endParaRPr sz="1800">
                        <a:latin typeface="Calibri"/>
                        <a:cs typeface="Calibri"/>
                      </a:endParaRPr>
                    </a:p>
                  </a:txBody>
                  <a:tcPr marL="0" marR="0" marT="218440" marB="0">
                    <a:lnT w="80225">
                      <a:solidFill>
                        <a:srgbClr val="FFFFFF"/>
                      </a:solidFill>
                      <a:prstDash val="solid"/>
                    </a:lnT>
                    <a:solidFill>
                      <a:srgbClr val="9FC5E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3" name="object 13"/>
          <p:cNvSpPr txBox="1"/>
          <p:nvPr/>
        </p:nvSpPr>
        <p:spPr>
          <a:xfrm>
            <a:off x="839152" y="4080598"/>
            <a:ext cx="2032635" cy="660400"/>
          </a:xfrm>
          <a:prstGeom prst="rect">
            <a:avLst/>
          </a:prstGeom>
          <a:solidFill>
            <a:srgbClr val="17569B"/>
          </a:solidFill>
        </p:spPr>
        <p:txBody>
          <a:bodyPr vert="horz" wrap="square" lIns="0" tIns="178435" rIns="0" bIns="0" rtlCol="0">
            <a:spAutoFit/>
          </a:bodyPr>
          <a:lstStyle/>
          <a:p>
            <a:pPr marL="651510">
              <a:lnSpc>
                <a:spcPct val="100000"/>
              </a:lnSpc>
              <a:spcBef>
                <a:spcPts val="1405"/>
              </a:spcBef>
            </a:pPr>
            <a:r>
              <a:rPr sz="1800" b="1" dirty="0">
                <a:solidFill>
                  <a:srgbClr val="FFFFFF"/>
                </a:solidFill>
                <a:latin typeface="Calibri"/>
                <a:cs typeface="Calibri"/>
              </a:rPr>
              <a:t>Host</a:t>
            </a:r>
            <a:r>
              <a:rPr sz="1800" b="1" spc="-45" dirty="0">
                <a:solidFill>
                  <a:srgbClr val="FFFFFF"/>
                </a:solidFill>
                <a:latin typeface="Calibri"/>
                <a:cs typeface="Calibri"/>
              </a:rPr>
              <a:t> </a:t>
            </a:r>
            <a:r>
              <a:rPr sz="1800" b="1" spc="-25" dirty="0">
                <a:solidFill>
                  <a:srgbClr val="FFFFFF"/>
                </a:solidFill>
                <a:latin typeface="Calibri"/>
                <a:cs typeface="Calibri"/>
              </a:rPr>
              <a:t>OS</a:t>
            </a:r>
            <a:endParaRPr sz="1800">
              <a:latin typeface="Calibri"/>
              <a:cs typeface="Calibri"/>
            </a:endParaRPr>
          </a:p>
        </p:txBody>
      </p:sp>
      <p:sp>
        <p:nvSpPr>
          <p:cNvPr id="14" name="object 14"/>
          <p:cNvSpPr/>
          <p:nvPr/>
        </p:nvSpPr>
        <p:spPr>
          <a:xfrm>
            <a:off x="3987546" y="3343237"/>
            <a:ext cx="2052955" cy="660400"/>
          </a:xfrm>
          <a:custGeom>
            <a:avLst/>
            <a:gdLst/>
            <a:ahLst/>
            <a:cxnLst/>
            <a:rect l="l" t="t" r="r" b="b"/>
            <a:pathLst>
              <a:path w="2052954" h="660400">
                <a:moveTo>
                  <a:pt x="2052827" y="0"/>
                </a:moveTo>
                <a:lnTo>
                  <a:pt x="0" y="0"/>
                </a:lnTo>
                <a:lnTo>
                  <a:pt x="0" y="660057"/>
                </a:lnTo>
                <a:lnTo>
                  <a:pt x="2052827" y="660057"/>
                </a:lnTo>
                <a:lnTo>
                  <a:pt x="2052827" y="0"/>
                </a:lnTo>
                <a:close/>
              </a:path>
            </a:pathLst>
          </a:custGeom>
          <a:solidFill>
            <a:srgbClr val="3E8DE1"/>
          </a:solidFill>
        </p:spPr>
        <p:txBody>
          <a:bodyPr wrap="square" lIns="0" tIns="0" rIns="0" bIns="0" rtlCol="0"/>
          <a:lstStyle/>
          <a:p>
            <a:endParaRPr/>
          </a:p>
        </p:txBody>
      </p:sp>
      <p:sp>
        <p:nvSpPr>
          <p:cNvPr id="15" name="object 15"/>
          <p:cNvSpPr txBox="1"/>
          <p:nvPr/>
        </p:nvSpPr>
        <p:spPr>
          <a:xfrm>
            <a:off x="4746625" y="3578631"/>
            <a:ext cx="535940" cy="229235"/>
          </a:xfrm>
          <a:prstGeom prst="rect">
            <a:avLst/>
          </a:prstGeom>
        </p:spPr>
        <p:txBody>
          <a:bodyPr vert="horz" wrap="square" lIns="0" tIns="0" rIns="0" bIns="0" rtlCol="0">
            <a:spAutoFit/>
          </a:bodyPr>
          <a:lstStyle/>
          <a:p>
            <a:pPr>
              <a:lnSpc>
                <a:spcPts val="1710"/>
              </a:lnSpc>
            </a:pPr>
            <a:r>
              <a:rPr sz="1800" b="1" spc="-25" dirty="0">
                <a:solidFill>
                  <a:srgbClr val="FFFFFF"/>
                </a:solidFill>
                <a:latin typeface="Calibri"/>
                <a:cs typeface="Calibri"/>
              </a:rPr>
              <a:t>VMM</a:t>
            </a:r>
            <a:endParaRPr sz="1800">
              <a:latin typeface="Calibri"/>
              <a:cs typeface="Calibri"/>
            </a:endParaRPr>
          </a:p>
        </p:txBody>
      </p:sp>
      <p:sp>
        <p:nvSpPr>
          <p:cNvPr id="16" name="object 16"/>
          <p:cNvSpPr txBox="1"/>
          <p:nvPr/>
        </p:nvSpPr>
        <p:spPr>
          <a:xfrm>
            <a:off x="3987546" y="4778463"/>
            <a:ext cx="2052955" cy="660400"/>
          </a:xfrm>
          <a:prstGeom prst="rect">
            <a:avLst/>
          </a:prstGeom>
          <a:solidFill>
            <a:srgbClr val="0E3660"/>
          </a:solidFill>
        </p:spPr>
        <p:txBody>
          <a:bodyPr vert="horz" wrap="square" lIns="0" tIns="178435" rIns="0" bIns="0" rtlCol="0">
            <a:spAutoFit/>
          </a:bodyPr>
          <a:lstStyle/>
          <a:p>
            <a:pPr marL="132080">
              <a:lnSpc>
                <a:spcPct val="100000"/>
              </a:lnSpc>
              <a:spcBef>
                <a:spcPts val="1405"/>
              </a:spcBef>
            </a:pPr>
            <a:r>
              <a:rPr sz="1800" b="1" dirty="0">
                <a:solidFill>
                  <a:srgbClr val="FFFFFF"/>
                </a:solidFill>
                <a:latin typeface="Calibri"/>
                <a:cs typeface="Calibri"/>
              </a:rPr>
              <a:t>Host</a:t>
            </a:r>
            <a:r>
              <a:rPr sz="1800" b="1" spc="-45" dirty="0">
                <a:solidFill>
                  <a:srgbClr val="FFFFFF"/>
                </a:solidFill>
                <a:latin typeface="Calibri"/>
                <a:cs typeface="Calibri"/>
              </a:rPr>
              <a:t> </a:t>
            </a:r>
            <a:r>
              <a:rPr sz="1800" b="1" spc="-10" dirty="0">
                <a:solidFill>
                  <a:srgbClr val="FFFFFF"/>
                </a:solidFill>
                <a:latin typeface="Calibri"/>
                <a:cs typeface="Calibri"/>
              </a:rPr>
              <a:t>infrastructure</a:t>
            </a:r>
            <a:endParaRPr sz="1800">
              <a:latin typeface="Calibri"/>
              <a:cs typeface="Calibri"/>
            </a:endParaRPr>
          </a:p>
        </p:txBody>
      </p:sp>
      <p:sp>
        <p:nvSpPr>
          <p:cNvPr id="17" name="object 17"/>
          <p:cNvSpPr/>
          <p:nvPr/>
        </p:nvSpPr>
        <p:spPr>
          <a:xfrm>
            <a:off x="3947668" y="2106891"/>
            <a:ext cx="1263650" cy="1137920"/>
          </a:xfrm>
          <a:custGeom>
            <a:avLst/>
            <a:gdLst/>
            <a:ahLst/>
            <a:cxnLst/>
            <a:rect l="l" t="t" r="r" b="b"/>
            <a:pathLst>
              <a:path w="1263650" h="1137920">
                <a:moveTo>
                  <a:pt x="459701" y="0"/>
                </a:moveTo>
                <a:lnTo>
                  <a:pt x="0" y="0"/>
                </a:lnTo>
                <a:lnTo>
                  <a:pt x="0" y="1137450"/>
                </a:lnTo>
                <a:lnTo>
                  <a:pt x="459701" y="1137450"/>
                </a:lnTo>
                <a:lnTo>
                  <a:pt x="459701" y="0"/>
                </a:lnTo>
                <a:close/>
              </a:path>
              <a:path w="1263650" h="1137920">
                <a:moveTo>
                  <a:pt x="844740" y="0"/>
                </a:moveTo>
                <a:lnTo>
                  <a:pt x="464820" y="0"/>
                </a:lnTo>
                <a:lnTo>
                  <a:pt x="464820" y="1137450"/>
                </a:lnTo>
                <a:lnTo>
                  <a:pt x="844740" y="1137450"/>
                </a:lnTo>
                <a:lnTo>
                  <a:pt x="844740" y="0"/>
                </a:lnTo>
                <a:close/>
              </a:path>
              <a:path w="1263650" h="1137920">
                <a:moveTo>
                  <a:pt x="1263586" y="0"/>
                </a:moveTo>
                <a:lnTo>
                  <a:pt x="883666" y="0"/>
                </a:lnTo>
                <a:lnTo>
                  <a:pt x="883666" y="1137450"/>
                </a:lnTo>
                <a:lnTo>
                  <a:pt x="1263586" y="1137450"/>
                </a:lnTo>
                <a:lnTo>
                  <a:pt x="1263586" y="0"/>
                </a:lnTo>
                <a:close/>
              </a:path>
            </a:pathLst>
          </a:custGeom>
          <a:solidFill>
            <a:srgbClr val="C5DDF6"/>
          </a:solidFill>
        </p:spPr>
        <p:txBody>
          <a:bodyPr wrap="square" lIns="0" tIns="0" rIns="0" bIns="0" rtlCol="0"/>
          <a:lstStyle/>
          <a:p>
            <a:endParaRPr/>
          </a:p>
        </p:txBody>
      </p:sp>
      <p:sp>
        <p:nvSpPr>
          <p:cNvPr id="18" name="object 18"/>
          <p:cNvSpPr/>
          <p:nvPr/>
        </p:nvSpPr>
        <p:spPr>
          <a:xfrm>
            <a:off x="5255767" y="2118575"/>
            <a:ext cx="380365" cy="1137920"/>
          </a:xfrm>
          <a:custGeom>
            <a:avLst/>
            <a:gdLst/>
            <a:ahLst/>
            <a:cxnLst/>
            <a:rect l="l" t="t" r="r" b="b"/>
            <a:pathLst>
              <a:path w="380364" h="1137920">
                <a:moveTo>
                  <a:pt x="379920" y="0"/>
                </a:moveTo>
                <a:lnTo>
                  <a:pt x="0" y="0"/>
                </a:lnTo>
                <a:lnTo>
                  <a:pt x="0" y="1137450"/>
                </a:lnTo>
                <a:lnTo>
                  <a:pt x="379920" y="1137450"/>
                </a:lnTo>
                <a:lnTo>
                  <a:pt x="379920" y="0"/>
                </a:lnTo>
                <a:close/>
              </a:path>
            </a:pathLst>
          </a:custGeom>
          <a:solidFill>
            <a:srgbClr val="C5DDF6"/>
          </a:solidFill>
        </p:spPr>
        <p:txBody>
          <a:bodyPr wrap="square" lIns="0" tIns="0" rIns="0" bIns="0" rtlCol="0"/>
          <a:lstStyle/>
          <a:p>
            <a:endParaRPr/>
          </a:p>
        </p:txBody>
      </p:sp>
      <p:sp>
        <p:nvSpPr>
          <p:cNvPr id="19" name="object 19"/>
          <p:cNvSpPr/>
          <p:nvPr/>
        </p:nvSpPr>
        <p:spPr>
          <a:xfrm>
            <a:off x="5681090" y="2106891"/>
            <a:ext cx="380365" cy="1137920"/>
          </a:xfrm>
          <a:custGeom>
            <a:avLst/>
            <a:gdLst/>
            <a:ahLst/>
            <a:cxnLst/>
            <a:rect l="l" t="t" r="r" b="b"/>
            <a:pathLst>
              <a:path w="380364" h="1137920">
                <a:moveTo>
                  <a:pt x="379920" y="0"/>
                </a:moveTo>
                <a:lnTo>
                  <a:pt x="0" y="0"/>
                </a:lnTo>
                <a:lnTo>
                  <a:pt x="0" y="1137450"/>
                </a:lnTo>
                <a:lnTo>
                  <a:pt x="379920" y="1137450"/>
                </a:lnTo>
                <a:lnTo>
                  <a:pt x="379920" y="0"/>
                </a:lnTo>
                <a:close/>
              </a:path>
            </a:pathLst>
          </a:custGeom>
          <a:solidFill>
            <a:srgbClr val="C5DDF6"/>
          </a:solidFill>
        </p:spPr>
        <p:txBody>
          <a:bodyPr wrap="square" lIns="0" tIns="0" rIns="0" bIns="0" rtlCol="0"/>
          <a:lstStyle/>
          <a:p>
            <a:endParaRPr/>
          </a:p>
        </p:txBody>
      </p:sp>
      <p:sp>
        <p:nvSpPr>
          <p:cNvPr id="20" name="object 20"/>
          <p:cNvSpPr txBox="1"/>
          <p:nvPr/>
        </p:nvSpPr>
        <p:spPr>
          <a:xfrm>
            <a:off x="3987546" y="4068914"/>
            <a:ext cx="2052955" cy="660400"/>
          </a:xfrm>
          <a:prstGeom prst="rect">
            <a:avLst/>
          </a:prstGeom>
          <a:solidFill>
            <a:srgbClr val="17569B"/>
          </a:solidFill>
        </p:spPr>
        <p:txBody>
          <a:bodyPr vert="horz" wrap="square" lIns="0" tIns="178435" rIns="0" bIns="0" rtlCol="0">
            <a:spAutoFit/>
          </a:bodyPr>
          <a:lstStyle/>
          <a:p>
            <a:pPr marL="651510">
              <a:lnSpc>
                <a:spcPct val="100000"/>
              </a:lnSpc>
              <a:spcBef>
                <a:spcPts val="1405"/>
              </a:spcBef>
            </a:pPr>
            <a:r>
              <a:rPr sz="1800" b="1" dirty="0">
                <a:solidFill>
                  <a:srgbClr val="FFFFFF"/>
                </a:solidFill>
                <a:latin typeface="Calibri"/>
                <a:cs typeface="Calibri"/>
              </a:rPr>
              <a:t>Host</a:t>
            </a:r>
            <a:r>
              <a:rPr sz="1800" b="1" spc="-45" dirty="0">
                <a:solidFill>
                  <a:srgbClr val="FFFFFF"/>
                </a:solidFill>
                <a:latin typeface="Calibri"/>
                <a:cs typeface="Calibri"/>
              </a:rPr>
              <a:t> </a:t>
            </a:r>
            <a:r>
              <a:rPr sz="1800" b="1" spc="-25" dirty="0">
                <a:solidFill>
                  <a:srgbClr val="FFFFFF"/>
                </a:solidFill>
                <a:latin typeface="Calibri"/>
                <a:cs typeface="Calibri"/>
              </a:rPr>
              <a:t>OS</a:t>
            </a:r>
            <a:endParaRPr sz="1800">
              <a:latin typeface="Calibri"/>
              <a:cs typeface="Calibri"/>
            </a:endParaRPr>
          </a:p>
        </p:txBody>
      </p:sp>
      <p:pic>
        <p:nvPicPr>
          <p:cNvPr id="21" name="object 21"/>
          <p:cNvPicPr/>
          <p:nvPr/>
        </p:nvPicPr>
        <p:blipFill>
          <a:blip r:embed="rId5" cstate="print"/>
          <a:stretch>
            <a:fillRect/>
          </a:stretch>
        </p:blipFill>
        <p:spPr>
          <a:xfrm>
            <a:off x="4058920" y="3464356"/>
            <a:ext cx="1885569" cy="484454"/>
          </a:xfrm>
          <a:prstGeom prst="rect">
            <a:avLst/>
          </a:prstGeom>
        </p:spPr>
      </p:pic>
      <p:sp>
        <p:nvSpPr>
          <p:cNvPr id="22" name="object 22"/>
          <p:cNvSpPr txBox="1"/>
          <p:nvPr/>
        </p:nvSpPr>
        <p:spPr>
          <a:xfrm>
            <a:off x="374091" y="5555996"/>
            <a:ext cx="302577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3D5078"/>
                </a:solidFill>
                <a:latin typeface="Calibri"/>
                <a:cs typeface="Calibri"/>
              </a:rPr>
              <a:t>Traditional</a:t>
            </a:r>
            <a:r>
              <a:rPr sz="2400" spc="-125" dirty="0">
                <a:solidFill>
                  <a:srgbClr val="3D5078"/>
                </a:solidFill>
                <a:latin typeface="Calibri"/>
                <a:cs typeface="Calibri"/>
              </a:rPr>
              <a:t> </a:t>
            </a:r>
            <a:r>
              <a:rPr sz="2400" spc="-10" dirty="0">
                <a:solidFill>
                  <a:srgbClr val="3D5078"/>
                </a:solidFill>
                <a:latin typeface="Calibri"/>
                <a:cs typeface="Calibri"/>
              </a:rPr>
              <a:t>virtualisation</a:t>
            </a:r>
            <a:endParaRPr sz="2400">
              <a:latin typeface="Calibri"/>
              <a:cs typeface="Calibri"/>
            </a:endParaRPr>
          </a:p>
        </p:txBody>
      </p:sp>
      <p:sp>
        <p:nvSpPr>
          <p:cNvPr id="23" name="object 23"/>
          <p:cNvSpPr txBox="1"/>
          <p:nvPr/>
        </p:nvSpPr>
        <p:spPr>
          <a:xfrm>
            <a:off x="3967988" y="5538012"/>
            <a:ext cx="2212975"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3D5078"/>
                </a:solidFill>
                <a:latin typeface="Calibri"/>
                <a:cs typeface="Calibri"/>
              </a:rPr>
              <a:t>Virtual</a:t>
            </a:r>
            <a:r>
              <a:rPr sz="2400" spc="-45" dirty="0">
                <a:solidFill>
                  <a:srgbClr val="3D5078"/>
                </a:solidFill>
                <a:latin typeface="Calibri"/>
                <a:cs typeface="Calibri"/>
              </a:rPr>
              <a:t> </a:t>
            </a:r>
            <a:r>
              <a:rPr sz="2400" spc="-10" dirty="0">
                <a:solidFill>
                  <a:srgbClr val="3D5078"/>
                </a:solidFill>
                <a:latin typeface="Calibri"/>
                <a:cs typeface="Calibri"/>
              </a:rPr>
              <a:t>containers</a:t>
            </a:r>
            <a:endParaRPr sz="24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47030"/>
            <a:ext cx="8159115" cy="1128395"/>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dirty="0">
                <a:latin typeface="Calibri"/>
                <a:cs typeface="Calibri"/>
              </a:rPr>
              <a:t>Primary</a:t>
            </a:r>
            <a:r>
              <a:rPr sz="3200" spc="20" dirty="0">
                <a:latin typeface="Calibri"/>
                <a:cs typeface="Calibri"/>
              </a:rPr>
              <a:t> </a:t>
            </a:r>
            <a:r>
              <a:rPr sz="3200" spc="-10" dirty="0">
                <a:latin typeface="Calibri"/>
                <a:cs typeface="Calibri"/>
              </a:rPr>
              <a:t>difference:</a:t>
            </a:r>
            <a:endParaRPr sz="320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b="1" dirty="0">
                <a:latin typeface="Calibri"/>
                <a:cs typeface="Calibri"/>
              </a:rPr>
              <a:t>VMs:</a:t>
            </a:r>
            <a:r>
              <a:rPr sz="2800" b="1" spc="-114" dirty="0">
                <a:latin typeface="Calibri"/>
                <a:cs typeface="Calibri"/>
              </a:rPr>
              <a:t> </a:t>
            </a:r>
            <a:r>
              <a:rPr sz="2800" dirty="0">
                <a:latin typeface="Calibri"/>
                <a:cs typeface="Calibri"/>
              </a:rPr>
              <a:t>complete</a:t>
            </a:r>
            <a:r>
              <a:rPr sz="2800" spc="-110" dirty="0">
                <a:latin typeface="Calibri"/>
                <a:cs typeface="Calibri"/>
              </a:rPr>
              <a:t> </a:t>
            </a:r>
            <a:r>
              <a:rPr sz="2800" spc="-10" dirty="0">
                <a:latin typeface="Calibri"/>
                <a:cs typeface="Calibri"/>
              </a:rPr>
              <a:t>operating</a:t>
            </a:r>
            <a:r>
              <a:rPr sz="2800" spc="-95" dirty="0">
                <a:latin typeface="Calibri"/>
                <a:cs typeface="Calibri"/>
              </a:rPr>
              <a:t> </a:t>
            </a:r>
            <a:r>
              <a:rPr sz="2800" spc="-10" dirty="0">
                <a:latin typeface="Calibri"/>
                <a:cs typeface="Calibri"/>
              </a:rPr>
              <a:t>system</a:t>
            </a:r>
            <a:r>
              <a:rPr sz="2800" spc="-105" dirty="0">
                <a:latin typeface="Calibri"/>
                <a:cs typeface="Calibri"/>
              </a:rPr>
              <a:t> </a:t>
            </a:r>
            <a:r>
              <a:rPr sz="2800" dirty="0">
                <a:latin typeface="Calibri"/>
                <a:cs typeface="Calibri"/>
              </a:rPr>
              <a:t>including</a:t>
            </a:r>
            <a:r>
              <a:rPr sz="2800" spc="-80" dirty="0">
                <a:latin typeface="Calibri"/>
                <a:cs typeface="Calibri"/>
              </a:rPr>
              <a:t> </a:t>
            </a:r>
            <a:r>
              <a:rPr sz="2800" dirty="0">
                <a:latin typeface="Calibri"/>
                <a:cs typeface="Calibri"/>
              </a:rPr>
              <a:t>the</a:t>
            </a:r>
            <a:r>
              <a:rPr sz="2800" spc="-100" dirty="0">
                <a:latin typeface="Calibri"/>
                <a:cs typeface="Calibri"/>
              </a:rPr>
              <a:t> </a:t>
            </a:r>
            <a:r>
              <a:rPr sz="2800" spc="-10" dirty="0">
                <a:latin typeface="Calibri"/>
                <a:cs typeface="Calibri"/>
              </a:rPr>
              <a:t>kernel</a:t>
            </a:r>
            <a:endParaRPr sz="2800">
              <a:latin typeface="Calibri"/>
              <a:cs typeface="Calibri"/>
            </a:endParaRPr>
          </a:p>
        </p:txBody>
      </p:sp>
      <p:sp>
        <p:nvSpPr>
          <p:cNvPr id="3" name="object 3"/>
          <p:cNvSpPr txBox="1"/>
          <p:nvPr/>
        </p:nvSpPr>
        <p:spPr>
          <a:xfrm>
            <a:off x="848664" y="4171899"/>
            <a:ext cx="8307070" cy="878840"/>
          </a:xfrm>
          <a:prstGeom prst="rect">
            <a:avLst/>
          </a:prstGeom>
        </p:spPr>
        <p:txBody>
          <a:bodyPr vert="horz" wrap="square" lIns="0" tIns="12065" rIns="0" bIns="0" rtlCol="0">
            <a:spAutoFit/>
          </a:bodyPr>
          <a:lstStyle/>
          <a:p>
            <a:pPr marL="194310" marR="5080" indent="-181610">
              <a:lnSpc>
                <a:spcPct val="100000"/>
              </a:lnSpc>
              <a:spcBef>
                <a:spcPts val="95"/>
              </a:spcBef>
              <a:buClr>
                <a:srgbClr val="2C7B9F"/>
              </a:buClr>
              <a:buSzPct val="83928"/>
              <a:buFont typeface="Arial MT"/>
              <a:buChar char="•"/>
              <a:tabLst>
                <a:tab pos="195580" algn="l"/>
              </a:tabLst>
            </a:pPr>
            <a:r>
              <a:rPr sz="2800" b="1" spc="-10" dirty="0">
                <a:latin typeface="Calibri"/>
                <a:cs typeface="Calibri"/>
              </a:rPr>
              <a:t>Containers:</a:t>
            </a:r>
            <a:r>
              <a:rPr sz="2800" b="1" spc="-25" dirty="0">
                <a:latin typeface="Calibri"/>
                <a:cs typeface="Calibri"/>
              </a:rPr>
              <a:t> </a:t>
            </a:r>
            <a:r>
              <a:rPr sz="2800" dirty="0">
                <a:latin typeface="Calibri"/>
                <a:cs typeface="Calibri"/>
              </a:rPr>
              <a:t>Runs</a:t>
            </a:r>
            <a:r>
              <a:rPr sz="2800" spc="-30"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user</a:t>
            </a:r>
            <a:r>
              <a:rPr sz="2800" spc="-50" dirty="0">
                <a:latin typeface="Calibri"/>
                <a:cs typeface="Calibri"/>
              </a:rPr>
              <a:t> </a:t>
            </a:r>
            <a:r>
              <a:rPr sz="2800" dirty="0">
                <a:latin typeface="Calibri"/>
                <a:cs typeface="Calibri"/>
              </a:rPr>
              <a:t>mode</a:t>
            </a:r>
            <a:r>
              <a:rPr sz="2800" spc="-50" dirty="0">
                <a:latin typeface="Calibri"/>
                <a:cs typeface="Calibri"/>
              </a:rPr>
              <a:t> </a:t>
            </a:r>
            <a:r>
              <a:rPr sz="2800" dirty="0">
                <a:latin typeface="Calibri"/>
                <a:cs typeface="Calibri"/>
              </a:rPr>
              <a:t>portion</a:t>
            </a:r>
            <a:r>
              <a:rPr sz="2800" spc="-25"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an</a:t>
            </a:r>
            <a:r>
              <a:rPr sz="2800" spc="-60" dirty="0">
                <a:latin typeface="Calibri"/>
                <a:cs typeface="Calibri"/>
              </a:rPr>
              <a:t> </a:t>
            </a:r>
            <a:r>
              <a:rPr sz="2800" spc="-10" dirty="0">
                <a:latin typeface="Calibri"/>
                <a:cs typeface="Calibri"/>
              </a:rPr>
              <a:t>operating 	system.</a:t>
            </a:r>
            <a:endParaRPr sz="2800">
              <a:latin typeface="Calibri"/>
              <a:cs typeface="Calibri"/>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Virtual</a:t>
            </a:r>
            <a:r>
              <a:rPr spc="-200" dirty="0"/>
              <a:t> </a:t>
            </a:r>
            <a:r>
              <a:rPr spc="-120" dirty="0"/>
              <a:t>Containers</a:t>
            </a:r>
            <a:r>
              <a:rPr spc="-180" dirty="0"/>
              <a:t> </a:t>
            </a:r>
            <a:r>
              <a:rPr spc="-70" dirty="0"/>
              <a:t>vs</a:t>
            </a:r>
            <a:r>
              <a:rPr spc="-170" dirty="0"/>
              <a:t> </a:t>
            </a:r>
            <a:r>
              <a:rPr spc="-100" dirty="0"/>
              <a:t>virtual</a:t>
            </a:r>
            <a:r>
              <a:rPr spc="-185" dirty="0"/>
              <a:t> </a:t>
            </a:r>
            <a:r>
              <a:rPr spc="-50" dirty="0"/>
              <a:t>machines</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12</a:t>
            </a:fld>
            <a:endParaRPr spc="-25" dirty="0"/>
          </a:p>
        </p:txBody>
      </p:sp>
      <p:pic>
        <p:nvPicPr>
          <p:cNvPr id="5" name="object 5"/>
          <p:cNvPicPr/>
          <p:nvPr/>
        </p:nvPicPr>
        <p:blipFill>
          <a:blip r:embed="rId2" cstate="print"/>
          <a:stretch>
            <a:fillRect/>
          </a:stretch>
        </p:blipFill>
        <p:spPr>
          <a:xfrm>
            <a:off x="2452751" y="4852930"/>
            <a:ext cx="5439988" cy="1324519"/>
          </a:xfrm>
          <a:prstGeom prst="rect">
            <a:avLst/>
          </a:prstGeom>
        </p:spPr>
      </p:pic>
      <p:pic>
        <p:nvPicPr>
          <p:cNvPr id="6" name="object 6"/>
          <p:cNvPicPr/>
          <p:nvPr/>
        </p:nvPicPr>
        <p:blipFill>
          <a:blip r:embed="rId3" cstate="print"/>
          <a:stretch>
            <a:fillRect/>
          </a:stretch>
        </p:blipFill>
        <p:spPr>
          <a:xfrm>
            <a:off x="2399524" y="2601309"/>
            <a:ext cx="5410897" cy="1638744"/>
          </a:xfrm>
          <a:prstGeom prst="rect">
            <a:avLst/>
          </a:prstGeom>
        </p:spPr>
      </p:pic>
      <p:sp>
        <p:nvSpPr>
          <p:cNvPr id="7" name="object 7"/>
          <p:cNvSpPr txBox="1"/>
          <p:nvPr/>
        </p:nvSpPr>
        <p:spPr>
          <a:xfrm>
            <a:off x="966317" y="6233871"/>
            <a:ext cx="7860665" cy="269240"/>
          </a:xfrm>
          <a:prstGeom prst="rect">
            <a:avLst/>
          </a:prstGeom>
        </p:spPr>
        <p:txBody>
          <a:bodyPr vert="horz" wrap="square" lIns="0" tIns="12065" rIns="0" bIns="0" rtlCol="0">
            <a:spAutoFit/>
          </a:bodyPr>
          <a:lstStyle/>
          <a:p>
            <a:pPr marL="12700">
              <a:lnSpc>
                <a:spcPct val="100000"/>
              </a:lnSpc>
              <a:spcBef>
                <a:spcPts val="95"/>
              </a:spcBef>
            </a:pPr>
            <a:r>
              <a:rPr sz="1600" spc="-155" dirty="0">
                <a:latin typeface="Arial MT"/>
                <a:cs typeface="Arial MT"/>
              </a:rPr>
              <a:t>Source:</a:t>
            </a:r>
            <a:r>
              <a:rPr sz="1600" spc="165" dirty="0">
                <a:latin typeface="Arial MT"/>
                <a:cs typeface="Arial MT"/>
              </a:rPr>
              <a:t> </a:t>
            </a:r>
            <a:r>
              <a:rPr sz="1600" b="1" u="sng" spc="-155" dirty="0">
                <a:solidFill>
                  <a:srgbClr val="6F2F9F"/>
                </a:solidFill>
                <a:uFill>
                  <a:solidFill>
                    <a:srgbClr val="6F2F9F"/>
                  </a:solidFill>
                </a:uFill>
                <a:latin typeface="Arial"/>
                <a:cs typeface="Arial"/>
                <a:hlinkClick r:id="rId4"/>
              </a:rPr>
              <a:t>https://docs.microsoft.com/en-</a:t>
            </a:r>
            <a:r>
              <a:rPr sz="1600" b="1" u="sng" spc="-150" dirty="0">
                <a:solidFill>
                  <a:srgbClr val="6F2F9F"/>
                </a:solidFill>
                <a:uFill>
                  <a:solidFill>
                    <a:srgbClr val="6F2F9F"/>
                  </a:solidFill>
                </a:uFill>
                <a:latin typeface="Arial"/>
                <a:cs typeface="Arial"/>
                <a:hlinkClick r:id="rId4"/>
              </a:rPr>
              <a:t>us/virtualisation/windowscontainers/about/containers-vs-</a:t>
            </a:r>
            <a:r>
              <a:rPr sz="1600" b="1" u="sng" spc="-25" dirty="0">
                <a:solidFill>
                  <a:srgbClr val="6F2F9F"/>
                </a:solidFill>
                <a:uFill>
                  <a:solidFill>
                    <a:srgbClr val="6F2F9F"/>
                  </a:solidFill>
                </a:uFill>
                <a:latin typeface="Arial"/>
                <a:cs typeface="Arial"/>
                <a:hlinkClick r:id="rId4"/>
              </a:rPr>
              <a:t>vm</a:t>
            </a:r>
            <a:endParaRPr sz="16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Contents</a:t>
            </a:r>
          </a:p>
        </p:txBody>
      </p:sp>
      <p:sp>
        <p:nvSpPr>
          <p:cNvPr id="3" name="object 3"/>
          <p:cNvSpPr txBox="1">
            <a:spLocks noGrp="1"/>
          </p:cNvSpPr>
          <p:nvPr>
            <p:ph idx="1"/>
          </p:nvPr>
        </p:nvSpPr>
        <p:spPr>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spc="-10" dirty="0"/>
              <a:t>Virtualisation</a:t>
            </a:r>
          </a:p>
          <a:p>
            <a:pPr marL="194945" indent="-182245">
              <a:lnSpc>
                <a:spcPct val="100000"/>
              </a:lnSpc>
              <a:spcBef>
                <a:spcPts val="770"/>
              </a:spcBef>
              <a:buClr>
                <a:srgbClr val="2C7B9F"/>
              </a:buClr>
              <a:buSzPct val="84375"/>
              <a:buFont typeface="Arial MT"/>
              <a:buChar char="•"/>
              <a:tabLst>
                <a:tab pos="194945" algn="l"/>
              </a:tabLst>
            </a:pPr>
            <a:r>
              <a:rPr b="1" spc="-10" dirty="0">
                <a:solidFill>
                  <a:srgbClr val="234957"/>
                </a:solidFill>
                <a:latin typeface="Calibri"/>
                <a:cs typeface="Calibri"/>
              </a:rPr>
              <a:t>Datacentres</a:t>
            </a:r>
          </a:p>
          <a:p>
            <a:pPr marL="194945" indent="-182245">
              <a:lnSpc>
                <a:spcPct val="100000"/>
              </a:lnSpc>
              <a:spcBef>
                <a:spcPts val="765"/>
              </a:spcBef>
              <a:buClr>
                <a:srgbClr val="2C7B9F"/>
              </a:buClr>
              <a:buSzPct val="84375"/>
              <a:buFont typeface="Arial MT"/>
              <a:buChar char="•"/>
              <a:tabLst>
                <a:tab pos="194945" algn="l"/>
              </a:tabLst>
            </a:pPr>
            <a:r>
              <a:rPr dirty="0"/>
              <a:t>Cloud</a:t>
            </a:r>
            <a:r>
              <a:rPr spc="-110" dirty="0"/>
              <a:t> </a:t>
            </a:r>
            <a:r>
              <a:rPr dirty="0"/>
              <a:t>Computing</a:t>
            </a:r>
            <a:r>
              <a:rPr spc="-70" dirty="0"/>
              <a:t> </a:t>
            </a:r>
            <a:r>
              <a:rPr spc="-10" dirty="0"/>
              <a:t>drivers</a:t>
            </a:r>
          </a:p>
          <a:p>
            <a:pPr marL="194945" indent="-182245">
              <a:lnSpc>
                <a:spcPct val="100000"/>
              </a:lnSpc>
              <a:spcBef>
                <a:spcPts val="770"/>
              </a:spcBef>
              <a:buClr>
                <a:srgbClr val="2C7B9F"/>
              </a:buClr>
              <a:buSzPct val="84375"/>
              <a:buFont typeface="Arial MT"/>
              <a:buChar char="•"/>
              <a:tabLst>
                <a:tab pos="194945" algn="l"/>
              </a:tabLst>
            </a:pPr>
            <a:r>
              <a:rPr dirty="0"/>
              <a:t>Cloud</a:t>
            </a:r>
            <a:r>
              <a:rPr spc="-80" dirty="0"/>
              <a:t> </a:t>
            </a:r>
            <a:r>
              <a:rPr spc="-10" dirty="0"/>
              <a:t>Computing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20" dirty="0"/>
              <a:t>What’s</a:t>
            </a:r>
            <a:r>
              <a:rPr spc="-225" dirty="0"/>
              <a:t> </a:t>
            </a:r>
            <a:r>
              <a:rPr dirty="0"/>
              <a:t>a</a:t>
            </a:r>
            <a:r>
              <a:rPr spc="-190" dirty="0"/>
              <a:t> </a:t>
            </a:r>
            <a:r>
              <a:rPr spc="-100" dirty="0"/>
              <a:t>Datacentre?</a:t>
            </a:r>
          </a:p>
        </p:txBody>
      </p:sp>
      <p:pic>
        <p:nvPicPr>
          <p:cNvPr id="3" name="object 3"/>
          <p:cNvPicPr/>
          <p:nvPr/>
        </p:nvPicPr>
        <p:blipFill>
          <a:blip r:embed="rId2" cstate="print"/>
          <a:stretch>
            <a:fillRect/>
          </a:stretch>
        </p:blipFill>
        <p:spPr>
          <a:xfrm>
            <a:off x="804862" y="2019300"/>
            <a:ext cx="4476750" cy="2790825"/>
          </a:xfrm>
          <a:prstGeom prst="rect">
            <a:avLst/>
          </a:prstGeom>
        </p:spPr>
      </p:pic>
      <p:sp>
        <p:nvSpPr>
          <p:cNvPr id="4" name="object 4"/>
          <p:cNvSpPr txBox="1"/>
          <p:nvPr/>
        </p:nvSpPr>
        <p:spPr>
          <a:xfrm>
            <a:off x="5627878" y="3231896"/>
            <a:ext cx="3075940" cy="756920"/>
          </a:xfrm>
          <a:prstGeom prst="rect">
            <a:avLst/>
          </a:prstGeom>
        </p:spPr>
        <p:txBody>
          <a:bodyPr vert="horz" wrap="square" lIns="0" tIns="12700" rIns="0" bIns="0" rtlCol="0">
            <a:spAutoFit/>
          </a:bodyPr>
          <a:lstStyle/>
          <a:p>
            <a:pPr marL="12700" marR="5080">
              <a:lnSpc>
                <a:spcPct val="100000"/>
              </a:lnSpc>
              <a:spcBef>
                <a:spcPts val="100"/>
              </a:spcBef>
            </a:pPr>
            <a:r>
              <a:rPr sz="2400" spc="-20" dirty="0">
                <a:latin typeface="Calibri"/>
                <a:cs typeface="Calibri"/>
              </a:rPr>
              <a:t>Apple’s</a:t>
            </a:r>
            <a:r>
              <a:rPr sz="2400" spc="-70" dirty="0">
                <a:latin typeface="Calibri"/>
                <a:cs typeface="Calibri"/>
              </a:rPr>
              <a:t> </a:t>
            </a:r>
            <a:r>
              <a:rPr sz="2400" dirty="0">
                <a:latin typeface="Calibri"/>
                <a:cs typeface="Calibri"/>
              </a:rPr>
              <a:t>500k</a:t>
            </a:r>
            <a:r>
              <a:rPr sz="2400" spc="-75" dirty="0">
                <a:latin typeface="Calibri"/>
                <a:cs typeface="Calibri"/>
              </a:rPr>
              <a:t> </a:t>
            </a:r>
            <a:r>
              <a:rPr sz="2400" dirty="0">
                <a:latin typeface="Calibri"/>
                <a:cs typeface="Calibri"/>
              </a:rPr>
              <a:t>square</a:t>
            </a:r>
            <a:r>
              <a:rPr sz="2400" spc="-60" dirty="0">
                <a:latin typeface="Calibri"/>
                <a:cs typeface="Calibri"/>
              </a:rPr>
              <a:t> </a:t>
            </a:r>
            <a:r>
              <a:rPr sz="2400" spc="-20" dirty="0">
                <a:latin typeface="Calibri"/>
                <a:cs typeface="Calibri"/>
              </a:rPr>
              <a:t>foot </a:t>
            </a:r>
            <a:r>
              <a:rPr sz="2400" spc="-10" dirty="0">
                <a:latin typeface="Calibri"/>
                <a:cs typeface="Calibri"/>
              </a:rPr>
              <a:t>“iDataCenter”.</a:t>
            </a:r>
            <a:endParaRPr sz="2400">
              <a:latin typeface="Calibri"/>
              <a:cs typeface="Calibri"/>
            </a:endParaRPr>
          </a:p>
        </p:txBody>
      </p:sp>
      <p:sp>
        <p:nvSpPr>
          <p:cNvPr id="5" name="object 5"/>
          <p:cNvSpPr txBox="1"/>
          <p:nvPr/>
        </p:nvSpPr>
        <p:spPr>
          <a:xfrm>
            <a:off x="2060194" y="6121072"/>
            <a:ext cx="5419090" cy="258445"/>
          </a:xfrm>
          <a:prstGeom prst="rect">
            <a:avLst/>
          </a:prstGeom>
        </p:spPr>
        <p:txBody>
          <a:bodyPr vert="horz" wrap="square" lIns="0" tIns="0" rIns="0" bIns="0" rtlCol="0">
            <a:spAutoFit/>
          </a:bodyPr>
          <a:lstStyle/>
          <a:p>
            <a:pPr marL="12700">
              <a:lnSpc>
                <a:spcPts val="1914"/>
              </a:lnSpc>
            </a:pPr>
            <a:r>
              <a:rPr sz="1600" spc="-155" dirty="0">
                <a:latin typeface="Arial MT"/>
                <a:cs typeface="Arial MT"/>
              </a:rPr>
              <a:t>Source:</a:t>
            </a:r>
            <a:r>
              <a:rPr sz="1600" spc="380" dirty="0">
                <a:latin typeface="Arial MT"/>
                <a:cs typeface="Arial MT"/>
              </a:rPr>
              <a:t> </a:t>
            </a:r>
            <a:r>
              <a:rPr sz="1600" spc="-155" dirty="0">
                <a:latin typeface="Arial MT"/>
                <a:cs typeface="Arial MT"/>
                <a:hlinkClick r:id="rId3"/>
              </a:rPr>
              <a:t>http://www.datacenterknowledge.com/leed-</a:t>
            </a:r>
            <a:r>
              <a:rPr sz="1600" spc="-150" dirty="0">
                <a:latin typeface="Arial MT"/>
                <a:cs typeface="Arial MT"/>
                <a:hlinkClick r:id="rId3"/>
              </a:rPr>
              <a:t>platinum-data-</a:t>
            </a:r>
            <a:r>
              <a:rPr sz="1600" spc="-80" dirty="0">
                <a:latin typeface="Arial MT"/>
                <a:cs typeface="Arial MT"/>
                <a:hlinkClick r:id="rId3"/>
              </a:rPr>
              <a:t>centers</a:t>
            </a:r>
            <a:endParaRPr sz="1600">
              <a:latin typeface="Arial MT"/>
              <a:cs typeface="Arial MT"/>
            </a:endParaRPr>
          </a:p>
        </p:txBody>
      </p:sp>
      <p:sp>
        <p:nvSpPr>
          <p:cNvPr id="6" name="object 6"/>
          <p:cNvSpPr txBox="1"/>
          <p:nvPr/>
        </p:nvSpPr>
        <p:spPr>
          <a:xfrm>
            <a:off x="9187942" y="6546748"/>
            <a:ext cx="205740" cy="204470"/>
          </a:xfrm>
          <a:prstGeom prst="rect">
            <a:avLst/>
          </a:prstGeom>
        </p:spPr>
        <p:txBody>
          <a:bodyPr vert="horz" wrap="square" lIns="0" tIns="0" rIns="0" bIns="0" rtlCol="0">
            <a:spAutoFit/>
          </a:bodyPr>
          <a:lstStyle/>
          <a:p>
            <a:pPr marL="12700">
              <a:lnSpc>
                <a:spcPts val="1435"/>
              </a:lnSpc>
            </a:pPr>
            <a:r>
              <a:rPr sz="1400" b="1" spc="-25" dirty="0">
                <a:solidFill>
                  <a:srgbClr val="174A5B"/>
                </a:solidFill>
                <a:latin typeface="Calibri"/>
                <a:cs typeface="Calibri"/>
              </a:rPr>
              <a:t>16</a:t>
            </a:r>
            <a:endParaRPr sz="14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6000" cy="6858000"/>
          </a:xfrm>
          <a:prstGeom prst="rect">
            <a:avLst/>
          </a:prstGeom>
        </p:spPr>
      </p:pic>
      <p:sp>
        <p:nvSpPr>
          <p:cNvPr id="3" name="object 3"/>
          <p:cNvSpPr txBox="1">
            <a:spLocks noGrp="1"/>
          </p:cNvSpPr>
          <p:nvPr>
            <p:ph type="title"/>
          </p:nvPr>
        </p:nvSpPr>
        <p:spPr>
          <a:xfrm>
            <a:off x="2597911" y="232664"/>
            <a:ext cx="426212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00"/>
                </a:solidFill>
              </a:rPr>
              <a:t>Barcelona</a:t>
            </a:r>
            <a:r>
              <a:rPr sz="2400" spc="-110" dirty="0">
                <a:solidFill>
                  <a:srgbClr val="000000"/>
                </a:solidFill>
              </a:rPr>
              <a:t> </a:t>
            </a:r>
            <a:r>
              <a:rPr sz="2400" dirty="0">
                <a:solidFill>
                  <a:srgbClr val="000000"/>
                </a:solidFill>
              </a:rPr>
              <a:t>Supercomputing</a:t>
            </a:r>
            <a:r>
              <a:rPr sz="2400" spc="-100" dirty="0">
                <a:solidFill>
                  <a:srgbClr val="000000"/>
                </a:solidFill>
              </a:rPr>
              <a:t> </a:t>
            </a:r>
            <a:r>
              <a:rPr sz="2400" spc="-10" dirty="0">
                <a:solidFill>
                  <a:srgbClr val="000000"/>
                </a:solidFill>
              </a:rPr>
              <a:t>Center</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10" dirty="0"/>
              <a:t>Datacentres</a:t>
            </a:r>
          </a:p>
        </p:txBody>
      </p:sp>
      <p:pic>
        <p:nvPicPr>
          <p:cNvPr id="3" name="object 3"/>
          <p:cNvPicPr/>
          <p:nvPr/>
        </p:nvPicPr>
        <p:blipFill>
          <a:blip r:embed="rId2" cstate="print"/>
          <a:stretch>
            <a:fillRect/>
          </a:stretch>
        </p:blipFill>
        <p:spPr>
          <a:xfrm>
            <a:off x="4994275" y="2513012"/>
            <a:ext cx="4476750" cy="3095625"/>
          </a:xfrm>
          <a:prstGeom prst="rect">
            <a:avLst/>
          </a:prstGeom>
        </p:spPr>
      </p:pic>
      <p:sp>
        <p:nvSpPr>
          <p:cNvPr id="4" name="object 4"/>
          <p:cNvSpPr txBox="1"/>
          <p:nvPr/>
        </p:nvSpPr>
        <p:spPr>
          <a:xfrm>
            <a:off x="977290" y="3404996"/>
            <a:ext cx="3256279" cy="112331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Calibri"/>
                <a:cs typeface="Calibri"/>
              </a:rPr>
              <a:t>The</a:t>
            </a:r>
            <a:r>
              <a:rPr sz="2400" spc="-50" dirty="0">
                <a:latin typeface="Calibri"/>
                <a:cs typeface="Calibri"/>
              </a:rPr>
              <a:t> </a:t>
            </a:r>
            <a:r>
              <a:rPr sz="2400" dirty="0">
                <a:latin typeface="Calibri"/>
                <a:cs typeface="Calibri"/>
              </a:rPr>
              <a:t>230,000</a:t>
            </a:r>
            <a:r>
              <a:rPr sz="2400" spc="-65" dirty="0">
                <a:latin typeface="Calibri"/>
                <a:cs typeface="Calibri"/>
              </a:rPr>
              <a:t> </a:t>
            </a:r>
            <a:r>
              <a:rPr sz="2400" dirty="0">
                <a:latin typeface="Calibri"/>
                <a:cs typeface="Calibri"/>
              </a:rPr>
              <a:t>square</a:t>
            </a:r>
            <a:r>
              <a:rPr sz="2400" spc="-55" dirty="0">
                <a:latin typeface="Calibri"/>
                <a:cs typeface="Calibri"/>
              </a:rPr>
              <a:t> </a:t>
            </a:r>
            <a:r>
              <a:rPr sz="2400" spc="-20" dirty="0">
                <a:latin typeface="Calibri"/>
                <a:cs typeface="Calibri"/>
              </a:rPr>
              <a:t>foot </a:t>
            </a:r>
            <a:r>
              <a:rPr sz="2400" dirty="0">
                <a:latin typeface="Calibri"/>
                <a:cs typeface="Calibri"/>
              </a:rPr>
              <a:t>Citigroup</a:t>
            </a:r>
            <a:r>
              <a:rPr sz="2400" spc="-100" dirty="0">
                <a:latin typeface="Calibri"/>
                <a:cs typeface="Calibri"/>
              </a:rPr>
              <a:t> </a:t>
            </a:r>
            <a:r>
              <a:rPr sz="2400" dirty="0">
                <a:latin typeface="Calibri"/>
                <a:cs typeface="Calibri"/>
              </a:rPr>
              <a:t>Frankfurt</a:t>
            </a:r>
            <a:r>
              <a:rPr sz="2400" spc="-80" dirty="0">
                <a:latin typeface="Calibri"/>
                <a:cs typeface="Calibri"/>
              </a:rPr>
              <a:t> </a:t>
            </a:r>
            <a:r>
              <a:rPr sz="2400" spc="-10" dirty="0">
                <a:latin typeface="Calibri"/>
                <a:cs typeface="Calibri"/>
              </a:rPr>
              <a:t>facility datacenter</a:t>
            </a:r>
            <a:endParaRPr sz="2400">
              <a:latin typeface="Calibri"/>
              <a:cs typeface="Calibri"/>
            </a:endParaRPr>
          </a:p>
        </p:txBody>
      </p:sp>
      <p:sp>
        <p:nvSpPr>
          <p:cNvPr id="5" name="object 5"/>
          <p:cNvSpPr txBox="1"/>
          <p:nvPr/>
        </p:nvSpPr>
        <p:spPr>
          <a:xfrm>
            <a:off x="2060194" y="6121072"/>
            <a:ext cx="5419090" cy="258445"/>
          </a:xfrm>
          <a:prstGeom prst="rect">
            <a:avLst/>
          </a:prstGeom>
        </p:spPr>
        <p:txBody>
          <a:bodyPr vert="horz" wrap="square" lIns="0" tIns="0" rIns="0" bIns="0" rtlCol="0">
            <a:spAutoFit/>
          </a:bodyPr>
          <a:lstStyle/>
          <a:p>
            <a:pPr marL="12700">
              <a:lnSpc>
                <a:spcPts val="1914"/>
              </a:lnSpc>
            </a:pPr>
            <a:r>
              <a:rPr sz="1600" spc="-155" dirty="0">
                <a:latin typeface="Arial MT"/>
                <a:cs typeface="Arial MT"/>
              </a:rPr>
              <a:t>Source:</a:t>
            </a:r>
            <a:r>
              <a:rPr sz="1600" spc="380" dirty="0">
                <a:latin typeface="Arial MT"/>
                <a:cs typeface="Arial MT"/>
              </a:rPr>
              <a:t> </a:t>
            </a:r>
            <a:r>
              <a:rPr sz="1600" spc="-155" dirty="0">
                <a:latin typeface="Arial MT"/>
                <a:cs typeface="Arial MT"/>
                <a:hlinkClick r:id="rId3"/>
              </a:rPr>
              <a:t>http://www.datacenterknowledge.com/leed-</a:t>
            </a:r>
            <a:r>
              <a:rPr sz="1600" spc="-150" dirty="0">
                <a:latin typeface="Arial MT"/>
                <a:cs typeface="Arial MT"/>
                <a:hlinkClick r:id="rId3"/>
              </a:rPr>
              <a:t>platinum-data-</a:t>
            </a:r>
            <a:r>
              <a:rPr sz="1600" spc="-80" dirty="0">
                <a:latin typeface="Arial MT"/>
                <a:cs typeface="Arial MT"/>
                <a:hlinkClick r:id="rId3"/>
              </a:rPr>
              <a:t>centers</a:t>
            </a:r>
            <a:endParaRPr sz="1600">
              <a:latin typeface="Arial MT"/>
              <a:cs typeface="Arial MT"/>
            </a:endParaRPr>
          </a:p>
        </p:txBody>
      </p:sp>
      <p:sp>
        <p:nvSpPr>
          <p:cNvPr id="6" name="object 6"/>
          <p:cNvSpPr txBox="1"/>
          <p:nvPr/>
        </p:nvSpPr>
        <p:spPr>
          <a:xfrm>
            <a:off x="9187942" y="6546748"/>
            <a:ext cx="205740" cy="204470"/>
          </a:xfrm>
          <a:prstGeom prst="rect">
            <a:avLst/>
          </a:prstGeom>
        </p:spPr>
        <p:txBody>
          <a:bodyPr vert="horz" wrap="square" lIns="0" tIns="0" rIns="0" bIns="0" rtlCol="0">
            <a:spAutoFit/>
          </a:bodyPr>
          <a:lstStyle/>
          <a:p>
            <a:pPr marL="12700">
              <a:lnSpc>
                <a:spcPts val="1435"/>
              </a:lnSpc>
            </a:pPr>
            <a:r>
              <a:rPr sz="1400" b="1" spc="-25" dirty="0">
                <a:solidFill>
                  <a:srgbClr val="174A5B"/>
                </a:solidFill>
                <a:latin typeface="Calibri"/>
                <a:cs typeface="Calibri"/>
              </a:rPr>
              <a:t>18</a:t>
            </a:r>
            <a:endParaRPr sz="14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10" dirty="0"/>
              <a:t>Datacentres</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17</a:t>
            </a:fld>
            <a:endParaRPr spc="-25" dirty="0"/>
          </a:p>
        </p:txBody>
      </p:sp>
      <p:sp>
        <p:nvSpPr>
          <p:cNvPr id="3" name="object 3"/>
          <p:cNvSpPr txBox="1"/>
          <p:nvPr/>
        </p:nvSpPr>
        <p:spPr>
          <a:xfrm>
            <a:off x="371043" y="2526537"/>
            <a:ext cx="3413760" cy="878840"/>
          </a:xfrm>
          <a:prstGeom prst="rect">
            <a:avLst/>
          </a:prstGeom>
        </p:spPr>
        <p:txBody>
          <a:bodyPr vert="horz" wrap="square" lIns="0" tIns="12065" rIns="0" bIns="0" rtlCol="0">
            <a:spAutoFit/>
          </a:bodyPr>
          <a:lstStyle/>
          <a:p>
            <a:pPr marL="12700" marR="5080">
              <a:lnSpc>
                <a:spcPct val="100000"/>
              </a:lnSpc>
              <a:spcBef>
                <a:spcPts val="95"/>
              </a:spcBef>
            </a:pPr>
            <a:r>
              <a:rPr sz="2800" spc="-10" dirty="0">
                <a:solidFill>
                  <a:srgbClr val="131313"/>
                </a:solidFill>
                <a:latin typeface="Calibri"/>
                <a:cs typeface="Calibri"/>
              </a:rPr>
              <a:t>Microsoft's</a:t>
            </a:r>
            <a:r>
              <a:rPr sz="2800" spc="-80" dirty="0">
                <a:solidFill>
                  <a:srgbClr val="131313"/>
                </a:solidFill>
                <a:latin typeface="Calibri"/>
                <a:cs typeface="Calibri"/>
              </a:rPr>
              <a:t> </a:t>
            </a:r>
            <a:r>
              <a:rPr sz="2800" spc="-10" dirty="0">
                <a:solidFill>
                  <a:srgbClr val="131313"/>
                </a:solidFill>
                <a:latin typeface="Calibri"/>
                <a:cs typeface="Calibri"/>
              </a:rPr>
              <a:t>underwater </a:t>
            </a:r>
            <a:r>
              <a:rPr sz="2800" dirty="0">
                <a:solidFill>
                  <a:srgbClr val="131313"/>
                </a:solidFill>
                <a:latin typeface="Calibri"/>
                <a:cs typeface="Calibri"/>
              </a:rPr>
              <a:t>data</a:t>
            </a:r>
            <a:r>
              <a:rPr sz="2800" spc="-114" dirty="0">
                <a:solidFill>
                  <a:srgbClr val="131313"/>
                </a:solidFill>
                <a:latin typeface="Calibri"/>
                <a:cs typeface="Calibri"/>
              </a:rPr>
              <a:t> </a:t>
            </a:r>
            <a:r>
              <a:rPr sz="2800" spc="-10" dirty="0">
                <a:solidFill>
                  <a:srgbClr val="131313"/>
                </a:solidFill>
                <a:latin typeface="Calibri"/>
                <a:cs typeface="Calibri"/>
              </a:rPr>
              <a:t>centre</a:t>
            </a:r>
            <a:endParaRPr sz="2800">
              <a:latin typeface="Calibri"/>
              <a:cs typeface="Calibri"/>
            </a:endParaRPr>
          </a:p>
        </p:txBody>
      </p:sp>
      <p:sp>
        <p:nvSpPr>
          <p:cNvPr id="4" name="object 4"/>
          <p:cNvSpPr txBox="1"/>
          <p:nvPr/>
        </p:nvSpPr>
        <p:spPr>
          <a:xfrm>
            <a:off x="2060194" y="6107988"/>
            <a:ext cx="4336415" cy="269240"/>
          </a:xfrm>
          <a:prstGeom prst="rect">
            <a:avLst/>
          </a:prstGeom>
        </p:spPr>
        <p:txBody>
          <a:bodyPr vert="horz" wrap="square" lIns="0" tIns="12065" rIns="0" bIns="0" rtlCol="0">
            <a:spAutoFit/>
          </a:bodyPr>
          <a:lstStyle/>
          <a:p>
            <a:pPr marL="12700">
              <a:lnSpc>
                <a:spcPct val="100000"/>
              </a:lnSpc>
              <a:spcBef>
                <a:spcPts val="95"/>
              </a:spcBef>
            </a:pPr>
            <a:r>
              <a:rPr sz="1600" spc="-155" dirty="0">
                <a:latin typeface="Arial MT"/>
                <a:cs typeface="Arial MT"/>
              </a:rPr>
              <a:t>Source:</a:t>
            </a:r>
            <a:r>
              <a:rPr sz="1600" spc="195" dirty="0">
                <a:latin typeface="Arial MT"/>
                <a:cs typeface="Arial MT"/>
              </a:rPr>
              <a:t> </a:t>
            </a:r>
            <a:r>
              <a:rPr sz="1600" spc="-150" dirty="0">
                <a:latin typeface="Arial MT"/>
                <a:cs typeface="Arial MT"/>
              </a:rPr>
              <a:t>https:/</a:t>
            </a:r>
            <a:r>
              <a:rPr sz="1600" spc="-150" dirty="0">
                <a:latin typeface="Arial MT"/>
                <a:cs typeface="Arial MT"/>
                <a:hlinkClick r:id="rId2"/>
              </a:rPr>
              <a:t>/www.bbc.co.uk/news/technology-</a:t>
            </a:r>
            <a:r>
              <a:rPr sz="1600" spc="-125" dirty="0">
                <a:latin typeface="Arial MT"/>
                <a:cs typeface="Arial MT"/>
                <a:hlinkClick r:id="rId2"/>
              </a:rPr>
              <a:t>54146718</a:t>
            </a:r>
            <a:endParaRPr sz="1600">
              <a:latin typeface="Arial MT"/>
              <a:cs typeface="Arial MT"/>
            </a:endParaRPr>
          </a:p>
        </p:txBody>
      </p:sp>
      <p:pic>
        <p:nvPicPr>
          <p:cNvPr id="5" name="object 5"/>
          <p:cNvPicPr/>
          <p:nvPr/>
        </p:nvPicPr>
        <p:blipFill>
          <a:blip r:embed="rId3" cstate="print"/>
          <a:stretch>
            <a:fillRect/>
          </a:stretch>
        </p:blipFill>
        <p:spPr>
          <a:xfrm>
            <a:off x="4653788" y="3319043"/>
            <a:ext cx="4710302" cy="2649474"/>
          </a:xfrm>
          <a:prstGeom prst="rect">
            <a:avLst/>
          </a:prstGeom>
        </p:spPr>
      </p:pic>
      <p:pic>
        <p:nvPicPr>
          <p:cNvPr id="6" name="object 6"/>
          <p:cNvPicPr/>
          <p:nvPr/>
        </p:nvPicPr>
        <p:blipFill>
          <a:blip r:embed="rId4" cstate="print"/>
          <a:stretch>
            <a:fillRect/>
          </a:stretch>
        </p:blipFill>
        <p:spPr>
          <a:xfrm>
            <a:off x="4653788" y="594487"/>
            <a:ext cx="4648200" cy="26145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550669"/>
            <a:ext cx="8680450" cy="4431030"/>
          </a:xfrm>
          <a:prstGeom prst="rect">
            <a:avLst/>
          </a:prstGeom>
        </p:spPr>
        <p:txBody>
          <a:bodyPr vert="horz" wrap="square" lIns="0" tIns="12065" rIns="0" bIns="0" rtlCol="0">
            <a:spAutoFit/>
          </a:bodyPr>
          <a:lstStyle/>
          <a:p>
            <a:pPr marL="194945" marR="5080" indent="-182880">
              <a:lnSpc>
                <a:spcPct val="100000"/>
              </a:lnSpc>
              <a:spcBef>
                <a:spcPts val="95"/>
              </a:spcBef>
              <a:buClr>
                <a:srgbClr val="2C7B9F"/>
              </a:buClr>
              <a:buSzPct val="83928"/>
              <a:buFont typeface="Arial MT"/>
              <a:buChar char="•"/>
              <a:tabLst>
                <a:tab pos="194945" algn="l"/>
              </a:tabLst>
            </a:pPr>
            <a:r>
              <a:rPr sz="2800" spc="-10" dirty="0">
                <a:latin typeface="Calibri"/>
                <a:cs typeface="Calibri"/>
              </a:rPr>
              <a:t>Datacentres</a:t>
            </a:r>
            <a:r>
              <a:rPr sz="2800" spc="-90" dirty="0">
                <a:latin typeface="Calibri"/>
                <a:cs typeface="Calibri"/>
              </a:rPr>
              <a:t> </a:t>
            </a:r>
            <a:r>
              <a:rPr sz="2800" dirty="0">
                <a:latin typeface="Calibri"/>
                <a:cs typeface="Calibri"/>
              </a:rPr>
              <a:t>are</a:t>
            </a:r>
            <a:r>
              <a:rPr sz="2800" spc="-105" dirty="0">
                <a:latin typeface="Calibri"/>
                <a:cs typeface="Calibri"/>
              </a:rPr>
              <a:t> </a:t>
            </a:r>
            <a:r>
              <a:rPr sz="2800" dirty="0">
                <a:latin typeface="Calibri"/>
                <a:cs typeface="Calibri"/>
              </a:rPr>
              <a:t>buildings</a:t>
            </a:r>
            <a:r>
              <a:rPr sz="2800" spc="-60" dirty="0">
                <a:latin typeface="Calibri"/>
                <a:cs typeface="Calibri"/>
              </a:rPr>
              <a:t> </a:t>
            </a:r>
            <a:r>
              <a:rPr sz="2800" dirty="0">
                <a:latin typeface="Calibri"/>
                <a:cs typeface="Calibri"/>
              </a:rPr>
              <a:t>where</a:t>
            </a:r>
            <a:r>
              <a:rPr sz="2800" spc="-145" dirty="0">
                <a:latin typeface="Calibri"/>
                <a:cs typeface="Calibri"/>
              </a:rPr>
              <a:t> </a:t>
            </a:r>
            <a:r>
              <a:rPr sz="2800" b="1" dirty="0">
                <a:solidFill>
                  <a:srgbClr val="234957"/>
                </a:solidFill>
                <a:latin typeface="Calibri"/>
                <a:cs typeface="Calibri"/>
              </a:rPr>
              <a:t>multiple</a:t>
            </a:r>
            <a:r>
              <a:rPr sz="2800" b="1" spc="-105" dirty="0">
                <a:solidFill>
                  <a:srgbClr val="234957"/>
                </a:solidFill>
                <a:latin typeface="Calibri"/>
                <a:cs typeface="Calibri"/>
              </a:rPr>
              <a:t> </a:t>
            </a:r>
            <a:r>
              <a:rPr sz="2800" b="1" dirty="0">
                <a:solidFill>
                  <a:srgbClr val="234957"/>
                </a:solidFill>
                <a:latin typeface="Calibri"/>
                <a:cs typeface="Calibri"/>
              </a:rPr>
              <a:t>servers</a:t>
            </a:r>
            <a:r>
              <a:rPr sz="2800" b="1" spc="-85" dirty="0">
                <a:solidFill>
                  <a:srgbClr val="234957"/>
                </a:solidFill>
                <a:latin typeface="Calibri"/>
                <a:cs typeface="Calibri"/>
              </a:rPr>
              <a:t> </a:t>
            </a:r>
            <a:r>
              <a:rPr sz="2800" b="1" spc="-25" dirty="0">
                <a:solidFill>
                  <a:srgbClr val="234957"/>
                </a:solidFill>
                <a:latin typeface="Calibri"/>
                <a:cs typeface="Calibri"/>
              </a:rPr>
              <a:t>and </a:t>
            </a:r>
            <a:r>
              <a:rPr sz="2800" b="1" spc="-10" dirty="0">
                <a:solidFill>
                  <a:srgbClr val="234957"/>
                </a:solidFill>
                <a:latin typeface="Calibri"/>
                <a:cs typeface="Calibri"/>
              </a:rPr>
              <a:t>communication</a:t>
            </a:r>
            <a:r>
              <a:rPr sz="2800" b="1" spc="-95" dirty="0">
                <a:solidFill>
                  <a:srgbClr val="234957"/>
                </a:solidFill>
                <a:latin typeface="Calibri"/>
                <a:cs typeface="Calibri"/>
              </a:rPr>
              <a:t> </a:t>
            </a:r>
            <a:r>
              <a:rPr sz="2800" b="1" dirty="0">
                <a:solidFill>
                  <a:srgbClr val="234957"/>
                </a:solidFill>
                <a:latin typeface="Calibri"/>
                <a:cs typeface="Calibri"/>
              </a:rPr>
              <a:t>equipment</a:t>
            </a:r>
            <a:r>
              <a:rPr sz="2800" b="1" spc="-80" dirty="0">
                <a:solidFill>
                  <a:srgbClr val="234957"/>
                </a:solidFill>
                <a:latin typeface="Calibri"/>
                <a:cs typeface="Calibri"/>
              </a:rPr>
              <a:t> </a:t>
            </a:r>
            <a:r>
              <a:rPr sz="2800" b="1" dirty="0">
                <a:solidFill>
                  <a:srgbClr val="234957"/>
                </a:solidFill>
                <a:latin typeface="Calibri"/>
                <a:cs typeface="Calibri"/>
              </a:rPr>
              <a:t>are</a:t>
            </a:r>
            <a:r>
              <a:rPr sz="2800" b="1" spc="-65" dirty="0">
                <a:solidFill>
                  <a:srgbClr val="234957"/>
                </a:solidFill>
                <a:latin typeface="Calibri"/>
                <a:cs typeface="Calibri"/>
              </a:rPr>
              <a:t> </a:t>
            </a:r>
            <a:r>
              <a:rPr sz="2800" b="1" spc="-10" dirty="0">
                <a:solidFill>
                  <a:srgbClr val="234957"/>
                </a:solidFill>
                <a:latin typeface="Calibri"/>
                <a:cs typeface="Calibri"/>
              </a:rPr>
              <a:t>colocated</a:t>
            </a:r>
            <a:r>
              <a:rPr sz="2800" b="1" spc="-125" dirty="0">
                <a:solidFill>
                  <a:srgbClr val="234957"/>
                </a:solidFill>
                <a:latin typeface="Calibri"/>
                <a:cs typeface="Calibri"/>
              </a:rPr>
              <a:t> </a:t>
            </a:r>
            <a:r>
              <a:rPr sz="2800" dirty="0">
                <a:latin typeface="Calibri"/>
                <a:cs typeface="Calibri"/>
              </a:rPr>
              <a:t>because</a:t>
            </a:r>
            <a:r>
              <a:rPr sz="2800" spc="-85" dirty="0">
                <a:latin typeface="Calibri"/>
                <a:cs typeface="Calibri"/>
              </a:rPr>
              <a:t> </a:t>
            </a:r>
            <a:r>
              <a:rPr sz="2800" dirty="0">
                <a:latin typeface="Calibri"/>
                <a:cs typeface="Calibri"/>
              </a:rPr>
              <a:t>of</a:t>
            </a:r>
            <a:r>
              <a:rPr sz="2800" spc="-95" dirty="0">
                <a:latin typeface="Calibri"/>
                <a:cs typeface="Calibri"/>
              </a:rPr>
              <a:t> </a:t>
            </a:r>
            <a:r>
              <a:rPr sz="2800" spc="-10" dirty="0">
                <a:latin typeface="Calibri"/>
                <a:cs typeface="Calibri"/>
              </a:rPr>
              <a:t>their </a:t>
            </a:r>
            <a:r>
              <a:rPr sz="2800" dirty="0">
                <a:latin typeface="Calibri"/>
                <a:cs typeface="Calibri"/>
              </a:rPr>
              <a:t>common</a:t>
            </a:r>
            <a:r>
              <a:rPr sz="2800" spc="-110" dirty="0">
                <a:latin typeface="Calibri"/>
                <a:cs typeface="Calibri"/>
              </a:rPr>
              <a:t> </a:t>
            </a:r>
            <a:r>
              <a:rPr sz="2800" spc="-10" dirty="0">
                <a:latin typeface="Calibri"/>
                <a:cs typeface="Calibri"/>
              </a:rPr>
              <a:t>environmental</a:t>
            </a:r>
            <a:r>
              <a:rPr sz="2800" spc="-95" dirty="0">
                <a:latin typeface="Calibri"/>
                <a:cs typeface="Calibri"/>
              </a:rPr>
              <a:t> </a:t>
            </a:r>
            <a:r>
              <a:rPr sz="2800" spc="-10" dirty="0">
                <a:latin typeface="Calibri"/>
                <a:cs typeface="Calibri"/>
              </a:rPr>
              <a:t>requirements</a:t>
            </a:r>
            <a:r>
              <a:rPr sz="2800" spc="-95" dirty="0">
                <a:latin typeface="Calibri"/>
                <a:cs typeface="Calibri"/>
              </a:rPr>
              <a:t> </a:t>
            </a:r>
            <a:r>
              <a:rPr sz="2800" dirty="0">
                <a:latin typeface="Calibri"/>
                <a:cs typeface="Calibri"/>
              </a:rPr>
              <a:t>and</a:t>
            </a:r>
            <a:r>
              <a:rPr sz="2800" spc="-105" dirty="0">
                <a:latin typeface="Calibri"/>
                <a:cs typeface="Calibri"/>
              </a:rPr>
              <a:t> </a:t>
            </a:r>
            <a:r>
              <a:rPr sz="2800" spc="-10" dirty="0">
                <a:latin typeface="Calibri"/>
                <a:cs typeface="Calibri"/>
              </a:rPr>
              <a:t>physical </a:t>
            </a:r>
            <a:r>
              <a:rPr sz="2800" dirty="0">
                <a:latin typeface="Calibri"/>
                <a:cs typeface="Calibri"/>
              </a:rPr>
              <a:t>security</a:t>
            </a:r>
            <a:r>
              <a:rPr sz="2800" spc="-80" dirty="0">
                <a:latin typeface="Calibri"/>
                <a:cs typeface="Calibri"/>
              </a:rPr>
              <a:t> </a:t>
            </a:r>
            <a:r>
              <a:rPr sz="2800" spc="-10" dirty="0">
                <a:latin typeface="Calibri"/>
                <a:cs typeface="Calibri"/>
              </a:rPr>
              <a:t>needs</a:t>
            </a:r>
            <a:endParaRPr sz="2800">
              <a:latin typeface="Calibri"/>
              <a:cs typeface="Calibri"/>
            </a:endParaRPr>
          </a:p>
          <a:p>
            <a:pPr marL="469900" lvl="1" indent="-182880">
              <a:lnSpc>
                <a:spcPct val="100000"/>
              </a:lnSpc>
              <a:spcBef>
                <a:spcPts val="605"/>
              </a:spcBef>
              <a:buClr>
                <a:srgbClr val="2C7B9F"/>
              </a:buClr>
              <a:buSzPct val="85416"/>
              <a:buFont typeface="Arial MT"/>
              <a:buChar char="•"/>
              <a:tabLst>
                <a:tab pos="469900" algn="l"/>
              </a:tabLst>
            </a:pPr>
            <a:r>
              <a:rPr sz="2400" dirty="0">
                <a:latin typeface="Calibri"/>
                <a:cs typeface="Calibri"/>
              </a:rPr>
              <a:t>Computing</a:t>
            </a:r>
            <a:r>
              <a:rPr sz="2400" spc="-40" dirty="0">
                <a:latin typeface="Calibri"/>
                <a:cs typeface="Calibri"/>
              </a:rPr>
              <a:t> </a:t>
            </a:r>
            <a:r>
              <a:rPr sz="2400" spc="-20" dirty="0">
                <a:latin typeface="Calibri"/>
                <a:cs typeface="Calibri"/>
              </a:rPr>
              <a:t>power</a:t>
            </a:r>
            <a:endParaRPr sz="2400">
              <a:latin typeface="Calibri"/>
              <a:cs typeface="Calibri"/>
            </a:endParaRPr>
          </a:p>
          <a:p>
            <a:pPr marL="469900" lvl="1" indent="-182880">
              <a:lnSpc>
                <a:spcPct val="100000"/>
              </a:lnSpc>
              <a:spcBef>
                <a:spcPts val="575"/>
              </a:spcBef>
              <a:buClr>
                <a:srgbClr val="2C7B9F"/>
              </a:buClr>
              <a:buSzPct val="85416"/>
              <a:buFont typeface="Arial MT"/>
              <a:buChar char="•"/>
              <a:tabLst>
                <a:tab pos="469900" algn="l"/>
              </a:tabLst>
            </a:pPr>
            <a:r>
              <a:rPr sz="2400" dirty="0">
                <a:latin typeface="Calibri"/>
                <a:cs typeface="Calibri"/>
              </a:rPr>
              <a:t>Storage</a:t>
            </a:r>
            <a:r>
              <a:rPr sz="2400" spc="-125" dirty="0">
                <a:latin typeface="Calibri"/>
                <a:cs typeface="Calibri"/>
              </a:rPr>
              <a:t> </a:t>
            </a:r>
            <a:r>
              <a:rPr sz="2400" spc="-10" dirty="0">
                <a:latin typeface="Calibri"/>
                <a:cs typeface="Calibri"/>
              </a:rPr>
              <a:t>capabilities</a:t>
            </a:r>
            <a:endParaRPr sz="2400">
              <a:latin typeface="Calibri"/>
              <a:cs typeface="Calibri"/>
            </a:endParaRPr>
          </a:p>
          <a:p>
            <a:pPr marL="470534" lvl="1" indent="-183515">
              <a:lnSpc>
                <a:spcPct val="100000"/>
              </a:lnSpc>
              <a:spcBef>
                <a:spcPts val="580"/>
              </a:spcBef>
              <a:buClr>
                <a:srgbClr val="2C7B9F"/>
              </a:buClr>
              <a:buSzPct val="85416"/>
              <a:buFont typeface="Arial MT"/>
              <a:buChar char="•"/>
              <a:tabLst>
                <a:tab pos="470534" algn="l"/>
              </a:tabLst>
            </a:pPr>
            <a:r>
              <a:rPr sz="2400" dirty="0">
                <a:latin typeface="Calibri"/>
                <a:cs typeface="Calibri"/>
              </a:rPr>
              <a:t>Network</a:t>
            </a:r>
            <a:r>
              <a:rPr sz="2400" spc="-100" dirty="0">
                <a:latin typeface="Calibri"/>
                <a:cs typeface="Calibri"/>
              </a:rPr>
              <a:t> </a:t>
            </a:r>
            <a:r>
              <a:rPr sz="2400" spc="-10" dirty="0">
                <a:latin typeface="Calibri"/>
                <a:cs typeface="Calibri"/>
              </a:rPr>
              <a:t>connectivity</a:t>
            </a:r>
            <a:endParaRPr sz="2400">
              <a:latin typeface="Calibri"/>
              <a:cs typeface="Calibri"/>
            </a:endParaRPr>
          </a:p>
          <a:p>
            <a:pPr marL="194945" marR="177165" indent="-182880">
              <a:lnSpc>
                <a:spcPct val="100000"/>
              </a:lnSpc>
              <a:spcBef>
                <a:spcPts val="645"/>
              </a:spcBef>
              <a:buClr>
                <a:srgbClr val="2C7B9F"/>
              </a:buClr>
              <a:buSzPct val="83928"/>
              <a:buFont typeface="Arial MT"/>
              <a:buChar char="•"/>
              <a:tabLst>
                <a:tab pos="194945" algn="l"/>
              </a:tabLst>
            </a:pPr>
            <a:r>
              <a:rPr sz="2800" b="1" dirty="0">
                <a:solidFill>
                  <a:srgbClr val="234957"/>
                </a:solidFill>
                <a:latin typeface="Calibri"/>
                <a:cs typeface="Calibri"/>
              </a:rPr>
              <a:t>WSC</a:t>
            </a:r>
            <a:r>
              <a:rPr sz="2800" b="1" spc="-45" dirty="0">
                <a:solidFill>
                  <a:srgbClr val="234957"/>
                </a:solidFill>
                <a:latin typeface="Calibri"/>
                <a:cs typeface="Calibri"/>
              </a:rPr>
              <a:t> </a:t>
            </a:r>
            <a:r>
              <a:rPr sz="2800" spc="-35" dirty="0">
                <a:latin typeface="Calibri"/>
                <a:cs typeface="Calibri"/>
              </a:rPr>
              <a:t>(Warehouse-</a:t>
            </a:r>
            <a:r>
              <a:rPr sz="2800" dirty="0">
                <a:latin typeface="Calibri"/>
                <a:cs typeface="Calibri"/>
              </a:rPr>
              <a:t>Scale</a:t>
            </a:r>
            <a:r>
              <a:rPr sz="2800" spc="-45" dirty="0">
                <a:latin typeface="Calibri"/>
                <a:cs typeface="Calibri"/>
              </a:rPr>
              <a:t> </a:t>
            </a:r>
            <a:r>
              <a:rPr sz="2800" spc="-10" dirty="0">
                <a:latin typeface="Calibri"/>
                <a:cs typeface="Calibri"/>
              </a:rPr>
              <a:t>Computing):</a:t>
            </a:r>
            <a:r>
              <a:rPr sz="2800" spc="-30" dirty="0">
                <a:latin typeface="Calibri"/>
                <a:cs typeface="Calibri"/>
              </a:rPr>
              <a:t> </a:t>
            </a:r>
            <a:r>
              <a:rPr sz="2800" spc="-10" dirty="0">
                <a:latin typeface="Calibri"/>
                <a:cs typeface="Calibri"/>
              </a:rPr>
              <a:t>Datacentre</a:t>
            </a:r>
            <a:r>
              <a:rPr sz="2800" spc="-60" dirty="0">
                <a:latin typeface="Calibri"/>
                <a:cs typeface="Calibri"/>
              </a:rPr>
              <a:t> </a:t>
            </a:r>
            <a:r>
              <a:rPr sz="2800" dirty="0">
                <a:latin typeface="Calibri"/>
                <a:cs typeface="Calibri"/>
              </a:rPr>
              <a:t>that</a:t>
            </a:r>
            <a:r>
              <a:rPr sz="2800" spc="-50" dirty="0">
                <a:latin typeface="Calibri"/>
                <a:cs typeface="Calibri"/>
              </a:rPr>
              <a:t> </a:t>
            </a:r>
            <a:r>
              <a:rPr sz="2800" spc="-20" dirty="0">
                <a:latin typeface="Calibri"/>
                <a:cs typeface="Calibri"/>
              </a:rPr>
              <a:t>runs </a:t>
            </a:r>
            <a:r>
              <a:rPr sz="2800" dirty="0">
                <a:latin typeface="Calibri"/>
                <a:cs typeface="Calibri"/>
              </a:rPr>
              <a:t>a</a:t>
            </a:r>
            <a:r>
              <a:rPr sz="2800" spc="-30" dirty="0">
                <a:latin typeface="Calibri"/>
                <a:cs typeface="Calibri"/>
              </a:rPr>
              <a:t> </a:t>
            </a:r>
            <a:r>
              <a:rPr sz="2800" dirty="0">
                <a:latin typeface="Calibri"/>
                <a:cs typeface="Calibri"/>
              </a:rPr>
              <a:t>small</a:t>
            </a:r>
            <a:r>
              <a:rPr sz="2800" spc="-35" dirty="0">
                <a:latin typeface="Calibri"/>
                <a:cs typeface="Calibri"/>
              </a:rPr>
              <a:t> </a:t>
            </a:r>
            <a:r>
              <a:rPr sz="2800" dirty="0">
                <a:latin typeface="Calibri"/>
                <a:cs typeface="Calibri"/>
              </a:rPr>
              <a:t>number</a:t>
            </a:r>
            <a:r>
              <a:rPr sz="2800" spc="-5"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very</a:t>
            </a:r>
            <a:r>
              <a:rPr sz="2800" spc="-45" dirty="0">
                <a:latin typeface="Calibri"/>
                <a:cs typeface="Calibri"/>
              </a:rPr>
              <a:t> </a:t>
            </a:r>
            <a:r>
              <a:rPr sz="2800" dirty="0">
                <a:latin typeface="Calibri"/>
                <a:cs typeface="Calibri"/>
              </a:rPr>
              <a:t>large</a:t>
            </a:r>
            <a:r>
              <a:rPr sz="2800" spc="-35" dirty="0">
                <a:latin typeface="Calibri"/>
                <a:cs typeface="Calibri"/>
              </a:rPr>
              <a:t> </a:t>
            </a:r>
            <a:r>
              <a:rPr sz="2800" spc="-10" dirty="0">
                <a:latin typeface="Calibri"/>
                <a:cs typeface="Calibri"/>
              </a:rPr>
              <a:t>applications</a:t>
            </a:r>
            <a:r>
              <a:rPr sz="2800" spc="-15" dirty="0">
                <a:latin typeface="Calibri"/>
                <a:cs typeface="Calibri"/>
              </a:rPr>
              <a:t> </a:t>
            </a:r>
            <a:r>
              <a:rPr sz="2800" dirty="0">
                <a:latin typeface="Calibri"/>
                <a:cs typeface="Calibri"/>
              </a:rPr>
              <a:t>or</a:t>
            </a:r>
            <a:r>
              <a:rPr sz="2800" spc="-25" dirty="0">
                <a:latin typeface="Calibri"/>
                <a:cs typeface="Calibri"/>
              </a:rPr>
              <a:t> </a:t>
            </a:r>
            <a:r>
              <a:rPr sz="2800" spc="-10" dirty="0">
                <a:latin typeface="Calibri"/>
                <a:cs typeface="Calibri"/>
              </a:rPr>
              <a:t>services</a:t>
            </a:r>
            <a:endParaRPr sz="2800">
              <a:latin typeface="Calibri"/>
              <a:cs typeface="Calibri"/>
            </a:endParaRPr>
          </a:p>
          <a:p>
            <a:pPr marL="469900" lvl="1" indent="-182880">
              <a:lnSpc>
                <a:spcPct val="100000"/>
              </a:lnSpc>
              <a:spcBef>
                <a:spcPts val="605"/>
              </a:spcBef>
              <a:buClr>
                <a:srgbClr val="2C7B9F"/>
              </a:buClr>
              <a:buSzPct val="85416"/>
              <a:buFont typeface="Arial MT"/>
              <a:buChar char="•"/>
              <a:tabLst>
                <a:tab pos="469900" algn="l"/>
              </a:tabLst>
            </a:pPr>
            <a:r>
              <a:rPr sz="2400" dirty="0">
                <a:latin typeface="Calibri"/>
                <a:cs typeface="Calibri"/>
              </a:rPr>
              <a:t>E.g.</a:t>
            </a:r>
            <a:r>
              <a:rPr sz="2400" spc="-65" dirty="0">
                <a:latin typeface="Calibri"/>
                <a:cs typeface="Calibri"/>
              </a:rPr>
              <a:t> </a:t>
            </a:r>
            <a:r>
              <a:rPr sz="2400" dirty="0">
                <a:latin typeface="Calibri"/>
                <a:cs typeface="Calibri"/>
              </a:rPr>
              <a:t>facebook,</a:t>
            </a:r>
            <a:r>
              <a:rPr sz="2400" spc="-60" dirty="0">
                <a:latin typeface="Calibri"/>
                <a:cs typeface="Calibri"/>
              </a:rPr>
              <a:t> </a:t>
            </a:r>
            <a:r>
              <a:rPr sz="2400" spc="-45" dirty="0">
                <a:latin typeface="Calibri"/>
                <a:cs typeface="Calibri"/>
              </a:rPr>
              <a:t>Twitter,</a:t>
            </a:r>
            <a:r>
              <a:rPr sz="2400" spc="-60" dirty="0">
                <a:latin typeface="Calibri"/>
                <a:cs typeface="Calibri"/>
              </a:rPr>
              <a:t> </a:t>
            </a:r>
            <a:r>
              <a:rPr sz="2400" dirty="0">
                <a:latin typeface="Calibri"/>
                <a:cs typeface="Calibri"/>
              </a:rPr>
              <a:t>Google</a:t>
            </a:r>
            <a:r>
              <a:rPr sz="2400" spc="-50" dirty="0">
                <a:latin typeface="Calibri"/>
                <a:cs typeface="Calibri"/>
              </a:rPr>
              <a:t> </a:t>
            </a:r>
            <a:r>
              <a:rPr sz="2400" spc="-10" dirty="0">
                <a:latin typeface="Calibri"/>
                <a:cs typeface="Calibri"/>
              </a:rPr>
              <a:t>Maps..</a:t>
            </a:r>
            <a:endParaRPr sz="240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10" dirty="0"/>
              <a:t>Datacentres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xfrm>
            <a:off x="414324" y="606933"/>
            <a:ext cx="8856345" cy="635000"/>
          </a:xfrm>
          <a:prstGeom prst="rect">
            <a:avLst/>
          </a:prstGeom>
        </p:spPr>
        <p:txBody>
          <a:bodyPr vert="horz" wrap="square" lIns="0" tIns="12065" rIns="0" bIns="0" rtlCol="0">
            <a:spAutoFit/>
          </a:bodyPr>
          <a:lstStyle/>
          <a:p>
            <a:pPr marL="12700">
              <a:lnSpc>
                <a:spcPct val="100000"/>
              </a:lnSpc>
              <a:spcBef>
                <a:spcPts val="95"/>
              </a:spcBef>
            </a:pPr>
            <a:r>
              <a:rPr spc="-114" dirty="0"/>
              <a:t>Datacenter</a:t>
            </a:r>
            <a:r>
              <a:rPr spc="-210" dirty="0"/>
              <a:t> </a:t>
            </a:r>
            <a:r>
              <a:rPr spc="-114" dirty="0"/>
              <a:t>architecture:</a:t>
            </a:r>
            <a:r>
              <a:rPr spc="-200" dirty="0"/>
              <a:t> </a:t>
            </a:r>
            <a:r>
              <a:rPr spc="-55" dirty="0"/>
              <a:t>is</a:t>
            </a:r>
            <a:r>
              <a:rPr spc="-170" dirty="0"/>
              <a:t> </a:t>
            </a:r>
            <a:r>
              <a:rPr spc="-60" dirty="0"/>
              <a:t>it</a:t>
            </a:r>
            <a:r>
              <a:rPr spc="-155" dirty="0"/>
              <a:t> </a:t>
            </a:r>
            <a:r>
              <a:rPr spc="-110" dirty="0"/>
              <a:t>something</a:t>
            </a:r>
            <a:r>
              <a:rPr spc="-185" dirty="0"/>
              <a:t> </a:t>
            </a:r>
            <a:r>
              <a:rPr spc="-20" dirty="0"/>
              <a:t>new?</a:t>
            </a:r>
          </a:p>
        </p:txBody>
      </p:sp>
      <p:sp>
        <p:nvSpPr>
          <p:cNvPr id="9" name="object 9"/>
          <p:cNvSpPr txBox="1"/>
          <p:nvPr/>
        </p:nvSpPr>
        <p:spPr>
          <a:xfrm>
            <a:off x="574040" y="1553770"/>
            <a:ext cx="6924040" cy="4739759"/>
          </a:xfrm>
          <a:prstGeom prst="rect">
            <a:avLst/>
          </a:prstGeom>
        </p:spPr>
        <p:txBody>
          <a:bodyPr vert="horz" wrap="square" lIns="0" tIns="165100" rIns="0" bIns="0" rtlCol="0">
            <a:spAutoFit/>
          </a:bodyPr>
          <a:lstStyle/>
          <a:p>
            <a:pPr marL="12700">
              <a:lnSpc>
                <a:spcPct val="100000"/>
              </a:lnSpc>
              <a:spcBef>
                <a:spcPts val="1300"/>
              </a:spcBef>
            </a:pPr>
            <a:r>
              <a:rPr sz="2900" dirty="0">
                <a:latin typeface="Calibri"/>
                <a:cs typeface="Calibri"/>
              </a:rPr>
              <a:t>Similar</a:t>
            </a:r>
            <a:r>
              <a:rPr sz="2900" spc="20" dirty="0">
                <a:latin typeface="Calibri"/>
                <a:cs typeface="Calibri"/>
              </a:rPr>
              <a:t> </a:t>
            </a:r>
            <a:r>
              <a:rPr sz="2900" dirty="0">
                <a:latin typeface="Calibri"/>
                <a:cs typeface="Calibri"/>
              </a:rPr>
              <a:t>to</a:t>
            </a:r>
            <a:r>
              <a:rPr sz="2900" spc="15" dirty="0">
                <a:latin typeface="Calibri"/>
                <a:cs typeface="Calibri"/>
              </a:rPr>
              <a:t> </a:t>
            </a:r>
            <a:r>
              <a:rPr sz="2900" dirty="0">
                <a:latin typeface="Calibri"/>
                <a:cs typeface="Calibri"/>
              </a:rPr>
              <a:t>IBM</a:t>
            </a:r>
            <a:r>
              <a:rPr sz="2900" spc="15" dirty="0">
                <a:latin typeface="Calibri"/>
                <a:cs typeface="Calibri"/>
              </a:rPr>
              <a:t> </a:t>
            </a:r>
            <a:r>
              <a:rPr sz="2900" dirty="0">
                <a:latin typeface="Calibri"/>
                <a:cs typeface="Calibri"/>
              </a:rPr>
              <a:t>mainframes</a:t>
            </a:r>
            <a:r>
              <a:rPr sz="2900" spc="25" dirty="0">
                <a:latin typeface="Calibri"/>
                <a:cs typeface="Calibri"/>
              </a:rPr>
              <a:t> </a:t>
            </a:r>
            <a:r>
              <a:rPr sz="2900" dirty="0">
                <a:latin typeface="Calibri"/>
                <a:cs typeface="Calibri"/>
              </a:rPr>
              <a:t>from</a:t>
            </a:r>
            <a:r>
              <a:rPr sz="2900" spc="25" dirty="0">
                <a:latin typeface="Calibri"/>
                <a:cs typeface="Calibri"/>
              </a:rPr>
              <a:t> </a:t>
            </a:r>
            <a:r>
              <a:rPr sz="2900" dirty="0">
                <a:latin typeface="Calibri"/>
                <a:cs typeface="Calibri"/>
              </a:rPr>
              <a:t>the 70s</a:t>
            </a:r>
            <a:r>
              <a:rPr sz="2900" spc="30" dirty="0">
                <a:latin typeface="Calibri"/>
                <a:cs typeface="Calibri"/>
              </a:rPr>
              <a:t> </a:t>
            </a:r>
            <a:r>
              <a:rPr sz="2900" spc="-10" dirty="0">
                <a:latin typeface="Calibri"/>
                <a:cs typeface="Calibri"/>
              </a:rPr>
              <a:t>but...</a:t>
            </a:r>
            <a:endParaRPr sz="2900" dirty="0">
              <a:latin typeface="Calibri"/>
              <a:cs typeface="Calibri"/>
            </a:endParaRPr>
          </a:p>
          <a:p>
            <a:pPr marL="287020" indent="-274320">
              <a:lnSpc>
                <a:spcPct val="100000"/>
              </a:lnSpc>
              <a:spcBef>
                <a:spcPts val="1300"/>
              </a:spcBef>
              <a:buClr>
                <a:srgbClr val="2C7B9F"/>
              </a:buClr>
              <a:buSzPct val="84375"/>
              <a:buFont typeface="Arial MT"/>
              <a:buChar char="•"/>
              <a:tabLst>
                <a:tab pos="287020" algn="l"/>
              </a:tabLst>
            </a:pPr>
            <a:r>
              <a:rPr sz="3200" dirty="0">
                <a:latin typeface="Calibri"/>
                <a:cs typeface="Calibri"/>
              </a:rPr>
              <a:t>Huge</a:t>
            </a:r>
            <a:r>
              <a:rPr sz="3200" spc="-50" dirty="0">
                <a:latin typeface="Calibri"/>
                <a:cs typeface="Calibri"/>
              </a:rPr>
              <a:t> </a:t>
            </a:r>
            <a:r>
              <a:rPr sz="3200" dirty="0">
                <a:latin typeface="Calibri"/>
                <a:cs typeface="Calibri"/>
              </a:rPr>
              <a:t>scale</a:t>
            </a:r>
            <a:r>
              <a:rPr sz="3200" spc="-45" dirty="0">
                <a:latin typeface="Calibri"/>
                <a:cs typeface="Calibri"/>
              </a:rPr>
              <a:t> </a:t>
            </a:r>
            <a:r>
              <a:rPr sz="3200" dirty="0">
                <a:latin typeface="Calibri"/>
                <a:cs typeface="Calibri"/>
              </a:rPr>
              <a:t>(20K</a:t>
            </a:r>
            <a:r>
              <a:rPr sz="3200" spc="-45" dirty="0">
                <a:latin typeface="Calibri"/>
                <a:cs typeface="Calibri"/>
              </a:rPr>
              <a:t> </a:t>
            </a:r>
            <a:r>
              <a:rPr sz="3200" spc="-10" dirty="0">
                <a:latin typeface="Calibri"/>
                <a:cs typeface="Calibri"/>
              </a:rPr>
              <a:t>switches/routers)</a:t>
            </a:r>
            <a:endParaRPr sz="3200" dirty="0">
              <a:latin typeface="Calibri"/>
              <a:cs typeface="Calibri"/>
            </a:endParaRPr>
          </a:p>
          <a:p>
            <a:pPr marL="287020" indent="-274320">
              <a:lnSpc>
                <a:spcPct val="100000"/>
              </a:lnSpc>
              <a:spcBef>
                <a:spcPts val="770"/>
              </a:spcBef>
              <a:buClr>
                <a:srgbClr val="2C7B9F"/>
              </a:buClr>
              <a:buSzPct val="84375"/>
              <a:buFont typeface="Arial MT"/>
              <a:buChar char="•"/>
              <a:tabLst>
                <a:tab pos="287020" algn="l"/>
              </a:tabLst>
            </a:pPr>
            <a:r>
              <a:rPr sz="3200" dirty="0">
                <a:latin typeface="Calibri"/>
                <a:cs typeface="Calibri"/>
              </a:rPr>
              <a:t>High</a:t>
            </a:r>
            <a:r>
              <a:rPr sz="3200" spc="-120" dirty="0">
                <a:latin typeface="Calibri"/>
                <a:cs typeface="Calibri"/>
              </a:rPr>
              <a:t> </a:t>
            </a:r>
            <a:r>
              <a:rPr sz="3200" dirty="0">
                <a:latin typeface="Calibri"/>
                <a:cs typeface="Calibri"/>
              </a:rPr>
              <a:t>bandwidth</a:t>
            </a:r>
            <a:r>
              <a:rPr sz="3200" spc="-105" dirty="0">
                <a:latin typeface="Calibri"/>
                <a:cs typeface="Calibri"/>
              </a:rPr>
              <a:t> </a:t>
            </a:r>
            <a:r>
              <a:rPr sz="3200" spc="-10" dirty="0">
                <a:latin typeface="Calibri"/>
                <a:cs typeface="Calibri"/>
              </a:rPr>
              <a:t>(10/40/100G)</a:t>
            </a:r>
            <a:endParaRPr sz="3200" dirty="0">
              <a:latin typeface="Calibri"/>
              <a:cs typeface="Calibri"/>
            </a:endParaRPr>
          </a:p>
          <a:p>
            <a:pPr marL="287020" indent="-274320">
              <a:lnSpc>
                <a:spcPct val="100000"/>
              </a:lnSpc>
              <a:spcBef>
                <a:spcPts val="765"/>
              </a:spcBef>
              <a:buClr>
                <a:srgbClr val="2C7B9F"/>
              </a:buClr>
              <a:buSzPct val="84375"/>
              <a:buFont typeface="Arial MT"/>
              <a:buChar char="•"/>
              <a:tabLst>
                <a:tab pos="287020" algn="l"/>
              </a:tabLst>
            </a:pPr>
            <a:r>
              <a:rPr sz="3200" dirty="0">
                <a:latin typeface="Calibri"/>
                <a:cs typeface="Calibri"/>
              </a:rPr>
              <a:t>Very</a:t>
            </a:r>
            <a:r>
              <a:rPr sz="3200" spc="-65" dirty="0">
                <a:latin typeface="Calibri"/>
                <a:cs typeface="Calibri"/>
              </a:rPr>
              <a:t> </a:t>
            </a:r>
            <a:r>
              <a:rPr sz="3200" dirty="0">
                <a:latin typeface="Calibri"/>
                <a:cs typeface="Calibri"/>
              </a:rPr>
              <a:t>low</a:t>
            </a:r>
            <a:r>
              <a:rPr sz="3200" spc="-60" dirty="0">
                <a:latin typeface="Calibri"/>
                <a:cs typeface="Calibri"/>
              </a:rPr>
              <a:t> </a:t>
            </a:r>
            <a:r>
              <a:rPr sz="3200" dirty="0">
                <a:latin typeface="Calibri"/>
                <a:cs typeface="Calibri"/>
              </a:rPr>
              <a:t>R</a:t>
            </a:r>
            <a:r>
              <a:rPr lang="en-GB" sz="3200" dirty="0" err="1">
                <a:latin typeface="Calibri"/>
                <a:cs typeface="Calibri"/>
              </a:rPr>
              <a:t>ound</a:t>
            </a:r>
            <a:r>
              <a:rPr lang="en-GB" sz="3200" dirty="0">
                <a:latin typeface="Calibri"/>
                <a:cs typeface="Calibri"/>
              </a:rPr>
              <a:t> trip </a:t>
            </a:r>
            <a:r>
              <a:rPr sz="3200" dirty="0">
                <a:latin typeface="Calibri"/>
                <a:cs typeface="Calibri"/>
              </a:rPr>
              <a:t>T</a:t>
            </a:r>
            <a:r>
              <a:rPr lang="en-GB" sz="3200" dirty="0" err="1">
                <a:latin typeface="Calibri"/>
                <a:cs typeface="Calibri"/>
              </a:rPr>
              <a:t>ime</a:t>
            </a:r>
            <a:r>
              <a:rPr sz="3200" spc="-65" dirty="0">
                <a:latin typeface="Calibri"/>
                <a:cs typeface="Calibri"/>
              </a:rPr>
              <a:t> </a:t>
            </a:r>
            <a:r>
              <a:rPr sz="3200" spc="-10" dirty="0">
                <a:latin typeface="Calibri"/>
                <a:cs typeface="Calibri"/>
              </a:rPr>
              <a:t>(1-</a:t>
            </a:r>
            <a:r>
              <a:rPr sz="3200" dirty="0">
                <a:latin typeface="Calibri"/>
                <a:cs typeface="Calibri"/>
              </a:rPr>
              <a:t>10</a:t>
            </a:r>
            <a:r>
              <a:rPr sz="3200" spc="-55" dirty="0">
                <a:latin typeface="Calibri"/>
                <a:cs typeface="Calibri"/>
              </a:rPr>
              <a:t> </a:t>
            </a:r>
            <a:r>
              <a:rPr sz="3200" spc="-10" dirty="0">
                <a:latin typeface="Calibri"/>
                <a:cs typeface="Calibri"/>
              </a:rPr>
              <a:t>microseconds)</a:t>
            </a:r>
            <a:endParaRPr sz="3200" dirty="0">
              <a:latin typeface="Calibri"/>
              <a:cs typeface="Calibri"/>
            </a:endParaRPr>
          </a:p>
          <a:p>
            <a:pPr marL="287020" indent="-274320">
              <a:lnSpc>
                <a:spcPct val="100000"/>
              </a:lnSpc>
              <a:spcBef>
                <a:spcPts val="770"/>
              </a:spcBef>
              <a:buClr>
                <a:srgbClr val="2C7B9F"/>
              </a:buClr>
              <a:buSzPct val="84375"/>
              <a:buFont typeface="Arial MT"/>
              <a:buChar char="•"/>
              <a:tabLst>
                <a:tab pos="287020" algn="l"/>
              </a:tabLst>
            </a:pPr>
            <a:r>
              <a:rPr sz="3200" dirty="0">
                <a:latin typeface="Calibri"/>
                <a:cs typeface="Calibri"/>
              </a:rPr>
              <a:t>Limited</a:t>
            </a:r>
            <a:r>
              <a:rPr sz="3200" spc="-140" dirty="0">
                <a:latin typeface="Calibri"/>
                <a:cs typeface="Calibri"/>
              </a:rPr>
              <a:t> </a:t>
            </a:r>
            <a:r>
              <a:rPr sz="3200" dirty="0">
                <a:latin typeface="Calibri"/>
                <a:cs typeface="Calibri"/>
              </a:rPr>
              <a:t>geographic</a:t>
            </a:r>
            <a:r>
              <a:rPr sz="3200" spc="-150" dirty="0">
                <a:latin typeface="Calibri"/>
                <a:cs typeface="Calibri"/>
              </a:rPr>
              <a:t> </a:t>
            </a:r>
            <a:r>
              <a:rPr sz="3200" spc="-10" dirty="0">
                <a:latin typeface="Calibri"/>
                <a:cs typeface="Calibri"/>
              </a:rPr>
              <a:t>scope</a:t>
            </a:r>
            <a:endParaRPr sz="3200" dirty="0">
              <a:latin typeface="Calibri"/>
              <a:cs typeface="Calibri"/>
            </a:endParaRPr>
          </a:p>
          <a:p>
            <a:pPr marL="287020" indent="-274320">
              <a:lnSpc>
                <a:spcPct val="100000"/>
              </a:lnSpc>
              <a:spcBef>
                <a:spcPts val="770"/>
              </a:spcBef>
              <a:buClr>
                <a:srgbClr val="2C7B9F"/>
              </a:buClr>
              <a:buSzPct val="84375"/>
              <a:buFont typeface="Arial MT"/>
              <a:buChar char="•"/>
              <a:tabLst>
                <a:tab pos="287020" algn="l"/>
              </a:tabLst>
            </a:pPr>
            <a:r>
              <a:rPr sz="3200" dirty="0">
                <a:latin typeface="Calibri"/>
                <a:cs typeface="Calibri"/>
              </a:rPr>
              <a:t>Limited</a:t>
            </a:r>
            <a:r>
              <a:rPr sz="3200" spc="-100" dirty="0">
                <a:latin typeface="Calibri"/>
                <a:cs typeface="Calibri"/>
              </a:rPr>
              <a:t> </a:t>
            </a:r>
            <a:r>
              <a:rPr sz="3200" spc="-10" dirty="0">
                <a:latin typeface="Calibri"/>
                <a:cs typeface="Calibri"/>
              </a:rPr>
              <a:t>heterogeneity</a:t>
            </a:r>
            <a:endParaRPr sz="3200" dirty="0">
              <a:latin typeface="Calibri"/>
              <a:cs typeface="Calibri"/>
            </a:endParaRPr>
          </a:p>
          <a:p>
            <a:pPr marL="287020" indent="-274320">
              <a:lnSpc>
                <a:spcPct val="100000"/>
              </a:lnSpc>
              <a:spcBef>
                <a:spcPts val="765"/>
              </a:spcBef>
              <a:buClr>
                <a:srgbClr val="2C7B9F"/>
              </a:buClr>
              <a:buSzPct val="84375"/>
              <a:buFont typeface="Arial MT"/>
              <a:buChar char="•"/>
              <a:tabLst>
                <a:tab pos="287020" algn="l"/>
              </a:tabLst>
            </a:pPr>
            <a:r>
              <a:rPr sz="3200" spc="-10" dirty="0">
                <a:latin typeface="Calibri"/>
                <a:cs typeface="Calibri"/>
              </a:rPr>
              <a:t>Regular/planned</a:t>
            </a:r>
            <a:r>
              <a:rPr sz="3200" spc="-45" dirty="0">
                <a:latin typeface="Calibri"/>
                <a:cs typeface="Calibri"/>
              </a:rPr>
              <a:t> </a:t>
            </a:r>
            <a:r>
              <a:rPr sz="3200" spc="-10" dirty="0">
                <a:latin typeface="Calibri"/>
                <a:cs typeface="Calibri"/>
              </a:rPr>
              <a:t>topologies</a:t>
            </a:r>
            <a:endParaRPr sz="3200" dirty="0">
              <a:latin typeface="Calibri"/>
              <a:cs typeface="Calibri"/>
            </a:endParaRPr>
          </a:p>
        </p:txBody>
      </p:sp>
      <p:pic>
        <p:nvPicPr>
          <p:cNvPr id="10" name="object 10"/>
          <p:cNvPicPr/>
          <p:nvPr/>
        </p:nvPicPr>
        <p:blipFill>
          <a:blip r:embed="rId3" cstate="print"/>
          <a:stretch>
            <a:fillRect/>
          </a:stretch>
        </p:blipFill>
        <p:spPr>
          <a:xfrm>
            <a:off x="7265796" y="2483485"/>
            <a:ext cx="2640203" cy="21601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xfrm>
            <a:off x="282041" y="948690"/>
            <a:ext cx="7021195" cy="635000"/>
          </a:xfrm>
          <a:prstGeom prst="rect">
            <a:avLst/>
          </a:prstGeom>
        </p:spPr>
        <p:txBody>
          <a:bodyPr vert="horz" wrap="square" lIns="0" tIns="12065" rIns="0" bIns="0" rtlCol="0">
            <a:spAutoFit/>
          </a:bodyPr>
          <a:lstStyle/>
          <a:p>
            <a:pPr marL="12700">
              <a:lnSpc>
                <a:spcPct val="100000"/>
              </a:lnSpc>
              <a:spcBef>
                <a:spcPts val="95"/>
              </a:spcBef>
            </a:pPr>
            <a:r>
              <a:rPr spc="-100" dirty="0"/>
              <a:t>What</a:t>
            </a:r>
            <a:r>
              <a:rPr spc="-195" dirty="0"/>
              <a:t> </a:t>
            </a:r>
            <a:r>
              <a:rPr spc="-70" dirty="0"/>
              <a:t>if</a:t>
            </a:r>
            <a:r>
              <a:rPr spc="-180" dirty="0"/>
              <a:t> </a:t>
            </a:r>
            <a:r>
              <a:rPr dirty="0"/>
              <a:t>a</a:t>
            </a:r>
            <a:r>
              <a:rPr spc="-180" dirty="0"/>
              <a:t> </a:t>
            </a:r>
            <a:r>
              <a:rPr spc="-120" dirty="0"/>
              <a:t>Datacenter</a:t>
            </a:r>
            <a:r>
              <a:rPr spc="-220" dirty="0"/>
              <a:t> </a:t>
            </a:r>
            <a:r>
              <a:rPr spc="-55" dirty="0"/>
              <a:t>is</a:t>
            </a:r>
            <a:r>
              <a:rPr spc="-190" dirty="0"/>
              <a:t> </a:t>
            </a:r>
            <a:r>
              <a:rPr spc="-85" dirty="0"/>
              <a:t>not</a:t>
            </a:r>
            <a:r>
              <a:rPr spc="-170" dirty="0"/>
              <a:t> </a:t>
            </a:r>
            <a:r>
              <a:rPr spc="-45" dirty="0"/>
              <a:t>enough?</a:t>
            </a:r>
          </a:p>
        </p:txBody>
      </p:sp>
      <p:pic>
        <p:nvPicPr>
          <p:cNvPr id="9" name="object 9"/>
          <p:cNvPicPr/>
          <p:nvPr/>
        </p:nvPicPr>
        <p:blipFill>
          <a:blip r:embed="rId3" cstate="print"/>
          <a:stretch>
            <a:fillRect/>
          </a:stretch>
        </p:blipFill>
        <p:spPr>
          <a:xfrm>
            <a:off x="69850" y="3049587"/>
            <a:ext cx="841375" cy="995362"/>
          </a:xfrm>
          <a:prstGeom prst="rect">
            <a:avLst/>
          </a:prstGeom>
        </p:spPr>
      </p:pic>
      <p:pic>
        <p:nvPicPr>
          <p:cNvPr id="10" name="object 10"/>
          <p:cNvPicPr/>
          <p:nvPr/>
        </p:nvPicPr>
        <p:blipFill>
          <a:blip r:embed="rId4" cstate="print"/>
          <a:stretch>
            <a:fillRect/>
          </a:stretch>
        </p:blipFill>
        <p:spPr>
          <a:xfrm>
            <a:off x="1166258" y="2706751"/>
            <a:ext cx="1310241" cy="1458849"/>
          </a:xfrm>
          <a:prstGeom prst="rect">
            <a:avLst/>
          </a:prstGeom>
        </p:spPr>
      </p:pic>
      <p:sp>
        <p:nvSpPr>
          <p:cNvPr id="11" name="object 11"/>
          <p:cNvSpPr txBox="1"/>
          <p:nvPr/>
        </p:nvSpPr>
        <p:spPr>
          <a:xfrm>
            <a:off x="186029" y="4295901"/>
            <a:ext cx="421005" cy="471805"/>
          </a:xfrm>
          <a:prstGeom prst="rect">
            <a:avLst/>
          </a:prstGeom>
        </p:spPr>
        <p:txBody>
          <a:bodyPr vert="horz" wrap="square" lIns="0" tIns="15875" rIns="0" bIns="0" rtlCol="0">
            <a:spAutoFit/>
          </a:bodyPr>
          <a:lstStyle/>
          <a:p>
            <a:pPr marL="12700">
              <a:lnSpc>
                <a:spcPct val="100000"/>
              </a:lnSpc>
              <a:spcBef>
                <a:spcPts val="125"/>
              </a:spcBef>
            </a:pPr>
            <a:r>
              <a:rPr sz="2900" b="1" spc="-25" dirty="0">
                <a:latin typeface="Calibri"/>
                <a:cs typeface="Calibri"/>
              </a:rPr>
              <a:t>PC</a:t>
            </a:r>
            <a:endParaRPr sz="2900">
              <a:latin typeface="Calibri"/>
              <a:cs typeface="Calibri"/>
            </a:endParaRPr>
          </a:p>
        </p:txBody>
      </p:sp>
      <p:sp>
        <p:nvSpPr>
          <p:cNvPr id="12" name="object 12"/>
          <p:cNvSpPr txBox="1"/>
          <p:nvPr/>
        </p:nvSpPr>
        <p:spPr>
          <a:xfrm>
            <a:off x="1301622" y="4295901"/>
            <a:ext cx="1015365" cy="471805"/>
          </a:xfrm>
          <a:prstGeom prst="rect">
            <a:avLst/>
          </a:prstGeom>
        </p:spPr>
        <p:txBody>
          <a:bodyPr vert="horz" wrap="square" lIns="0" tIns="15875" rIns="0" bIns="0" rtlCol="0">
            <a:spAutoFit/>
          </a:bodyPr>
          <a:lstStyle/>
          <a:p>
            <a:pPr marL="12700">
              <a:lnSpc>
                <a:spcPct val="100000"/>
              </a:lnSpc>
              <a:spcBef>
                <a:spcPts val="125"/>
              </a:spcBef>
            </a:pPr>
            <a:r>
              <a:rPr sz="2900" b="1" spc="-10" dirty="0">
                <a:latin typeface="Calibri"/>
                <a:cs typeface="Calibri"/>
              </a:rPr>
              <a:t>Server</a:t>
            </a:r>
            <a:endParaRPr sz="2900">
              <a:latin typeface="Calibri"/>
              <a:cs typeface="Calibri"/>
            </a:endParaRPr>
          </a:p>
        </p:txBody>
      </p:sp>
      <p:pic>
        <p:nvPicPr>
          <p:cNvPr id="13" name="object 13"/>
          <p:cNvPicPr/>
          <p:nvPr/>
        </p:nvPicPr>
        <p:blipFill>
          <a:blip r:embed="rId5" cstate="print"/>
          <a:stretch>
            <a:fillRect/>
          </a:stretch>
        </p:blipFill>
        <p:spPr>
          <a:xfrm>
            <a:off x="2755900" y="2171700"/>
            <a:ext cx="1441450" cy="2003425"/>
          </a:xfrm>
          <a:prstGeom prst="rect">
            <a:avLst/>
          </a:prstGeom>
        </p:spPr>
      </p:pic>
      <p:sp>
        <p:nvSpPr>
          <p:cNvPr id="14" name="object 14"/>
          <p:cNvSpPr txBox="1"/>
          <p:nvPr/>
        </p:nvSpPr>
        <p:spPr>
          <a:xfrm>
            <a:off x="2780792" y="4295901"/>
            <a:ext cx="1100455" cy="471805"/>
          </a:xfrm>
          <a:prstGeom prst="rect">
            <a:avLst/>
          </a:prstGeom>
        </p:spPr>
        <p:txBody>
          <a:bodyPr vert="horz" wrap="square" lIns="0" tIns="15875" rIns="0" bIns="0" rtlCol="0">
            <a:spAutoFit/>
          </a:bodyPr>
          <a:lstStyle/>
          <a:p>
            <a:pPr marL="12700">
              <a:lnSpc>
                <a:spcPct val="100000"/>
              </a:lnSpc>
              <a:spcBef>
                <a:spcPts val="125"/>
              </a:spcBef>
            </a:pPr>
            <a:r>
              <a:rPr sz="2900" b="1" spc="-10" dirty="0">
                <a:latin typeface="Calibri"/>
                <a:cs typeface="Calibri"/>
              </a:rPr>
              <a:t>Cluster</a:t>
            </a:r>
            <a:endParaRPr sz="2900">
              <a:latin typeface="Calibri"/>
              <a:cs typeface="Calibri"/>
            </a:endParaRPr>
          </a:p>
        </p:txBody>
      </p:sp>
      <p:pic>
        <p:nvPicPr>
          <p:cNvPr id="15" name="object 15"/>
          <p:cNvPicPr/>
          <p:nvPr/>
        </p:nvPicPr>
        <p:blipFill>
          <a:blip r:embed="rId6" cstate="print"/>
          <a:stretch>
            <a:fillRect/>
          </a:stretch>
        </p:blipFill>
        <p:spPr>
          <a:xfrm>
            <a:off x="4489450" y="2182876"/>
            <a:ext cx="2147824" cy="2103374"/>
          </a:xfrm>
          <a:prstGeom prst="rect">
            <a:avLst/>
          </a:prstGeom>
        </p:spPr>
      </p:pic>
      <p:sp>
        <p:nvSpPr>
          <p:cNvPr id="16" name="object 16"/>
          <p:cNvSpPr txBox="1"/>
          <p:nvPr/>
        </p:nvSpPr>
        <p:spPr>
          <a:xfrm>
            <a:off x="4602226" y="4288358"/>
            <a:ext cx="1735455" cy="472440"/>
          </a:xfrm>
          <a:prstGeom prst="rect">
            <a:avLst/>
          </a:prstGeom>
        </p:spPr>
        <p:txBody>
          <a:bodyPr vert="horz" wrap="square" lIns="0" tIns="16510" rIns="0" bIns="0" rtlCol="0">
            <a:spAutoFit/>
          </a:bodyPr>
          <a:lstStyle/>
          <a:p>
            <a:pPr marL="12700">
              <a:lnSpc>
                <a:spcPct val="100000"/>
              </a:lnSpc>
              <a:spcBef>
                <a:spcPts val="130"/>
              </a:spcBef>
            </a:pPr>
            <a:r>
              <a:rPr sz="2900" b="1" spc="-10" dirty="0">
                <a:latin typeface="Calibri"/>
                <a:cs typeface="Calibri"/>
              </a:rPr>
              <a:t>Datacenter</a:t>
            </a:r>
            <a:endParaRPr sz="2900">
              <a:latin typeface="Calibri"/>
              <a:cs typeface="Calibri"/>
            </a:endParaRPr>
          </a:p>
        </p:txBody>
      </p:sp>
      <p:grpSp>
        <p:nvGrpSpPr>
          <p:cNvPr id="17" name="object 17"/>
          <p:cNvGrpSpPr/>
          <p:nvPr/>
        </p:nvGrpSpPr>
        <p:grpSpPr>
          <a:xfrm>
            <a:off x="6986523" y="1906523"/>
            <a:ext cx="2411730" cy="2345055"/>
            <a:chOff x="6986523" y="1906523"/>
            <a:chExt cx="2411730" cy="2345055"/>
          </a:xfrm>
        </p:grpSpPr>
        <p:pic>
          <p:nvPicPr>
            <p:cNvPr id="18" name="object 18"/>
            <p:cNvPicPr/>
            <p:nvPr/>
          </p:nvPicPr>
          <p:blipFill>
            <a:blip r:embed="rId7" cstate="print"/>
            <a:stretch>
              <a:fillRect/>
            </a:stretch>
          </p:blipFill>
          <p:spPr>
            <a:xfrm>
              <a:off x="6986523" y="1906523"/>
              <a:ext cx="2401951" cy="590550"/>
            </a:xfrm>
            <a:prstGeom prst="rect">
              <a:avLst/>
            </a:prstGeom>
          </p:spPr>
        </p:pic>
        <p:pic>
          <p:nvPicPr>
            <p:cNvPr id="19" name="object 19"/>
            <p:cNvPicPr/>
            <p:nvPr/>
          </p:nvPicPr>
          <p:blipFill>
            <a:blip r:embed="rId8" cstate="print"/>
            <a:stretch>
              <a:fillRect/>
            </a:stretch>
          </p:blipFill>
          <p:spPr>
            <a:xfrm>
              <a:off x="6991349" y="2493898"/>
              <a:ext cx="2387600" cy="592201"/>
            </a:xfrm>
            <a:prstGeom prst="rect">
              <a:avLst/>
            </a:prstGeom>
          </p:spPr>
        </p:pic>
        <p:pic>
          <p:nvPicPr>
            <p:cNvPr id="20" name="object 20"/>
            <p:cNvPicPr/>
            <p:nvPr/>
          </p:nvPicPr>
          <p:blipFill>
            <a:blip r:embed="rId9" cstate="print"/>
            <a:stretch>
              <a:fillRect/>
            </a:stretch>
          </p:blipFill>
          <p:spPr>
            <a:xfrm>
              <a:off x="6994524" y="3071748"/>
              <a:ext cx="2403411" cy="592201"/>
            </a:xfrm>
            <a:prstGeom prst="rect">
              <a:avLst/>
            </a:prstGeom>
          </p:spPr>
        </p:pic>
        <p:pic>
          <p:nvPicPr>
            <p:cNvPr id="21" name="object 21"/>
            <p:cNvPicPr/>
            <p:nvPr/>
          </p:nvPicPr>
          <p:blipFill>
            <a:blip r:embed="rId10" cstate="print"/>
            <a:stretch>
              <a:fillRect/>
            </a:stretch>
          </p:blipFill>
          <p:spPr>
            <a:xfrm>
              <a:off x="7000874" y="3659123"/>
              <a:ext cx="2387600" cy="592201"/>
            </a:xfrm>
            <a:prstGeom prst="rect">
              <a:avLst/>
            </a:prstGeom>
          </p:spPr>
        </p:pic>
      </p:grpSp>
      <p:sp>
        <p:nvSpPr>
          <p:cNvPr id="22" name="object 22"/>
          <p:cNvSpPr txBox="1"/>
          <p:nvPr/>
        </p:nvSpPr>
        <p:spPr>
          <a:xfrm>
            <a:off x="7359142" y="4318253"/>
            <a:ext cx="1991360" cy="1810385"/>
          </a:xfrm>
          <a:prstGeom prst="rect">
            <a:avLst/>
          </a:prstGeom>
        </p:spPr>
        <p:txBody>
          <a:bodyPr vert="horz" wrap="square" lIns="0" tIns="12065" rIns="0" bIns="0" rtlCol="0">
            <a:spAutoFit/>
          </a:bodyPr>
          <a:lstStyle/>
          <a:p>
            <a:pPr marL="12700" marR="5080" indent="635" algn="ctr">
              <a:lnSpc>
                <a:spcPct val="100899"/>
              </a:lnSpc>
              <a:spcBef>
                <a:spcPts val="95"/>
              </a:spcBef>
            </a:pPr>
            <a:r>
              <a:rPr sz="2900" b="1" spc="-20" dirty="0">
                <a:latin typeface="Calibri"/>
                <a:cs typeface="Calibri"/>
              </a:rPr>
              <a:t>More </a:t>
            </a:r>
            <a:r>
              <a:rPr sz="2900" b="1" spc="-10" dirty="0">
                <a:latin typeface="Calibri"/>
                <a:cs typeface="Calibri"/>
              </a:rPr>
              <a:t>datacenters! </a:t>
            </a:r>
            <a:r>
              <a:rPr sz="2900" b="1" dirty="0">
                <a:latin typeface="Calibri"/>
                <a:cs typeface="Calibri"/>
              </a:rPr>
              <a:t>a</a:t>
            </a:r>
            <a:r>
              <a:rPr sz="2900" b="1" spc="30" dirty="0">
                <a:latin typeface="Calibri"/>
                <a:cs typeface="Calibri"/>
              </a:rPr>
              <a:t> </a:t>
            </a:r>
            <a:r>
              <a:rPr sz="2900" b="1" dirty="0">
                <a:latin typeface="Calibri"/>
                <a:cs typeface="Calibri"/>
              </a:rPr>
              <a:t>network</a:t>
            </a:r>
            <a:r>
              <a:rPr sz="2900" b="1" spc="15" dirty="0">
                <a:latin typeface="Calibri"/>
                <a:cs typeface="Calibri"/>
              </a:rPr>
              <a:t> </a:t>
            </a:r>
            <a:r>
              <a:rPr sz="2900" b="1" spc="-35" dirty="0">
                <a:latin typeface="Calibri"/>
                <a:cs typeface="Calibri"/>
              </a:rPr>
              <a:t>of </a:t>
            </a:r>
            <a:r>
              <a:rPr sz="2900" b="1" spc="-10" dirty="0">
                <a:latin typeface="Calibri"/>
                <a:cs typeface="Calibri"/>
              </a:rPr>
              <a:t>datacenters!</a:t>
            </a:r>
            <a:endParaRPr sz="29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grpSp>
        <p:nvGrpSpPr>
          <p:cNvPr id="8" name="object 8"/>
          <p:cNvGrpSpPr/>
          <p:nvPr/>
        </p:nvGrpSpPr>
        <p:grpSpPr>
          <a:xfrm>
            <a:off x="1238250" y="1536636"/>
            <a:ext cx="7429500" cy="4726305"/>
            <a:chOff x="1238250" y="1536636"/>
            <a:chExt cx="7429500" cy="4726305"/>
          </a:xfrm>
        </p:grpSpPr>
        <p:sp>
          <p:nvSpPr>
            <p:cNvPr id="9" name="object 9"/>
            <p:cNvSpPr/>
            <p:nvPr/>
          </p:nvSpPr>
          <p:spPr>
            <a:xfrm>
              <a:off x="1238250" y="1536636"/>
              <a:ext cx="7429500" cy="4726305"/>
            </a:xfrm>
            <a:custGeom>
              <a:avLst/>
              <a:gdLst/>
              <a:ahLst/>
              <a:cxnLst/>
              <a:rect l="l" t="t" r="r" b="b"/>
              <a:pathLst>
                <a:path w="7429500" h="4726305">
                  <a:moveTo>
                    <a:pt x="7429500" y="0"/>
                  </a:moveTo>
                  <a:lnTo>
                    <a:pt x="0" y="0"/>
                  </a:lnTo>
                  <a:lnTo>
                    <a:pt x="0" y="4726051"/>
                  </a:lnTo>
                  <a:lnTo>
                    <a:pt x="7429500" y="4726051"/>
                  </a:lnTo>
                  <a:lnTo>
                    <a:pt x="7429500" y="0"/>
                  </a:lnTo>
                  <a:close/>
                </a:path>
              </a:pathLst>
            </a:custGeom>
            <a:solidFill>
              <a:srgbClr val="000000"/>
            </a:solidFill>
          </p:spPr>
          <p:txBody>
            <a:bodyPr wrap="square" lIns="0" tIns="0" rIns="0" bIns="0" rtlCol="0"/>
            <a:lstStyle/>
            <a:p>
              <a:endParaRPr/>
            </a:p>
          </p:txBody>
        </p:sp>
        <p:pic>
          <p:nvPicPr>
            <p:cNvPr id="10" name="object 10"/>
            <p:cNvPicPr/>
            <p:nvPr/>
          </p:nvPicPr>
          <p:blipFill>
            <a:blip r:embed="rId3" cstate="print"/>
            <a:stretch>
              <a:fillRect/>
            </a:stretch>
          </p:blipFill>
          <p:spPr>
            <a:xfrm>
              <a:off x="1238250" y="3933888"/>
              <a:ext cx="7381875" cy="2281174"/>
            </a:xfrm>
            <a:prstGeom prst="rect">
              <a:avLst/>
            </a:prstGeom>
          </p:spPr>
        </p:pic>
        <p:pic>
          <p:nvPicPr>
            <p:cNvPr id="11" name="object 11"/>
            <p:cNvPicPr/>
            <p:nvPr/>
          </p:nvPicPr>
          <p:blipFill>
            <a:blip r:embed="rId4" cstate="print"/>
            <a:stretch>
              <a:fillRect/>
            </a:stretch>
          </p:blipFill>
          <p:spPr>
            <a:xfrm>
              <a:off x="1285875" y="1576451"/>
              <a:ext cx="7334250" cy="2357374"/>
            </a:xfrm>
            <a:prstGeom prst="rect">
              <a:avLst/>
            </a:prstGeom>
          </p:spPr>
        </p:pic>
      </p:grpSp>
      <p:sp>
        <p:nvSpPr>
          <p:cNvPr id="12" name="object 12"/>
          <p:cNvSpPr txBox="1">
            <a:spLocks noGrp="1"/>
          </p:cNvSpPr>
          <p:nvPr>
            <p:ph type="title"/>
          </p:nvPr>
        </p:nvSpPr>
        <p:spPr>
          <a:xfrm>
            <a:off x="78739" y="729487"/>
            <a:ext cx="8211184" cy="635000"/>
          </a:xfrm>
          <a:prstGeom prst="rect">
            <a:avLst/>
          </a:prstGeom>
        </p:spPr>
        <p:txBody>
          <a:bodyPr vert="horz" wrap="square" lIns="0" tIns="12065" rIns="0" bIns="0" rtlCol="0">
            <a:spAutoFit/>
          </a:bodyPr>
          <a:lstStyle/>
          <a:p>
            <a:pPr marL="12700">
              <a:lnSpc>
                <a:spcPct val="100000"/>
              </a:lnSpc>
              <a:spcBef>
                <a:spcPts val="95"/>
              </a:spcBef>
            </a:pPr>
            <a:r>
              <a:rPr spc="-125" dirty="0"/>
              <a:t>Datacenters</a:t>
            </a:r>
            <a:r>
              <a:rPr spc="-180" dirty="0"/>
              <a:t> </a:t>
            </a:r>
            <a:r>
              <a:rPr spc="-90" dirty="0"/>
              <a:t>are</a:t>
            </a:r>
            <a:r>
              <a:rPr spc="-155" dirty="0"/>
              <a:t> </a:t>
            </a:r>
            <a:r>
              <a:rPr spc="-120" dirty="0"/>
              <a:t>geographically</a:t>
            </a:r>
            <a:r>
              <a:rPr spc="-180" dirty="0"/>
              <a:t> </a:t>
            </a:r>
            <a:r>
              <a:rPr spc="-75" dirty="0"/>
              <a:t>distributed</a:t>
            </a:r>
          </a:p>
        </p:txBody>
      </p:sp>
      <p:sp>
        <p:nvSpPr>
          <p:cNvPr id="13" name="object 13"/>
          <p:cNvSpPr txBox="1"/>
          <p:nvPr/>
        </p:nvSpPr>
        <p:spPr>
          <a:xfrm>
            <a:off x="1238250" y="1536636"/>
            <a:ext cx="7429500" cy="4726305"/>
          </a:xfrm>
          <a:prstGeom prst="rect">
            <a:avLst/>
          </a:prstGeom>
        </p:spPr>
        <p:txBody>
          <a:bodyPr vert="horz" wrap="square" lIns="0" tIns="133350" rIns="0" bIns="0" rtlCol="0">
            <a:spAutoFit/>
          </a:bodyPr>
          <a:lstStyle/>
          <a:p>
            <a:pPr marL="4705350" marR="1925955" indent="-125095">
              <a:lnSpc>
                <a:spcPct val="100000"/>
              </a:lnSpc>
              <a:spcBef>
                <a:spcPts val="1050"/>
              </a:spcBef>
            </a:pPr>
            <a:r>
              <a:rPr sz="1300" b="1" dirty="0">
                <a:latin typeface="Calibri"/>
                <a:cs typeface="Calibri"/>
              </a:rPr>
              <a:t>Google</a:t>
            </a:r>
            <a:r>
              <a:rPr sz="1300" b="1" spc="-50" dirty="0">
                <a:latin typeface="Calibri"/>
                <a:cs typeface="Calibri"/>
              </a:rPr>
              <a:t> </a:t>
            </a:r>
            <a:r>
              <a:rPr sz="1300" b="1" spc="-10" dirty="0">
                <a:latin typeface="Calibri"/>
                <a:cs typeface="Calibri"/>
              </a:rPr>
              <a:t>Cloud backbone</a:t>
            </a: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pPr>
            <a:endParaRPr sz="1300">
              <a:latin typeface="Calibri"/>
              <a:cs typeface="Calibri"/>
            </a:endParaRPr>
          </a:p>
          <a:p>
            <a:pPr>
              <a:lnSpc>
                <a:spcPct val="100000"/>
              </a:lnSpc>
              <a:spcBef>
                <a:spcPts val="1050"/>
              </a:spcBef>
            </a:pPr>
            <a:endParaRPr sz="1300">
              <a:latin typeface="Calibri"/>
              <a:cs typeface="Calibri"/>
            </a:endParaRPr>
          </a:p>
          <a:p>
            <a:pPr marL="3087370" algn="ctr">
              <a:lnSpc>
                <a:spcPts val="1510"/>
              </a:lnSpc>
            </a:pPr>
            <a:r>
              <a:rPr sz="1400" b="1" spc="-10" dirty="0">
                <a:solidFill>
                  <a:srgbClr val="FFFFFF"/>
                </a:solidFill>
                <a:latin typeface="Calibri"/>
                <a:cs typeface="Calibri"/>
              </a:rPr>
              <a:t>AWS</a:t>
            </a:r>
            <a:r>
              <a:rPr sz="1400" b="1" spc="-60" dirty="0">
                <a:solidFill>
                  <a:srgbClr val="FFFFFF"/>
                </a:solidFill>
                <a:latin typeface="Calibri"/>
                <a:cs typeface="Calibri"/>
              </a:rPr>
              <a:t> </a:t>
            </a:r>
            <a:r>
              <a:rPr sz="1400" b="1" spc="-10" dirty="0">
                <a:solidFill>
                  <a:srgbClr val="FFFFFF"/>
                </a:solidFill>
                <a:latin typeface="Calibri"/>
                <a:cs typeface="Calibri"/>
              </a:rPr>
              <a:t>Amazon</a:t>
            </a:r>
            <a:endParaRPr sz="1400">
              <a:latin typeface="Calibri"/>
              <a:cs typeface="Calibri"/>
            </a:endParaRPr>
          </a:p>
          <a:p>
            <a:pPr marL="3086735" algn="ctr">
              <a:lnSpc>
                <a:spcPts val="1510"/>
              </a:lnSpc>
            </a:pPr>
            <a:r>
              <a:rPr sz="1400" b="1" spc="-10" dirty="0">
                <a:solidFill>
                  <a:srgbClr val="FFFFFF"/>
                </a:solidFill>
                <a:latin typeface="Calibri"/>
                <a:cs typeface="Calibri"/>
              </a:rPr>
              <a:t>backbone</a:t>
            </a:r>
            <a:endParaRPr sz="1400">
              <a:latin typeface="Calibri"/>
              <a:cs typeface="Calibri"/>
            </a:endParaRPr>
          </a:p>
        </p:txBody>
      </p:sp>
      <p:sp>
        <p:nvSpPr>
          <p:cNvPr id="14" name="object 14"/>
          <p:cNvSpPr txBox="1"/>
          <p:nvPr/>
        </p:nvSpPr>
        <p:spPr>
          <a:xfrm>
            <a:off x="9209658" y="6397853"/>
            <a:ext cx="141605" cy="161290"/>
          </a:xfrm>
          <a:prstGeom prst="rect">
            <a:avLst/>
          </a:prstGeom>
        </p:spPr>
        <p:txBody>
          <a:bodyPr vert="horz" wrap="square" lIns="0" tIns="17145" rIns="0" bIns="0" rtlCol="0">
            <a:spAutoFit/>
          </a:bodyPr>
          <a:lstStyle/>
          <a:p>
            <a:pPr marL="12700">
              <a:lnSpc>
                <a:spcPct val="100000"/>
              </a:lnSpc>
              <a:spcBef>
                <a:spcPts val="135"/>
              </a:spcBef>
            </a:pPr>
            <a:r>
              <a:rPr sz="850" b="1" spc="-25" dirty="0">
                <a:solidFill>
                  <a:srgbClr val="174A5B"/>
                </a:solidFill>
                <a:latin typeface="Calibri"/>
                <a:cs typeface="Calibri"/>
              </a:rPr>
              <a:t>23</a:t>
            </a:r>
            <a:endParaRPr sz="85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grpSp>
        <p:nvGrpSpPr>
          <p:cNvPr id="3" name="object 3"/>
          <p:cNvGrpSpPr/>
          <p:nvPr/>
        </p:nvGrpSpPr>
        <p:grpSpPr>
          <a:xfrm>
            <a:off x="6115113" y="4422775"/>
            <a:ext cx="730250" cy="916305"/>
            <a:chOff x="6115113" y="4422775"/>
            <a:chExt cx="730250" cy="916305"/>
          </a:xfrm>
        </p:grpSpPr>
        <p:pic>
          <p:nvPicPr>
            <p:cNvPr id="4" name="object 4"/>
            <p:cNvPicPr/>
            <p:nvPr/>
          </p:nvPicPr>
          <p:blipFill>
            <a:blip r:embed="rId2" cstate="print"/>
            <a:stretch>
              <a:fillRect/>
            </a:stretch>
          </p:blipFill>
          <p:spPr>
            <a:xfrm>
              <a:off x="6169025" y="4490973"/>
              <a:ext cx="639762" cy="800100"/>
            </a:xfrm>
            <a:prstGeom prst="rect">
              <a:avLst/>
            </a:prstGeom>
          </p:spPr>
        </p:pic>
        <p:sp>
          <p:nvSpPr>
            <p:cNvPr id="5" name="object 5"/>
            <p:cNvSpPr/>
            <p:nvPr/>
          </p:nvSpPr>
          <p:spPr>
            <a:xfrm>
              <a:off x="6122924" y="4422775"/>
              <a:ext cx="715010" cy="911225"/>
            </a:xfrm>
            <a:custGeom>
              <a:avLst/>
              <a:gdLst/>
              <a:ahLst/>
              <a:cxnLst/>
              <a:rect l="l" t="t" r="r" b="b"/>
              <a:pathLst>
                <a:path w="715009" h="911225">
                  <a:moveTo>
                    <a:pt x="126" y="0"/>
                  </a:moveTo>
                  <a:lnTo>
                    <a:pt x="126" y="906526"/>
                  </a:lnTo>
                </a:path>
                <a:path w="715009" h="911225">
                  <a:moveTo>
                    <a:pt x="712851" y="908050"/>
                  </a:moveTo>
                  <a:lnTo>
                    <a:pt x="0" y="908050"/>
                  </a:lnTo>
                </a:path>
                <a:path w="715009" h="911225">
                  <a:moveTo>
                    <a:pt x="714501" y="911225"/>
                  </a:moveTo>
                  <a:lnTo>
                    <a:pt x="714501" y="34925"/>
                  </a:lnTo>
                </a:path>
              </a:pathLst>
            </a:custGeom>
            <a:ln w="15875">
              <a:solidFill>
                <a:srgbClr val="000000"/>
              </a:solidFill>
            </a:ln>
          </p:spPr>
          <p:txBody>
            <a:bodyPr wrap="square" lIns="0" tIns="0" rIns="0" bIns="0" rtlCol="0"/>
            <a:lstStyle/>
            <a:p>
              <a:endParaRPr/>
            </a:p>
          </p:txBody>
        </p:sp>
      </p:grpSp>
      <p:pic>
        <p:nvPicPr>
          <p:cNvPr id="6" name="object 6"/>
          <p:cNvPicPr/>
          <p:nvPr/>
        </p:nvPicPr>
        <p:blipFill>
          <a:blip r:embed="rId3" cstate="print"/>
          <a:stretch>
            <a:fillRect/>
          </a:stretch>
        </p:blipFill>
        <p:spPr>
          <a:xfrm>
            <a:off x="2477410" y="5075409"/>
            <a:ext cx="3277061" cy="21705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grpSp>
        <p:nvGrpSpPr>
          <p:cNvPr id="3" name="object 3"/>
          <p:cNvGrpSpPr/>
          <p:nvPr/>
        </p:nvGrpSpPr>
        <p:grpSpPr>
          <a:xfrm>
            <a:off x="6115113" y="4422775"/>
            <a:ext cx="730250" cy="916305"/>
            <a:chOff x="6115113" y="4422775"/>
            <a:chExt cx="730250" cy="916305"/>
          </a:xfrm>
        </p:grpSpPr>
        <p:pic>
          <p:nvPicPr>
            <p:cNvPr id="4" name="object 4"/>
            <p:cNvPicPr/>
            <p:nvPr/>
          </p:nvPicPr>
          <p:blipFill>
            <a:blip r:embed="rId2" cstate="print"/>
            <a:stretch>
              <a:fillRect/>
            </a:stretch>
          </p:blipFill>
          <p:spPr>
            <a:xfrm>
              <a:off x="6169025" y="4490973"/>
              <a:ext cx="639762" cy="800100"/>
            </a:xfrm>
            <a:prstGeom prst="rect">
              <a:avLst/>
            </a:prstGeom>
          </p:spPr>
        </p:pic>
        <p:sp>
          <p:nvSpPr>
            <p:cNvPr id="5" name="object 5"/>
            <p:cNvSpPr/>
            <p:nvPr/>
          </p:nvSpPr>
          <p:spPr>
            <a:xfrm>
              <a:off x="6122924" y="4422775"/>
              <a:ext cx="715010" cy="911225"/>
            </a:xfrm>
            <a:custGeom>
              <a:avLst/>
              <a:gdLst/>
              <a:ahLst/>
              <a:cxnLst/>
              <a:rect l="l" t="t" r="r" b="b"/>
              <a:pathLst>
                <a:path w="715009" h="911225">
                  <a:moveTo>
                    <a:pt x="126" y="0"/>
                  </a:moveTo>
                  <a:lnTo>
                    <a:pt x="126" y="906526"/>
                  </a:lnTo>
                </a:path>
                <a:path w="715009" h="911225">
                  <a:moveTo>
                    <a:pt x="712851" y="908050"/>
                  </a:moveTo>
                  <a:lnTo>
                    <a:pt x="0" y="908050"/>
                  </a:lnTo>
                </a:path>
                <a:path w="715009" h="911225">
                  <a:moveTo>
                    <a:pt x="714501" y="911225"/>
                  </a:moveTo>
                  <a:lnTo>
                    <a:pt x="714501" y="34925"/>
                  </a:lnTo>
                </a:path>
              </a:pathLst>
            </a:custGeom>
            <a:ln w="15875">
              <a:solidFill>
                <a:srgbClr val="000000"/>
              </a:solidFill>
            </a:ln>
          </p:spPr>
          <p:txBody>
            <a:bodyPr wrap="square" lIns="0" tIns="0" rIns="0" bIns="0" rtlCol="0"/>
            <a:lstStyle/>
            <a:p>
              <a:endParaRPr/>
            </a:p>
          </p:txBody>
        </p:sp>
      </p:grpSp>
      <p:grpSp>
        <p:nvGrpSpPr>
          <p:cNvPr id="6" name="object 6"/>
          <p:cNvGrpSpPr/>
          <p:nvPr/>
        </p:nvGrpSpPr>
        <p:grpSpPr>
          <a:xfrm>
            <a:off x="6919912" y="4422775"/>
            <a:ext cx="732155" cy="918210"/>
            <a:chOff x="6919912" y="4422775"/>
            <a:chExt cx="732155" cy="918210"/>
          </a:xfrm>
        </p:grpSpPr>
        <p:pic>
          <p:nvPicPr>
            <p:cNvPr id="7" name="object 7"/>
            <p:cNvPicPr/>
            <p:nvPr/>
          </p:nvPicPr>
          <p:blipFill>
            <a:blip r:embed="rId2" cstate="print"/>
            <a:stretch>
              <a:fillRect/>
            </a:stretch>
          </p:blipFill>
          <p:spPr>
            <a:xfrm>
              <a:off x="6957948" y="4490973"/>
              <a:ext cx="639762" cy="800100"/>
            </a:xfrm>
            <a:prstGeom prst="rect">
              <a:avLst/>
            </a:prstGeom>
          </p:spPr>
        </p:pic>
        <p:sp>
          <p:nvSpPr>
            <p:cNvPr id="8" name="object 8"/>
            <p:cNvSpPr/>
            <p:nvPr/>
          </p:nvSpPr>
          <p:spPr>
            <a:xfrm>
              <a:off x="6927850" y="4422775"/>
              <a:ext cx="716280" cy="913130"/>
            </a:xfrm>
            <a:custGeom>
              <a:avLst/>
              <a:gdLst/>
              <a:ahLst/>
              <a:cxnLst/>
              <a:rect l="l" t="t" r="r" b="b"/>
              <a:pathLst>
                <a:path w="716279" h="913129">
                  <a:moveTo>
                    <a:pt x="0" y="0"/>
                  </a:moveTo>
                  <a:lnTo>
                    <a:pt x="0" y="908050"/>
                  </a:lnTo>
                </a:path>
                <a:path w="716279" h="913129">
                  <a:moveTo>
                    <a:pt x="714375" y="909701"/>
                  </a:moveTo>
                  <a:lnTo>
                    <a:pt x="0" y="909701"/>
                  </a:lnTo>
                </a:path>
                <a:path w="716279" h="913129">
                  <a:moveTo>
                    <a:pt x="716026" y="912876"/>
                  </a:moveTo>
                  <a:lnTo>
                    <a:pt x="716026" y="34925"/>
                  </a:lnTo>
                </a:path>
              </a:pathLst>
            </a:custGeom>
            <a:ln w="15875">
              <a:solidFill>
                <a:srgbClr val="000000"/>
              </a:solidFill>
            </a:ln>
          </p:spPr>
          <p:txBody>
            <a:bodyPr wrap="square" lIns="0" tIns="0" rIns="0" bIns="0" rtlCol="0"/>
            <a:lstStyle/>
            <a:p>
              <a:endParaRPr/>
            </a:p>
          </p:txBody>
        </p:sp>
      </p:grpSp>
      <p:grpSp>
        <p:nvGrpSpPr>
          <p:cNvPr id="9" name="object 9"/>
          <p:cNvGrpSpPr/>
          <p:nvPr/>
        </p:nvGrpSpPr>
        <p:grpSpPr>
          <a:xfrm>
            <a:off x="7705788" y="4435475"/>
            <a:ext cx="730250" cy="916305"/>
            <a:chOff x="7705788" y="4435475"/>
            <a:chExt cx="730250" cy="916305"/>
          </a:xfrm>
        </p:grpSpPr>
        <p:pic>
          <p:nvPicPr>
            <p:cNvPr id="10" name="object 10"/>
            <p:cNvPicPr/>
            <p:nvPr/>
          </p:nvPicPr>
          <p:blipFill>
            <a:blip r:embed="rId2" cstate="print"/>
            <a:stretch>
              <a:fillRect/>
            </a:stretch>
          </p:blipFill>
          <p:spPr>
            <a:xfrm>
              <a:off x="7747000" y="4490973"/>
              <a:ext cx="639762" cy="800100"/>
            </a:xfrm>
            <a:prstGeom prst="rect">
              <a:avLst/>
            </a:prstGeom>
          </p:spPr>
        </p:pic>
        <p:sp>
          <p:nvSpPr>
            <p:cNvPr id="11" name="object 11"/>
            <p:cNvSpPr/>
            <p:nvPr/>
          </p:nvSpPr>
          <p:spPr>
            <a:xfrm>
              <a:off x="7713726" y="4435475"/>
              <a:ext cx="714375" cy="911225"/>
            </a:xfrm>
            <a:custGeom>
              <a:avLst/>
              <a:gdLst/>
              <a:ahLst/>
              <a:cxnLst/>
              <a:rect l="l" t="t" r="r" b="b"/>
              <a:pathLst>
                <a:path w="714375" h="911225">
                  <a:moveTo>
                    <a:pt x="0" y="0"/>
                  </a:moveTo>
                  <a:lnTo>
                    <a:pt x="0" y="906526"/>
                  </a:lnTo>
                </a:path>
                <a:path w="714375" h="911225">
                  <a:moveTo>
                    <a:pt x="712724" y="908050"/>
                  </a:moveTo>
                  <a:lnTo>
                    <a:pt x="0" y="908050"/>
                  </a:lnTo>
                </a:path>
                <a:path w="714375" h="911225">
                  <a:moveTo>
                    <a:pt x="714375" y="911225"/>
                  </a:moveTo>
                  <a:lnTo>
                    <a:pt x="714375" y="34925"/>
                  </a:lnTo>
                </a:path>
              </a:pathLst>
            </a:custGeom>
            <a:ln w="15875">
              <a:solidFill>
                <a:srgbClr val="000000"/>
              </a:solidFill>
            </a:ln>
          </p:spPr>
          <p:txBody>
            <a:bodyPr wrap="square" lIns="0" tIns="0" rIns="0" bIns="0" rtlCol="0"/>
            <a:lstStyle/>
            <a:p>
              <a:endParaRPr/>
            </a:p>
          </p:txBody>
        </p:sp>
      </p:grpSp>
      <p:grpSp>
        <p:nvGrpSpPr>
          <p:cNvPr id="12" name="object 12"/>
          <p:cNvGrpSpPr/>
          <p:nvPr/>
        </p:nvGrpSpPr>
        <p:grpSpPr>
          <a:xfrm>
            <a:off x="8494712" y="4443348"/>
            <a:ext cx="732155" cy="916305"/>
            <a:chOff x="8494712" y="4443348"/>
            <a:chExt cx="732155" cy="916305"/>
          </a:xfrm>
        </p:grpSpPr>
        <p:pic>
          <p:nvPicPr>
            <p:cNvPr id="13" name="object 13"/>
            <p:cNvPicPr/>
            <p:nvPr/>
          </p:nvPicPr>
          <p:blipFill>
            <a:blip r:embed="rId2" cstate="print"/>
            <a:stretch>
              <a:fillRect/>
            </a:stretch>
          </p:blipFill>
          <p:spPr>
            <a:xfrm>
              <a:off x="8536051" y="4490973"/>
              <a:ext cx="639635" cy="800100"/>
            </a:xfrm>
            <a:prstGeom prst="rect">
              <a:avLst/>
            </a:prstGeom>
          </p:spPr>
        </p:pic>
        <p:sp>
          <p:nvSpPr>
            <p:cNvPr id="14" name="object 14"/>
            <p:cNvSpPr/>
            <p:nvPr/>
          </p:nvSpPr>
          <p:spPr>
            <a:xfrm>
              <a:off x="8502650" y="4443348"/>
              <a:ext cx="716280" cy="911860"/>
            </a:xfrm>
            <a:custGeom>
              <a:avLst/>
              <a:gdLst/>
              <a:ahLst/>
              <a:cxnLst/>
              <a:rect l="l" t="t" r="r" b="b"/>
              <a:pathLst>
                <a:path w="716279" h="911860">
                  <a:moveTo>
                    <a:pt x="0" y="0"/>
                  </a:moveTo>
                  <a:lnTo>
                    <a:pt x="0" y="906526"/>
                  </a:lnTo>
                </a:path>
                <a:path w="716279" h="911860">
                  <a:moveTo>
                    <a:pt x="714375" y="908176"/>
                  </a:moveTo>
                  <a:lnTo>
                    <a:pt x="0" y="908176"/>
                  </a:lnTo>
                </a:path>
                <a:path w="716279" h="911860">
                  <a:moveTo>
                    <a:pt x="716026" y="911351"/>
                  </a:moveTo>
                  <a:lnTo>
                    <a:pt x="716026" y="34925"/>
                  </a:lnTo>
                </a:path>
              </a:pathLst>
            </a:custGeom>
            <a:ln w="15875">
              <a:solidFill>
                <a:srgbClr val="000000"/>
              </a:solidFill>
            </a:ln>
          </p:spPr>
          <p:txBody>
            <a:bodyPr wrap="square" lIns="0" tIns="0" rIns="0" bIns="0" rtlCol="0"/>
            <a:lstStyle/>
            <a:p>
              <a:endParaRPr/>
            </a:p>
          </p:txBody>
        </p:sp>
      </p:grpSp>
      <p:pic>
        <p:nvPicPr>
          <p:cNvPr id="15" name="object 15"/>
          <p:cNvPicPr/>
          <p:nvPr/>
        </p:nvPicPr>
        <p:blipFill>
          <a:blip r:embed="rId3" cstate="print"/>
          <a:stretch>
            <a:fillRect/>
          </a:stretch>
        </p:blipFill>
        <p:spPr>
          <a:xfrm>
            <a:off x="2477410" y="4709056"/>
            <a:ext cx="3277061" cy="58205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94476" y="4344923"/>
            <a:ext cx="3152775" cy="1014730"/>
            <a:chOff x="6094476" y="4344923"/>
            <a:chExt cx="3152775" cy="1014730"/>
          </a:xfrm>
        </p:grpSpPr>
        <p:sp>
          <p:nvSpPr>
            <p:cNvPr id="3" name="object 3"/>
            <p:cNvSpPr/>
            <p:nvPr/>
          </p:nvSpPr>
          <p:spPr>
            <a:xfrm>
              <a:off x="6704076" y="4368799"/>
              <a:ext cx="2316480" cy="68580"/>
            </a:xfrm>
            <a:custGeom>
              <a:avLst/>
              <a:gdLst/>
              <a:ahLst/>
              <a:cxnLst/>
              <a:rect l="l" t="t" r="r" b="b"/>
              <a:pathLst>
                <a:path w="2316479" h="68579">
                  <a:moveTo>
                    <a:pt x="0" y="0"/>
                  </a:moveTo>
                  <a:lnTo>
                    <a:pt x="2316099" y="0"/>
                  </a:lnTo>
                </a:path>
                <a:path w="2316479" h="68579">
                  <a:moveTo>
                    <a:pt x="0" y="34925"/>
                  </a:moveTo>
                  <a:lnTo>
                    <a:pt x="2316099" y="34925"/>
                  </a:lnTo>
                </a:path>
                <a:path w="2316479" h="68579">
                  <a:moveTo>
                    <a:pt x="0" y="68325"/>
                  </a:moveTo>
                  <a:lnTo>
                    <a:pt x="2316099" y="68325"/>
                  </a:lnTo>
                </a:path>
              </a:pathLst>
            </a:custGeom>
            <a:ln w="127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169025" y="4490973"/>
              <a:ext cx="639762" cy="800100"/>
            </a:xfrm>
            <a:prstGeom prst="rect">
              <a:avLst/>
            </a:prstGeom>
          </p:spPr>
        </p:pic>
        <p:pic>
          <p:nvPicPr>
            <p:cNvPr id="5" name="object 5"/>
            <p:cNvPicPr/>
            <p:nvPr/>
          </p:nvPicPr>
          <p:blipFill>
            <a:blip r:embed="rId2" cstate="print"/>
            <a:stretch>
              <a:fillRect/>
            </a:stretch>
          </p:blipFill>
          <p:spPr>
            <a:xfrm>
              <a:off x="6957949" y="4490973"/>
              <a:ext cx="639762" cy="800100"/>
            </a:xfrm>
            <a:prstGeom prst="rect">
              <a:avLst/>
            </a:prstGeom>
          </p:spPr>
        </p:pic>
        <p:pic>
          <p:nvPicPr>
            <p:cNvPr id="6" name="object 6"/>
            <p:cNvPicPr/>
            <p:nvPr/>
          </p:nvPicPr>
          <p:blipFill>
            <a:blip r:embed="rId2" cstate="print"/>
            <a:stretch>
              <a:fillRect/>
            </a:stretch>
          </p:blipFill>
          <p:spPr>
            <a:xfrm>
              <a:off x="7747000" y="4490973"/>
              <a:ext cx="639762" cy="800100"/>
            </a:xfrm>
            <a:prstGeom prst="rect">
              <a:avLst/>
            </a:prstGeom>
          </p:spPr>
        </p:pic>
        <p:pic>
          <p:nvPicPr>
            <p:cNvPr id="7" name="object 7"/>
            <p:cNvPicPr/>
            <p:nvPr/>
          </p:nvPicPr>
          <p:blipFill>
            <a:blip r:embed="rId2" cstate="print"/>
            <a:stretch>
              <a:fillRect/>
            </a:stretch>
          </p:blipFill>
          <p:spPr>
            <a:xfrm>
              <a:off x="8536051" y="4490973"/>
              <a:ext cx="639635" cy="800100"/>
            </a:xfrm>
            <a:prstGeom prst="rect">
              <a:avLst/>
            </a:prstGeom>
          </p:spPr>
        </p:pic>
        <p:pic>
          <p:nvPicPr>
            <p:cNvPr id="8" name="object 8"/>
            <p:cNvPicPr/>
            <p:nvPr/>
          </p:nvPicPr>
          <p:blipFill>
            <a:blip r:embed="rId3" cstate="print"/>
            <a:stretch>
              <a:fillRect/>
            </a:stretch>
          </p:blipFill>
          <p:spPr>
            <a:xfrm>
              <a:off x="6094476" y="4344923"/>
              <a:ext cx="763587" cy="117475"/>
            </a:xfrm>
            <a:prstGeom prst="rect">
              <a:avLst/>
            </a:prstGeom>
          </p:spPr>
        </p:pic>
        <p:pic>
          <p:nvPicPr>
            <p:cNvPr id="9" name="object 9"/>
            <p:cNvPicPr/>
            <p:nvPr/>
          </p:nvPicPr>
          <p:blipFill>
            <a:blip r:embed="rId4" cstate="print"/>
            <a:stretch>
              <a:fillRect/>
            </a:stretch>
          </p:blipFill>
          <p:spPr>
            <a:xfrm>
              <a:off x="6927850" y="4344923"/>
              <a:ext cx="1533461" cy="117475"/>
            </a:xfrm>
            <a:prstGeom prst="rect">
              <a:avLst/>
            </a:prstGeom>
          </p:spPr>
        </p:pic>
        <p:pic>
          <p:nvPicPr>
            <p:cNvPr id="10" name="object 10"/>
            <p:cNvPicPr/>
            <p:nvPr/>
          </p:nvPicPr>
          <p:blipFill>
            <a:blip r:embed="rId3" cstate="print"/>
            <a:stretch>
              <a:fillRect/>
            </a:stretch>
          </p:blipFill>
          <p:spPr>
            <a:xfrm>
              <a:off x="8483600" y="4344923"/>
              <a:ext cx="763587" cy="117475"/>
            </a:xfrm>
            <a:prstGeom prst="rect">
              <a:avLst/>
            </a:prstGeom>
          </p:spPr>
        </p:pic>
        <p:sp>
          <p:nvSpPr>
            <p:cNvPr id="11" name="object 11"/>
            <p:cNvSpPr/>
            <p:nvPr/>
          </p:nvSpPr>
          <p:spPr>
            <a:xfrm>
              <a:off x="6122924" y="4422774"/>
              <a:ext cx="3096260" cy="932180"/>
            </a:xfrm>
            <a:custGeom>
              <a:avLst/>
              <a:gdLst/>
              <a:ahLst/>
              <a:cxnLst/>
              <a:rect l="l" t="t" r="r" b="b"/>
              <a:pathLst>
                <a:path w="3096259" h="932179">
                  <a:moveTo>
                    <a:pt x="126" y="0"/>
                  </a:moveTo>
                  <a:lnTo>
                    <a:pt x="126" y="906526"/>
                  </a:lnTo>
                </a:path>
                <a:path w="3096259" h="932179">
                  <a:moveTo>
                    <a:pt x="712851" y="908050"/>
                  </a:moveTo>
                  <a:lnTo>
                    <a:pt x="0" y="908050"/>
                  </a:lnTo>
                </a:path>
                <a:path w="3096259" h="932179">
                  <a:moveTo>
                    <a:pt x="714501" y="911225"/>
                  </a:moveTo>
                  <a:lnTo>
                    <a:pt x="714501" y="34925"/>
                  </a:lnTo>
                </a:path>
                <a:path w="3096259" h="932179">
                  <a:moveTo>
                    <a:pt x="804926" y="0"/>
                  </a:moveTo>
                  <a:lnTo>
                    <a:pt x="804926" y="908050"/>
                  </a:lnTo>
                </a:path>
                <a:path w="3096259" h="932179">
                  <a:moveTo>
                    <a:pt x="1519301" y="909701"/>
                  </a:moveTo>
                  <a:lnTo>
                    <a:pt x="804926" y="909701"/>
                  </a:lnTo>
                </a:path>
                <a:path w="3096259" h="932179">
                  <a:moveTo>
                    <a:pt x="1520952" y="912876"/>
                  </a:moveTo>
                  <a:lnTo>
                    <a:pt x="1520952" y="34925"/>
                  </a:lnTo>
                </a:path>
                <a:path w="3096259" h="932179">
                  <a:moveTo>
                    <a:pt x="1590802" y="12700"/>
                  </a:moveTo>
                  <a:lnTo>
                    <a:pt x="1590802" y="919226"/>
                  </a:lnTo>
                </a:path>
                <a:path w="3096259" h="932179">
                  <a:moveTo>
                    <a:pt x="2303526" y="920750"/>
                  </a:moveTo>
                  <a:lnTo>
                    <a:pt x="1590802" y="920750"/>
                  </a:lnTo>
                </a:path>
                <a:path w="3096259" h="932179">
                  <a:moveTo>
                    <a:pt x="2305177" y="923925"/>
                  </a:moveTo>
                  <a:lnTo>
                    <a:pt x="2305177" y="47625"/>
                  </a:lnTo>
                </a:path>
                <a:path w="3096259" h="932179">
                  <a:moveTo>
                    <a:pt x="2379726" y="20574"/>
                  </a:moveTo>
                  <a:lnTo>
                    <a:pt x="2379726" y="927100"/>
                  </a:lnTo>
                </a:path>
                <a:path w="3096259" h="932179">
                  <a:moveTo>
                    <a:pt x="3094101" y="928751"/>
                  </a:moveTo>
                  <a:lnTo>
                    <a:pt x="2379726" y="928751"/>
                  </a:lnTo>
                </a:path>
                <a:path w="3096259" h="932179">
                  <a:moveTo>
                    <a:pt x="3095752" y="931926"/>
                  </a:moveTo>
                  <a:lnTo>
                    <a:pt x="3095752" y="55499"/>
                  </a:lnTo>
                </a:path>
              </a:pathLst>
            </a:custGeom>
            <a:ln w="15875">
              <a:solidFill>
                <a:srgbClr val="000000"/>
              </a:solidFill>
            </a:ln>
          </p:spPr>
          <p:txBody>
            <a:bodyPr wrap="square" lIns="0" tIns="0" rIns="0" bIns="0" rtlCol="0"/>
            <a:lstStyle/>
            <a:p>
              <a:endParaRPr/>
            </a:p>
          </p:txBody>
        </p:sp>
      </p:grpSp>
      <p:sp>
        <p:nvSpPr>
          <p:cNvPr id="12" name="object 1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pic>
        <p:nvPicPr>
          <p:cNvPr id="13" name="object 13"/>
          <p:cNvPicPr/>
          <p:nvPr/>
        </p:nvPicPr>
        <p:blipFill>
          <a:blip r:embed="rId5" cstate="print"/>
          <a:stretch>
            <a:fillRect/>
          </a:stretch>
        </p:blipFill>
        <p:spPr>
          <a:xfrm>
            <a:off x="2477410" y="4318089"/>
            <a:ext cx="3381850" cy="9730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4076" y="4368800"/>
            <a:ext cx="2316480" cy="68580"/>
          </a:xfrm>
          <a:custGeom>
            <a:avLst/>
            <a:gdLst/>
            <a:ahLst/>
            <a:cxnLst/>
            <a:rect l="l" t="t" r="r" b="b"/>
            <a:pathLst>
              <a:path w="2316479" h="68579">
                <a:moveTo>
                  <a:pt x="0" y="0"/>
                </a:moveTo>
                <a:lnTo>
                  <a:pt x="2316099" y="0"/>
                </a:lnTo>
              </a:path>
              <a:path w="2316479" h="68579">
                <a:moveTo>
                  <a:pt x="0" y="34925"/>
                </a:moveTo>
                <a:lnTo>
                  <a:pt x="2316099" y="34925"/>
                </a:lnTo>
              </a:path>
              <a:path w="2316479" h="68579">
                <a:moveTo>
                  <a:pt x="0" y="68325"/>
                </a:moveTo>
                <a:lnTo>
                  <a:pt x="2316099" y="68325"/>
                </a:lnTo>
              </a:path>
            </a:pathLst>
          </a:custGeom>
          <a:ln w="12700">
            <a:solidFill>
              <a:srgbClr val="000000"/>
            </a:solidFill>
          </a:ln>
        </p:spPr>
        <p:txBody>
          <a:bodyPr wrap="square" lIns="0" tIns="0" rIns="0" bIns="0" rtlCol="0"/>
          <a:lstStyle/>
          <a:p>
            <a:endParaRPr/>
          </a:p>
        </p:txBody>
      </p:sp>
      <p:grpSp>
        <p:nvGrpSpPr>
          <p:cNvPr id="3" name="object 3"/>
          <p:cNvGrpSpPr/>
          <p:nvPr/>
        </p:nvGrpSpPr>
        <p:grpSpPr>
          <a:xfrm>
            <a:off x="6094476" y="3598863"/>
            <a:ext cx="3183255" cy="1760855"/>
            <a:chOff x="6094476" y="3598863"/>
            <a:chExt cx="3183255" cy="1760855"/>
          </a:xfrm>
        </p:grpSpPr>
        <p:sp>
          <p:nvSpPr>
            <p:cNvPr id="4" name="object 4"/>
            <p:cNvSpPr/>
            <p:nvPr/>
          </p:nvSpPr>
          <p:spPr>
            <a:xfrm>
              <a:off x="6507226" y="3714749"/>
              <a:ext cx="0" cy="688975"/>
            </a:xfrm>
            <a:custGeom>
              <a:avLst/>
              <a:gdLst/>
              <a:ahLst/>
              <a:cxnLst/>
              <a:rect l="l" t="t" r="r" b="b"/>
              <a:pathLst>
                <a:path h="688975">
                  <a:moveTo>
                    <a:pt x="0" y="688975"/>
                  </a:moveTo>
                  <a:lnTo>
                    <a:pt x="0" y="0"/>
                  </a:lnTo>
                </a:path>
              </a:pathLst>
            </a:custGeom>
            <a:ln w="9525">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169025" y="4490973"/>
              <a:ext cx="639762" cy="800100"/>
            </a:xfrm>
            <a:prstGeom prst="rect">
              <a:avLst/>
            </a:prstGeom>
          </p:spPr>
        </p:pic>
        <p:pic>
          <p:nvPicPr>
            <p:cNvPr id="6" name="object 6"/>
            <p:cNvPicPr/>
            <p:nvPr/>
          </p:nvPicPr>
          <p:blipFill>
            <a:blip r:embed="rId2" cstate="print"/>
            <a:stretch>
              <a:fillRect/>
            </a:stretch>
          </p:blipFill>
          <p:spPr>
            <a:xfrm>
              <a:off x="6957949" y="4490973"/>
              <a:ext cx="639762" cy="800100"/>
            </a:xfrm>
            <a:prstGeom prst="rect">
              <a:avLst/>
            </a:prstGeom>
          </p:spPr>
        </p:pic>
        <p:pic>
          <p:nvPicPr>
            <p:cNvPr id="7" name="object 7"/>
            <p:cNvPicPr/>
            <p:nvPr/>
          </p:nvPicPr>
          <p:blipFill>
            <a:blip r:embed="rId2" cstate="print"/>
            <a:stretch>
              <a:fillRect/>
            </a:stretch>
          </p:blipFill>
          <p:spPr>
            <a:xfrm>
              <a:off x="7747000" y="4490973"/>
              <a:ext cx="639762" cy="800100"/>
            </a:xfrm>
            <a:prstGeom prst="rect">
              <a:avLst/>
            </a:prstGeom>
          </p:spPr>
        </p:pic>
        <p:pic>
          <p:nvPicPr>
            <p:cNvPr id="8" name="object 8"/>
            <p:cNvPicPr/>
            <p:nvPr/>
          </p:nvPicPr>
          <p:blipFill>
            <a:blip r:embed="rId2" cstate="print"/>
            <a:stretch>
              <a:fillRect/>
            </a:stretch>
          </p:blipFill>
          <p:spPr>
            <a:xfrm>
              <a:off x="8536051" y="4490973"/>
              <a:ext cx="639635" cy="800100"/>
            </a:xfrm>
            <a:prstGeom prst="rect">
              <a:avLst/>
            </a:prstGeom>
          </p:spPr>
        </p:pic>
        <p:sp>
          <p:nvSpPr>
            <p:cNvPr id="9" name="object 9"/>
            <p:cNvSpPr/>
            <p:nvPr/>
          </p:nvSpPr>
          <p:spPr>
            <a:xfrm>
              <a:off x="6477000" y="3689349"/>
              <a:ext cx="2465705" cy="773430"/>
            </a:xfrm>
            <a:custGeom>
              <a:avLst/>
              <a:gdLst/>
              <a:ahLst/>
              <a:cxnLst/>
              <a:rect l="l" t="t" r="r" b="b"/>
              <a:pathLst>
                <a:path w="2465704" h="773429">
                  <a:moveTo>
                    <a:pt x="863600" y="714375"/>
                  </a:moveTo>
                  <a:lnTo>
                    <a:pt x="863600" y="25400"/>
                  </a:lnTo>
                </a:path>
                <a:path w="2465704" h="773429">
                  <a:moveTo>
                    <a:pt x="1633601" y="714375"/>
                  </a:moveTo>
                  <a:lnTo>
                    <a:pt x="1633601" y="25400"/>
                  </a:lnTo>
                </a:path>
                <a:path w="2465704" h="773429">
                  <a:moveTo>
                    <a:pt x="2419350" y="714375"/>
                  </a:moveTo>
                  <a:lnTo>
                    <a:pt x="2419350" y="25400"/>
                  </a:lnTo>
                </a:path>
                <a:path w="2465704" h="773429">
                  <a:moveTo>
                    <a:pt x="831850" y="773049"/>
                  </a:moveTo>
                  <a:lnTo>
                    <a:pt x="30225" y="25400"/>
                  </a:lnTo>
                </a:path>
                <a:path w="2465704" h="773429">
                  <a:moveTo>
                    <a:pt x="0" y="773049"/>
                  </a:moveTo>
                  <a:lnTo>
                    <a:pt x="863600" y="25400"/>
                  </a:lnTo>
                </a:path>
                <a:path w="2465704" h="773429">
                  <a:moveTo>
                    <a:pt x="2435225" y="746125"/>
                  </a:moveTo>
                  <a:lnTo>
                    <a:pt x="1633601" y="0"/>
                  </a:lnTo>
                </a:path>
                <a:path w="2465704" h="773429">
                  <a:moveTo>
                    <a:pt x="1601851" y="746125"/>
                  </a:moveTo>
                  <a:lnTo>
                    <a:pt x="2465451" y="0"/>
                  </a:lnTo>
                </a:path>
              </a:pathLst>
            </a:custGeom>
            <a:ln w="9525">
              <a:solidFill>
                <a:srgbClr val="000000"/>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6094476" y="4344923"/>
              <a:ext cx="763587" cy="117475"/>
            </a:xfrm>
            <a:prstGeom prst="rect">
              <a:avLst/>
            </a:prstGeom>
          </p:spPr>
        </p:pic>
        <p:pic>
          <p:nvPicPr>
            <p:cNvPr id="11" name="object 11"/>
            <p:cNvPicPr/>
            <p:nvPr/>
          </p:nvPicPr>
          <p:blipFill>
            <a:blip r:embed="rId4" cstate="print"/>
            <a:stretch>
              <a:fillRect/>
            </a:stretch>
          </p:blipFill>
          <p:spPr>
            <a:xfrm>
              <a:off x="6927850" y="4344923"/>
              <a:ext cx="1533461" cy="117475"/>
            </a:xfrm>
            <a:prstGeom prst="rect">
              <a:avLst/>
            </a:prstGeom>
          </p:spPr>
        </p:pic>
        <p:pic>
          <p:nvPicPr>
            <p:cNvPr id="12" name="object 12"/>
            <p:cNvPicPr/>
            <p:nvPr/>
          </p:nvPicPr>
          <p:blipFill>
            <a:blip r:embed="rId3" cstate="print"/>
            <a:stretch>
              <a:fillRect/>
            </a:stretch>
          </p:blipFill>
          <p:spPr>
            <a:xfrm>
              <a:off x="8483600" y="4344923"/>
              <a:ext cx="763587" cy="117475"/>
            </a:xfrm>
            <a:prstGeom prst="rect">
              <a:avLst/>
            </a:prstGeom>
          </p:spPr>
        </p:pic>
        <p:pic>
          <p:nvPicPr>
            <p:cNvPr id="13" name="object 13"/>
            <p:cNvPicPr/>
            <p:nvPr/>
          </p:nvPicPr>
          <p:blipFill>
            <a:blip r:embed="rId3" cstate="print"/>
            <a:stretch>
              <a:fillRect/>
            </a:stretch>
          </p:blipFill>
          <p:spPr>
            <a:xfrm>
              <a:off x="6126226" y="3598863"/>
              <a:ext cx="763460" cy="115886"/>
            </a:xfrm>
            <a:prstGeom prst="rect">
              <a:avLst/>
            </a:prstGeom>
          </p:spPr>
        </p:pic>
        <p:pic>
          <p:nvPicPr>
            <p:cNvPr id="14" name="object 14"/>
            <p:cNvPicPr/>
            <p:nvPr/>
          </p:nvPicPr>
          <p:blipFill>
            <a:blip r:embed="rId4" cstate="print"/>
            <a:stretch>
              <a:fillRect/>
            </a:stretch>
          </p:blipFill>
          <p:spPr>
            <a:xfrm>
              <a:off x="6958584" y="3598863"/>
              <a:ext cx="1533207" cy="115886"/>
            </a:xfrm>
            <a:prstGeom prst="rect">
              <a:avLst/>
            </a:prstGeom>
          </p:spPr>
        </p:pic>
        <p:pic>
          <p:nvPicPr>
            <p:cNvPr id="15" name="object 15"/>
            <p:cNvPicPr/>
            <p:nvPr/>
          </p:nvPicPr>
          <p:blipFill>
            <a:blip r:embed="rId3" cstate="print"/>
            <a:stretch>
              <a:fillRect/>
            </a:stretch>
          </p:blipFill>
          <p:spPr>
            <a:xfrm>
              <a:off x="8513952" y="3598863"/>
              <a:ext cx="763460" cy="115886"/>
            </a:xfrm>
            <a:prstGeom prst="rect">
              <a:avLst/>
            </a:prstGeom>
          </p:spPr>
        </p:pic>
        <p:sp>
          <p:nvSpPr>
            <p:cNvPr id="16" name="object 16"/>
            <p:cNvSpPr/>
            <p:nvPr/>
          </p:nvSpPr>
          <p:spPr>
            <a:xfrm>
              <a:off x="6122924" y="4422774"/>
              <a:ext cx="3096260" cy="932180"/>
            </a:xfrm>
            <a:custGeom>
              <a:avLst/>
              <a:gdLst/>
              <a:ahLst/>
              <a:cxnLst/>
              <a:rect l="l" t="t" r="r" b="b"/>
              <a:pathLst>
                <a:path w="3096259" h="932179">
                  <a:moveTo>
                    <a:pt x="126" y="0"/>
                  </a:moveTo>
                  <a:lnTo>
                    <a:pt x="126" y="906526"/>
                  </a:lnTo>
                </a:path>
                <a:path w="3096259" h="932179">
                  <a:moveTo>
                    <a:pt x="712851" y="908050"/>
                  </a:moveTo>
                  <a:lnTo>
                    <a:pt x="0" y="908050"/>
                  </a:lnTo>
                </a:path>
                <a:path w="3096259" h="932179">
                  <a:moveTo>
                    <a:pt x="714501" y="911225"/>
                  </a:moveTo>
                  <a:lnTo>
                    <a:pt x="714501" y="34925"/>
                  </a:lnTo>
                </a:path>
                <a:path w="3096259" h="932179">
                  <a:moveTo>
                    <a:pt x="804926" y="0"/>
                  </a:moveTo>
                  <a:lnTo>
                    <a:pt x="804926" y="908050"/>
                  </a:lnTo>
                </a:path>
                <a:path w="3096259" h="932179">
                  <a:moveTo>
                    <a:pt x="1519301" y="909701"/>
                  </a:moveTo>
                  <a:lnTo>
                    <a:pt x="804926" y="909701"/>
                  </a:lnTo>
                </a:path>
                <a:path w="3096259" h="932179">
                  <a:moveTo>
                    <a:pt x="1520952" y="912876"/>
                  </a:moveTo>
                  <a:lnTo>
                    <a:pt x="1520952" y="34925"/>
                  </a:lnTo>
                </a:path>
                <a:path w="3096259" h="932179">
                  <a:moveTo>
                    <a:pt x="1590802" y="12700"/>
                  </a:moveTo>
                  <a:lnTo>
                    <a:pt x="1590802" y="919226"/>
                  </a:lnTo>
                </a:path>
                <a:path w="3096259" h="932179">
                  <a:moveTo>
                    <a:pt x="2303526" y="920750"/>
                  </a:moveTo>
                  <a:lnTo>
                    <a:pt x="1590802" y="920750"/>
                  </a:lnTo>
                </a:path>
                <a:path w="3096259" h="932179">
                  <a:moveTo>
                    <a:pt x="2305177" y="923925"/>
                  </a:moveTo>
                  <a:lnTo>
                    <a:pt x="2305177" y="47625"/>
                  </a:lnTo>
                </a:path>
                <a:path w="3096259" h="932179">
                  <a:moveTo>
                    <a:pt x="2379726" y="20574"/>
                  </a:moveTo>
                  <a:lnTo>
                    <a:pt x="2379726" y="927100"/>
                  </a:lnTo>
                </a:path>
                <a:path w="3096259" h="932179">
                  <a:moveTo>
                    <a:pt x="3094101" y="928751"/>
                  </a:moveTo>
                  <a:lnTo>
                    <a:pt x="2379726" y="928751"/>
                  </a:lnTo>
                </a:path>
                <a:path w="3096259" h="932179">
                  <a:moveTo>
                    <a:pt x="3095752" y="931926"/>
                  </a:moveTo>
                  <a:lnTo>
                    <a:pt x="3095752" y="55499"/>
                  </a:lnTo>
                </a:path>
              </a:pathLst>
            </a:custGeom>
            <a:ln w="15875">
              <a:solidFill>
                <a:srgbClr val="000000"/>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pic>
        <p:nvPicPr>
          <p:cNvPr id="18" name="object 18"/>
          <p:cNvPicPr/>
          <p:nvPr/>
        </p:nvPicPr>
        <p:blipFill>
          <a:blip r:embed="rId5" cstate="print"/>
          <a:stretch>
            <a:fillRect/>
          </a:stretch>
        </p:blipFill>
        <p:spPr>
          <a:xfrm>
            <a:off x="2477410" y="3581780"/>
            <a:ext cx="3381850" cy="170923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4076" y="4368800"/>
            <a:ext cx="2316480" cy="68580"/>
          </a:xfrm>
          <a:custGeom>
            <a:avLst/>
            <a:gdLst/>
            <a:ahLst/>
            <a:cxnLst/>
            <a:rect l="l" t="t" r="r" b="b"/>
            <a:pathLst>
              <a:path w="2316479" h="68579">
                <a:moveTo>
                  <a:pt x="0" y="0"/>
                </a:moveTo>
                <a:lnTo>
                  <a:pt x="2316099" y="0"/>
                </a:lnTo>
              </a:path>
              <a:path w="2316479" h="68579">
                <a:moveTo>
                  <a:pt x="0" y="34925"/>
                </a:moveTo>
                <a:lnTo>
                  <a:pt x="2316099" y="34925"/>
                </a:lnTo>
              </a:path>
              <a:path w="2316479" h="68579">
                <a:moveTo>
                  <a:pt x="0" y="68325"/>
                </a:moveTo>
                <a:lnTo>
                  <a:pt x="2316099" y="68325"/>
                </a:lnTo>
              </a:path>
            </a:pathLst>
          </a:custGeom>
          <a:ln w="12700">
            <a:solidFill>
              <a:srgbClr val="000000"/>
            </a:solidFill>
          </a:ln>
        </p:spPr>
        <p:txBody>
          <a:bodyPr wrap="square" lIns="0" tIns="0" rIns="0" bIns="0" rtlCol="0"/>
          <a:lstStyle/>
          <a:p>
            <a:endParaRPr/>
          </a:p>
        </p:txBody>
      </p:sp>
      <p:grpSp>
        <p:nvGrpSpPr>
          <p:cNvPr id="3" name="object 3"/>
          <p:cNvGrpSpPr/>
          <p:nvPr/>
        </p:nvGrpSpPr>
        <p:grpSpPr>
          <a:xfrm>
            <a:off x="6094476" y="2901886"/>
            <a:ext cx="3183255" cy="2458085"/>
            <a:chOff x="6094476" y="2901886"/>
            <a:chExt cx="3183255" cy="2458085"/>
          </a:xfrm>
        </p:grpSpPr>
        <p:sp>
          <p:nvSpPr>
            <p:cNvPr id="4" name="object 4"/>
            <p:cNvSpPr/>
            <p:nvPr/>
          </p:nvSpPr>
          <p:spPr>
            <a:xfrm>
              <a:off x="6507226" y="3714749"/>
              <a:ext cx="0" cy="688975"/>
            </a:xfrm>
            <a:custGeom>
              <a:avLst/>
              <a:gdLst/>
              <a:ahLst/>
              <a:cxnLst/>
              <a:rect l="l" t="t" r="r" b="b"/>
              <a:pathLst>
                <a:path h="688975">
                  <a:moveTo>
                    <a:pt x="0" y="688975"/>
                  </a:moveTo>
                  <a:lnTo>
                    <a:pt x="0" y="0"/>
                  </a:lnTo>
                </a:path>
              </a:pathLst>
            </a:custGeom>
            <a:ln w="9525">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169025" y="4490973"/>
              <a:ext cx="639762" cy="800100"/>
            </a:xfrm>
            <a:prstGeom prst="rect">
              <a:avLst/>
            </a:prstGeom>
          </p:spPr>
        </p:pic>
        <p:pic>
          <p:nvPicPr>
            <p:cNvPr id="6" name="object 6"/>
            <p:cNvPicPr/>
            <p:nvPr/>
          </p:nvPicPr>
          <p:blipFill>
            <a:blip r:embed="rId2" cstate="print"/>
            <a:stretch>
              <a:fillRect/>
            </a:stretch>
          </p:blipFill>
          <p:spPr>
            <a:xfrm>
              <a:off x="6957949" y="4490973"/>
              <a:ext cx="639762" cy="800100"/>
            </a:xfrm>
            <a:prstGeom prst="rect">
              <a:avLst/>
            </a:prstGeom>
          </p:spPr>
        </p:pic>
        <p:pic>
          <p:nvPicPr>
            <p:cNvPr id="7" name="object 7"/>
            <p:cNvPicPr/>
            <p:nvPr/>
          </p:nvPicPr>
          <p:blipFill>
            <a:blip r:embed="rId2" cstate="print"/>
            <a:stretch>
              <a:fillRect/>
            </a:stretch>
          </p:blipFill>
          <p:spPr>
            <a:xfrm>
              <a:off x="7747000" y="4490973"/>
              <a:ext cx="639762" cy="800100"/>
            </a:xfrm>
            <a:prstGeom prst="rect">
              <a:avLst/>
            </a:prstGeom>
          </p:spPr>
        </p:pic>
        <p:pic>
          <p:nvPicPr>
            <p:cNvPr id="8" name="object 8"/>
            <p:cNvPicPr/>
            <p:nvPr/>
          </p:nvPicPr>
          <p:blipFill>
            <a:blip r:embed="rId2" cstate="print"/>
            <a:stretch>
              <a:fillRect/>
            </a:stretch>
          </p:blipFill>
          <p:spPr>
            <a:xfrm>
              <a:off x="8536051" y="4490973"/>
              <a:ext cx="639635" cy="800100"/>
            </a:xfrm>
            <a:prstGeom prst="rect">
              <a:avLst/>
            </a:prstGeom>
          </p:spPr>
        </p:pic>
        <p:sp>
          <p:nvSpPr>
            <p:cNvPr id="9" name="object 9"/>
            <p:cNvSpPr/>
            <p:nvPr/>
          </p:nvSpPr>
          <p:spPr>
            <a:xfrm>
              <a:off x="6373876" y="2906648"/>
              <a:ext cx="2646680" cy="1555750"/>
            </a:xfrm>
            <a:custGeom>
              <a:avLst/>
              <a:gdLst/>
              <a:ahLst/>
              <a:cxnLst/>
              <a:rect l="l" t="t" r="r" b="b"/>
              <a:pathLst>
                <a:path w="2646679" h="1555750">
                  <a:moveTo>
                    <a:pt x="966724" y="1497076"/>
                  </a:moveTo>
                  <a:lnTo>
                    <a:pt x="966724" y="808101"/>
                  </a:lnTo>
                </a:path>
                <a:path w="2646679" h="1555750">
                  <a:moveTo>
                    <a:pt x="1736725" y="1497076"/>
                  </a:moveTo>
                  <a:lnTo>
                    <a:pt x="1736725" y="808101"/>
                  </a:lnTo>
                </a:path>
                <a:path w="2646679" h="1555750">
                  <a:moveTo>
                    <a:pt x="2522474" y="1497076"/>
                  </a:moveTo>
                  <a:lnTo>
                    <a:pt x="2522474" y="808101"/>
                  </a:lnTo>
                </a:path>
                <a:path w="2646679" h="1555750">
                  <a:moveTo>
                    <a:pt x="934974" y="1555750"/>
                  </a:moveTo>
                  <a:lnTo>
                    <a:pt x="133350" y="808101"/>
                  </a:lnTo>
                </a:path>
                <a:path w="2646679" h="1555750">
                  <a:moveTo>
                    <a:pt x="103124" y="1555750"/>
                  </a:moveTo>
                  <a:lnTo>
                    <a:pt x="966724" y="808101"/>
                  </a:lnTo>
                </a:path>
                <a:path w="2646679" h="1555750">
                  <a:moveTo>
                    <a:pt x="2538349" y="1528826"/>
                  </a:moveTo>
                  <a:lnTo>
                    <a:pt x="1736725" y="782701"/>
                  </a:lnTo>
                </a:path>
                <a:path w="2646679" h="1555750">
                  <a:moveTo>
                    <a:pt x="1704975" y="1528826"/>
                  </a:moveTo>
                  <a:lnTo>
                    <a:pt x="2568575" y="782701"/>
                  </a:lnTo>
                </a:path>
                <a:path w="2646679" h="1555750">
                  <a:moveTo>
                    <a:pt x="22225" y="789051"/>
                  </a:moveTo>
                  <a:lnTo>
                    <a:pt x="985774" y="0"/>
                  </a:lnTo>
                </a:path>
                <a:path w="2646679" h="1555750">
                  <a:moveTo>
                    <a:pt x="0" y="789051"/>
                  </a:moveTo>
                  <a:lnTo>
                    <a:pt x="1855724" y="41275"/>
                  </a:lnTo>
                </a:path>
                <a:path w="2646679" h="1555750">
                  <a:moveTo>
                    <a:pt x="966724" y="808101"/>
                  </a:moveTo>
                  <a:lnTo>
                    <a:pt x="1862074" y="31750"/>
                  </a:lnTo>
                </a:path>
                <a:path w="2646679" h="1555750">
                  <a:moveTo>
                    <a:pt x="1736725" y="808101"/>
                  </a:moveTo>
                  <a:lnTo>
                    <a:pt x="1862074" y="20700"/>
                  </a:lnTo>
                </a:path>
                <a:path w="2646679" h="1555750">
                  <a:moveTo>
                    <a:pt x="2646299" y="757301"/>
                  </a:moveTo>
                  <a:lnTo>
                    <a:pt x="1876425" y="20700"/>
                  </a:lnTo>
                </a:path>
                <a:path w="2646679" h="1555750">
                  <a:moveTo>
                    <a:pt x="2646299" y="776351"/>
                  </a:moveTo>
                  <a:lnTo>
                    <a:pt x="985774" y="126"/>
                  </a:lnTo>
                </a:path>
                <a:path w="2646679" h="1555750">
                  <a:moveTo>
                    <a:pt x="1736725" y="808101"/>
                  </a:moveTo>
                  <a:lnTo>
                    <a:pt x="985774" y="0"/>
                  </a:lnTo>
                </a:path>
                <a:path w="2646679" h="1555750">
                  <a:moveTo>
                    <a:pt x="966724" y="808101"/>
                  </a:moveTo>
                  <a:lnTo>
                    <a:pt x="985774" y="0"/>
                  </a:lnTo>
                </a:path>
              </a:pathLst>
            </a:custGeom>
            <a:ln w="9525">
              <a:solidFill>
                <a:srgbClr val="000000"/>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6094476" y="4344923"/>
              <a:ext cx="763587" cy="117475"/>
            </a:xfrm>
            <a:prstGeom prst="rect">
              <a:avLst/>
            </a:prstGeom>
          </p:spPr>
        </p:pic>
        <p:pic>
          <p:nvPicPr>
            <p:cNvPr id="11" name="object 11"/>
            <p:cNvPicPr/>
            <p:nvPr/>
          </p:nvPicPr>
          <p:blipFill>
            <a:blip r:embed="rId4" cstate="print"/>
            <a:stretch>
              <a:fillRect/>
            </a:stretch>
          </p:blipFill>
          <p:spPr>
            <a:xfrm>
              <a:off x="6927850" y="4344923"/>
              <a:ext cx="1533461" cy="117475"/>
            </a:xfrm>
            <a:prstGeom prst="rect">
              <a:avLst/>
            </a:prstGeom>
          </p:spPr>
        </p:pic>
        <p:pic>
          <p:nvPicPr>
            <p:cNvPr id="12" name="object 12"/>
            <p:cNvPicPr/>
            <p:nvPr/>
          </p:nvPicPr>
          <p:blipFill>
            <a:blip r:embed="rId3" cstate="print"/>
            <a:stretch>
              <a:fillRect/>
            </a:stretch>
          </p:blipFill>
          <p:spPr>
            <a:xfrm>
              <a:off x="8483600" y="4344923"/>
              <a:ext cx="763587" cy="117475"/>
            </a:xfrm>
            <a:prstGeom prst="rect">
              <a:avLst/>
            </a:prstGeom>
          </p:spPr>
        </p:pic>
        <p:pic>
          <p:nvPicPr>
            <p:cNvPr id="13" name="object 13"/>
            <p:cNvPicPr/>
            <p:nvPr/>
          </p:nvPicPr>
          <p:blipFill>
            <a:blip r:embed="rId3" cstate="print"/>
            <a:stretch>
              <a:fillRect/>
            </a:stretch>
          </p:blipFill>
          <p:spPr>
            <a:xfrm>
              <a:off x="6126226" y="3598863"/>
              <a:ext cx="763460" cy="115886"/>
            </a:xfrm>
            <a:prstGeom prst="rect">
              <a:avLst/>
            </a:prstGeom>
          </p:spPr>
        </p:pic>
        <p:pic>
          <p:nvPicPr>
            <p:cNvPr id="14" name="object 14"/>
            <p:cNvPicPr/>
            <p:nvPr/>
          </p:nvPicPr>
          <p:blipFill>
            <a:blip r:embed="rId4" cstate="print"/>
            <a:stretch>
              <a:fillRect/>
            </a:stretch>
          </p:blipFill>
          <p:spPr>
            <a:xfrm>
              <a:off x="6958584" y="3598863"/>
              <a:ext cx="1533207" cy="115886"/>
            </a:xfrm>
            <a:prstGeom prst="rect">
              <a:avLst/>
            </a:prstGeom>
          </p:spPr>
        </p:pic>
        <p:pic>
          <p:nvPicPr>
            <p:cNvPr id="15" name="object 15"/>
            <p:cNvPicPr/>
            <p:nvPr/>
          </p:nvPicPr>
          <p:blipFill>
            <a:blip r:embed="rId3" cstate="print"/>
            <a:stretch>
              <a:fillRect/>
            </a:stretch>
          </p:blipFill>
          <p:spPr>
            <a:xfrm>
              <a:off x="8513952" y="3598863"/>
              <a:ext cx="763460" cy="115886"/>
            </a:xfrm>
            <a:prstGeom prst="rect">
              <a:avLst/>
            </a:prstGeom>
          </p:spPr>
        </p:pic>
        <p:pic>
          <p:nvPicPr>
            <p:cNvPr id="16" name="object 16"/>
            <p:cNvPicPr/>
            <p:nvPr/>
          </p:nvPicPr>
          <p:blipFill>
            <a:blip r:embed="rId4" cstate="print"/>
            <a:stretch>
              <a:fillRect/>
            </a:stretch>
          </p:blipFill>
          <p:spPr>
            <a:xfrm>
              <a:off x="6976999" y="2906712"/>
              <a:ext cx="1533652" cy="115887"/>
            </a:xfrm>
            <a:prstGeom prst="rect">
              <a:avLst/>
            </a:prstGeom>
          </p:spPr>
        </p:pic>
        <p:sp>
          <p:nvSpPr>
            <p:cNvPr id="17" name="object 17"/>
            <p:cNvSpPr/>
            <p:nvPr/>
          </p:nvSpPr>
          <p:spPr>
            <a:xfrm>
              <a:off x="6122924" y="4422774"/>
              <a:ext cx="3096260" cy="932180"/>
            </a:xfrm>
            <a:custGeom>
              <a:avLst/>
              <a:gdLst/>
              <a:ahLst/>
              <a:cxnLst/>
              <a:rect l="l" t="t" r="r" b="b"/>
              <a:pathLst>
                <a:path w="3096259" h="932179">
                  <a:moveTo>
                    <a:pt x="126" y="0"/>
                  </a:moveTo>
                  <a:lnTo>
                    <a:pt x="126" y="906526"/>
                  </a:lnTo>
                </a:path>
                <a:path w="3096259" h="932179">
                  <a:moveTo>
                    <a:pt x="712851" y="908050"/>
                  </a:moveTo>
                  <a:lnTo>
                    <a:pt x="0" y="908050"/>
                  </a:lnTo>
                </a:path>
                <a:path w="3096259" h="932179">
                  <a:moveTo>
                    <a:pt x="714501" y="911225"/>
                  </a:moveTo>
                  <a:lnTo>
                    <a:pt x="714501" y="34925"/>
                  </a:lnTo>
                </a:path>
                <a:path w="3096259" h="932179">
                  <a:moveTo>
                    <a:pt x="804926" y="0"/>
                  </a:moveTo>
                  <a:lnTo>
                    <a:pt x="804926" y="908050"/>
                  </a:lnTo>
                </a:path>
                <a:path w="3096259" h="932179">
                  <a:moveTo>
                    <a:pt x="1519301" y="909701"/>
                  </a:moveTo>
                  <a:lnTo>
                    <a:pt x="804926" y="909701"/>
                  </a:lnTo>
                </a:path>
                <a:path w="3096259" h="932179">
                  <a:moveTo>
                    <a:pt x="1520952" y="912876"/>
                  </a:moveTo>
                  <a:lnTo>
                    <a:pt x="1520952" y="34925"/>
                  </a:lnTo>
                </a:path>
                <a:path w="3096259" h="932179">
                  <a:moveTo>
                    <a:pt x="1590802" y="12700"/>
                  </a:moveTo>
                  <a:lnTo>
                    <a:pt x="1590802" y="919226"/>
                  </a:lnTo>
                </a:path>
                <a:path w="3096259" h="932179">
                  <a:moveTo>
                    <a:pt x="2303526" y="920750"/>
                  </a:moveTo>
                  <a:lnTo>
                    <a:pt x="1590802" y="920750"/>
                  </a:lnTo>
                </a:path>
                <a:path w="3096259" h="932179">
                  <a:moveTo>
                    <a:pt x="2305177" y="923925"/>
                  </a:moveTo>
                  <a:lnTo>
                    <a:pt x="2305177" y="47625"/>
                  </a:lnTo>
                </a:path>
                <a:path w="3096259" h="932179">
                  <a:moveTo>
                    <a:pt x="2379726" y="20574"/>
                  </a:moveTo>
                  <a:lnTo>
                    <a:pt x="2379726" y="927100"/>
                  </a:lnTo>
                </a:path>
                <a:path w="3096259" h="932179">
                  <a:moveTo>
                    <a:pt x="3094101" y="928751"/>
                  </a:moveTo>
                  <a:lnTo>
                    <a:pt x="2379726" y="928751"/>
                  </a:lnTo>
                </a:path>
                <a:path w="3096259" h="932179">
                  <a:moveTo>
                    <a:pt x="3095752" y="931926"/>
                  </a:moveTo>
                  <a:lnTo>
                    <a:pt x="3095752" y="55499"/>
                  </a:lnTo>
                </a:path>
              </a:pathLst>
            </a:custGeom>
            <a:ln w="15875">
              <a:solidFill>
                <a:srgbClr val="000000"/>
              </a:solidFill>
            </a:ln>
          </p:spPr>
          <p:txBody>
            <a:bodyPr wrap="square" lIns="0" tIns="0" rIns="0" bIns="0" rtlCol="0"/>
            <a:lstStyle/>
            <a:p>
              <a:endParaRPr/>
            </a:p>
          </p:txBody>
        </p:sp>
      </p:grpSp>
      <p:sp>
        <p:nvSpPr>
          <p:cNvPr id="18" name="object 1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pic>
        <p:nvPicPr>
          <p:cNvPr id="19" name="object 19"/>
          <p:cNvPicPr/>
          <p:nvPr/>
        </p:nvPicPr>
        <p:blipFill>
          <a:blip r:embed="rId5" cstate="print"/>
          <a:stretch>
            <a:fillRect/>
          </a:stretch>
        </p:blipFill>
        <p:spPr>
          <a:xfrm>
            <a:off x="2477410" y="2829217"/>
            <a:ext cx="3381850" cy="246188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4076" y="4368800"/>
            <a:ext cx="2316480" cy="68580"/>
          </a:xfrm>
          <a:custGeom>
            <a:avLst/>
            <a:gdLst/>
            <a:ahLst/>
            <a:cxnLst/>
            <a:rect l="l" t="t" r="r" b="b"/>
            <a:pathLst>
              <a:path w="2316479" h="68579">
                <a:moveTo>
                  <a:pt x="0" y="0"/>
                </a:moveTo>
                <a:lnTo>
                  <a:pt x="2316099" y="0"/>
                </a:lnTo>
              </a:path>
              <a:path w="2316479" h="68579">
                <a:moveTo>
                  <a:pt x="0" y="34925"/>
                </a:moveTo>
                <a:lnTo>
                  <a:pt x="2316099" y="34925"/>
                </a:lnTo>
              </a:path>
              <a:path w="2316479" h="68579">
                <a:moveTo>
                  <a:pt x="0" y="68325"/>
                </a:moveTo>
                <a:lnTo>
                  <a:pt x="2316099" y="68325"/>
                </a:lnTo>
              </a:path>
            </a:pathLst>
          </a:custGeom>
          <a:ln w="12700">
            <a:solidFill>
              <a:srgbClr val="000000"/>
            </a:solidFill>
          </a:ln>
        </p:spPr>
        <p:txBody>
          <a:bodyPr wrap="square" lIns="0" tIns="0" rIns="0" bIns="0" rtlCol="0"/>
          <a:lstStyle/>
          <a:p>
            <a:endParaRPr/>
          </a:p>
        </p:txBody>
      </p:sp>
      <p:grpSp>
        <p:nvGrpSpPr>
          <p:cNvPr id="3" name="object 3"/>
          <p:cNvGrpSpPr/>
          <p:nvPr/>
        </p:nvGrpSpPr>
        <p:grpSpPr>
          <a:xfrm>
            <a:off x="6094476" y="2901886"/>
            <a:ext cx="3183255" cy="2458085"/>
            <a:chOff x="6094476" y="2901886"/>
            <a:chExt cx="3183255" cy="2458085"/>
          </a:xfrm>
        </p:grpSpPr>
        <p:sp>
          <p:nvSpPr>
            <p:cNvPr id="4" name="object 4"/>
            <p:cNvSpPr/>
            <p:nvPr/>
          </p:nvSpPr>
          <p:spPr>
            <a:xfrm>
              <a:off x="6507226" y="3714749"/>
              <a:ext cx="0" cy="688975"/>
            </a:xfrm>
            <a:custGeom>
              <a:avLst/>
              <a:gdLst/>
              <a:ahLst/>
              <a:cxnLst/>
              <a:rect l="l" t="t" r="r" b="b"/>
              <a:pathLst>
                <a:path h="688975">
                  <a:moveTo>
                    <a:pt x="0" y="688975"/>
                  </a:moveTo>
                  <a:lnTo>
                    <a:pt x="0" y="0"/>
                  </a:lnTo>
                </a:path>
              </a:pathLst>
            </a:custGeom>
            <a:ln w="9525">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169025" y="4490973"/>
              <a:ext cx="639762" cy="800100"/>
            </a:xfrm>
            <a:prstGeom prst="rect">
              <a:avLst/>
            </a:prstGeom>
          </p:spPr>
        </p:pic>
        <p:pic>
          <p:nvPicPr>
            <p:cNvPr id="6" name="object 6"/>
            <p:cNvPicPr/>
            <p:nvPr/>
          </p:nvPicPr>
          <p:blipFill>
            <a:blip r:embed="rId2" cstate="print"/>
            <a:stretch>
              <a:fillRect/>
            </a:stretch>
          </p:blipFill>
          <p:spPr>
            <a:xfrm>
              <a:off x="6957949" y="4490973"/>
              <a:ext cx="639762" cy="800100"/>
            </a:xfrm>
            <a:prstGeom prst="rect">
              <a:avLst/>
            </a:prstGeom>
          </p:spPr>
        </p:pic>
        <p:pic>
          <p:nvPicPr>
            <p:cNvPr id="7" name="object 7"/>
            <p:cNvPicPr/>
            <p:nvPr/>
          </p:nvPicPr>
          <p:blipFill>
            <a:blip r:embed="rId2" cstate="print"/>
            <a:stretch>
              <a:fillRect/>
            </a:stretch>
          </p:blipFill>
          <p:spPr>
            <a:xfrm>
              <a:off x="7747000" y="4490973"/>
              <a:ext cx="639762" cy="800100"/>
            </a:xfrm>
            <a:prstGeom prst="rect">
              <a:avLst/>
            </a:prstGeom>
          </p:spPr>
        </p:pic>
        <p:pic>
          <p:nvPicPr>
            <p:cNvPr id="8" name="object 8"/>
            <p:cNvPicPr/>
            <p:nvPr/>
          </p:nvPicPr>
          <p:blipFill>
            <a:blip r:embed="rId2" cstate="print"/>
            <a:stretch>
              <a:fillRect/>
            </a:stretch>
          </p:blipFill>
          <p:spPr>
            <a:xfrm>
              <a:off x="8536051" y="4490973"/>
              <a:ext cx="639635" cy="800100"/>
            </a:xfrm>
            <a:prstGeom prst="rect">
              <a:avLst/>
            </a:prstGeom>
          </p:spPr>
        </p:pic>
        <p:sp>
          <p:nvSpPr>
            <p:cNvPr id="9" name="object 9"/>
            <p:cNvSpPr/>
            <p:nvPr/>
          </p:nvSpPr>
          <p:spPr>
            <a:xfrm>
              <a:off x="6373876" y="2906648"/>
              <a:ext cx="2646680" cy="1555750"/>
            </a:xfrm>
            <a:custGeom>
              <a:avLst/>
              <a:gdLst/>
              <a:ahLst/>
              <a:cxnLst/>
              <a:rect l="l" t="t" r="r" b="b"/>
              <a:pathLst>
                <a:path w="2646679" h="1555750">
                  <a:moveTo>
                    <a:pt x="966724" y="1497076"/>
                  </a:moveTo>
                  <a:lnTo>
                    <a:pt x="966724" y="808101"/>
                  </a:lnTo>
                </a:path>
                <a:path w="2646679" h="1555750">
                  <a:moveTo>
                    <a:pt x="1736725" y="1497076"/>
                  </a:moveTo>
                  <a:lnTo>
                    <a:pt x="1736725" y="808101"/>
                  </a:lnTo>
                </a:path>
                <a:path w="2646679" h="1555750">
                  <a:moveTo>
                    <a:pt x="2522474" y="1497076"/>
                  </a:moveTo>
                  <a:lnTo>
                    <a:pt x="2522474" y="808101"/>
                  </a:lnTo>
                </a:path>
                <a:path w="2646679" h="1555750">
                  <a:moveTo>
                    <a:pt x="934974" y="1555750"/>
                  </a:moveTo>
                  <a:lnTo>
                    <a:pt x="133350" y="808101"/>
                  </a:lnTo>
                </a:path>
                <a:path w="2646679" h="1555750">
                  <a:moveTo>
                    <a:pt x="103124" y="1555750"/>
                  </a:moveTo>
                  <a:lnTo>
                    <a:pt x="966724" y="808101"/>
                  </a:lnTo>
                </a:path>
                <a:path w="2646679" h="1555750">
                  <a:moveTo>
                    <a:pt x="2538349" y="1528826"/>
                  </a:moveTo>
                  <a:lnTo>
                    <a:pt x="1736725" y="782701"/>
                  </a:lnTo>
                </a:path>
                <a:path w="2646679" h="1555750">
                  <a:moveTo>
                    <a:pt x="1704975" y="1528826"/>
                  </a:moveTo>
                  <a:lnTo>
                    <a:pt x="2568575" y="782701"/>
                  </a:lnTo>
                </a:path>
                <a:path w="2646679" h="1555750">
                  <a:moveTo>
                    <a:pt x="22225" y="789051"/>
                  </a:moveTo>
                  <a:lnTo>
                    <a:pt x="985774" y="0"/>
                  </a:lnTo>
                </a:path>
                <a:path w="2646679" h="1555750">
                  <a:moveTo>
                    <a:pt x="0" y="789051"/>
                  </a:moveTo>
                  <a:lnTo>
                    <a:pt x="1855724" y="41275"/>
                  </a:lnTo>
                </a:path>
                <a:path w="2646679" h="1555750">
                  <a:moveTo>
                    <a:pt x="966724" y="808101"/>
                  </a:moveTo>
                  <a:lnTo>
                    <a:pt x="1862074" y="31750"/>
                  </a:lnTo>
                </a:path>
                <a:path w="2646679" h="1555750">
                  <a:moveTo>
                    <a:pt x="1736725" y="808101"/>
                  </a:moveTo>
                  <a:lnTo>
                    <a:pt x="1862074" y="20700"/>
                  </a:lnTo>
                </a:path>
                <a:path w="2646679" h="1555750">
                  <a:moveTo>
                    <a:pt x="2646299" y="757301"/>
                  </a:moveTo>
                  <a:lnTo>
                    <a:pt x="1876425" y="20700"/>
                  </a:lnTo>
                </a:path>
                <a:path w="2646679" h="1555750">
                  <a:moveTo>
                    <a:pt x="2646299" y="776351"/>
                  </a:moveTo>
                  <a:lnTo>
                    <a:pt x="985774" y="126"/>
                  </a:lnTo>
                </a:path>
                <a:path w="2646679" h="1555750">
                  <a:moveTo>
                    <a:pt x="1736725" y="808101"/>
                  </a:moveTo>
                  <a:lnTo>
                    <a:pt x="985774" y="0"/>
                  </a:lnTo>
                </a:path>
                <a:path w="2646679" h="1555750">
                  <a:moveTo>
                    <a:pt x="966724" y="808101"/>
                  </a:moveTo>
                  <a:lnTo>
                    <a:pt x="985774" y="0"/>
                  </a:lnTo>
                </a:path>
              </a:pathLst>
            </a:custGeom>
            <a:ln w="9525">
              <a:solidFill>
                <a:srgbClr val="000000"/>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6094476" y="4344923"/>
              <a:ext cx="763587" cy="117475"/>
            </a:xfrm>
            <a:prstGeom prst="rect">
              <a:avLst/>
            </a:prstGeom>
          </p:spPr>
        </p:pic>
        <p:pic>
          <p:nvPicPr>
            <p:cNvPr id="11" name="object 11"/>
            <p:cNvPicPr/>
            <p:nvPr/>
          </p:nvPicPr>
          <p:blipFill>
            <a:blip r:embed="rId4" cstate="print"/>
            <a:stretch>
              <a:fillRect/>
            </a:stretch>
          </p:blipFill>
          <p:spPr>
            <a:xfrm>
              <a:off x="6927850" y="4344923"/>
              <a:ext cx="1533461" cy="117475"/>
            </a:xfrm>
            <a:prstGeom prst="rect">
              <a:avLst/>
            </a:prstGeom>
          </p:spPr>
        </p:pic>
        <p:pic>
          <p:nvPicPr>
            <p:cNvPr id="12" name="object 12"/>
            <p:cNvPicPr/>
            <p:nvPr/>
          </p:nvPicPr>
          <p:blipFill>
            <a:blip r:embed="rId3" cstate="print"/>
            <a:stretch>
              <a:fillRect/>
            </a:stretch>
          </p:blipFill>
          <p:spPr>
            <a:xfrm>
              <a:off x="8483600" y="4344923"/>
              <a:ext cx="763587" cy="117475"/>
            </a:xfrm>
            <a:prstGeom prst="rect">
              <a:avLst/>
            </a:prstGeom>
          </p:spPr>
        </p:pic>
        <p:pic>
          <p:nvPicPr>
            <p:cNvPr id="13" name="object 13"/>
            <p:cNvPicPr/>
            <p:nvPr/>
          </p:nvPicPr>
          <p:blipFill>
            <a:blip r:embed="rId3" cstate="print"/>
            <a:stretch>
              <a:fillRect/>
            </a:stretch>
          </p:blipFill>
          <p:spPr>
            <a:xfrm>
              <a:off x="6126226" y="3598863"/>
              <a:ext cx="763460" cy="115886"/>
            </a:xfrm>
            <a:prstGeom prst="rect">
              <a:avLst/>
            </a:prstGeom>
          </p:spPr>
        </p:pic>
        <p:pic>
          <p:nvPicPr>
            <p:cNvPr id="14" name="object 14"/>
            <p:cNvPicPr/>
            <p:nvPr/>
          </p:nvPicPr>
          <p:blipFill>
            <a:blip r:embed="rId4" cstate="print"/>
            <a:stretch>
              <a:fillRect/>
            </a:stretch>
          </p:blipFill>
          <p:spPr>
            <a:xfrm>
              <a:off x="6958584" y="3598863"/>
              <a:ext cx="1533207" cy="115886"/>
            </a:xfrm>
            <a:prstGeom prst="rect">
              <a:avLst/>
            </a:prstGeom>
          </p:spPr>
        </p:pic>
        <p:pic>
          <p:nvPicPr>
            <p:cNvPr id="15" name="object 15"/>
            <p:cNvPicPr/>
            <p:nvPr/>
          </p:nvPicPr>
          <p:blipFill>
            <a:blip r:embed="rId3" cstate="print"/>
            <a:stretch>
              <a:fillRect/>
            </a:stretch>
          </p:blipFill>
          <p:spPr>
            <a:xfrm>
              <a:off x="8513952" y="3598863"/>
              <a:ext cx="763460" cy="115886"/>
            </a:xfrm>
            <a:prstGeom prst="rect">
              <a:avLst/>
            </a:prstGeom>
          </p:spPr>
        </p:pic>
        <p:pic>
          <p:nvPicPr>
            <p:cNvPr id="16" name="object 16"/>
            <p:cNvPicPr/>
            <p:nvPr/>
          </p:nvPicPr>
          <p:blipFill>
            <a:blip r:embed="rId4" cstate="print"/>
            <a:stretch>
              <a:fillRect/>
            </a:stretch>
          </p:blipFill>
          <p:spPr>
            <a:xfrm>
              <a:off x="6976999" y="2906712"/>
              <a:ext cx="1533652" cy="115887"/>
            </a:xfrm>
            <a:prstGeom prst="rect">
              <a:avLst/>
            </a:prstGeom>
          </p:spPr>
        </p:pic>
        <p:sp>
          <p:nvSpPr>
            <p:cNvPr id="17" name="object 17"/>
            <p:cNvSpPr/>
            <p:nvPr/>
          </p:nvSpPr>
          <p:spPr>
            <a:xfrm>
              <a:off x="6122924" y="4422774"/>
              <a:ext cx="3096260" cy="932180"/>
            </a:xfrm>
            <a:custGeom>
              <a:avLst/>
              <a:gdLst/>
              <a:ahLst/>
              <a:cxnLst/>
              <a:rect l="l" t="t" r="r" b="b"/>
              <a:pathLst>
                <a:path w="3096259" h="932179">
                  <a:moveTo>
                    <a:pt x="126" y="0"/>
                  </a:moveTo>
                  <a:lnTo>
                    <a:pt x="126" y="906526"/>
                  </a:lnTo>
                </a:path>
                <a:path w="3096259" h="932179">
                  <a:moveTo>
                    <a:pt x="712851" y="908050"/>
                  </a:moveTo>
                  <a:lnTo>
                    <a:pt x="0" y="908050"/>
                  </a:lnTo>
                </a:path>
                <a:path w="3096259" h="932179">
                  <a:moveTo>
                    <a:pt x="714501" y="911225"/>
                  </a:moveTo>
                  <a:lnTo>
                    <a:pt x="714501" y="34925"/>
                  </a:lnTo>
                </a:path>
                <a:path w="3096259" h="932179">
                  <a:moveTo>
                    <a:pt x="804926" y="0"/>
                  </a:moveTo>
                  <a:lnTo>
                    <a:pt x="804926" y="908050"/>
                  </a:lnTo>
                </a:path>
                <a:path w="3096259" h="932179">
                  <a:moveTo>
                    <a:pt x="1519301" y="909701"/>
                  </a:moveTo>
                  <a:lnTo>
                    <a:pt x="804926" y="909701"/>
                  </a:lnTo>
                </a:path>
                <a:path w="3096259" h="932179">
                  <a:moveTo>
                    <a:pt x="1520952" y="912876"/>
                  </a:moveTo>
                  <a:lnTo>
                    <a:pt x="1520952" y="34925"/>
                  </a:lnTo>
                </a:path>
                <a:path w="3096259" h="932179">
                  <a:moveTo>
                    <a:pt x="1590802" y="12700"/>
                  </a:moveTo>
                  <a:lnTo>
                    <a:pt x="1590802" y="919226"/>
                  </a:lnTo>
                </a:path>
                <a:path w="3096259" h="932179">
                  <a:moveTo>
                    <a:pt x="2303526" y="920750"/>
                  </a:moveTo>
                  <a:lnTo>
                    <a:pt x="1590802" y="920750"/>
                  </a:lnTo>
                </a:path>
                <a:path w="3096259" h="932179">
                  <a:moveTo>
                    <a:pt x="2305177" y="923925"/>
                  </a:moveTo>
                  <a:lnTo>
                    <a:pt x="2305177" y="47625"/>
                  </a:lnTo>
                </a:path>
                <a:path w="3096259" h="932179">
                  <a:moveTo>
                    <a:pt x="2379726" y="20574"/>
                  </a:moveTo>
                  <a:lnTo>
                    <a:pt x="2379726" y="927100"/>
                  </a:lnTo>
                </a:path>
                <a:path w="3096259" h="932179">
                  <a:moveTo>
                    <a:pt x="3094101" y="928751"/>
                  </a:moveTo>
                  <a:lnTo>
                    <a:pt x="2379726" y="928751"/>
                  </a:lnTo>
                </a:path>
                <a:path w="3096259" h="932179">
                  <a:moveTo>
                    <a:pt x="3095752" y="931926"/>
                  </a:moveTo>
                  <a:lnTo>
                    <a:pt x="3095752" y="55499"/>
                  </a:lnTo>
                </a:path>
              </a:pathLst>
            </a:custGeom>
            <a:ln w="15875">
              <a:solidFill>
                <a:srgbClr val="000000"/>
              </a:solidFill>
            </a:ln>
          </p:spPr>
          <p:txBody>
            <a:bodyPr wrap="square" lIns="0" tIns="0" rIns="0" bIns="0" rtlCol="0"/>
            <a:lstStyle/>
            <a:p>
              <a:endParaRPr/>
            </a:p>
          </p:txBody>
        </p:sp>
      </p:grpSp>
      <p:sp>
        <p:nvSpPr>
          <p:cNvPr id="18" name="object 1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pic>
        <p:nvPicPr>
          <p:cNvPr id="19" name="object 19"/>
          <p:cNvPicPr/>
          <p:nvPr/>
        </p:nvPicPr>
        <p:blipFill>
          <a:blip r:embed="rId5" cstate="print"/>
          <a:stretch>
            <a:fillRect/>
          </a:stretch>
        </p:blipFill>
        <p:spPr>
          <a:xfrm>
            <a:off x="2477410" y="2829217"/>
            <a:ext cx="3381850" cy="246188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p:nvPr/>
        </p:nvSpPr>
        <p:spPr>
          <a:xfrm>
            <a:off x="6704076" y="4368800"/>
            <a:ext cx="2316480" cy="68580"/>
          </a:xfrm>
          <a:custGeom>
            <a:avLst/>
            <a:gdLst/>
            <a:ahLst/>
            <a:cxnLst/>
            <a:rect l="l" t="t" r="r" b="b"/>
            <a:pathLst>
              <a:path w="2316479" h="68579">
                <a:moveTo>
                  <a:pt x="0" y="0"/>
                </a:moveTo>
                <a:lnTo>
                  <a:pt x="2316099" y="0"/>
                </a:lnTo>
              </a:path>
              <a:path w="2316479" h="68579">
                <a:moveTo>
                  <a:pt x="0" y="34925"/>
                </a:moveTo>
                <a:lnTo>
                  <a:pt x="2316099" y="34925"/>
                </a:lnTo>
              </a:path>
              <a:path w="2316479" h="68579">
                <a:moveTo>
                  <a:pt x="0" y="68325"/>
                </a:moveTo>
                <a:lnTo>
                  <a:pt x="2316099" y="68325"/>
                </a:lnTo>
              </a:path>
            </a:pathLst>
          </a:custGeom>
          <a:ln w="12700">
            <a:solidFill>
              <a:srgbClr val="000000"/>
            </a:solidFill>
          </a:ln>
        </p:spPr>
        <p:txBody>
          <a:bodyPr wrap="square" lIns="0" tIns="0" rIns="0" bIns="0" rtlCol="0"/>
          <a:lstStyle/>
          <a:p>
            <a:endParaRPr/>
          </a:p>
        </p:txBody>
      </p:sp>
      <p:grpSp>
        <p:nvGrpSpPr>
          <p:cNvPr id="9" name="object 9"/>
          <p:cNvGrpSpPr/>
          <p:nvPr/>
        </p:nvGrpSpPr>
        <p:grpSpPr>
          <a:xfrm>
            <a:off x="6044466" y="1537019"/>
            <a:ext cx="3233420" cy="3822700"/>
            <a:chOff x="6044466" y="1537019"/>
            <a:chExt cx="3233420" cy="3822700"/>
          </a:xfrm>
        </p:grpSpPr>
        <p:sp>
          <p:nvSpPr>
            <p:cNvPr id="10" name="object 10"/>
            <p:cNvSpPr/>
            <p:nvPr/>
          </p:nvSpPr>
          <p:spPr>
            <a:xfrm>
              <a:off x="6507225" y="3714749"/>
              <a:ext cx="0" cy="688975"/>
            </a:xfrm>
            <a:custGeom>
              <a:avLst/>
              <a:gdLst/>
              <a:ahLst/>
              <a:cxnLst/>
              <a:rect l="l" t="t" r="r" b="b"/>
              <a:pathLst>
                <a:path h="688975">
                  <a:moveTo>
                    <a:pt x="0" y="688975"/>
                  </a:moveTo>
                  <a:lnTo>
                    <a:pt x="0" y="0"/>
                  </a:lnTo>
                </a:path>
              </a:pathLst>
            </a:custGeom>
            <a:ln w="9525">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6169024" y="4490974"/>
              <a:ext cx="639762" cy="800100"/>
            </a:xfrm>
            <a:prstGeom prst="rect">
              <a:avLst/>
            </a:prstGeom>
          </p:spPr>
        </p:pic>
        <p:pic>
          <p:nvPicPr>
            <p:cNvPr id="12" name="object 12"/>
            <p:cNvPicPr/>
            <p:nvPr/>
          </p:nvPicPr>
          <p:blipFill>
            <a:blip r:embed="rId3" cstate="print"/>
            <a:stretch>
              <a:fillRect/>
            </a:stretch>
          </p:blipFill>
          <p:spPr>
            <a:xfrm>
              <a:off x="6957948" y="4490974"/>
              <a:ext cx="639762" cy="800100"/>
            </a:xfrm>
            <a:prstGeom prst="rect">
              <a:avLst/>
            </a:prstGeom>
          </p:spPr>
        </p:pic>
        <p:pic>
          <p:nvPicPr>
            <p:cNvPr id="13" name="object 13"/>
            <p:cNvPicPr/>
            <p:nvPr/>
          </p:nvPicPr>
          <p:blipFill>
            <a:blip r:embed="rId3" cstate="print"/>
            <a:stretch>
              <a:fillRect/>
            </a:stretch>
          </p:blipFill>
          <p:spPr>
            <a:xfrm>
              <a:off x="7746999" y="4490974"/>
              <a:ext cx="639762" cy="800100"/>
            </a:xfrm>
            <a:prstGeom prst="rect">
              <a:avLst/>
            </a:prstGeom>
          </p:spPr>
        </p:pic>
        <p:pic>
          <p:nvPicPr>
            <p:cNvPr id="14" name="object 14"/>
            <p:cNvPicPr/>
            <p:nvPr/>
          </p:nvPicPr>
          <p:blipFill>
            <a:blip r:embed="rId3" cstate="print"/>
            <a:stretch>
              <a:fillRect/>
            </a:stretch>
          </p:blipFill>
          <p:spPr>
            <a:xfrm>
              <a:off x="8536050" y="4490974"/>
              <a:ext cx="639635" cy="800100"/>
            </a:xfrm>
            <a:prstGeom prst="rect">
              <a:avLst/>
            </a:prstGeom>
          </p:spPr>
        </p:pic>
        <p:sp>
          <p:nvSpPr>
            <p:cNvPr id="15" name="object 15"/>
            <p:cNvSpPr/>
            <p:nvPr/>
          </p:nvSpPr>
          <p:spPr>
            <a:xfrm>
              <a:off x="6373875" y="2906649"/>
              <a:ext cx="2646680" cy="1555750"/>
            </a:xfrm>
            <a:custGeom>
              <a:avLst/>
              <a:gdLst/>
              <a:ahLst/>
              <a:cxnLst/>
              <a:rect l="l" t="t" r="r" b="b"/>
              <a:pathLst>
                <a:path w="2646679" h="1555750">
                  <a:moveTo>
                    <a:pt x="966724" y="1497076"/>
                  </a:moveTo>
                  <a:lnTo>
                    <a:pt x="966724" y="808101"/>
                  </a:lnTo>
                </a:path>
                <a:path w="2646679" h="1555750">
                  <a:moveTo>
                    <a:pt x="1736725" y="1497076"/>
                  </a:moveTo>
                  <a:lnTo>
                    <a:pt x="1736725" y="808101"/>
                  </a:lnTo>
                </a:path>
                <a:path w="2646679" h="1555750">
                  <a:moveTo>
                    <a:pt x="2522474" y="1497076"/>
                  </a:moveTo>
                  <a:lnTo>
                    <a:pt x="2522474" y="808101"/>
                  </a:lnTo>
                </a:path>
                <a:path w="2646679" h="1555750">
                  <a:moveTo>
                    <a:pt x="934974" y="1555750"/>
                  </a:moveTo>
                  <a:lnTo>
                    <a:pt x="133350" y="808101"/>
                  </a:lnTo>
                </a:path>
                <a:path w="2646679" h="1555750">
                  <a:moveTo>
                    <a:pt x="103124" y="1555750"/>
                  </a:moveTo>
                  <a:lnTo>
                    <a:pt x="966724" y="808101"/>
                  </a:lnTo>
                </a:path>
                <a:path w="2646679" h="1555750">
                  <a:moveTo>
                    <a:pt x="2538349" y="1528826"/>
                  </a:moveTo>
                  <a:lnTo>
                    <a:pt x="1736725" y="782701"/>
                  </a:lnTo>
                </a:path>
                <a:path w="2646679" h="1555750">
                  <a:moveTo>
                    <a:pt x="1704975" y="1528826"/>
                  </a:moveTo>
                  <a:lnTo>
                    <a:pt x="2568575" y="782701"/>
                  </a:lnTo>
                </a:path>
                <a:path w="2646679" h="1555750">
                  <a:moveTo>
                    <a:pt x="22225" y="789051"/>
                  </a:moveTo>
                  <a:lnTo>
                    <a:pt x="985774" y="0"/>
                  </a:lnTo>
                </a:path>
                <a:path w="2646679" h="1555750">
                  <a:moveTo>
                    <a:pt x="0" y="789051"/>
                  </a:moveTo>
                  <a:lnTo>
                    <a:pt x="1855724" y="41275"/>
                  </a:lnTo>
                </a:path>
                <a:path w="2646679" h="1555750">
                  <a:moveTo>
                    <a:pt x="966724" y="808101"/>
                  </a:moveTo>
                  <a:lnTo>
                    <a:pt x="1862074" y="31750"/>
                  </a:lnTo>
                </a:path>
                <a:path w="2646679" h="1555750">
                  <a:moveTo>
                    <a:pt x="1736725" y="808101"/>
                  </a:moveTo>
                  <a:lnTo>
                    <a:pt x="1862074" y="20700"/>
                  </a:lnTo>
                </a:path>
                <a:path w="2646679" h="1555750">
                  <a:moveTo>
                    <a:pt x="2646299" y="757301"/>
                  </a:moveTo>
                  <a:lnTo>
                    <a:pt x="1876425" y="20700"/>
                  </a:lnTo>
                </a:path>
                <a:path w="2646679" h="1555750">
                  <a:moveTo>
                    <a:pt x="2646299" y="776351"/>
                  </a:moveTo>
                  <a:lnTo>
                    <a:pt x="985774" y="126"/>
                  </a:lnTo>
                </a:path>
                <a:path w="2646679" h="1555750">
                  <a:moveTo>
                    <a:pt x="1736725" y="808101"/>
                  </a:moveTo>
                  <a:lnTo>
                    <a:pt x="985774" y="0"/>
                  </a:lnTo>
                </a:path>
                <a:path w="2646679" h="1555750">
                  <a:moveTo>
                    <a:pt x="966724" y="808101"/>
                  </a:moveTo>
                  <a:lnTo>
                    <a:pt x="985774" y="0"/>
                  </a:lnTo>
                </a:path>
              </a:pathLst>
            </a:custGeom>
            <a:ln w="9525">
              <a:solidFill>
                <a:srgbClr val="000000"/>
              </a:solidFill>
            </a:ln>
          </p:spPr>
          <p:txBody>
            <a:bodyPr wrap="square" lIns="0" tIns="0" rIns="0" bIns="0" rtlCol="0"/>
            <a:lstStyle/>
            <a:p>
              <a:endParaRPr/>
            </a:p>
          </p:txBody>
        </p:sp>
        <p:pic>
          <p:nvPicPr>
            <p:cNvPr id="16" name="object 16"/>
            <p:cNvPicPr/>
            <p:nvPr/>
          </p:nvPicPr>
          <p:blipFill>
            <a:blip r:embed="rId4" cstate="print"/>
            <a:stretch>
              <a:fillRect/>
            </a:stretch>
          </p:blipFill>
          <p:spPr>
            <a:xfrm>
              <a:off x="6094475" y="4344924"/>
              <a:ext cx="763587" cy="117475"/>
            </a:xfrm>
            <a:prstGeom prst="rect">
              <a:avLst/>
            </a:prstGeom>
          </p:spPr>
        </p:pic>
        <p:pic>
          <p:nvPicPr>
            <p:cNvPr id="17" name="object 17"/>
            <p:cNvPicPr/>
            <p:nvPr/>
          </p:nvPicPr>
          <p:blipFill>
            <a:blip r:embed="rId5" cstate="print"/>
            <a:stretch>
              <a:fillRect/>
            </a:stretch>
          </p:blipFill>
          <p:spPr>
            <a:xfrm>
              <a:off x="6927849" y="4344924"/>
              <a:ext cx="1533461" cy="117475"/>
            </a:xfrm>
            <a:prstGeom prst="rect">
              <a:avLst/>
            </a:prstGeom>
          </p:spPr>
        </p:pic>
        <p:pic>
          <p:nvPicPr>
            <p:cNvPr id="18" name="object 18"/>
            <p:cNvPicPr/>
            <p:nvPr/>
          </p:nvPicPr>
          <p:blipFill>
            <a:blip r:embed="rId4" cstate="print"/>
            <a:stretch>
              <a:fillRect/>
            </a:stretch>
          </p:blipFill>
          <p:spPr>
            <a:xfrm>
              <a:off x="8483599" y="4344924"/>
              <a:ext cx="763587" cy="117475"/>
            </a:xfrm>
            <a:prstGeom prst="rect">
              <a:avLst/>
            </a:prstGeom>
          </p:spPr>
        </p:pic>
        <p:pic>
          <p:nvPicPr>
            <p:cNvPr id="19" name="object 19"/>
            <p:cNvPicPr/>
            <p:nvPr/>
          </p:nvPicPr>
          <p:blipFill>
            <a:blip r:embed="rId4" cstate="print"/>
            <a:stretch>
              <a:fillRect/>
            </a:stretch>
          </p:blipFill>
          <p:spPr>
            <a:xfrm>
              <a:off x="6126225" y="3598863"/>
              <a:ext cx="763460" cy="115886"/>
            </a:xfrm>
            <a:prstGeom prst="rect">
              <a:avLst/>
            </a:prstGeom>
          </p:spPr>
        </p:pic>
        <p:pic>
          <p:nvPicPr>
            <p:cNvPr id="20" name="object 20"/>
            <p:cNvPicPr/>
            <p:nvPr/>
          </p:nvPicPr>
          <p:blipFill>
            <a:blip r:embed="rId5" cstate="print"/>
            <a:stretch>
              <a:fillRect/>
            </a:stretch>
          </p:blipFill>
          <p:spPr>
            <a:xfrm>
              <a:off x="6958583" y="3598863"/>
              <a:ext cx="1533207" cy="115886"/>
            </a:xfrm>
            <a:prstGeom prst="rect">
              <a:avLst/>
            </a:prstGeom>
          </p:spPr>
        </p:pic>
        <p:pic>
          <p:nvPicPr>
            <p:cNvPr id="21" name="object 21"/>
            <p:cNvPicPr/>
            <p:nvPr/>
          </p:nvPicPr>
          <p:blipFill>
            <a:blip r:embed="rId4" cstate="print"/>
            <a:stretch>
              <a:fillRect/>
            </a:stretch>
          </p:blipFill>
          <p:spPr>
            <a:xfrm>
              <a:off x="8513952" y="3598863"/>
              <a:ext cx="763460" cy="115886"/>
            </a:xfrm>
            <a:prstGeom prst="rect">
              <a:avLst/>
            </a:prstGeom>
          </p:spPr>
        </p:pic>
        <p:pic>
          <p:nvPicPr>
            <p:cNvPr id="22" name="object 22"/>
            <p:cNvPicPr/>
            <p:nvPr/>
          </p:nvPicPr>
          <p:blipFill>
            <a:blip r:embed="rId5" cstate="print"/>
            <a:stretch>
              <a:fillRect/>
            </a:stretch>
          </p:blipFill>
          <p:spPr>
            <a:xfrm>
              <a:off x="6976998" y="2906712"/>
              <a:ext cx="1533652" cy="115887"/>
            </a:xfrm>
            <a:prstGeom prst="rect">
              <a:avLst/>
            </a:prstGeom>
          </p:spPr>
        </p:pic>
        <p:sp>
          <p:nvSpPr>
            <p:cNvPr id="23" name="object 23"/>
            <p:cNvSpPr/>
            <p:nvPr/>
          </p:nvSpPr>
          <p:spPr>
            <a:xfrm>
              <a:off x="6122923" y="4422774"/>
              <a:ext cx="3096260" cy="932180"/>
            </a:xfrm>
            <a:custGeom>
              <a:avLst/>
              <a:gdLst/>
              <a:ahLst/>
              <a:cxnLst/>
              <a:rect l="l" t="t" r="r" b="b"/>
              <a:pathLst>
                <a:path w="3096259" h="932179">
                  <a:moveTo>
                    <a:pt x="126" y="0"/>
                  </a:moveTo>
                  <a:lnTo>
                    <a:pt x="126" y="906526"/>
                  </a:lnTo>
                </a:path>
                <a:path w="3096259" h="932179">
                  <a:moveTo>
                    <a:pt x="712851" y="908050"/>
                  </a:moveTo>
                  <a:lnTo>
                    <a:pt x="0" y="908050"/>
                  </a:lnTo>
                </a:path>
                <a:path w="3096259" h="932179">
                  <a:moveTo>
                    <a:pt x="714501" y="911225"/>
                  </a:moveTo>
                  <a:lnTo>
                    <a:pt x="714501" y="34925"/>
                  </a:lnTo>
                </a:path>
                <a:path w="3096259" h="932179">
                  <a:moveTo>
                    <a:pt x="804926" y="0"/>
                  </a:moveTo>
                  <a:lnTo>
                    <a:pt x="804926" y="908050"/>
                  </a:lnTo>
                </a:path>
                <a:path w="3096259" h="932179">
                  <a:moveTo>
                    <a:pt x="1519301" y="909701"/>
                  </a:moveTo>
                  <a:lnTo>
                    <a:pt x="804926" y="909701"/>
                  </a:lnTo>
                </a:path>
                <a:path w="3096259" h="932179">
                  <a:moveTo>
                    <a:pt x="1520952" y="912876"/>
                  </a:moveTo>
                  <a:lnTo>
                    <a:pt x="1520952" y="34925"/>
                  </a:lnTo>
                </a:path>
                <a:path w="3096259" h="932179">
                  <a:moveTo>
                    <a:pt x="1590802" y="12700"/>
                  </a:moveTo>
                  <a:lnTo>
                    <a:pt x="1590802" y="919226"/>
                  </a:lnTo>
                </a:path>
                <a:path w="3096259" h="932179">
                  <a:moveTo>
                    <a:pt x="2303526" y="920750"/>
                  </a:moveTo>
                  <a:lnTo>
                    <a:pt x="1590802" y="920750"/>
                  </a:lnTo>
                </a:path>
                <a:path w="3096259" h="932179">
                  <a:moveTo>
                    <a:pt x="2305177" y="923925"/>
                  </a:moveTo>
                  <a:lnTo>
                    <a:pt x="2305177" y="47625"/>
                  </a:lnTo>
                </a:path>
                <a:path w="3096259" h="932179">
                  <a:moveTo>
                    <a:pt x="2379726" y="20574"/>
                  </a:moveTo>
                  <a:lnTo>
                    <a:pt x="2379726" y="927100"/>
                  </a:lnTo>
                </a:path>
                <a:path w="3096259" h="932179">
                  <a:moveTo>
                    <a:pt x="3094101" y="928751"/>
                  </a:moveTo>
                  <a:lnTo>
                    <a:pt x="2379726" y="928751"/>
                  </a:lnTo>
                </a:path>
                <a:path w="3096259" h="932179">
                  <a:moveTo>
                    <a:pt x="3095752" y="931926"/>
                  </a:moveTo>
                  <a:lnTo>
                    <a:pt x="3095752" y="55499"/>
                  </a:lnTo>
                </a:path>
              </a:pathLst>
            </a:custGeom>
            <a:ln w="15875">
              <a:solidFill>
                <a:srgbClr val="000000"/>
              </a:solidFill>
            </a:ln>
          </p:spPr>
          <p:txBody>
            <a:bodyPr wrap="square" lIns="0" tIns="0" rIns="0" bIns="0" rtlCol="0"/>
            <a:lstStyle/>
            <a:p>
              <a:endParaRPr/>
            </a:p>
          </p:txBody>
        </p:sp>
        <p:sp>
          <p:nvSpPr>
            <p:cNvPr id="24" name="object 24"/>
            <p:cNvSpPr/>
            <p:nvPr/>
          </p:nvSpPr>
          <p:spPr>
            <a:xfrm>
              <a:off x="7359649" y="2230501"/>
              <a:ext cx="751205" cy="717550"/>
            </a:xfrm>
            <a:custGeom>
              <a:avLst/>
              <a:gdLst/>
              <a:ahLst/>
              <a:cxnLst/>
              <a:rect l="l" t="t" r="r" b="b"/>
              <a:pathLst>
                <a:path w="751204" h="717550">
                  <a:moveTo>
                    <a:pt x="0" y="676275"/>
                  </a:moveTo>
                  <a:lnTo>
                    <a:pt x="387350" y="0"/>
                  </a:lnTo>
                </a:path>
                <a:path w="751204" h="717550">
                  <a:moveTo>
                    <a:pt x="750951" y="717550"/>
                  </a:moveTo>
                  <a:lnTo>
                    <a:pt x="484250" y="0"/>
                  </a:lnTo>
                </a:path>
              </a:pathLst>
            </a:custGeom>
            <a:ln w="9525">
              <a:solidFill>
                <a:srgbClr val="000000"/>
              </a:solidFill>
            </a:ln>
          </p:spPr>
          <p:txBody>
            <a:bodyPr wrap="square" lIns="0" tIns="0" rIns="0" bIns="0" rtlCol="0"/>
            <a:lstStyle/>
            <a:p>
              <a:endParaRPr/>
            </a:p>
          </p:txBody>
        </p:sp>
        <p:sp>
          <p:nvSpPr>
            <p:cNvPr id="25" name="object 25"/>
            <p:cNvSpPr/>
            <p:nvPr/>
          </p:nvSpPr>
          <p:spPr>
            <a:xfrm>
              <a:off x="6044466" y="1537019"/>
              <a:ext cx="3106420" cy="776605"/>
            </a:xfrm>
            <a:custGeom>
              <a:avLst/>
              <a:gdLst/>
              <a:ahLst/>
              <a:cxnLst/>
              <a:rect l="l" t="t" r="r" b="b"/>
              <a:pathLst>
                <a:path w="3106420" h="776605">
                  <a:moveTo>
                    <a:pt x="1874580" y="0"/>
                  </a:moveTo>
                  <a:lnTo>
                    <a:pt x="1821623" y="2779"/>
                  </a:lnTo>
                  <a:lnTo>
                    <a:pt x="1770947" y="8552"/>
                  </a:lnTo>
                  <a:lnTo>
                    <a:pt x="1723737" y="17182"/>
                  </a:lnTo>
                  <a:lnTo>
                    <a:pt x="1681181" y="28535"/>
                  </a:lnTo>
                  <a:lnTo>
                    <a:pt x="1644466" y="42473"/>
                  </a:lnTo>
                  <a:lnTo>
                    <a:pt x="1614776" y="58862"/>
                  </a:lnTo>
                  <a:lnTo>
                    <a:pt x="1594365" y="52531"/>
                  </a:lnTo>
                  <a:lnTo>
                    <a:pt x="1549732" y="41395"/>
                  </a:lnTo>
                  <a:lnTo>
                    <a:pt x="1473815" y="28845"/>
                  </a:lnTo>
                  <a:lnTo>
                    <a:pt x="1420445" y="23844"/>
                  </a:lnTo>
                  <a:lnTo>
                    <a:pt x="1366443" y="21548"/>
                  </a:lnTo>
                  <a:lnTo>
                    <a:pt x="1312607" y="21878"/>
                  </a:lnTo>
                  <a:lnTo>
                    <a:pt x="1259739" y="24749"/>
                  </a:lnTo>
                  <a:lnTo>
                    <a:pt x="1208641" y="30079"/>
                  </a:lnTo>
                  <a:lnTo>
                    <a:pt x="1160112" y="37787"/>
                  </a:lnTo>
                  <a:lnTo>
                    <a:pt x="1114954" y="47789"/>
                  </a:lnTo>
                  <a:lnTo>
                    <a:pt x="1073969" y="60003"/>
                  </a:lnTo>
                  <a:lnTo>
                    <a:pt x="1037955" y="74347"/>
                  </a:lnTo>
                  <a:lnTo>
                    <a:pt x="1007716" y="90739"/>
                  </a:lnTo>
                  <a:lnTo>
                    <a:pt x="959685" y="82341"/>
                  </a:lnTo>
                  <a:lnTo>
                    <a:pt x="909517" y="75842"/>
                  </a:lnTo>
                  <a:lnTo>
                    <a:pt x="857697" y="71276"/>
                  </a:lnTo>
                  <a:lnTo>
                    <a:pt x="804714" y="68678"/>
                  </a:lnTo>
                  <a:lnTo>
                    <a:pt x="751053" y="68084"/>
                  </a:lnTo>
                  <a:lnTo>
                    <a:pt x="697201" y="69530"/>
                  </a:lnTo>
                  <a:lnTo>
                    <a:pt x="626861" y="74599"/>
                  </a:lnTo>
                  <a:lnTo>
                    <a:pt x="561116" y="82895"/>
                  </a:lnTo>
                  <a:lnTo>
                    <a:pt x="500607" y="94131"/>
                  </a:lnTo>
                  <a:lnTo>
                    <a:pt x="445975" y="108021"/>
                  </a:lnTo>
                  <a:lnTo>
                    <a:pt x="397860" y="124278"/>
                  </a:lnTo>
                  <a:lnTo>
                    <a:pt x="356903" y="142615"/>
                  </a:lnTo>
                  <a:lnTo>
                    <a:pt x="323745" y="162744"/>
                  </a:lnTo>
                  <a:lnTo>
                    <a:pt x="283387" y="207236"/>
                  </a:lnTo>
                  <a:lnTo>
                    <a:pt x="277468" y="231024"/>
                  </a:lnTo>
                  <a:lnTo>
                    <a:pt x="281911" y="255458"/>
                  </a:lnTo>
                  <a:lnTo>
                    <a:pt x="279244" y="257871"/>
                  </a:lnTo>
                  <a:lnTo>
                    <a:pt x="221397" y="261801"/>
                  </a:lnTo>
                  <a:lnTo>
                    <a:pt x="167445" y="269284"/>
                  </a:lnTo>
                  <a:lnTo>
                    <a:pt x="118694" y="280036"/>
                  </a:lnTo>
                  <a:lnTo>
                    <a:pt x="76446" y="293768"/>
                  </a:lnTo>
                  <a:lnTo>
                    <a:pt x="42008" y="310195"/>
                  </a:lnTo>
                  <a:lnTo>
                    <a:pt x="0" y="356225"/>
                  </a:lnTo>
                  <a:lnTo>
                    <a:pt x="2493" y="379711"/>
                  </a:lnTo>
                  <a:lnTo>
                    <a:pt x="19760" y="402344"/>
                  </a:lnTo>
                  <a:lnTo>
                    <a:pt x="51131" y="423249"/>
                  </a:lnTo>
                  <a:lnTo>
                    <a:pt x="95939" y="441550"/>
                  </a:lnTo>
                  <a:lnTo>
                    <a:pt x="153514" y="456372"/>
                  </a:lnTo>
                  <a:lnTo>
                    <a:pt x="112562" y="474933"/>
                  </a:lnTo>
                  <a:lnTo>
                    <a:pt x="84696" y="495805"/>
                  </a:lnTo>
                  <a:lnTo>
                    <a:pt x="70664" y="518201"/>
                  </a:lnTo>
                  <a:lnTo>
                    <a:pt x="71218" y="541335"/>
                  </a:lnTo>
                  <a:lnTo>
                    <a:pt x="109830" y="581510"/>
                  </a:lnTo>
                  <a:lnTo>
                    <a:pt x="144705" y="598311"/>
                  </a:lnTo>
                  <a:lnTo>
                    <a:pt x="188090" y="612423"/>
                  </a:lnTo>
                  <a:lnTo>
                    <a:pt x="238583" y="623475"/>
                  </a:lnTo>
                  <a:lnTo>
                    <a:pt x="294782" y="631096"/>
                  </a:lnTo>
                  <a:lnTo>
                    <a:pt x="355285" y="634912"/>
                  </a:lnTo>
                  <a:lnTo>
                    <a:pt x="418690" y="634553"/>
                  </a:lnTo>
                  <a:lnTo>
                    <a:pt x="424532" y="637982"/>
                  </a:lnTo>
                  <a:lnTo>
                    <a:pt x="491792" y="668721"/>
                  </a:lnTo>
                  <a:lnTo>
                    <a:pt x="530895" y="681879"/>
                  </a:lnTo>
                  <a:lnTo>
                    <a:pt x="573136" y="693518"/>
                  </a:lnTo>
                  <a:lnTo>
                    <a:pt x="618132" y="703606"/>
                  </a:lnTo>
                  <a:lnTo>
                    <a:pt x="665502" y="712109"/>
                  </a:lnTo>
                  <a:lnTo>
                    <a:pt x="714861" y="718995"/>
                  </a:lnTo>
                  <a:lnTo>
                    <a:pt x="765829" y="724231"/>
                  </a:lnTo>
                  <a:lnTo>
                    <a:pt x="818021" y="727783"/>
                  </a:lnTo>
                  <a:lnTo>
                    <a:pt x="871055" y="729619"/>
                  </a:lnTo>
                  <a:lnTo>
                    <a:pt x="924549" y="729706"/>
                  </a:lnTo>
                  <a:lnTo>
                    <a:pt x="978119" y="728011"/>
                  </a:lnTo>
                  <a:lnTo>
                    <a:pt x="1031384" y="724501"/>
                  </a:lnTo>
                  <a:lnTo>
                    <a:pt x="1083960" y="719143"/>
                  </a:lnTo>
                  <a:lnTo>
                    <a:pt x="1135465" y="711904"/>
                  </a:lnTo>
                  <a:lnTo>
                    <a:pt x="1185516" y="702752"/>
                  </a:lnTo>
                  <a:lnTo>
                    <a:pt x="1226523" y="720841"/>
                  </a:lnTo>
                  <a:lnTo>
                    <a:pt x="1274058" y="736729"/>
                  </a:lnTo>
                  <a:lnTo>
                    <a:pt x="1327367" y="750227"/>
                  </a:lnTo>
                  <a:lnTo>
                    <a:pt x="1385692" y="761147"/>
                  </a:lnTo>
                  <a:lnTo>
                    <a:pt x="1448279" y="769300"/>
                  </a:lnTo>
                  <a:lnTo>
                    <a:pt x="1507584" y="774067"/>
                  </a:lnTo>
                  <a:lnTo>
                    <a:pt x="1566837" y="776245"/>
                  </a:lnTo>
                  <a:lnTo>
                    <a:pt x="1625469" y="775938"/>
                  </a:lnTo>
                  <a:lnTo>
                    <a:pt x="1682914" y="773248"/>
                  </a:lnTo>
                  <a:lnTo>
                    <a:pt x="1738605" y="768278"/>
                  </a:lnTo>
                  <a:lnTo>
                    <a:pt x="1791974" y="761132"/>
                  </a:lnTo>
                  <a:lnTo>
                    <a:pt x="1842455" y="751911"/>
                  </a:lnTo>
                  <a:lnTo>
                    <a:pt x="1889480" y="740720"/>
                  </a:lnTo>
                  <a:lnTo>
                    <a:pt x="1932483" y="727662"/>
                  </a:lnTo>
                  <a:lnTo>
                    <a:pt x="1970896" y="712838"/>
                  </a:lnTo>
                  <a:lnTo>
                    <a:pt x="2031685" y="678309"/>
                  </a:lnTo>
                  <a:lnTo>
                    <a:pt x="2052926" y="658810"/>
                  </a:lnTo>
                  <a:lnTo>
                    <a:pt x="2103444" y="667912"/>
                  </a:lnTo>
                  <a:lnTo>
                    <a:pt x="2156939" y="674574"/>
                  </a:lnTo>
                  <a:lnTo>
                    <a:pt x="2212625" y="678687"/>
                  </a:lnTo>
                  <a:lnTo>
                    <a:pt x="2269715" y="680146"/>
                  </a:lnTo>
                  <a:lnTo>
                    <a:pt x="2337157" y="678483"/>
                  </a:lnTo>
                  <a:lnTo>
                    <a:pt x="2401216" y="673306"/>
                  </a:lnTo>
                  <a:lnTo>
                    <a:pt x="2461030" y="664903"/>
                  </a:lnTo>
                  <a:lnTo>
                    <a:pt x="2515739" y="653561"/>
                  </a:lnTo>
                  <a:lnTo>
                    <a:pt x="2564482" y="639569"/>
                  </a:lnTo>
                  <a:lnTo>
                    <a:pt x="2606397" y="623215"/>
                  </a:lnTo>
                  <a:lnTo>
                    <a:pt x="2640624" y="604787"/>
                  </a:lnTo>
                  <a:lnTo>
                    <a:pt x="2682567" y="562860"/>
                  </a:lnTo>
                  <a:lnTo>
                    <a:pt x="2688561" y="539938"/>
                  </a:lnTo>
                  <a:lnTo>
                    <a:pt x="2737650" y="536653"/>
                  </a:lnTo>
                  <a:lnTo>
                    <a:pt x="2785313" y="531704"/>
                  </a:lnTo>
                  <a:lnTo>
                    <a:pt x="2831189" y="525134"/>
                  </a:lnTo>
                  <a:lnTo>
                    <a:pt x="2874920" y="516984"/>
                  </a:lnTo>
                  <a:lnTo>
                    <a:pt x="2916145" y="507299"/>
                  </a:lnTo>
                  <a:lnTo>
                    <a:pt x="2974857" y="489239"/>
                  </a:lnTo>
                  <a:lnTo>
                    <a:pt x="3023005" y="468755"/>
                  </a:lnTo>
                  <a:lnTo>
                    <a:pt x="3060404" y="446324"/>
                  </a:lnTo>
                  <a:lnTo>
                    <a:pt x="3102216" y="397539"/>
                  </a:lnTo>
                  <a:lnTo>
                    <a:pt x="3106258" y="372141"/>
                  </a:lnTo>
                  <a:lnTo>
                    <a:pt x="3098810" y="346711"/>
                  </a:lnTo>
                  <a:lnTo>
                    <a:pt x="3079688" y="321728"/>
                  </a:lnTo>
                  <a:lnTo>
                    <a:pt x="3048707" y="297670"/>
                  </a:lnTo>
                  <a:lnTo>
                    <a:pt x="3005680" y="275016"/>
                  </a:lnTo>
                  <a:lnTo>
                    <a:pt x="3012665" y="269428"/>
                  </a:lnTo>
                  <a:lnTo>
                    <a:pt x="3018507" y="263713"/>
                  </a:lnTo>
                  <a:lnTo>
                    <a:pt x="3023206" y="257871"/>
                  </a:lnTo>
                  <a:lnTo>
                    <a:pt x="3035318" y="234663"/>
                  </a:lnTo>
                  <a:lnTo>
                    <a:pt x="3035159" y="211741"/>
                  </a:lnTo>
                  <a:lnTo>
                    <a:pt x="3001065" y="168571"/>
                  </a:lnTo>
                  <a:lnTo>
                    <a:pt x="2926996" y="132000"/>
                  </a:lnTo>
                  <a:lnTo>
                    <a:pt x="2876869" y="117325"/>
                  </a:lnTo>
                  <a:lnTo>
                    <a:pt x="2819023" y="105663"/>
                  </a:lnTo>
                  <a:lnTo>
                    <a:pt x="2754220" y="97470"/>
                  </a:lnTo>
                  <a:lnTo>
                    <a:pt x="2738448" y="77650"/>
                  </a:lnTo>
                  <a:lnTo>
                    <a:pt x="2678853" y="42534"/>
                  </a:lnTo>
                  <a:lnTo>
                    <a:pt x="2636364" y="28001"/>
                  </a:lnTo>
                  <a:lnTo>
                    <a:pt x="2590256" y="16764"/>
                  </a:lnTo>
                  <a:lnTo>
                    <a:pt x="2540772" y="8409"/>
                  </a:lnTo>
                  <a:lnTo>
                    <a:pt x="2488922" y="2907"/>
                  </a:lnTo>
                  <a:lnTo>
                    <a:pt x="2435718" y="229"/>
                  </a:lnTo>
                  <a:lnTo>
                    <a:pt x="2382173" y="346"/>
                  </a:lnTo>
                  <a:lnTo>
                    <a:pt x="2329299" y="3230"/>
                  </a:lnTo>
                  <a:lnTo>
                    <a:pt x="2278108" y="8850"/>
                  </a:lnTo>
                  <a:lnTo>
                    <a:pt x="2229610" y="17178"/>
                  </a:lnTo>
                  <a:lnTo>
                    <a:pt x="2184820" y="28186"/>
                  </a:lnTo>
                  <a:lnTo>
                    <a:pt x="2144747" y="41844"/>
                  </a:lnTo>
                  <a:lnTo>
                    <a:pt x="2121409" y="32521"/>
                  </a:lnTo>
                  <a:lnTo>
                    <a:pt x="2066398" y="17019"/>
                  </a:lnTo>
                  <a:lnTo>
                    <a:pt x="1982592" y="3966"/>
                  </a:lnTo>
                  <a:lnTo>
                    <a:pt x="1928632" y="350"/>
                  </a:lnTo>
                  <a:lnTo>
                    <a:pt x="1874580" y="0"/>
                  </a:lnTo>
                  <a:close/>
                </a:path>
              </a:pathLst>
            </a:custGeom>
            <a:solidFill>
              <a:srgbClr val="2C7B9F"/>
            </a:solidFill>
          </p:spPr>
          <p:txBody>
            <a:bodyPr wrap="square" lIns="0" tIns="0" rIns="0" bIns="0" rtlCol="0"/>
            <a:lstStyle/>
            <a:p>
              <a:endParaRPr/>
            </a:p>
          </p:txBody>
        </p:sp>
      </p:grpSp>
      <p:sp>
        <p:nvSpPr>
          <p:cNvPr id="26" name="object 2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Datacenter</a:t>
            </a:r>
            <a:r>
              <a:rPr spc="-145" dirty="0"/>
              <a:t> </a:t>
            </a:r>
            <a:r>
              <a:rPr spc="-100" dirty="0"/>
              <a:t>architecture</a:t>
            </a:r>
          </a:p>
        </p:txBody>
      </p:sp>
      <p:sp>
        <p:nvSpPr>
          <p:cNvPr id="27" name="object 27"/>
          <p:cNvSpPr txBox="1"/>
          <p:nvPr/>
        </p:nvSpPr>
        <p:spPr>
          <a:xfrm>
            <a:off x="2445257" y="1937384"/>
            <a:ext cx="3271520" cy="2988945"/>
          </a:xfrm>
          <a:prstGeom prst="rect">
            <a:avLst/>
          </a:prstGeom>
        </p:spPr>
        <p:txBody>
          <a:bodyPr vert="horz" wrap="square" lIns="0" tIns="12700" rIns="0" bIns="0" rtlCol="0">
            <a:spAutoFit/>
          </a:bodyPr>
          <a:lstStyle/>
          <a:p>
            <a:pPr marL="193675" marR="128270" indent="-180975">
              <a:lnSpc>
                <a:spcPct val="120000"/>
              </a:lnSpc>
              <a:spcBef>
                <a:spcPts val="100"/>
              </a:spcBef>
              <a:buClr>
                <a:srgbClr val="2C7B9F"/>
              </a:buClr>
              <a:buSzPct val="83333"/>
              <a:buFont typeface="Arial MT"/>
              <a:buChar char="•"/>
              <a:tabLst>
                <a:tab pos="927100" algn="l"/>
              </a:tabLst>
            </a:pPr>
            <a:r>
              <a:rPr sz="1800" dirty="0">
                <a:solidFill>
                  <a:srgbClr val="3D5078"/>
                </a:solidFill>
                <a:latin typeface="Calibri"/>
                <a:cs typeface="Calibri"/>
              </a:rPr>
              <a:t>the</a:t>
            </a:r>
            <a:r>
              <a:rPr sz="1800" spc="-20" dirty="0">
                <a:solidFill>
                  <a:srgbClr val="3D5078"/>
                </a:solidFill>
                <a:latin typeface="Calibri"/>
                <a:cs typeface="Calibri"/>
              </a:rPr>
              <a:t> </a:t>
            </a:r>
            <a:r>
              <a:rPr sz="1800" spc="-10" dirty="0">
                <a:solidFill>
                  <a:srgbClr val="3D5078"/>
                </a:solidFill>
                <a:latin typeface="Calibri"/>
                <a:cs typeface="Calibri"/>
              </a:rPr>
              <a:t>Internet/backbone</a:t>
            </a:r>
            <a:r>
              <a:rPr sz="1800" spc="-25" dirty="0">
                <a:solidFill>
                  <a:srgbClr val="3D5078"/>
                </a:solidFill>
                <a:latin typeface="Calibri"/>
                <a:cs typeface="Calibri"/>
              </a:rPr>
              <a:t> </a:t>
            </a:r>
            <a:r>
              <a:rPr sz="1800" spc="-10" dirty="0">
                <a:solidFill>
                  <a:srgbClr val="3D5078"/>
                </a:solidFill>
                <a:latin typeface="Calibri"/>
                <a:cs typeface="Calibri"/>
              </a:rPr>
              <a:t>network 	interconnected</a:t>
            </a:r>
            <a:r>
              <a:rPr sz="1800" spc="-50" dirty="0">
                <a:solidFill>
                  <a:srgbClr val="3D5078"/>
                </a:solidFill>
                <a:latin typeface="Calibri"/>
                <a:cs typeface="Calibri"/>
              </a:rPr>
              <a:t> </a:t>
            </a:r>
            <a:r>
              <a:rPr sz="1800" spc="-25" dirty="0">
                <a:solidFill>
                  <a:srgbClr val="3D5078"/>
                </a:solidFill>
                <a:latin typeface="Calibri"/>
                <a:cs typeface="Calibri"/>
              </a:rPr>
              <a:t>to…</a:t>
            </a:r>
            <a:endParaRPr sz="1800">
              <a:latin typeface="Calibri"/>
              <a:cs typeface="Calibri"/>
            </a:endParaRPr>
          </a:p>
          <a:p>
            <a:pPr marL="193675" indent="-180975">
              <a:lnSpc>
                <a:spcPct val="100000"/>
              </a:lnSpc>
              <a:spcBef>
                <a:spcPts val="430"/>
              </a:spcBef>
              <a:buClr>
                <a:srgbClr val="2C7B9F"/>
              </a:buClr>
              <a:buSzPct val="83333"/>
              <a:buFont typeface="Arial MT"/>
              <a:buChar char="•"/>
              <a:tabLst>
                <a:tab pos="193675" algn="l"/>
              </a:tabLst>
            </a:pPr>
            <a:r>
              <a:rPr sz="1800" dirty="0">
                <a:solidFill>
                  <a:srgbClr val="3D5078"/>
                </a:solidFill>
                <a:latin typeface="Calibri"/>
                <a:cs typeface="Calibri"/>
              </a:rPr>
              <a:t>100s</a:t>
            </a:r>
            <a:r>
              <a:rPr sz="1800" spc="-45" dirty="0">
                <a:solidFill>
                  <a:srgbClr val="3D5078"/>
                </a:solidFill>
                <a:latin typeface="Calibri"/>
                <a:cs typeface="Calibri"/>
              </a:rPr>
              <a:t> </a:t>
            </a:r>
            <a:r>
              <a:rPr sz="1800" dirty="0">
                <a:solidFill>
                  <a:srgbClr val="3D5078"/>
                </a:solidFill>
                <a:latin typeface="Calibri"/>
                <a:cs typeface="Calibri"/>
              </a:rPr>
              <a:t>core</a:t>
            </a:r>
            <a:r>
              <a:rPr sz="1800" spc="-25" dirty="0">
                <a:solidFill>
                  <a:srgbClr val="3D5078"/>
                </a:solidFill>
                <a:latin typeface="Calibri"/>
                <a:cs typeface="Calibri"/>
              </a:rPr>
              <a:t> </a:t>
            </a:r>
            <a:r>
              <a:rPr sz="1800" spc="-10" dirty="0">
                <a:solidFill>
                  <a:srgbClr val="3D5078"/>
                </a:solidFill>
                <a:latin typeface="Calibri"/>
                <a:cs typeface="Calibri"/>
              </a:rPr>
              <a:t>switches</a:t>
            </a:r>
            <a:endParaRPr sz="1800">
              <a:latin typeface="Calibri"/>
              <a:cs typeface="Calibri"/>
            </a:endParaRPr>
          </a:p>
          <a:p>
            <a:pPr marR="491490" algn="r">
              <a:lnSpc>
                <a:spcPct val="100000"/>
              </a:lnSpc>
              <a:spcBef>
                <a:spcPts val="434"/>
              </a:spcBef>
            </a:pPr>
            <a:r>
              <a:rPr sz="1800" spc="-10" dirty="0">
                <a:solidFill>
                  <a:srgbClr val="3D5078"/>
                </a:solidFill>
                <a:latin typeface="Calibri"/>
                <a:cs typeface="Calibri"/>
              </a:rPr>
              <a:t>interconnected</a:t>
            </a:r>
            <a:r>
              <a:rPr sz="1800" spc="-50" dirty="0">
                <a:solidFill>
                  <a:srgbClr val="3D5078"/>
                </a:solidFill>
                <a:latin typeface="Calibri"/>
                <a:cs typeface="Calibri"/>
              </a:rPr>
              <a:t> </a:t>
            </a:r>
            <a:r>
              <a:rPr sz="1800" spc="-25" dirty="0">
                <a:solidFill>
                  <a:srgbClr val="3D5078"/>
                </a:solidFill>
                <a:latin typeface="Calibri"/>
                <a:cs typeface="Calibri"/>
              </a:rPr>
              <a:t>by…</a:t>
            </a:r>
            <a:endParaRPr sz="1800">
              <a:latin typeface="Calibri"/>
              <a:cs typeface="Calibri"/>
            </a:endParaRPr>
          </a:p>
          <a:p>
            <a:pPr marL="180975" marR="513715" indent="-180975" algn="r">
              <a:lnSpc>
                <a:spcPct val="100000"/>
              </a:lnSpc>
              <a:spcBef>
                <a:spcPts val="430"/>
              </a:spcBef>
              <a:buClr>
                <a:srgbClr val="2C7B9F"/>
              </a:buClr>
              <a:buSzPct val="83333"/>
              <a:buFont typeface="Arial MT"/>
              <a:buChar char="•"/>
              <a:tabLst>
                <a:tab pos="180975" algn="l"/>
              </a:tabLst>
            </a:pPr>
            <a:r>
              <a:rPr sz="1800" dirty="0">
                <a:solidFill>
                  <a:srgbClr val="3D5078"/>
                </a:solidFill>
                <a:latin typeface="Calibri"/>
                <a:cs typeface="Calibri"/>
              </a:rPr>
              <a:t>1000s</a:t>
            </a:r>
            <a:r>
              <a:rPr sz="1800" spc="-35" dirty="0">
                <a:solidFill>
                  <a:srgbClr val="3D5078"/>
                </a:solidFill>
                <a:latin typeface="Calibri"/>
                <a:cs typeface="Calibri"/>
              </a:rPr>
              <a:t> </a:t>
            </a:r>
            <a:r>
              <a:rPr sz="1800" spc="-10" dirty="0">
                <a:solidFill>
                  <a:srgbClr val="3D5078"/>
                </a:solidFill>
                <a:latin typeface="Calibri"/>
                <a:cs typeface="Calibri"/>
              </a:rPr>
              <a:t>aggregation switches</a:t>
            </a:r>
            <a:endParaRPr sz="1800">
              <a:latin typeface="Calibri"/>
              <a:cs typeface="Calibri"/>
            </a:endParaRPr>
          </a:p>
          <a:p>
            <a:pPr marR="491490" algn="r">
              <a:lnSpc>
                <a:spcPct val="100000"/>
              </a:lnSpc>
              <a:spcBef>
                <a:spcPts val="434"/>
              </a:spcBef>
            </a:pPr>
            <a:r>
              <a:rPr sz="1800" spc="-10" dirty="0">
                <a:solidFill>
                  <a:srgbClr val="3D5078"/>
                </a:solidFill>
                <a:latin typeface="Calibri"/>
                <a:cs typeface="Calibri"/>
              </a:rPr>
              <a:t>interconnected</a:t>
            </a:r>
            <a:r>
              <a:rPr sz="1800" spc="-50" dirty="0">
                <a:solidFill>
                  <a:srgbClr val="3D5078"/>
                </a:solidFill>
                <a:latin typeface="Calibri"/>
                <a:cs typeface="Calibri"/>
              </a:rPr>
              <a:t> </a:t>
            </a:r>
            <a:r>
              <a:rPr sz="1800" spc="-25" dirty="0">
                <a:solidFill>
                  <a:srgbClr val="3D5078"/>
                </a:solidFill>
                <a:latin typeface="Calibri"/>
                <a:cs typeface="Calibri"/>
              </a:rPr>
              <a:t>by…</a:t>
            </a:r>
            <a:endParaRPr sz="1800">
              <a:latin typeface="Calibri"/>
              <a:cs typeface="Calibri"/>
            </a:endParaRPr>
          </a:p>
          <a:p>
            <a:pPr marL="193675" marR="5080" indent="-180975">
              <a:lnSpc>
                <a:spcPct val="120000"/>
              </a:lnSpc>
              <a:buClr>
                <a:srgbClr val="2C7B9F"/>
              </a:buClr>
              <a:buSzPct val="83333"/>
              <a:buFont typeface="Arial MT"/>
              <a:buChar char="•"/>
              <a:tabLst>
                <a:tab pos="927100" algn="l"/>
              </a:tabLst>
            </a:pPr>
            <a:r>
              <a:rPr sz="1800" dirty="0">
                <a:solidFill>
                  <a:srgbClr val="3D5078"/>
                </a:solidFill>
                <a:latin typeface="Calibri"/>
                <a:cs typeface="Calibri"/>
              </a:rPr>
              <a:t>1000s</a:t>
            </a:r>
            <a:r>
              <a:rPr sz="1800" spc="-40" dirty="0">
                <a:solidFill>
                  <a:srgbClr val="3D5078"/>
                </a:solidFill>
                <a:latin typeface="Calibri"/>
                <a:cs typeface="Calibri"/>
              </a:rPr>
              <a:t> </a:t>
            </a:r>
            <a:r>
              <a:rPr sz="1800" spc="-10" dirty="0">
                <a:solidFill>
                  <a:srgbClr val="3D5078"/>
                </a:solidFill>
                <a:latin typeface="Calibri"/>
                <a:cs typeface="Calibri"/>
              </a:rPr>
              <a:t>top-of-</a:t>
            </a:r>
            <a:r>
              <a:rPr sz="1800" dirty="0">
                <a:solidFill>
                  <a:srgbClr val="3D5078"/>
                </a:solidFill>
                <a:latin typeface="Calibri"/>
                <a:cs typeface="Calibri"/>
              </a:rPr>
              <a:t>rack</a:t>
            </a:r>
            <a:r>
              <a:rPr sz="1800" spc="350" dirty="0">
                <a:solidFill>
                  <a:srgbClr val="3D5078"/>
                </a:solidFill>
                <a:latin typeface="Calibri"/>
                <a:cs typeface="Calibri"/>
              </a:rPr>
              <a:t> </a:t>
            </a:r>
            <a:r>
              <a:rPr sz="1800" spc="-25" dirty="0">
                <a:solidFill>
                  <a:srgbClr val="3D5078"/>
                </a:solidFill>
                <a:latin typeface="Calibri"/>
                <a:cs typeface="Calibri"/>
              </a:rPr>
              <a:t>(ToR)</a:t>
            </a:r>
            <a:r>
              <a:rPr sz="1800" spc="-20" dirty="0">
                <a:solidFill>
                  <a:srgbClr val="3D5078"/>
                </a:solidFill>
                <a:latin typeface="Calibri"/>
                <a:cs typeface="Calibri"/>
              </a:rPr>
              <a:t> </a:t>
            </a:r>
            <a:r>
              <a:rPr sz="1800" spc="-10" dirty="0">
                <a:solidFill>
                  <a:srgbClr val="3D5078"/>
                </a:solidFill>
                <a:latin typeface="Calibri"/>
                <a:cs typeface="Calibri"/>
              </a:rPr>
              <a:t>switches 	interconnected</a:t>
            </a:r>
            <a:r>
              <a:rPr sz="1800" spc="-50" dirty="0">
                <a:solidFill>
                  <a:srgbClr val="3D5078"/>
                </a:solidFill>
                <a:latin typeface="Calibri"/>
                <a:cs typeface="Calibri"/>
              </a:rPr>
              <a:t> </a:t>
            </a:r>
            <a:r>
              <a:rPr sz="1800" spc="-25" dirty="0">
                <a:solidFill>
                  <a:srgbClr val="3D5078"/>
                </a:solidFill>
                <a:latin typeface="Calibri"/>
                <a:cs typeface="Calibri"/>
              </a:rPr>
              <a:t>by…</a:t>
            </a:r>
            <a:endParaRPr sz="1800">
              <a:latin typeface="Calibri"/>
              <a:cs typeface="Calibri"/>
            </a:endParaRPr>
          </a:p>
          <a:p>
            <a:pPr marL="193675" indent="-180975">
              <a:lnSpc>
                <a:spcPct val="100000"/>
              </a:lnSpc>
              <a:spcBef>
                <a:spcPts val="430"/>
              </a:spcBef>
              <a:buClr>
                <a:srgbClr val="2C7B9F"/>
              </a:buClr>
              <a:buSzPct val="83333"/>
              <a:buFont typeface="Arial MT"/>
              <a:buChar char="•"/>
              <a:tabLst>
                <a:tab pos="193675" algn="l"/>
              </a:tabLst>
            </a:pPr>
            <a:r>
              <a:rPr sz="1800" dirty="0">
                <a:solidFill>
                  <a:srgbClr val="3D5078"/>
                </a:solidFill>
                <a:latin typeface="Calibri"/>
                <a:cs typeface="Calibri"/>
              </a:rPr>
              <a:t>100.000</a:t>
            </a:r>
            <a:r>
              <a:rPr sz="1800" spc="-40" dirty="0">
                <a:solidFill>
                  <a:srgbClr val="3D5078"/>
                </a:solidFill>
                <a:latin typeface="Calibri"/>
                <a:cs typeface="Calibri"/>
              </a:rPr>
              <a:t> </a:t>
            </a:r>
            <a:r>
              <a:rPr sz="1800" dirty="0">
                <a:solidFill>
                  <a:srgbClr val="3D5078"/>
                </a:solidFill>
                <a:latin typeface="Calibri"/>
                <a:cs typeface="Calibri"/>
              </a:rPr>
              <a:t>servers</a:t>
            </a:r>
            <a:r>
              <a:rPr sz="1800" spc="-50" dirty="0">
                <a:solidFill>
                  <a:srgbClr val="3D5078"/>
                </a:solidFill>
                <a:latin typeface="Calibri"/>
                <a:cs typeface="Calibri"/>
              </a:rPr>
              <a:t> </a:t>
            </a:r>
            <a:r>
              <a:rPr sz="1800" dirty="0">
                <a:solidFill>
                  <a:srgbClr val="3D5078"/>
                </a:solidFill>
                <a:latin typeface="Calibri"/>
                <a:cs typeface="Calibri"/>
              </a:rPr>
              <a:t>(placed</a:t>
            </a:r>
            <a:r>
              <a:rPr sz="1800" spc="-5" dirty="0">
                <a:solidFill>
                  <a:srgbClr val="3D5078"/>
                </a:solidFill>
                <a:latin typeface="Calibri"/>
                <a:cs typeface="Calibri"/>
              </a:rPr>
              <a:t> </a:t>
            </a:r>
            <a:r>
              <a:rPr sz="1800" dirty="0">
                <a:solidFill>
                  <a:srgbClr val="3D5078"/>
                </a:solidFill>
                <a:latin typeface="Calibri"/>
                <a:cs typeface="Calibri"/>
              </a:rPr>
              <a:t>in</a:t>
            </a:r>
            <a:r>
              <a:rPr sz="1800" spc="-30" dirty="0">
                <a:solidFill>
                  <a:srgbClr val="3D5078"/>
                </a:solidFill>
                <a:latin typeface="Calibri"/>
                <a:cs typeface="Calibri"/>
              </a:rPr>
              <a:t> </a:t>
            </a:r>
            <a:r>
              <a:rPr sz="1800" spc="-10" dirty="0">
                <a:solidFill>
                  <a:srgbClr val="3D5078"/>
                </a:solidFill>
                <a:latin typeface="Calibri"/>
                <a:cs typeface="Calibri"/>
              </a:rPr>
              <a:t>racks)</a:t>
            </a:r>
            <a:endParaRPr sz="1800">
              <a:latin typeface="Calibri"/>
              <a:cs typeface="Calibri"/>
            </a:endParaRPr>
          </a:p>
        </p:txBody>
      </p:sp>
      <p:sp>
        <p:nvSpPr>
          <p:cNvPr id="28" name="object 28"/>
          <p:cNvSpPr txBox="1"/>
          <p:nvPr/>
        </p:nvSpPr>
        <p:spPr>
          <a:xfrm>
            <a:off x="6962902" y="1689608"/>
            <a:ext cx="105156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Calibri"/>
                <a:cs typeface="Calibri"/>
              </a:rPr>
              <a:t>Internet</a:t>
            </a:r>
            <a:endParaRPr sz="2400">
              <a:latin typeface="Calibri"/>
              <a:cs typeface="Calibri"/>
            </a:endParaRPr>
          </a:p>
        </p:txBody>
      </p:sp>
      <p:pic>
        <p:nvPicPr>
          <p:cNvPr id="29" name="object 29"/>
          <p:cNvPicPr/>
          <p:nvPr/>
        </p:nvPicPr>
        <p:blipFill>
          <a:blip r:embed="rId6" cstate="print"/>
          <a:stretch>
            <a:fillRect/>
          </a:stretch>
        </p:blipFill>
        <p:spPr>
          <a:xfrm>
            <a:off x="2324989" y="1995170"/>
            <a:ext cx="3610483" cy="341998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Datacentre</a:t>
            </a:r>
            <a:r>
              <a:rPr spc="-175" dirty="0"/>
              <a:t> </a:t>
            </a:r>
            <a:r>
              <a:rPr spc="-120" dirty="0"/>
              <a:t>Physical</a:t>
            </a:r>
            <a:r>
              <a:rPr spc="-180" dirty="0"/>
              <a:t> </a:t>
            </a:r>
            <a:r>
              <a:rPr spc="-90" dirty="0"/>
              <a:t>Architecture</a:t>
            </a:r>
          </a:p>
        </p:txBody>
      </p:sp>
      <p:sp>
        <p:nvSpPr>
          <p:cNvPr id="3" name="object 3"/>
          <p:cNvSpPr txBox="1"/>
          <p:nvPr/>
        </p:nvSpPr>
        <p:spPr>
          <a:xfrm>
            <a:off x="9187942" y="6502095"/>
            <a:ext cx="205740" cy="240029"/>
          </a:xfrm>
          <a:prstGeom prst="rect">
            <a:avLst/>
          </a:prstGeom>
        </p:spPr>
        <p:txBody>
          <a:bodyPr vert="horz" wrap="square" lIns="0" tIns="13335" rIns="0" bIns="0" rtlCol="0">
            <a:spAutoFit/>
          </a:bodyPr>
          <a:lstStyle/>
          <a:p>
            <a:pPr marL="12700">
              <a:lnSpc>
                <a:spcPct val="100000"/>
              </a:lnSpc>
              <a:spcBef>
                <a:spcPts val="105"/>
              </a:spcBef>
            </a:pPr>
            <a:r>
              <a:rPr sz="1400" b="1" spc="-25" dirty="0">
                <a:solidFill>
                  <a:srgbClr val="174A5B"/>
                </a:solidFill>
                <a:latin typeface="Calibri"/>
                <a:cs typeface="Calibri"/>
              </a:rPr>
              <a:t>33</a:t>
            </a:r>
            <a:endParaRPr sz="1400">
              <a:latin typeface="Calibri"/>
              <a:cs typeface="Calibri"/>
            </a:endParaRPr>
          </a:p>
        </p:txBody>
      </p:sp>
      <p:sp>
        <p:nvSpPr>
          <p:cNvPr id="4" name="object 4"/>
          <p:cNvSpPr txBox="1"/>
          <p:nvPr/>
        </p:nvSpPr>
        <p:spPr>
          <a:xfrm>
            <a:off x="2839847" y="6554520"/>
            <a:ext cx="3393440" cy="269240"/>
          </a:xfrm>
          <a:prstGeom prst="rect">
            <a:avLst/>
          </a:prstGeom>
        </p:spPr>
        <p:txBody>
          <a:bodyPr vert="horz" wrap="square" lIns="0" tIns="12065" rIns="0" bIns="0" rtlCol="0">
            <a:spAutoFit/>
          </a:bodyPr>
          <a:lstStyle/>
          <a:p>
            <a:pPr marL="38100">
              <a:lnSpc>
                <a:spcPct val="100000"/>
              </a:lnSpc>
              <a:spcBef>
                <a:spcPts val="95"/>
              </a:spcBef>
            </a:pPr>
            <a:r>
              <a:rPr sz="1600" b="1" spc="-165" dirty="0">
                <a:latin typeface="Arial"/>
                <a:cs typeface="Arial"/>
              </a:rPr>
              <a:t>Source:</a:t>
            </a:r>
            <a:r>
              <a:rPr sz="1600" b="1" spc="-100" dirty="0">
                <a:latin typeface="Arial"/>
                <a:cs typeface="Arial"/>
              </a:rPr>
              <a:t> </a:t>
            </a:r>
            <a:r>
              <a:rPr sz="1600" b="1" spc="-165" dirty="0">
                <a:latin typeface="Arial"/>
                <a:cs typeface="Arial"/>
              </a:rPr>
              <a:t>Datacenter</a:t>
            </a:r>
            <a:r>
              <a:rPr sz="1600" b="1" spc="-105" dirty="0">
                <a:latin typeface="Arial"/>
                <a:cs typeface="Arial"/>
              </a:rPr>
              <a:t> </a:t>
            </a:r>
            <a:r>
              <a:rPr sz="1600" b="1" spc="-170" dirty="0">
                <a:latin typeface="Arial"/>
                <a:cs typeface="Arial"/>
              </a:rPr>
              <a:t>as</a:t>
            </a:r>
            <a:r>
              <a:rPr sz="1600" b="1" spc="-95" dirty="0">
                <a:latin typeface="Arial"/>
                <a:cs typeface="Arial"/>
              </a:rPr>
              <a:t> </a:t>
            </a:r>
            <a:r>
              <a:rPr sz="1600" b="1" spc="-165" dirty="0">
                <a:latin typeface="Arial"/>
                <a:cs typeface="Arial"/>
              </a:rPr>
              <a:t>a</a:t>
            </a:r>
            <a:r>
              <a:rPr sz="1600" b="1" spc="-85" dirty="0">
                <a:latin typeface="Arial"/>
                <a:cs typeface="Arial"/>
              </a:rPr>
              <a:t> </a:t>
            </a:r>
            <a:r>
              <a:rPr sz="1600" b="1" spc="-180" dirty="0">
                <a:latin typeface="Arial"/>
                <a:cs typeface="Arial"/>
              </a:rPr>
              <a:t>Computer,</a:t>
            </a:r>
            <a:r>
              <a:rPr sz="1600" b="1" spc="-90" dirty="0">
                <a:latin typeface="Arial"/>
                <a:cs typeface="Arial"/>
              </a:rPr>
              <a:t> </a:t>
            </a:r>
            <a:r>
              <a:rPr sz="1600" b="1" spc="-30" dirty="0">
                <a:latin typeface="Arial"/>
                <a:cs typeface="Arial"/>
              </a:rPr>
              <a:t>3</a:t>
            </a:r>
            <a:r>
              <a:rPr sz="1575" b="1" spc="-44" baseline="26455" dirty="0">
                <a:latin typeface="Arial"/>
                <a:cs typeface="Arial"/>
              </a:rPr>
              <a:t>rd</a:t>
            </a:r>
            <a:r>
              <a:rPr sz="1575" b="1" spc="540" baseline="26455" dirty="0">
                <a:latin typeface="Arial"/>
                <a:cs typeface="Arial"/>
              </a:rPr>
              <a:t> </a:t>
            </a:r>
            <a:r>
              <a:rPr sz="1600" b="1" spc="-25" dirty="0">
                <a:latin typeface="Arial"/>
                <a:cs typeface="Arial"/>
              </a:rPr>
              <a:t>Ed</a:t>
            </a:r>
            <a:endParaRPr sz="1600">
              <a:latin typeface="Arial"/>
              <a:cs typeface="Arial"/>
            </a:endParaRPr>
          </a:p>
        </p:txBody>
      </p:sp>
      <p:pic>
        <p:nvPicPr>
          <p:cNvPr id="5" name="object 5"/>
          <p:cNvPicPr/>
          <p:nvPr/>
        </p:nvPicPr>
        <p:blipFill>
          <a:blip r:embed="rId2" cstate="print"/>
          <a:stretch>
            <a:fillRect/>
          </a:stretch>
        </p:blipFill>
        <p:spPr>
          <a:xfrm>
            <a:off x="1536700" y="1398650"/>
            <a:ext cx="6505575" cy="46909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sp>
        <p:nvSpPr>
          <p:cNvPr id="3" name="object 3"/>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grpSp>
        <p:nvGrpSpPr>
          <p:cNvPr id="4" name="object 4"/>
          <p:cNvGrpSpPr/>
          <p:nvPr/>
        </p:nvGrpSpPr>
        <p:grpSpPr>
          <a:xfrm>
            <a:off x="7842250" y="44450"/>
            <a:ext cx="2063750" cy="473075"/>
            <a:chOff x="7842250" y="44450"/>
            <a:chExt cx="2063750" cy="473075"/>
          </a:xfrm>
        </p:grpSpPr>
        <p:sp>
          <p:nvSpPr>
            <p:cNvPr id="5" name="object 5"/>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Datacentre</a:t>
            </a:r>
            <a:r>
              <a:rPr spc="-195" dirty="0"/>
              <a:t> </a:t>
            </a:r>
            <a:r>
              <a:rPr spc="-105" dirty="0"/>
              <a:t>shared</a:t>
            </a:r>
            <a:r>
              <a:rPr spc="-185" dirty="0"/>
              <a:t> </a:t>
            </a:r>
            <a:r>
              <a:rPr spc="-85" dirty="0"/>
              <a:t>resources</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r>
              <a:rPr spc="-25" dirty="0"/>
              <a:t>35</a:t>
            </a:r>
          </a:p>
        </p:txBody>
      </p:sp>
      <p:pic>
        <p:nvPicPr>
          <p:cNvPr id="9" name="object 9"/>
          <p:cNvPicPr/>
          <p:nvPr/>
        </p:nvPicPr>
        <p:blipFill>
          <a:blip r:embed="rId3" cstate="print"/>
          <a:stretch>
            <a:fillRect/>
          </a:stretch>
        </p:blipFill>
        <p:spPr>
          <a:xfrm>
            <a:off x="1179512" y="1304201"/>
            <a:ext cx="8291449" cy="4821161"/>
          </a:xfrm>
          <a:prstGeom prst="rect">
            <a:avLst/>
          </a:prstGeom>
        </p:spPr>
      </p:pic>
      <p:sp>
        <p:nvSpPr>
          <p:cNvPr id="10" name="object 10"/>
          <p:cNvSpPr txBox="1"/>
          <p:nvPr/>
        </p:nvSpPr>
        <p:spPr>
          <a:xfrm>
            <a:off x="993216" y="1735850"/>
            <a:ext cx="473709" cy="3087370"/>
          </a:xfrm>
          <a:prstGeom prst="rect">
            <a:avLst/>
          </a:prstGeom>
        </p:spPr>
        <p:txBody>
          <a:bodyPr vert="vert270" wrap="square" lIns="0" tIns="0" rIns="0" bIns="0" rtlCol="0">
            <a:spAutoFit/>
          </a:bodyPr>
          <a:lstStyle/>
          <a:p>
            <a:pPr marL="12700">
              <a:lnSpc>
                <a:spcPts val="1614"/>
              </a:lnSpc>
            </a:pPr>
            <a:r>
              <a:rPr sz="1600" dirty="0">
                <a:solidFill>
                  <a:srgbClr val="231F20"/>
                </a:solidFill>
                <a:latin typeface="Calibri"/>
                <a:cs typeface="Calibri"/>
              </a:rPr>
              <a:t>Relative</a:t>
            </a:r>
            <a:r>
              <a:rPr sz="1600" spc="254" dirty="0">
                <a:solidFill>
                  <a:srgbClr val="231F20"/>
                </a:solidFill>
                <a:latin typeface="Calibri"/>
                <a:cs typeface="Calibri"/>
              </a:rPr>
              <a:t> </a:t>
            </a:r>
            <a:r>
              <a:rPr sz="1600" spc="-10" dirty="0">
                <a:solidFill>
                  <a:srgbClr val="231F20"/>
                </a:solidFill>
                <a:latin typeface="Calibri"/>
                <a:cs typeface="Calibri"/>
              </a:rPr>
              <a:t>latency/bandwidth/capacity</a:t>
            </a:r>
            <a:endParaRPr sz="1600">
              <a:latin typeface="Calibri"/>
              <a:cs typeface="Calibri"/>
            </a:endParaRPr>
          </a:p>
          <a:p>
            <a:pPr marL="12700">
              <a:lnSpc>
                <a:spcPct val="100000"/>
              </a:lnSpc>
              <a:spcBef>
                <a:spcPts val="10"/>
              </a:spcBef>
            </a:pPr>
            <a:r>
              <a:rPr sz="1600" dirty="0">
                <a:solidFill>
                  <a:srgbClr val="231F20"/>
                </a:solidFill>
                <a:latin typeface="Calibri"/>
                <a:cs typeface="Calibri"/>
              </a:rPr>
              <a:t>of</a:t>
            </a:r>
            <a:r>
              <a:rPr sz="1600" spc="-55" dirty="0">
                <a:solidFill>
                  <a:srgbClr val="231F20"/>
                </a:solidFill>
                <a:latin typeface="Calibri"/>
                <a:cs typeface="Calibri"/>
              </a:rPr>
              <a:t> </a:t>
            </a:r>
            <a:r>
              <a:rPr sz="1600" dirty="0">
                <a:solidFill>
                  <a:srgbClr val="231F20"/>
                </a:solidFill>
                <a:latin typeface="Calibri"/>
                <a:cs typeface="Calibri"/>
              </a:rPr>
              <a:t>each</a:t>
            </a:r>
            <a:r>
              <a:rPr sz="1600" spc="-60" dirty="0">
                <a:solidFill>
                  <a:srgbClr val="231F20"/>
                </a:solidFill>
                <a:latin typeface="Calibri"/>
                <a:cs typeface="Calibri"/>
              </a:rPr>
              <a:t> </a:t>
            </a:r>
            <a:r>
              <a:rPr sz="1600" dirty="0">
                <a:solidFill>
                  <a:srgbClr val="231F20"/>
                </a:solidFill>
                <a:latin typeface="Calibri"/>
                <a:cs typeface="Calibri"/>
              </a:rPr>
              <a:t>resource</a:t>
            </a:r>
            <a:r>
              <a:rPr sz="1600" spc="-20" dirty="0">
                <a:solidFill>
                  <a:srgbClr val="231F20"/>
                </a:solidFill>
                <a:latin typeface="Calibri"/>
                <a:cs typeface="Calibri"/>
              </a:rPr>
              <a:t> pool</a:t>
            </a:r>
            <a:endParaRPr sz="16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77061"/>
            <a:ext cx="8702040" cy="4215130"/>
          </a:xfrm>
          <a:prstGeom prst="rect">
            <a:avLst/>
          </a:prstGeom>
        </p:spPr>
        <p:txBody>
          <a:bodyPr vert="horz" wrap="square" lIns="0" tIns="88900" rIns="0" bIns="0" rtlCol="0">
            <a:spAutoFit/>
          </a:bodyPr>
          <a:lstStyle/>
          <a:p>
            <a:pPr marL="195580" indent="-182880">
              <a:lnSpc>
                <a:spcPct val="100000"/>
              </a:lnSpc>
              <a:spcBef>
                <a:spcPts val="700"/>
              </a:spcBef>
              <a:buClr>
                <a:srgbClr val="2C7B9F"/>
              </a:buClr>
              <a:buSzPct val="85416"/>
              <a:buFont typeface="Arial MT"/>
              <a:buChar char="•"/>
              <a:tabLst>
                <a:tab pos="195580" algn="l"/>
              </a:tabLst>
            </a:pPr>
            <a:r>
              <a:rPr sz="2400" spc="-10" dirty="0">
                <a:latin typeface="Calibri"/>
                <a:cs typeface="Calibri"/>
              </a:rPr>
              <a:t>Datacentres</a:t>
            </a:r>
            <a:r>
              <a:rPr sz="2400" spc="-50" dirty="0">
                <a:latin typeface="Calibri"/>
                <a:cs typeface="Calibri"/>
              </a:rPr>
              <a:t> </a:t>
            </a:r>
            <a:r>
              <a:rPr sz="2400" dirty="0">
                <a:latin typeface="Calibri"/>
                <a:cs typeface="Calibri"/>
              </a:rPr>
              <a:t>typically</a:t>
            </a:r>
            <a:r>
              <a:rPr sz="2400" spc="-45" dirty="0">
                <a:latin typeface="Calibri"/>
                <a:cs typeface="Calibri"/>
              </a:rPr>
              <a:t> </a:t>
            </a:r>
            <a:r>
              <a:rPr sz="2400" dirty="0">
                <a:latin typeface="Calibri"/>
                <a:cs typeface="Calibri"/>
              </a:rPr>
              <a:t>run</a:t>
            </a:r>
            <a:r>
              <a:rPr sz="2400" spc="-30" dirty="0">
                <a:latin typeface="Calibri"/>
                <a:cs typeface="Calibri"/>
              </a:rPr>
              <a:t> </a:t>
            </a:r>
            <a:r>
              <a:rPr sz="2400" dirty="0">
                <a:latin typeface="Calibri"/>
                <a:cs typeface="Calibri"/>
              </a:rPr>
              <a:t>two</a:t>
            </a:r>
            <a:r>
              <a:rPr sz="2400" spc="-35" dirty="0">
                <a:latin typeface="Calibri"/>
                <a:cs typeface="Calibri"/>
              </a:rPr>
              <a:t> </a:t>
            </a:r>
            <a:r>
              <a:rPr sz="2400" dirty="0">
                <a:latin typeface="Calibri"/>
                <a:cs typeface="Calibri"/>
              </a:rPr>
              <a:t>types</a:t>
            </a:r>
            <a:r>
              <a:rPr sz="2400" spc="-30" dirty="0">
                <a:latin typeface="Calibri"/>
                <a:cs typeface="Calibri"/>
              </a:rPr>
              <a:t> </a:t>
            </a:r>
            <a:r>
              <a:rPr sz="2400" dirty="0">
                <a:latin typeface="Calibri"/>
                <a:cs typeface="Calibri"/>
              </a:rPr>
              <a:t>of</a:t>
            </a:r>
            <a:r>
              <a:rPr sz="2400" spc="-15" dirty="0">
                <a:latin typeface="Calibri"/>
                <a:cs typeface="Calibri"/>
              </a:rPr>
              <a:t> </a:t>
            </a:r>
            <a:r>
              <a:rPr sz="2400" spc="-10" dirty="0">
                <a:latin typeface="Calibri"/>
                <a:cs typeface="Calibri"/>
              </a:rPr>
              <a:t>applications</a:t>
            </a:r>
            <a:endParaRPr sz="2400" dirty="0">
              <a:latin typeface="Calibri"/>
              <a:cs typeface="Calibri"/>
            </a:endParaRPr>
          </a:p>
          <a:p>
            <a:pPr marL="469900" lvl="1" indent="-182880">
              <a:lnSpc>
                <a:spcPct val="100000"/>
              </a:lnSpc>
              <a:spcBef>
                <a:spcPts val="509"/>
              </a:spcBef>
              <a:buClr>
                <a:srgbClr val="2C7B9F"/>
              </a:buClr>
              <a:buSzPct val="85000"/>
              <a:buFont typeface="Arial MT"/>
              <a:buChar char="•"/>
              <a:tabLst>
                <a:tab pos="469900" algn="l"/>
              </a:tabLst>
            </a:pPr>
            <a:r>
              <a:rPr sz="2000" dirty="0">
                <a:latin typeface="Calibri"/>
                <a:cs typeface="Calibri"/>
              </a:rPr>
              <a:t>outward</a:t>
            </a:r>
            <a:r>
              <a:rPr sz="2000" spc="-60" dirty="0">
                <a:latin typeface="Calibri"/>
                <a:cs typeface="Calibri"/>
              </a:rPr>
              <a:t> </a:t>
            </a:r>
            <a:r>
              <a:rPr sz="2000" dirty="0">
                <a:latin typeface="Calibri"/>
                <a:cs typeface="Calibri"/>
              </a:rPr>
              <a:t>facing</a:t>
            </a:r>
            <a:r>
              <a:rPr sz="2000" spc="-45" dirty="0">
                <a:latin typeface="Calibri"/>
                <a:cs typeface="Calibri"/>
              </a:rPr>
              <a:t> </a:t>
            </a:r>
            <a:r>
              <a:rPr sz="2000" dirty="0">
                <a:latin typeface="Calibri"/>
                <a:cs typeface="Calibri"/>
              </a:rPr>
              <a:t>(e.g.,</a:t>
            </a:r>
            <a:r>
              <a:rPr sz="2000" spc="-55" dirty="0">
                <a:latin typeface="Calibri"/>
                <a:cs typeface="Calibri"/>
              </a:rPr>
              <a:t> </a:t>
            </a:r>
            <a:r>
              <a:rPr sz="2000" dirty="0">
                <a:latin typeface="Calibri"/>
                <a:cs typeface="Calibri"/>
              </a:rPr>
              <a:t>serving</a:t>
            </a:r>
            <a:r>
              <a:rPr sz="2000" spc="-45" dirty="0">
                <a:latin typeface="Calibri"/>
                <a:cs typeface="Calibri"/>
              </a:rPr>
              <a:t> </a:t>
            </a:r>
            <a:r>
              <a:rPr sz="2000" dirty="0">
                <a:latin typeface="Calibri"/>
                <a:cs typeface="Calibri"/>
              </a:rPr>
              <a:t>web</a:t>
            </a:r>
            <a:r>
              <a:rPr sz="2000" spc="-50" dirty="0">
                <a:latin typeface="Calibri"/>
                <a:cs typeface="Calibri"/>
              </a:rPr>
              <a:t> </a:t>
            </a:r>
            <a:r>
              <a:rPr sz="2000" dirty="0">
                <a:latin typeface="Calibri"/>
                <a:cs typeface="Calibri"/>
              </a:rPr>
              <a:t>pages</a:t>
            </a:r>
            <a:r>
              <a:rPr sz="2000" spc="-60" dirty="0">
                <a:latin typeface="Calibri"/>
                <a:cs typeface="Calibri"/>
              </a:rPr>
              <a:t> </a:t>
            </a:r>
            <a:r>
              <a:rPr sz="2000" dirty="0">
                <a:latin typeface="Calibri"/>
                <a:cs typeface="Calibri"/>
              </a:rPr>
              <a:t>to</a:t>
            </a:r>
            <a:r>
              <a:rPr sz="2000" spc="-50" dirty="0">
                <a:latin typeface="Calibri"/>
                <a:cs typeface="Calibri"/>
              </a:rPr>
              <a:t> </a:t>
            </a:r>
            <a:r>
              <a:rPr sz="2000" spc="-10" dirty="0">
                <a:latin typeface="Calibri"/>
                <a:cs typeface="Calibri"/>
              </a:rPr>
              <a:t>users)</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dirty="0">
                <a:latin typeface="Calibri"/>
                <a:cs typeface="Calibri"/>
              </a:rPr>
              <a:t>internal</a:t>
            </a:r>
            <a:r>
              <a:rPr sz="2000" spc="-40" dirty="0">
                <a:latin typeface="Calibri"/>
                <a:cs typeface="Calibri"/>
              </a:rPr>
              <a:t> </a:t>
            </a:r>
            <a:r>
              <a:rPr sz="2000" spc="-10" dirty="0">
                <a:latin typeface="Calibri"/>
                <a:cs typeface="Calibri"/>
              </a:rPr>
              <a:t>computations</a:t>
            </a:r>
            <a:r>
              <a:rPr sz="2000" spc="-60" dirty="0">
                <a:latin typeface="Calibri"/>
                <a:cs typeface="Calibri"/>
              </a:rPr>
              <a:t> </a:t>
            </a:r>
            <a:r>
              <a:rPr sz="2000" dirty="0">
                <a:latin typeface="Calibri"/>
                <a:cs typeface="Calibri"/>
              </a:rPr>
              <a:t>(e.g.,</a:t>
            </a:r>
            <a:r>
              <a:rPr sz="2000" spc="-60" dirty="0">
                <a:latin typeface="Calibri"/>
                <a:cs typeface="Calibri"/>
              </a:rPr>
              <a:t> </a:t>
            </a:r>
            <a:r>
              <a:rPr sz="2000" dirty="0">
                <a:latin typeface="Calibri"/>
                <a:cs typeface="Calibri"/>
              </a:rPr>
              <a:t>MapReduce</a:t>
            </a:r>
            <a:r>
              <a:rPr sz="2000" spc="-65" dirty="0">
                <a:latin typeface="Calibri"/>
                <a:cs typeface="Calibri"/>
              </a:rPr>
              <a:t> </a:t>
            </a:r>
            <a:r>
              <a:rPr sz="2000" dirty="0">
                <a:latin typeface="Calibri"/>
                <a:cs typeface="Calibri"/>
              </a:rPr>
              <a:t>for</a:t>
            </a:r>
            <a:r>
              <a:rPr sz="2000" spc="-55" dirty="0">
                <a:latin typeface="Calibri"/>
                <a:cs typeface="Calibri"/>
              </a:rPr>
              <a:t> </a:t>
            </a:r>
            <a:r>
              <a:rPr sz="2000" dirty="0">
                <a:latin typeface="Calibri"/>
                <a:cs typeface="Calibri"/>
              </a:rPr>
              <a:t>web</a:t>
            </a:r>
            <a:r>
              <a:rPr sz="2000" spc="-50" dirty="0">
                <a:latin typeface="Calibri"/>
                <a:cs typeface="Calibri"/>
              </a:rPr>
              <a:t> </a:t>
            </a:r>
            <a:r>
              <a:rPr sz="2000" spc="-10" dirty="0">
                <a:latin typeface="Calibri"/>
                <a:cs typeface="Calibri"/>
              </a:rPr>
              <a:t>indexing)</a:t>
            </a:r>
            <a:endParaRPr sz="2000" dirty="0">
              <a:latin typeface="Calibri"/>
              <a:cs typeface="Calibri"/>
            </a:endParaRPr>
          </a:p>
          <a:p>
            <a:pPr marL="196215" indent="-183515">
              <a:lnSpc>
                <a:spcPct val="100000"/>
              </a:lnSpc>
              <a:spcBef>
                <a:spcPts val="550"/>
              </a:spcBef>
              <a:buClr>
                <a:srgbClr val="2C7B9F"/>
              </a:buClr>
              <a:buSzPct val="85416"/>
              <a:buFont typeface="Arial MT"/>
              <a:buChar char="•"/>
              <a:tabLst>
                <a:tab pos="196215" algn="l"/>
              </a:tabLst>
            </a:pPr>
            <a:r>
              <a:rPr sz="2400" spc="-10" dirty="0">
                <a:latin typeface="Calibri"/>
                <a:cs typeface="Calibri"/>
              </a:rPr>
              <a:t>Workloads</a:t>
            </a:r>
            <a:r>
              <a:rPr sz="2400" spc="-60" dirty="0">
                <a:latin typeface="Calibri"/>
                <a:cs typeface="Calibri"/>
              </a:rPr>
              <a:t> </a:t>
            </a:r>
            <a:r>
              <a:rPr sz="2400" dirty="0">
                <a:latin typeface="Calibri"/>
                <a:cs typeface="Calibri"/>
              </a:rPr>
              <a:t>often</a:t>
            </a:r>
            <a:r>
              <a:rPr sz="2400" spc="-35" dirty="0">
                <a:latin typeface="Calibri"/>
                <a:cs typeface="Calibri"/>
              </a:rPr>
              <a:t> </a:t>
            </a:r>
            <a:r>
              <a:rPr sz="2400" spc="-10" dirty="0">
                <a:latin typeface="Calibri"/>
                <a:cs typeface="Calibri"/>
              </a:rPr>
              <a:t>unpredictable:</a:t>
            </a:r>
            <a:endParaRPr sz="2400" dirty="0">
              <a:latin typeface="Calibri"/>
              <a:cs typeface="Calibri"/>
            </a:endParaRPr>
          </a:p>
          <a:p>
            <a:pPr marL="469900" lvl="1" indent="-182880">
              <a:lnSpc>
                <a:spcPct val="100000"/>
              </a:lnSpc>
              <a:spcBef>
                <a:spcPts val="509"/>
              </a:spcBef>
              <a:buClr>
                <a:srgbClr val="2C7B9F"/>
              </a:buClr>
              <a:buSzPct val="85000"/>
              <a:buFont typeface="Arial MT"/>
              <a:buChar char="•"/>
              <a:tabLst>
                <a:tab pos="469900" algn="l"/>
              </a:tabLst>
            </a:pPr>
            <a:r>
              <a:rPr sz="2000" dirty="0">
                <a:solidFill>
                  <a:srgbClr val="09203A"/>
                </a:solidFill>
                <a:latin typeface="Calibri"/>
                <a:cs typeface="Calibri"/>
              </a:rPr>
              <a:t>Multiple</a:t>
            </a:r>
            <a:r>
              <a:rPr sz="2000" spc="-50" dirty="0">
                <a:solidFill>
                  <a:srgbClr val="09203A"/>
                </a:solidFill>
                <a:latin typeface="Calibri"/>
                <a:cs typeface="Calibri"/>
              </a:rPr>
              <a:t> </a:t>
            </a:r>
            <a:r>
              <a:rPr sz="2000" dirty="0">
                <a:solidFill>
                  <a:srgbClr val="09203A"/>
                </a:solidFill>
                <a:latin typeface="Calibri"/>
                <a:cs typeface="Calibri"/>
              </a:rPr>
              <a:t>services</a:t>
            </a:r>
            <a:r>
              <a:rPr sz="2000" spc="-25" dirty="0">
                <a:solidFill>
                  <a:srgbClr val="09203A"/>
                </a:solidFill>
                <a:latin typeface="Calibri"/>
                <a:cs typeface="Calibri"/>
              </a:rPr>
              <a:t> </a:t>
            </a:r>
            <a:r>
              <a:rPr sz="2000" dirty="0">
                <a:solidFill>
                  <a:srgbClr val="09203A"/>
                </a:solidFill>
                <a:latin typeface="Calibri"/>
                <a:cs typeface="Calibri"/>
              </a:rPr>
              <a:t>run</a:t>
            </a:r>
            <a:r>
              <a:rPr sz="2000" spc="-45" dirty="0">
                <a:solidFill>
                  <a:srgbClr val="09203A"/>
                </a:solidFill>
                <a:latin typeface="Calibri"/>
                <a:cs typeface="Calibri"/>
              </a:rPr>
              <a:t> </a:t>
            </a:r>
            <a:r>
              <a:rPr sz="2000" dirty="0">
                <a:solidFill>
                  <a:srgbClr val="09203A"/>
                </a:solidFill>
                <a:latin typeface="Calibri"/>
                <a:cs typeface="Calibri"/>
              </a:rPr>
              <a:t>concurrently</a:t>
            </a:r>
            <a:r>
              <a:rPr sz="2000" spc="-65" dirty="0">
                <a:solidFill>
                  <a:srgbClr val="09203A"/>
                </a:solidFill>
                <a:latin typeface="Calibri"/>
                <a:cs typeface="Calibri"/>
              </a:rPr>
              <a:t> </a:t>
            </a:r>
            <a:r>
              <a:rPr sz="2000" dirty="0">
                <a:solidFill>
                  <a:srgbClr val="09203A"/>
                </a:solidFill>
                <a:latin typeface="Calibri"/>
                <a:cs typeface="Calibri"/>
              </a:rPr>
              <a:t>within</a:t>
            </a:r>
            <a:r>
              <a:rPr sz="2000" spc="-45" dirty="0">
                <a:solidFill>
                  <a:srgbClr val="09203A"/>
                </a:solidFill>
                <a:latin typeface="Calibri"/>
                <a:cs typeface="Calibri"/>
              </a:rPr>
              <a:t> </a:t>
            </a:r>
            <a:r>
              <a:rPr sz="2000" dirty="0">
                <a:solidFill>
                  <a:srgbClr val="09203A"/>
                </a:solidFill>
                <a:latin typeface="Calibri"/>
                <a:cs typeface="Calibri"/>
              </a:rPr>
              <a:t>a</a:t>
            </a:r>
            <a:r>
              <a:rPr sz="2000" spc="-45" dirty="0">
                <a:solidFill>
                  <a:srgbClr val="09203A"/>
                </a:solidFill>
                <a:latin typeface="Calibri"/>
                <a:cs typeface="Calibri"/>
              </a:rPr>
              <a:t> </a:t>
            </a:r>
            <a:r>
              <a:rPr sz="2000" spc="-25" dirty="0">
                <a:solidFill>
                  <a:srgbClr val="09203A"/>
                </a:solidFill>
                <a:latin typeface="Calibri"/>
                <a:cs typeface="Calibri"/>
              </a:rPr>
              <a:t>DC</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dirty="0">
                <a:solidFill>
                  <a:srgbClr val="09203A"/>
                </a:solidFill>
                <a:latin typeface="Calibri"/>
                <a:cs typeface="Calibri"/>
              </a:rPr>
              <a:t>Demand</a:t>
            </a:r>
            <a:r>
              <a:rPr sz="2000" spc="-75" dirty="0">
                <a:solidFill>
                  <a:srgbClr val="09203A"/>
                </a:solidFill>
                <a:latin typeface="Calibri"/>
                <a:cs typeface="Calibri"/>
              </a:rPr>
              <a:t> </a:t>
            </a:r>
            <a:r>
              <a:rPr sz="2000" dirty="0">
                <a:solidFill>
                  <a:srgbClr val="09203A"/>
                </a:solidFill>
                <a:latin typeface="Calibri"/>
                <a:cs typeface="Calibri"/>
              </a:rPr>
              <a:t>for</a:t>
            </a:r>
            <a:r>
              <a:rPr sz="2000" spc="-65" dirty="0">
                <a:solidFill>
                  <a:srgbClr val="09203A"/>
                </a:solidFill>
                <a:latin typeface="Calibri"/>
                <a:cs typeface="Calibri"/>
              </a:rPr>
              <a:t> </a:t>
            </a:r>
            <a:r>
              <a:rPr sz="2000" dirty="0">
                <a:solidFill>
                  <a:srgbClr val="09203A"/>
                </a:solidFill>
                <a:latin typeface="Calibri"/>
                <a:cs typeface="Calibri"/>
              </a:rPr>
              <a:t>new</a:t>
            </a:r>
            <a:r>
              <a:rPr sz="2000" spc="-55" dirty="0">
                <a:solidFill>
                  <a:srgbClr val="09203A"/>
                </a:solidFill>
                <a:latin typeface="Calibri"/>
                <a:cs typeface="Calibri"/>
              </a:rPr>
              <a:t> </a:t>
            </a:r>
            <a:r>
              <a:rPr sz="2000" dirty="0">
                <a:solidFill>
                  <a:srgbClr val="09203A"/>
                </a:solidFill>
                <a:latin typeface="Calibri"/>
                <a:cs typeface="Calibri"/>
              </a:rPr>
              <a:t>services</a:t>
            </a:r>
            <a:r>
              <a:rPr sz="2000" spc="-45" dirty="0">
                <a:solidFill>
                  <a:srgbClr val="09203A"/>
                </a:solidFill>
                <a:latin typeface="Calibri"/>
                <a:cs typeface="Calibri"/>
              </a:rPr>
              <a:t> </a:t>
            </a:r>
            <a:r>
              <a:rPr sz="2000" dirty="0">
                <a:solidFill>
                  <a:srgbClr val="09203A"/>
                </a:solidFill>
                <a:latin typeface="Calibri"/>
                <a:cs typeface="Calibri"/>
              </a:rPr>
              <a:t>may</a:t>
            </a:r>
            <a:r>
              <a:rPr sz="2000" spc="-50" dirty="0">
                <a:solidFill>
                  <a:srgbClr val="09203A"/>
                </a:solidFill>
                <a:latin typeface="Calibri"/>
                <a:cs typeface="Calibri"/>
              </a:rPr>
              <a:t> </a:t>
            </a:r>
            <a:r>
              <a:rPr sz="2000" dirty="0">
                <a:solidFill>
                  <a:srgbClr val="09203A"/>
                </a:solidFill>
                <a:latin typeface="Calibri"/>
                <a:cs typeface="Calibri"/>
              </a:rPr>
              <a:t>unexpectedly</a:t>
            </a:r>
            <a:r>
              <a:rPr sz="2000" spc="-65" dirty="0">
                <a:solidFill>
                  <a:srgbClr val="09203A"/>
                </a:solidFill>
                <a:latin typeface="Calibri"/>
                <a:cs typeface="Calibri"/>
              </a:rPr>
              <a:t> </a:t>
            </a:r>
            <a:r>
              <a:rPr sz="2000" spc="-10" dirty="0">
                <a:solidFill>
                  <a:srgbClr val="09203A"/>
                </a:solidFill>
                <a:latin typeface="Calibri"/>
                <a:cs typeface="Calibri"/>
              </a:rPr>
              <a:t>spike</a:t>
            </a:r>
            <a:endParaRPr sz="2000" dirty="0">
              <a:latin typeface="Calibri"/>
              <a:cs typeface="Calibri"/>
            </a:endParaRPr>
          </a:p>
          <a:p>
            <a:pPr marL="195580" indent="-182880">
              <a:lnSpc>
                <a:spcPct val="100000"/>
              </a:lnSpc>
              <a:spcBef>
                <a:spcPts val="545"/>
              </a:spcBef>
              <a:buClr>
                <a:srgbClr val="2C7B9F"/>
              </a:buClr>
              <a:buSzPct val="85416"/>
              <a:buFont typeface="Arial MT"/>
              <a:buChar char="•"/>
              <a:tabLst>
                <a:tab pos="195580" algn="l"/>
              </a:tabLst>
            </a:pPr>
            <a:r>
              <a:rPr sz="2400" spc="-10" dirty="0">
                <a:solidFill>
                  <a:srgbClr val="181866"/>
                </a:solidFill>
                <a:latin typeface="Calibri"/>
                <a:cs typeface="Calibri"/>
              </a:rPr>
              <a:t>Failures</a:t>
            </a:r>
            <a:r>
              <a:rPr sz="2400" spc="-60" dirty="0">
                <a:solidFill>
                  <a:srgbClr val="181866"/>
                </a:solidFill>
                <a:latin typeface="Calibri"/>
                <a:cs typeface="Calibri"/>
              </a:rPr>
              <a:t> </a:t>
            </a:r>
            <a:r>
              <a:rPr sz="2400" dirty="0">
                <a:solidFill>
                  <a:srgbClr val="181866"/>
                </a:solidFill>
                <a:latin typeface="Calibri"/>
                <a:cs typeface="Calibri"/>
              </a:rPr>
              <a:t>of</a:t>
            </a:r>
            <a:r>
              <a:rPr sz="2400" spc="-40" dirty="0">
                <a:solidFill>
                  <a:srgbClr val="181866"/>
                </a:solidFill>
                <a:latin typeface="Calibri"/>
                <a:cs typeface="Calibri"/>
              </a:rPr>
              <a:t> </a:t>
            </a:r>
            <a:r>
              <a:rPr sz="2400" dirty="0">
                <a:solidFill>
                  <a:srgbClr val="181866"/>
                </a:solidFill>
                <a:latin typeface="Calibri"/>
                <a:cs typeface="Calibri"/>
              </a:rPr>
              <a:t>servers</a:t>
            </a:r>
            <a:r>
              <a:rPr sz="2400" spc="-65" dirty="0">
                <a:solidFill>
                  <a:srgbClr val="181866"/>
                </a:solidFill>
                <a:latin typeface="Calibri"/>
                <a:cs typeface="Calibri"/>
              </a:rPr>
              <a:t> </a:t>
            </a:r>
            <a:r>
              <a:rPr sz="2400" dirty="0">
                <a:solidFill>
                  <a:srgbClr val="181866"/>
                </a:solidFill>
                <a:latin typeface="Calibri"/>
                <a:cs typeface="Calibri"/>
              </a:rPr>
              <a:t>are</a:t>
            </a:r>
            <a:r>
              <a:rPr sz="2400" spc="-45" dirty="0">
                <a:solidFill>
                  <a:srgbClr val="181866"/>
                </a:solidFill>
                <a:latin typeface="Calibri"/>
                <a:cs typeface="Calibri"/>
              </a:rPr>
              <a:t> </a:t>
            </a:r>
            <a:r>
              <a:rPr sz="2400" dirty="0">
                <a:solidFill>
                  <a:srgbClr val="181866"/>
                </a:solidFill>
                <a:latin typeface="Calibri"/>
                <a:cs typeface="Calibri"/>
              </a:rPr>
              <a:t>the</a:t>
            </a:r>
            <a:r>
              <a:rPr sz="2400" spc="-45" dirty="0">
                <a:solidFill>
                  <a:srgbClr val="181866"/>
                </a:solidFill>
                <a:latin typeface="Calibri"/>
                <a:cs typeface="Calibri"/>
              </a:rPr>
              <a:t> </a:t>
            </a:r>
            <a:r>
              <a:rPr sz="2400" spc="-20" dirty="0">
                <a:solidFill>
                  <a:srgbClr val="181866"/>
                </a:solidFill>
                <a:latin typeface="Calibri"/>
                <a:cs typeface="Calibri"/>
              </a:rPr>
              <a:t>norm</a:t>
            </a:r>
            <a:endParaRPr sz="2400" dirty="0">
              <a:latin typeface="Calibri"/>
              <a:cs typeface="Calibri"/>
            </a:endParaRPr>
          </a:p>
          <a:p>
            <a:pPr marL="469900" marR="5080" lvl="1" indent="-182880">
              <a:lnSpc>
                <a:spcPct val="100000"/>
              </a:lnSpc>
              <a:spcBef>
                <a:spcPts val="509"/>
              </a:spcBef>
              <a:buClr>
                <a:srgbClr val="2C7B9F"/>
              </a:buClr>
              <a:buSzPct val="85000"/>
              <a:buFont typeface="Arial MT"/>
              <a:buChar char="•"/>
              <a:tabLst>
                <a:tab pos="469900" algn="l"/>
              </a:tabLst>
            </a:pPr>
            <a:r>
              <a:rPr sz="2000" dirty="0">
                <a:solidFill>
                  <a:srgbClr val="09203A"/>
                </a:solidFill>
                <a:latin typeface="Calibri"/>
                <a:cs typeface="Calibri"/>
              </a:rPr>
              <a:t>WSC</a:t>
            </a:r>
            <a:r>
              <a:rPr sz="2000" spc="-70" dirty="0">
                <a:solidFill>
                  <a:srgbClr val="09203A"/>
                </a:solidFill>
                <a:latin typeface="Calibri"/>
                <a:cs typeface="Calibri"/>
              </a:rPr>
              <a:t> </a:t>
            </a:r>
            <a:r>
              <a:rPr sz="2000" spc="-10" dirty="0">
                <a:solidFill>
                  <a:srgbClr val="09203A"/>
                </a:solidFill>
                <a:latin typeface="Calibri"/>
                <a:cs typeface="Calibri"/>
              </a:rPr>
              <a:t>applications</a:t>
            </a:r>
            <a:r>
              <a:rPr sz="2000" spc="-45" dirty="0">
                <a:solidFill>
                  <a:srgbClr val="09203A"/>
                </a:solidFill>
                <a:latin typeface="Calibri"/>
                <a:cs typeface="Calibri"/>
              </a:rPr>
              <a:t> </a:t>
            </a:r>
            <a:r>
              <a:rPr sz="2000" dirty="0">
                <a:solidFill>
                  <a:srgbClr val="09203A"/>
                </a:solidFill>
                <a:latin typeface="Calibri"/>
                <a:cs typeface="Calibri"/>
              </a:rPr>
              <a:t>(MapReduce,</a:t>
            </a:r>
            <a:r>
              <a:rPr sz="2000" spc="-80" dirty="0">
                <a:solidFill>
                  <a:srgbClr val="09203A"/>
                </a:solidFill>
                <a:latin typeface="Calibri"/>
                <a:cs typeface="Calibri"/>
              </a:rPr>
              <a:t> </a:t>
            </a:r>
            <a:r>
              <a:rPr sz="2000" dirty="0">
                <a:solidFill>
                  <a:srgbClr val="09203A"/>
                </a:solidFill>
                <a:latin typeface="Calibri"/>
                <a:cs typeface="Calibri"/>
              </a:rPr>
              <a:t>NoSQL,</a:t>
            </a:r>
            <a:r>
              <a:rPr sz="2000" spc="-45" dirty="0">
                <a:solidFill>
                  <a:srgbClr val="09203A"/>
                </a:solidFill>
                <a:latin typeface="Calibri"/>
                <a:cs typeface="Calibri"/>
              </a:rPr>
              <a:t> </a:t>
            </a:r>
            <a:r>
              <a:rPr sz="2000" dirty="0">
                <a:solidFill>
                  <a:srgbClr val="09203A"/>
                </a:solidFill>
                <a:latin typeface="Calibri"/>
                <a:cs typeface="Calibri"/>
              </a:rPr>
              <a:t>etc.)</a:t>
            </a:r>
            <a:r>
              <a:rPr sz="2000" spc="-45" dirty="0">
                <a:solidFill>
                  <a:srgbClr val="09203A"/>
                </a:solidFill>
                <a:latin typeface="Calibri"/>
                <a:cs typeface="Calibri"/>
              </a:rPr>
              <a:t> </a:t>
            </a:r>
            <a:r>
              <a:rPr sz="2000" dirty="0">
                <a:solidFill>
                  <a:srgbClr val="09203A"/>
                </a:solidFill>
                <a:latin typeface="Calibri"/>
                <a:cs typeface="Calibri"/>
              </a:rPr>
              <a:t>resort</a:t>
            </a:r>
            <a:r>
              <a:rPr sz="2000" spc="-50" dirty="0">
                <a:solidFill>
                  <a:srgbClr val="09203A"/>
                </a:solidFill>
                <a:latin typeface="Calibri"/>
                <a:cs typeface="Calibri"/>
              </a:rPr>
              <a:t> </a:t>
            </a:r>
            <a:r>
              <a:rPr sz="2000" dirty="0">
                <a:solidFill>
                  <a:srgbClr val="09203A"/>
                </a:solidFill>
                <a:latin typeface="Calibri"/>
                <a:cs typeface="Calibri"/>
              </a:rPr>
              <a:t>to</a:t>
            </a:r>
            <a:r>
              <a:rPr sz="2000" spc="-50" dirty="0">
                <a:solidFill>
                  <a:srgbClr val="09203A"/>
                </a:solidFill>
                <a:latin typeface="Calibri"/>
                <a:cs typeface="Calibri"/>
              </a:rPr>
              <a:t> </a:t>
            </a:r>
            <a:r>
              <a:rPr sz="2000" dirty="0">
                <a:solidFill>
                  <a:srgbClr val="09203A"/>
                </a:solidFill>
                <a:latin typeface="Calibri"/>
                <a:cs typeface="Calibri"/>
              </a:rPr>
              <a:t>dynamic</a:t>
            </a:r>
            <a:r>
              <a:rPr sz="2000" spc="-50" dirty="0">
                <a:solidFill>
                  <a:srgbClr val="09203A"/>
                </a:solidFill>
                <a:latin typeface="Calibri"/>
                <a:cs typeface="Calibri"/>
              </a:rPr>
              <a:t> </a:t>
            </a:r>
            <a:r>
              <a:rPr sz="2000" spc="-20" dirty="0">
                <a:solidFill>
                  <a:srgbClr val="09203A"/>
                </a:solidFill>
                <a:latin typeface="Calibri"/>
                <a:cs typeface="Calibri"/>
              </a:rPr>
              <a:t>re-</a:t>
            </a:r>
            <a:r>
              <a:rPr sz="2000" dirty="0">
                <a:solidFill>
                  <a:srgbClr val="09203A"/>
                </a:solidFill>
                <a:latin typeface="Calibri"/>
                <a:cs typeface="Calibri"/>
              </a:rPr>
              <a:t>assignment</a:t>
            </a:r>
            <a:r>
              <a:rPr sz="2000" spc="-40" dirty="0">
                <a:solidFill>
                  <a:srgbClr val="09203A"/>
                </a:solidFill>
                <a:latin typeface="Calibri"/>
                <a:cs typeface="Calibri"/>
              </a:rPr>
              <a:t> </a:t>
            </a:r>
            <a:r>
              <a:rPr sz="2000" spc="-25" dirty="0">
                <a:solidFill>
                  <a:srgbClr val="09203A"/>
                </a:solidFill>
                <a:latin typeface="Calibri"/>
                <a:cs typeface="Calibri"/>
              </a:rPr>
              <a:t>of </a:t>
            </a:r>
            <a:r>
              <a:rPr sz="2000" dirty="0">
                <a:solidFill>
                  <a:srgbClr val="09203A"/>
                </a:solidFill>
                <a:latin typeface="Calibri"/>
                <a:cs typeface="Calibri"/>
              </a:rPr>
              <a:t>chunks</a:t>
            </a:r>
            <a:r>
              <a:rPr sz="2000" spc="-50" dirty="0">
                <a:solidFill>
                  <a:srgbClr val="09203A"/>
                </a:solidFill>
                <a:latin typeface="Calibri"/>
                <a:cs typeface="Calibri"/>
              </a:rPr>
              <a:t> </a:t>
            </a:r>
            <a:r>
              <a:rPr sz="2000" dirty="0">
                <a:solidFill>
                  <a:srgbClr val="09203A"/>
                </a:solidFill>
                <a:latin typeface="Calibri"/>
                <a:cs typeface="Calibri"/>
              </a:rPr>
              <a:t>to</a:t>
            </a:r>
            <a:r>
              <a:rPr sz="2000" spc="-30" dirty="0">
                <a:solidFill>
                  <a:srgbClr val="09203A"/>
                </a:solidFill>
                <a:latin typeface="Calibri"/>
                <a:cs typeface="Calibri"/>
              </a:rPr>
              <a:t> </a:t>
            </a:r>
            <a:r>
              <a:rPr sz="2000" dirty="0">
                <a:solidFill>
                  <a:srgbClr val="09203A"/>
                </a:solidFill>
                <a:latin typeface="Calibri"/>
                <a:cs typeface="Calibri"/>
              </a:rPr>
              <a:t>deal</a:t>
            </a:r>
            <a:r>
              <a:rPr sz="2000" spc="-35" dirty="0">
                <a:solidFill>
                  <a:srgbClr val="09203A"/>
                </a:solidFill>
                <a:latin typeface="Calibri"/>
                <a:cs typeface="Calibri"/>
              </a:rPr>
              <a:t> </a:t>
            </a:r>
            <a:r>
              <a:rPr sz="2000" dirty="0">
                <a:solidFill>
                  <a:srgbClr val="09203A"/>
                </a:solidFill>
                <a:latin typeface="Calibri"/>
                <a:cs typeface="Calibri"/>
              </a:rPr>
              <a:t>with</a:t>
            </a:r>
            <a:r>
              <a:rPr sz="2000" spc="-35" dirty="0">
                <a:solidFill>
                  <a:srgbClr val="09203A"/>
                </a:solidFill>
                <a:latin typeface="Calibri"/>
                <a:cs typeface="Calibri"/>
              </a:rPr>
              <a:t> </a:t>
            </a:r>
            <a:r>
              <a:rPr sz="2000" spc="-10" dirty="0">
                <a:solidFill>
                  <a:srgbClr val="09203A"/>
                </a:solidFill>
                <a:latin typeface="Calibri"/>
                <a:cs typeface="Calibri"/>
              </a:rPr>
              <a:t>failures</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dirty="0">
                <a:solidFill>
                  <a:srgbClr val="09203A"/>
                </a:solidFill>
                <a:latin typeface="Calibri"/>
                <a:cs typeface="Calibri"/>
              </a:rPr>
              <a:t>Data</a:t>
            </a:r>
            <a:r>
              <a:rPr sz="2000" spc="-40" dirty="0">
                <a:solidFill>
                  <a:srgbClr val="09203A"/>
                </a:solidFill>
                <a:latin typeface="Calibri"/>
                <a:cs typeface="Calibri"/>
              </a:rPr>
              <a:t> </a:t>
            </a:r>
            <a:r>
              <a:rPr sz="2000" dirty="0">
                <a:solidFill>
                  <a:srgbClr val="09203A"/>
                </a:solidFill>
                <a:latin typeface="Calibri"/>
                <a:cs typeface="Calibri"/>
              </a:rPr>
              <a:t>is</a:t>
            </a:r>
            <a:r>
              <a:rPr sz="2000" spc="-35" dirty="0">
                <a:solidFill>
                  <a:srgbClr val="09203A"/>
                </a:solidFill>
                <a:latin typeface="Calibri"/>
                <a:cs typeface="Calibri"/>
              </a:rPr>
              <a:t> </a:t>
            </a:r>
            <a:r>
              <a:rPr sz="2000" dirty="0">
                <a:solidFill>
                  <a:srgbClr val="09203A"/>
                </a:solidFill>
                <a:latin typeface="Calibri"/>
                <a:cs typeface="Calibri"/>
              </a:rPr>
              <a:t>often</a:t>
            </a:r>
            <a:r>
              <a:rPr sz="2000" spc="-35" dirty="0">
                <a:solidFill>
                  <a:srgbClr val="09203A"/>
                </a:solidFill>
                <a:latin typeface="Calibri"/>
                <a:cs typeface="Calibri"/>
              </a:rPr>
              <a:t> </a:t>
            </a:r>
            <a:r>
              <a:rPr sz="2000" spc="-10" dirty="0">
                <a:solidFill>
                  <a:srgbClr val="09203A"/>
                </a:solidFill>
                <a:latin typeface="Calibri"/>
                <a:cs typeface="Calibri"/>
              </a:rPr>
              <a:t>replicated</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spc="-10" dirty="0">
                <a:latin typeface="Calibri"/>
                <a:cs typeface="Calibri"/>
              </a:rPr>
              <a:t>“Traffic</a:t>
            </a:r>
            <a:r>
              <a:rPr sz="2000" spc="-55" dirty="0">
                <a:latin typeface="Calibri"/>
                <a:cs typeface="Calibri"/>
              </a:rPr>
              <a:t> </a:t>
            </a:r>
            <a:r>
              <a:rPr sz="2000" dirty="0">
                <a:latin typeface="Calibri"/>
                <a:cs typeface="Calibri"/>
              </a:rPr>
              <a:t>matrix”</a:t>
            </a:r>
            <a:r>
              <a:rPr sz="2000" spc="-55" dirty="0">
                <a:latin typeface="Calibri"/>
                <a:cs typeface="Calibri"/>
              </a:rPr>
              <a:t> </a:t>
            </a:r>
            <a:r>
              <a:rPr sz="2000" dirty="0">
                <a:latin typeface="Calibri"/>
                <a:cs typeface="Calibri"/>
              </a:rPr>
              <a:t>between</a:t>
            </a:r>
            <a:r>
              <a:rPr sz="2000" spc="-75" dirty="0">
                <a:latin typeface="Calibri"/>
                <a:cs typeface="Calibri"/>
              </a:rPr>
              <a:t> </a:t>
            </a:r>
            <a:r>
              <a:rPr sz="2000" dirty="0">
                <a:latin typeface="Calibri"/>
                <a:cs typeface="Calibri"/>
              </a:rPr>
              <a:t>servers</a:t>
            </a:r>
            <a:r>
              <a:rPr sz="2000" spc="-50" dirty="0">
                <a:latin typeface="Calibri"/>
                <a:cs typeface="Calibri"/>
              </a:rPr>
              <a:t> </a:t>
            </a:r>
            <a:r>
              <a:rPr sz="2000" spc="-10" dirty="0">
                <a:latin typeface="Calibri"/>
                <a:cs typeface="Calibri"/>
              </a:rPr>
              <a:t>constantly</a:t>
            </a:r>
            <a:r>
              <a:rPr sz="2000" spc="-75" dirty="0">
                <a:latin typeface="Calibri"/>
                <a:cs typeface="Calibri"/>
              </a:rPr>
              <a:t> </a:t>
            </a:r>
            <a:r>
              <a:rPr sz="2000" spc="-10" dirty="0">
                <a:latin typeface="Calibri"/>
                <a:cs typeface="Calibri"/>
              </a:rPr>
              <a:t>changing</a:t>
            </a:r>
            <a:endParaRPr sz="20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120" dirty="0"/>
              <a:t>Datacentre</a:t>
            </a:r>
            <a:r>
              <a:rPr sz="3600" spc="-185" dirty="0"/>
              <a:t> </a:t>
            </a:r>
            <a:r>
              <a:rPr sz="3600" spc="-95" dirty="0"/>
              <a:t>Design</a:t>
            </a:r>
            <a:r>
              <a:rPr sz="3600" spc="-165" dirty="0"/>
              <a:t> </a:t>
            </a:r>
            <a:r>
              <a:rPr sz="3600" spc="-90" dirty="0"/>
              <a:t>Requirements</a:t>
            </a:r>
            <a:endParaRPr sz="360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r>
              <a:rPr spc="-25" dirty="0"/>
              <a:t>36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xfrm>
            <a:off x="574040" y="679449"/>
            <a:ext cx="3329940" cy="635000"/>
          </a:xfrm>
          <a:prstGeom prst="rect">
            <a:avLst/>
          </a:prstGeom>
        </p:spPr>
        <p:txBody>
          <a:bodyPr vert="horz" wrap="square" lIns="0" tIns="12065" rIns="0" bIns="0" rtlCol="0">
            <a:spAutoFit/>
          </a:bodyPr>
          <a:lstStyle/>
          <a:p>
            <a:pPr marL="12700">
              <a:lnSpc>
                <a:spcPct val="100000"/>
              </a:lnSpc>
              <a:spcBef>
                <a:spcPts val="95"/>
              </a:spcBef>
            </a:pPr>
            <a:r>
              <a:rPr spc="-120" dirty="0"/>
              <a:t>Datacentre</a:t>
            </a:r>
            <a:r>
              <a:rPr spc="-175" dirty="0"/>
              <a:t> </a:t>
            </a:r>
            <a:r>
              <a:rPr spc="-65" dirty="0"/>
              <a:t>Costs</a:t>
            </a:r>
          </a:p>
        </p:txBody>
      </p:sp>
      <p:sp>
        <p:nvSpPr>
          <p:cNvPr id="9" name="object 9"/>
          <p:cNvSpPr txBox="1"/>
          <p:nvPr/>
        </p:nvSpPr>
        <p:spPr>
          <a:xfrm>
            <a:off x="574040" y="1477061"/>
            <a:ext cx="4622165" cy="2374265"/>
          </a:xfrm>
          <a:prstGeom prst="rect">
            <a:avLst/>
          </a:prstGeom>
        </p:spPr>
        <p:txBody>
          <a:bodyPr vert="horz" wrap="square" lIns="0" tIns="88900" rIns="0" bIns="0" rtlCol="0">
            <a:spAutoFit/>
          </a:bodyPr>
          <a:lstStyle/>
          <a:p>
            <a:pPr marL="195580" indent="-182880">
              <a:lnSpc>
                <a:spcPct val="100000"/>
              </a:lnSpc>
              <a:spcBef>
                <a:spcPts val="700"/>
              </a:spcBef>
              <a:buClr>
                <a:srgbClr val="2C7B9F"/>
              </a:buClr>
              <a:buSzPct val="85416"/>
              <a:buFont typeface="Arial MT"/>
              <a:buChar char="•"/>
              <a:tabLst>
                <a:tab pos="195580" algn="l"/>
              </a:tabLst>
            </a:pPr>
            <a:r>
              <a:rPr sz="2400" spc="-30" dirty="0">
                <a:solidFill>
                  <a:srgbClr val="181866"/>
                </a:solidFill>
                <a:latin typeface="Calibri"/>
                <a:cs typeface="Calibri"/>
              </a:rPr>
              <a:t>Total</a:t>
            </a:r>
            <a:r>
              <a:rPr sz="2400" spc="-80" dirty="0">
                <a:solidFill>
                  <a:srgbClr val="181866"/>
                </a:solidFill>
                <a:latin typeface="Calibri"/>
                <a:cs typeface="Calibri"/>
              </a:rPr>
              <a:t> </a:t>
            </a:r>
            <a:r>
              <a:rPr sz="2400" dirty="0">
                <a:solidFill>
                  <a:srgbClr val="181866"/>
                </a:solidFill>
                <a:latin typeface="Calibri"/>
                <a:cs typeface="Calibri"/>
              </a:rPr>
              <a:t>cost</a:t>
            </a:r>
            <a:r>
              <a:rPr sz="2400" spc="-90" dirty="0">
                <a:solidFill>
                  <a:srgbClr val="181866"/>
                </a:solidFill>
                <a:latin typeface="Calibri"/>
                <a:cs typeface="Calibri"/>
              </a:rPr>
              <a:t> </a:t>
            </a:r>
            <a:r>
              <a:rPr sz="2400" spc="-10" dirty="0">
                <a:solidFill>
                  <a:srgbClr val="181866"/>
                </a:solidFill>
                <a:latin typeface="Calibri"/>
                <a:cs typeface="Calibri"/>
              </a:rPr>
              <a:t>varies</a:t>
            </a:r>
            <a:endParaRPr sz="2400" dirty="0">
              <a:latin typeface="Calibri"/>
              <a:cs typeface="Calibri"/>
            </a:endParaRPr>
          </a:p>
          <a:p>
            <a:pPr marL="469900" lvl="1" indent="-182880">
              <a:lnSpc>
                <a:spcPct val="100000"/>
              </a:lnSpc>
              <a:spcBef>
                <a:spcPts val="509"/>
              </a:spcBef>
              <a:buClr>
                <a:srgbClr val="2C7B9F"/>
              </a:buClr>
              <a:buSzPct val="85000"/>
              <a:buFont typeface="Arial MT"/>
              <a:buChar char="•"/>
              <a:tabLst>
                <a:tab pos="469900" algn="l"/>
              </a:tabLst>
            </a:pPr>
            <a:r>
              <a:rPr sz="2000" spc="-10" dirty="0">
                <a:latin typeface="Calibri"/>
                <a:cs typeface="Calibri"/>
              </a:rPr>
              <a:t>upwards</a:t>
            </a:r>
            <a:r>
              <a:rPr sz="2000" spc="-45"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$1/4</a:t>
            </a:r>
            <a:r>
              <a:rPr sz="2000" spc="-65" dirty="0">
                <a:latin typeface="Calibri"/>
                <a:cs typeface="Calibri"/>
              </a:rPr>
              <a:t> </a:t>
            </a:r>
            <a:r>
              <a:rPr sz="2000" dirty="0">
                <a:latin typeface="Calibri"/>
                <a:cs typeface="Calibri"/>
              </a:rPr>
              <a:t>B</a:t>
            </a:r>
            <a:r>
              <a:rPr sz="2000" spc="-45" dirty="0">
                <a:latin typeface="Calibri"/>
                <a:cs typeface="Calibri"/>
              </a:rPr>
              <a:t> </a:t>
            </a:r>
            <a:r>
              <a:rPr sz="2000" dirty="0">
                <a:latin typeface="Calibri"/>
                <a:cs typeface="Calibri"/>
              </a:rPr>
              <a:t>for</a:t>
            </a:r>
            <a:r>
              <a:rPr sz="2000" spc="-50" dirty="0">
                <a:latin typeface="Calibri"/>
                <a:cs typeface="Calibri"/>
              </a:rPr>
              <a:t> </a:t>
            </a:r>
            <a:r>
              <a:rPr sz="2000" dirty="0">
                <a:latin typeface="Calibri"/>
                <a:cs typeface="Calibri"/>
              </a:rPr>
              <a:t>mega</a:t>
            </a:r>
            <a:r>
              <a:rPr sz="2000" spc="-35" dirty="0">
                <a:latin typeface="Calibri"/>
                <a:cs typeface="Calibri"/>
              </a:rPr>
              <a:t> </a:t>
            </a:r>
            <a:r>
              <a:rPr sz="2000" dirty="0">
                <a:latin typeface="Calibri"/>
                <a:cs typeface="Calibri"/>
              </a:rPr>
              <a:t>data</a:t>
            </a:r>
            <a:r>
              <a:rPr sz="2000" spc="-35" dirty="0">
                <a:latin typeface="Calibri"/>
                <a:cs typeface="Calibri"/>
              </a:rPr>
              <a:t> </a:t>
            </a:r>
            <a:r>
              <a:rPr sz="2000" spc="-10" dirty="0">
                <a:latin typeface="Calibri"/>
                <a:cs typeface="Calibri"/>
              </a:rPr>
              <a:t>center</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dirty="0">
                <a:latin typeface="Calibri"/>
                <a:cs typeface="Calibri"/>
              </a:rPr>
              <a:t>server</a:t>
            </a:r>
            <a:r>
              <a:rPr sz="2000" spc="-65" dirty="0">
                <a:latin typeface="Calibri"/>
                <a:cs typeface="Calibri"/>
              </a:rPr>
              <a:t> </a:t>
            </a:r>
            <a:r>
              <a:rPr sz="2000" dirty="0">
                <a:latin typeface="Calibri"/>
                <a:cs typeface="Calibri"/>
              </a:rPr>
              <a:t>costs</a:t>
            </a:r>
            <a:r>
              <a:rPr sz="2000" spc="-65" dirty="0">
                <a:latin typeface="Calibri"/>
                <a:cs typeface="Calibri"/>
              </a:rPr>
              <a:t> </a:t>
            </a:r>
            <a:r>
              <a:rPr sz="2000" spc="-10" dirty="0">
                <a:latin typeface="Calibri"/>
                <a:cs typeface="Calibri"/>
              </a:rPr>
              <a:t>dominate</a:t>
            </a:r>
            <a:endParaRPr sz="2000" dirty="0">
              <a:latin typeface="Calibri"/>
              <a:cs typeface="Calibri"/>
            </a:endParaRPr>
          </a:p>
          <a:p>
            <a:pPr marL="469900" lvl="1" indent="-182880">
              <a:lnSpc>
                <a:spcPct val="100000"/>
              </a:lnSpc>
              <a:spcBef>
                <a:spcPts val="480"/>
              </a:spcBef>
              <a:buClr>
                <a:srgbClr val="2C7B9F"/>
              </a:buClr>
              <a:buSzPct val="85000"/>
              <a:buFont typeface="Arial MT"/>
              <a:buChar char="•"/>
              <a:tabLst>
                <a:tab pos="469900" algn="l"/>
              </a:tabLst>
            </a:pPr>
            <a:r>
              <a:rPr sz="2000" dirty="0">
                <a:latin typeface="Calibri"/>
                <a:cs typeface="Calibri"/>
              </a:rPr>
              <a:t>network</a:t>
            </a:r>
            <a:r>
              <a:rPr sz="2000" spc="-70" dirty="0">
                <a:latin typeface="Calibri"/>
                <a:cs typeface="Calibri"/>
              </a:rPr>
              <a:t> </a:t>
            </a:r>
            <a:r>
              <a:rPr sz="2000" dirty="0">
                <a:latin typeface="Calibri"/>
                <a:cs typeface="Calibri"/>
              </a:rPr>
              <a:t>costs</a:t>
            </a:r>
            <a:r>
              <a:rPr sz="2000" spc="-60" dirty="0">
                <a:latin typeface="Calibri"/>
                <a:cs typeface="Calibri"/>
              </a:rPr>
              <a:t> </a:t>
            </a:r>
            <a:r>
              <a:rPr sz="2000" spc="-10" dirty="0">
                <a:latin typeface="Calibri"/>
                <a:cs typeface="Calibri"/>
              </a:rPr>
              <a:t>significant</a:t>
            </a:r>
            <a:endParaRPr sz="2000" dirty="0">
              <a:latin typeface="Calibri"/>
              <a:cs typeface="Calibri"/>
            </a:endParaRPr>
          </a:p>
          <a:p>
            <a:pPr marL="195580" indent="-182880">
              <a:lnSpc>
                <a:spcPct val="100000"/>
              </a:lnSpc>
              <a:spcBef>
                <a:spcPts val="550"/>
              </a:spcBef>
              <a:buClr>
                <a:srgbClr val="2C7B9F"/>
              </a:buClr>
              <a:buSzPct val="85416"/>
              <a:buFont typeface="Arial MT"/>
              <a:buChar char="•"/>
              <a:tabLst>
                <a:tab pos="195580" algn="l"/>
              </a:tabLst>
            </a:pPr>
            <a:r>
              <a:rPr sz="2400" dirty="0">
                <a:solidFill>
                  <a:srgbClr val="181866"/>
                </a:solidFill>
                <a:latin typeface="Calibri"/>
                <a:cs typeface="Calibri"/>
              </a:rPr>
              <a:t>Long</a:t>
            </a:r>
            <a:r>
              <a:rPr sz="2400" spc="-35" dirty="0">
                <a:solidFill>
                  <a:srgbClr val="181866"/>
                </a:solidFill>
                <a:latin typeface="Calibri"/>
                <a:cs typeface="Calibri"/>
              </a:rPr>
              <a:t> </a:t>
            </a:r>
            <a:r>
              <a:rPr sz="2400" dirty="0">
                <a:solidFill>
                  <a:srgbClr val="181866"/>
                </a:solidFill>
                <a:latin typeface="Calibri"/>
                <a:cs typeface="Calibri"/>
              </a:rPr>
              <a:t>provisioning</a:t>
            </a:r>
            <a:r>
              <a:rPr sz="2400" spc="-25" dirty="0">
                <a:solidFill>
                  <a:srgbClr val="181866"/>
                </a:solidFill>
                <a:latin typeface="Calibri"/>
                <a:cs typeface="Calibri"/>
              </a:rPr>
              <a:t> </a:t>
            </a:r>
            <a:r>
              <a:rPr sz="2400" spc="-10" dirty="0">
                <a:solidFill>
                  <a:srgbClr val="181866"/>
                </a:solidFill>
                <a:latin typeface="Calibri"/>
                <a:cs typeface="Calibri"/>
              </a:rPr>
              <a:t>timescales:</a:t>
            </a:r>
            <a:endParaRPr sz="2400" dirty="0">
              <a:latin typeface="Calibri"/>
              <a:cs typeface="Calibri"/>
            </a:endParaRPr>
          </a:p>
          <a:p>
            <a:pPr marL="469900" lvl="1" indent="-182880">
              <a:lnSpc>
                <a:spcPct val="100000"/>
              </a:lnSpc>
              <a:spcBef>
                <a:spcPts val="509"/>
              </a:spcBef>
              <a:buClr>
                <a:srgbClr val="2C7B9F"/>
              </a:buClr>
              <a:buSzPct val="85000"/>
              <a:buFont typeface="Arial MT"/>
              <a:buChar char="•"/>
              <a:tabLst>
                <a:tab pos="469900" algn="l"/>
              </a:tabLst>
            </a:pPr>
            <a:r>
              <a:rPr sz="2000" dirty="0">
                <a:latin typeface="Calibri"/>
                <a:cs typeface="Calibri"/>
              </a:rPr>
              <a:t>new</a:t>
            </a:r>
            <a:r>
              <a:rPr sz="2000" spc="-85" dirty="0">
                <a:latin typeface="Calibri"/>
                <a:cs typeface="Calibri"/>
              </a:rPr>
              <a:t> </a:t>
            </a:r>
            <a:r>
              <a:rPr sz="2000" dirty="0">
                <a:latin typeface="Calibri"/>
                <a:cs typeface="Calibri"/>
              </a:rPr>
              <a:t>servers</a:t>
            </a:r>
            <a:r>
              <a:rPr sz="2000" spc="-50" dirty="0">
                <a:latin typeface="Calibri"/>
                <a:cs typeface="Calibri"/>
              </a:rPr>
              <a:t> </a:t>
            </a:r>
            <a:r>
              <a:rPr sz="2000" dirty="0">
                <a:latin typeface="Calibri"/>
                <a:cs typeface="Calibri"/>
              </a:rPr>
              <a:t>purchased</a:t>
            </a:r>
            <a:r>
              <a:rPr sz="2000" spc="-75" dirty="0">
                <a:latin typeface="Calibri"/>
                <a:cs typeface="Calibri"/>
              </a:rPr>
              <a:t> </a:t>
            </a:r>
            <a:r>
              <a:rPr sz="2000" dirty="0">
                <a:latin typeface="Calibri"/>
                <a:cs typeface="Calibri"/>
              </a:rPr>
              <a:t>quarterly</a:t>
            </a:r>
            <a:r>
              <a:rPr sz="2000" spc="-65" dirty="0">
                <a:latin typeface="Calibri"/>
                <a:cs typeface="Calibri"/>
              </a:rPr>
              <a:t> </a:t>
            </a:r>
            <a:r>
              <a:rPr sz="2000" dirty="0">
                <a:latin typeface="Calibri"/>
                <a:cs typeface="Calibri"/>
              </a:rPr>
              <a:t>at</a:t>
            </a:r>
            <a:r>
              <a:rPr sz="2000" spc="-70" dirty="0">
                <a:latin typeface="Calibri"/>
                <a:cs typeface="Calibri"/>
              </a:rPr>
              <a:t> </a:t>
            </a:r>
            <a:r>
              <a:rPr sz="2000" spc="-20" dirty="0">
                <a:latin typeface="Calibri"/>
                <a:cs typeface="Calibri"/>
              </a:rPr>
              <a:t>best</a:t>
            </a:r>
            <a:endParaRPr sz="2000" dirty="0">
              <a:latin typeface="Calibri"/>
              <a:cs typeface="Calibri"/>
            </a:endParaRPr>
          </a:p>
        </p:txBody>
      </p:sp>
      <p:graphicFrame>
        <p:nvGraphicFramePr>
          <p:cNvPr id="10" name="object 10"/>
          <p:cNvGraphicFramePr>
            <a:graphicFrameLocks noGrp="1"/>
          </p:cNvGraphicFramePr>
          <p:nvPr/>
        </p:nvGraphicFramePr>
        <p:xfrm>
          <a:off x="541337" y="3994150"/>
          <a:ext cx="8630284" cy="1849120"/>
        </p:xfrm>
        <a:graphic>
          <a:graphicData uri="http://schemas.openxmlformats.org/drawingml/2006/table">
            <a:tbl>
              <a:tblPr firstRow="1" bandRow="1">
                <a:tableStyleId>{2D5ABB26-0587-4C30-8999-92F81FD0307C}</a:tableStyleId>
              </a:tblPr>
              <a:tblGrid>
                <a:gridCol w="2078355">
                  <a:extLst>
                    <a:ext uri="{9D8B030D-6E8A-4147-A177-3AD203B41FA5}">
                      <a16:colId xmlns:a16="http://schemas.microsoft.com/office/drawing/2014/main" val="20000"/>
                    </a:ext>
                  </a:extLst>
                </a:gridCol>
                <a:gridCol w="2444115">
                  <a:extLst>
                    <a:ext uri="{9D8B030D-6E8A-4147-A177-3AD203B41FA5}">
                      <a16:colId xmlns:a16="http://schemas.microsoft.com/office/drawing/2014/main" val="20001"/>
                    </a:ext>
                  </a:extLst>
                </a:gridCol>
                <a:gridCol w="4107814">
                  <a:extLst>
                    <a:ext uri="{9D8B030D-6E8A-4147-A177-3AD203B41FA5}">
                      <a16:colId xmlns:a16="http://schemas.microsoft.com/office/drawing/2014/main" val="20002"/>
                    </a:ext>
                  </a:extLst>
                </a:gridCol>
              </a:tblGrid>
              <a:tr h="365760">
                <a:tc>
                  <a:txBody>
                    <a:bodyPr/>
                    <a:lstStyle/>
                    <a:p>
                      <a:pPr marL="91440">
                        <a:lnSpc>
                          <a:spcPct val="100000"/>
                        </a:lnSpc>
                        <a:spcBef>
                          <a:spcPts val="245"/>
                        </a:spcBef>
                      </a:pPr>
                      <a:r>
                        <a:rPr sz="1800" b="1" dirty="0">
                          <a:solidFill>
                            <a:srgbClr val="FFFFFF"/>
                          </a:solidFill>
                          <a:latin typeface="Calibri"/>
                          <a:cs typeface="Calibri"/>
                        </a:rPr>
                        <a:t>Amortized</a:t>
                      </a:r>
                      <a:r>
                        <a:rPr sz="1800" b="1" spc="-50" dirty="0">
                          <a:solidFill>
                            <a:srgbClr val="FFFFFF"/>
                          </a:solidFill>
                          <a:latin typeface="Calibri"/>
                          <a:cs typeface="Calibri"/>
                        </a:rPr>
                        <a:t> </a:t>
                      </a:r>
                      <a:r>
                        <a:rPr sz="1800" b="1" spc="-10" dirty="0">
                          <a:solidFill>
                            <a:srgbClr val="FFFFFF"/>
                          </a:solidFill>
                          <a:latin typeface="Calibri"/>
                          <a:cs typeface="Calibri"/>
                        </a:rPr>
                        <a:t>Cost*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7B9F"/>
                    </a:solidFill>
                  </a:tcPr>
                </a:tc>
                <a:tc>
                  <a:txBody>
                    <a:bodyPr/>
                    <a:lstStyle/>
                    <a:p>
                      <a:pPr marL="92075">
                        <a:lnSpc>
                          <a:spcPct val="100000"/>
                        </a:lnSpc>
                        <a:spcBef>
                          <a:spcPts val="245"/>
                        </a:spcBef>
                      </a:pPr>
                      <a:r>
                        <a:rPr sz="1800" b="1" spc="-10" dirty="0">
                          <a:solidFill>
                            <a:srgbClr val="FFFFFF"/>
                          </a:solidFill>
                          <a:latin typeface="Calibri"/>
                          <a:cs typeface="Calibri"/>
                        </a:rPr>
                        <a:t>Component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7B9F"/>
                    </a:solidFill>
                  </a:tcPr>
                </a:tc>
                <a:tc>
                  <a:txBody>
                    <a:bodyPr/>
                    <a:lstStyle/>
                    <a:p>
                      <a:pPr marL="92075">
                        <a:lnSpc>
                          <a:spcPct val="100000"/>
                        </a:lnSpc>
                        <a:spcBef>
                          <a:spcPts val="245"/>
                        </a:spcBef>
                      </a:pPr>
                      <a:r>
                        <a:rPr sz="1800" b="1" dirty="0">
                          <a:solidFill>
                            <a:srgbClr val="FFFFFF"/>
                          </a:solidFill>
                          <a:latin typeface="Calibri"/>
                          <a:cs typeface="Calibri"/>
                        </a:rPr>
                        <a:t>Sub-</a:t>
                      </a:r>
                      <a:r>
                        <a:rPr sz="1800" b="1" spc="-10" dirty="0">
                          <a:solidFill>
                            <a:srgbClr val="FFFFFF"/>
                          </a:solidFill>
                          <a:latin typeface="Calibri"/>
                          <a:cs typeface="Calibri"/>
                        </a:rPr>
                        <a:t>Components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7B9F"/>
                    </a:solidFill>
                  </a:tcPr>
                </a:tc>
                <a:extLst>
                  <a:ext uri="{0D108BD9-81ED-4DB2-BD59-A6C34878D82A}">
                    <a16:rowId xmlns:a16="http://schemas.microsoft.com/office/drawing/2014/main" val="10000"/>
                  </a:ext>
                </a:extLst>
              </a:tr>
              <a:tr h="370840">
                <a:tc>
                  <a:txBody>
                    <a:bodyPr/>
                    <a:lstStyle/>
                    <a:p>
                      <a:pPr marL="91440">
                        <a:lnSpc>
                          <a:spcPct val="100000"/>
                        </a:lnSpc>
                        <a:spcBef>
                          <a:spcPts val="250"/>
                        </a:spcBef>
                      </a:pPr>
                      <a:r>
                        <a:rPr sz="1800" spc="-20" dirty="0">
                          <a:latin typeface="Calibri"/>
                          <a:cs typeface="Calibri"/>
                        </a:rPr>
                        <a:t>~45%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6DF"/>
                    </a:solidFill>
                  </a:tcPr>
                </a:tc>
                <a:tc>
                  <a:txBody>
                    <a:bodyPr/>
                    <a:lstStyle/>
                    <a:p>
                      <a:pPr marL="92075">
                        <a:lnSpc>
                          <a:spcPct val="100000"/>
                        </a:lnSpc>
                        <a:spcBef>
                          <a:spcPts val="250"/>
                        </a:spcBef>
                      </a:pPr>
                      <a:r>
                        <a:rPr sz="1800" spc="-10" dirty="0">
                          <a:latin typeface="Calibri"/>
                          <a:cs typeface="Calibri"/>
                        </a:rPr>
                        <a:t>Servers</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6DF"/>
                    </a:solidFill>
                  </a:tcPr>
                </a:tc>
                <a:tc>
                  <a:txBody>
                    <a:bodyPr/>
                    <a:lstStyle/>
                    <a:p>
                      <a:pPr marL="92075">
                        <a:lnSpc>
                          <a:spcPct val="100000"/>
                        </a:lnSpc>
                        <a:spcBef>
                          <a:spcPts val="250"/>
                        </a:spcBef>
                      </a:pPr>
                      <a:r>
                        <a:rPr sz="1800" dirty="0">
                          <a:latin typeface="Calibri"/>
                          <a:cs typeface="Calibri"/>
                        </a:rPr>
                        <a:t>CPU,</a:t>
                      </a:r>
                      <a:r>
                        <a:rPr sz="1800" spc="-60" dirty="0">
                          <a:latin typeface="Calibri"/>
                          <a:cs typeface="Calibri"/>
                        </a:rPr>
                        <a:t> </a:t>
                      </a:r>
                      <a:r>
                        <a:rPr sz="1800" spc="-10" dirty="0">
                          <a:latin typeface="Calibri"/>
                          <a:cs typeface="Calibri"/>
                        </a:rPr>
                        <a:t>memory,</a:t>
                      </a:r>
                      <a:r>
                        <a:rPr sz="1800" spc="-65" dirty="0">
                          <a:latin typeface="Calibri"/>
                          <a:cs typeface="Calibri"/>
                        </a:rPr>
                        <a:t> </a:t>
                      </a:r>
                      <a:r>
                        <a:rPr sz="1800" spc="-20" dirty="0">
                          <a:latin typeface="Calibri"/>
                          <a:cs typeface="Calibri"/>
                        </a:rPr>
                        <a:t>disk</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6DF"/>
                    </a:solidFill>
                  </a:tcPr>
                </a:tc>
                <a:extLst>
                  <a:ext uri="{0D108BD9-81ED-4DB2-BD59-A6C34878D82A}">
                    <a16:rowId xmlns:a16="http://schemas.microsoft.com/office/drawing/2014/main" val="10001"/>
                  </a:ext>
                </a:extLst>
              </a:tr>
              <a:tr h="370840">
                <a:tc>
                  <a:txBody>
                    <a:bodyPr/>
                    <a:lstStyle/>
                    <a:p>
                      <a:pPr marL="91440">
                        <a:lnSpc>
                          <a:spcPct val="100000"/>
                        </a:lnSpc>
                        <a:spcBef>
                          <a:spcPts val="250"/>
                        </a:spcBef>
                      </a:pPr>
                      <a:r>
                        <a:rPr sz="1800" spc="-20" dirty="0">
                          <a:latin typeface="Calibri"/>
                          <a:cs typeface="Calibri"/>
                        </a:rPr>
                        <a:t>~25%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tc>
                  <a:txBody>
                    <a:bodyPr/>
                    <a:lstStyle/>
                    <a:p>
                      <a:pPr marL="92075">
                        <a:lnSpc>
                          <a:spcPct val="100000"/>
                        </a:lnSpc>
                        <a:spcBef>
                          <a:spcPts val="250"/>
                        </a:spcBef>
                      </a:pPr>
                      <a:r>
                        <a:rPr sz="1800" dirty="0">
                          <a:latin typeface="Calibri"/>
                          <a:cs typeface="Calibri"/>
                        </a:rPr>
                        <a:t>Power</a:t>
                      </a:r>
                      <a:r>
                        <a:rPr sz="1800" spc="-105" dirty="0">
                          <a:latin typeface="Calibri"/>
                          <a:cs typeface="Calibri"/>
                        </a:rPr>
                        <a:t> </a:t>
                      </a:r>
                      <a:r>
                        <a:rPr sz="1800" spc="-10" dirty="0">
                          <a:latin typeface="Calibri"/>
                          <a:cs typeface="Calibri"/>
                        </a:rPr>
                        <a:t>infrastructure</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tc>
                  <a:txBody>
                    <a:bodyPr/>
                    <a:lstStyle/>
                    <a:p>
                      <a:pPr marL="92075">
                        <a:lnSpc>
                          <a:spcPct val="100000"/>
                        </a:lnSpc>
                        <a:spcBef>
                          <a:spcPts val="250"/>
                        </a:spcBef>
                      </a:pPr>
                      <a:r>
                        <a:rPr sz="1800" dirty="0">
                          <a:latin typeface="Calibri"/>
                          <a:cs typeface="Calibri"/>
                        </a:rPr>
                        <a:t>UPS,</a:t>
                      </a:r>
                      <a:r>
                        <a:rPr sz="1800" spc="-50" dirty="0">
                          <a:latin typeface="Calibri"/>
                          <a:cs typeface="Calibri"/>
                        </a:rPr>
                        <a:t> </a:t>
                      </a:r>
                      <a:r>
                        <a:rPr sz="1800" dirty="0">
                          <a:latin typeface="Calibri"/>
                          <a:cs typeface="Calibri"/>
                        </a:rPr>
                        <a:t>cooling,</a:t>
                      </a:r>
                      <a:r>
                        <a:rPr sz="1800" spc="-45" dirty="0">
                          <a:latin typeface="Calibri"/>
                          <a:cs typeface="Calibri"/>
                        </a:rPr>
                        <a:t> </a:t>
                      </a:r>
                      <a:r>
                        <a:rPr sz="1800" dirty="0">
                          <a:latin typeface="Calibri"/>
                          <a:cs typeface="Calibri"/>
                        </a:rPr>
                        <a:t>power</a:t>
                      </a:r>
                      <a:r>
                        <a:rPr sz="1800" spc="-30" dirty="0">
                          <a:latin typeface="Calibri"/>
                          <a:cs typeface="Calibri"/>
                        </a:rPr>
                        <a:t> </a:t>
                      </a:r>
                      <a:r>
                        <a:rPr sz="1800" spc="-10" dirty="0">
                          <a:latin typeface="Calibri"/>
                          <a:cs typeface="Calibri"/>
                        </a:rPr>
                        <a:t>distribution</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extLst>
                  <a:ext uri="{0D108BD9-81ED-4DB2-BD59-A6C34878D82A}">
                    <a16:rowId xmlns:a16="http://schemas.microsoft.com/office/drawing/2014/main" val="10002"/>
                  </a:ext>
                </a:extLst>
              </a:tr>
              <a:tr h="370840">
                <a:tc>
                  <a:txBody>
                    <a:bodyPr/>
                    <a:lstStyle/>
                    <a:p>
                      <a:pPr marL="91440">
                        <a:lnSpc>
                          <a:spcPct val="100000"/>
                        </a:lnSpc>
                        <a:spcBef>
                          <a:spcPts val="250"/>
                        </a:spcBef>
                      </a:pPr>
                      <a:r>
                        <a:rPr sz="1800" spc="-20" dirty="0">
                          <a:latin typeface="Calibri"/>
                          <a:cs typeface="Calibri"/>
                        </a:rPr>
                        <a:t>~15%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6DF"/>
                    </a:solidFill>
                  </a:tcPr>
                </a:tc>
                <a:tc>
                  <a:txBody>
                    <a:bodyPr/>
                    <a:lstStyle/>
                    <a:p>
                      <a:pPr marL="92075">
                        <a:lnSpc>
                          <a:spcPct val="100000"/>
                        </a:lnSpc>
                        <a:spcBef>
                          <a:spcPts val="250"/>
                        </a:spcBef>
                      </a:pPr>
                      <a:r>
                        <a:rPr sz="1800" dirty="0">
                          <a:latin typeface="Calibri"/>
                          <a:cs typeface="Calibri"/>
                        </a:rPr>
                        <a:t>Power</a:t>
                      </a:r>
                      <a:r>
                        <a:rPr sz="1800" spc="-105" dirty="0">
                          <a:latin typeface="Calibri"/>
                          <a:cs typeface="Calibri"/>
                        </a:rPr>
                        <a:t> </a:t>
                      </a:r>
                      <a:r>
                        <a:rPr sz="1800" spc="-20" dirty="0">
                          <a:latin typeface="Calibri"/>
                          <a:cs typeface="Calibri"/>
                        </a:rPr>
                        <a:t>draw</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6DF"/>
                    </a:solidFill>
                  </a:tcPr>
                </a:tc>
                <a:tc>
                  <a:txBody>
                    <a:bodyPr/>
                    <a:lstStyle/>
                    <a:p>
                      <a:pPr marL="92075">
                        <a:lnSpc>
                          <a:spcPct val="100000"/>
                        </a:lnSpc>
                        <a:spcBef>
                          <a:spcPts val="250"/>
                        </a:spcBef>
                      </a:pPr>
                      <a:r>
                        <a:rPr sz="1800" dirty="0">
                          <a:latin typeface="Calibri"/>
                          <a:cs typeface="Calibri"/>
                        </a:rPr>
                        <a:t>Electrical</a:t>
                      </a:r>
                      <a:r>
                        <a:rPr sz="1800" spc="-40" dirty="0">
                          <a:latin typeface="Calibri"/>
                          <a:cs typeface="Calibri"/>
                        </a:rPr>
                        <a:t> </a:t>
                      </a:r>
                      <a:r>
                        <a:rPr sz="1800" dirty="0">
                          <a:latin typeface="Calibri"/>
                          <a:cs typeface="Calibri"/>
                        </a:rPr>
                        <a:t>utility</a:t>
                      </a:r>
                      <a:r>
                        <a:rPr sz="1800" spc="-40" dirty="0">
                          <a:latin typeface="Calibri"/>
                          <a:cs typeface="Calibri"/>
                        </a:rPr>
                        <a:t> </a:t>
                      </a:r>
                      <a:r>
                        <a:rPr sz="1800" spc="-10" dirty="0">
                          <a:latin typeface="Calibri"/>
                          <a:cs typeface="Calibri"/>
                        </a:rPr>
                        <a:t>costs</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6DF"/>
                    </a:solidFill>
                  </a:tcPr>
                </a:tc>
                <a:extLst>
                  <a:ext uri="{0D108BD9-81ED-4DB2-BD59-A6C34878D82A}">
                    <a16:rowId xmlns:a16="http://schemas.microsoft.com/office/drawing/2014/main" val="10003"/>
                  </a:ext>
                </a:extLst>
              </a:tr>
              <a:tr h="370840">
                <a:tc>
                  <a:txBody>
                    <a:bodyPr/>
                    <a:lstStyle/>
                    <a:p>
                      <a:pPr marL="91440">
                        <a:lnSpc>
                          <a:spcPct val="100000"/>
                        </a:lnSpc>
                        <a:spcBef>
                          <a:spcPts val="250"/>
                        </a:spcBef>
                      </a:pPr>
                      <a:r>
                        <a:rPr sz="1800" spc="-20" dirty="0">
                          <a:latin typeface="Calibri"/>
                          <a:cs typeface="Calibri"/>
                        </a:rPr>
                        <a:t>~15%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tc>
                  <a:txBody>
                    <a:bodyPr/>
                    <a:lstStyle/>
                    <a:p>
                      <a:pPr marL="92075">
                        <a:lnSpc>
                          <a:spcPct val="100000"/>
                        </a:lnSpc>
                        <a:spcBef>
                          <a:spcPts val="250"/>
                        </a:spcBef>
                      </a:pPr>
                      <a:r>
                        <a:rPr sz="1800" spc="-10" dirty="0">
                          <a:latin typeface="Calibri"/>
                          <a:cs typeface="Calibri"/>
                        </a:rPr>
                        <a:t>Network</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tc>
                  <a:txBody>
                    <a:bodyPr/>
                    <a:lstStyle/>
                    <a:p>
                      <a:pPr marL="92075">
                        <a:lnSpc>
                          <a:spcPct val="100000"/>
                        </a:lnSpc>
                        <a:spcBef>
                          <a:spcPts val="250"/>
                        </a:spcBef>
                      </a:pPr>
                      <a:r>
                        <a:rPr sz="1800" dirty="0">
                          <a:latin typeface="Calibri"/>
                          <a:cs typeface="Calibri"/>
                        </a:rPr>
                        <a:t>Switches,</a:t>
                      </a:r>
                      <a:r>
                        <a:rPr sz="1800" spc="-60" dirty="0">
                          <a:latin typeface="Calibri"/>
                          <a:cs typeface="Calibri"/>
                        </a:rPr>
                        <a:t> </a:t>
                      </a:r>
                      <a:r>
                        <a:rPr sz="1800" dirty="0">
                          <a:latin typeface="Calibri"/>
                          <a:cs typeface="Calibri"/>
                        </a:rPr>
                        <a:t>links,</a:t>
                      </a:r>
                      <a:r>
                        <a:rPr sz="1800" spc="-60" dirty="0">
                          <a:latin typeface="Calibri"/>
                          <a:cs typeface="Calibri"/>
                        </a:rPr>
                        <a:t> </a:t>
                      </a:r>
                      <a:r>
                        <a:rPr sz="1800" spc="-10" dirty="0">
                          <a:latin typeface="Calibri"/>
                          <a:cs typeface="Calibri"/>
                        </a:rPr>
                        <a:t>transit</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BEF"/>
                    </a:solidFill>
                  </a:tcPr>
                </a:tc>
                <a:extLst>
                  <a:ext uri="{0D108BD9-81ED-4DB2-BD59-A6C34878D82A}">
                    <a16:rowId xmlns:a16="http://schemas.microsoft.com/office/drawing/2014/main" val="10004"/>
                  </a:ext>
                </a:extLst>
              </a:tr>
            </a:tbl>
          </a:graphicData>
        </a:graphic>
      </p:graphicFrame>
      <p:sp>
        <p:nvSpPr>
          <p:cNvPr id="11" name="object 11"/>
          <p:cNvSpPr txBox="1"/>
          <p:nvPr/>
        </p:nvSpPr>
        <p:spPr>
          <a:xfrm>
            <a:off x="829767" y="5969000"/>
            <a:ext cx="4852035" cy="330835"/>
          </a:xfrm>
          <a:prstGeom prst="rect">
            <a:avLst/>
          </a:prstGeom>
        </p:spPr>
        <p:txBody>
          <a:bodyPr vert="horz" wrap="square" lIns="0" tIns="12700" rIns="0" bIns="0" rtlCol="0">
            <a:spAutoFit/>
          </a:bodyPr>
          <a:lstStyle/>
          <a:p>
            <a:pPr marL="12700">
              <a:lnSpc>
                <a:spcPct val="100000"/>
              </a:lnSpc>
              <a:spcBef>
                <a:spcPts val="100"/>
              </a:spcBef>
            </a:pPr>
            <a:r>
              <a:rPr sz="2000" b="1" spc="-375" dirty="0">
                <a:solidFill>
                  <a:srgbClr val="000099"/>
                </a:solidFill>
                <a:latin typeface="Trebuchet MS"/>
                <a:cs typeface="Trebuchet MS"/>
              </a:rPr>
              <a:t>*</a:t>
            </a:r>
            <a:r>
              <a:rPr sz="1800" b="1" spc="-375" dirty="0">
                <a:solidFill>
                  <a:srgbClr val="000099"/>
                </a:solidFill>
                <a:latin typeface="Trebuchet MS"/>
                <a:cs typeface="Trebuchet MS"/>
              </a:rPr>
              <a:t>3</a:t>
            </a:r>
            <a:r>
              <a:rPr sz="1800" b="1" spc="-145" dirty="0">
                <a:solidFill>
                  <a:srgbClr val="000099"/>
                </a:solidFill>
                <a:latin typeface="Trebuchet MS"/>
                <a:cs typeface="Trebuchet MS"/>
              </a:rPr>
              <a:t> </a:t>
            </a:r>
            <a:r>
              <a:rPr sz="1800" b="1" spc="-385" dirty="0">
                <a:solidFill>
                  <a:srgbClr val="000099"/>
                </a:solidFill>
                <a:latin typeface="Trebuchet MS"/>
                <a:cs typeface="Trebuchet MS"/>
              </a:rPr>
              <a:t>yr</a:t>
            </a:r>
            <a:r>
              <a:rPr sz="1800" b="1" spc="-135" dirty="0">
                <a:solidFill>
                  <a:srgbClr val="000099"/>
                </a:solidFill>
                <a:latin typeface="Trebuchet MS"/>
                <a:cs typeface="Trebuchet MS"/>
              </a:rPr>
              <a:t> </a:t>
            </a:r>
            <a:r>
              <a:rPr sz="1800" b="1" spc="-370" dirty="0">
                <a:solidFill>
                  <a:srgbClr val="000099"/>
                </a:solidFill>
                <a:latin typeface="Trebuchet MS"/>
                <a:cs typeface="Trebuchet MS"/>
              </a:rPr>
              <a:t>amortization</a:t>
            </a:r>
            <a:r>
              <a:rPr sz="1800" b="1" spc="-180" dirty="0">
                <a:solidFill>
                  <a:srgbClr val="000099"/>
                </a:solidFill>
                <a:latin typeface="Trebuchet MS"/>
                <a:cs typeface="Trebuchet MS"/>
              </a:rPr>
              <a:t> </a:t>
            </a:r>
            <a:r>
              <a:rPr sz="1800" b="1" spc="-365" dirty="0">
                <a:solidFill>
                  <a:srgbClr val="000099"/>
                </a:solidFill>
                <a:latin typeface="Trebuchet MS"/>
                <a:cs typeface="Trebuchet MS"/>
              </a:rPr>
              <a:t>for</a:t>
            </a:r>
            <a:r>
              <a:rPr sz="1800" b="1" spc="-150" dirty="0">
                <a:solidFill>
                  <a:srgbClr val="000099"/>
                </a:solidFill>
                <a:latin typeface="Trebuchet MS"/>
                <a:cs typeface="Trebuchet MS"/>
              </a:rPr>
              <a:t> </a:t>
            </a:r>
            <a:r>
              <a:rPr sz="1800" b="1" spc="-335" dirty="0">
                <a:solidFill>
                  <a:srgbClr val="000099"/>
                </a:solidFill>
                <a:latin typeface="Trebuchet MS"/>
                <a:cs typeface="Trebuchet MS"/>
              </a:rPr>
              <a:t>servers,</a:t>
            </a:r>
            <a:r>
              <a:rPr sz="1800" b="1" spc="-170" dirty="0">
                <a:solidFill>
                  <a:srgbClr val="000099"/>
                </a:solidFill>
                <a:latin typeface="Trebuchet MS"/>
                <a:cs typeface="Trebuchet MS"/>
              </a:rPr>
              <a:t> </a:t>
            </a:r>
            <a:r>
              <a:rPr sz="1800" b="1" spc="-400" dirty="0">
                <a:solidFill>
                  <a:srgbClr val="000099"/>
                </a:solidFill>
                <a:latin typeface="Trebuchet MS"/>
                <a:cs typeface="Trebuchet MS"/>
              </a:rPr>
              <a:t>15</a:t>
            </a:r>
            <a:r>
              <a:rPr sz="1800" b="1" spc="-155" dirty="0">
                <a:solidFill>
                  <a:srgbClr val="000099"/>
                </a:solidFill>
                <a:latin typeface="Trebuchet MS"/>
                <a:cs typeface="Trebuchet MS"/>
              </a:rPr>
              <a:t> </a:t>
            </a:r>
            <a:r>
              <a:rPr sz="1800" b="1" spc="-385" dirty="0">
                <a:solidFill>
                  <a:srgbClr val="000099"/>
                </a:solidFill>
                <a:latin typeface="Trebuchet MS"/>
                <a:cs typeface="Trebuchet MS"/>
              </a:rPr>
              <a:t>yr</a:t>
            </a:r>
            <a:r>
              <a:rPr sz="1800" b="1" spc="-135" dirty="0">
                <a:solidFill>
                  <a:srgbClr val="000099"/>
                </a:solidFill>
                <a:latin typeface="Trebuchet MS"/>
                <a:cs typeface="Trebuchet MS"/>
              </a:rPr>
              <a:t> </a:t>
            </a:r>
            <a:r>
              <a:rPr sz="1800" b="1" spc="-365" dirty="0">
                <a:solidFill>
                  <a:srgbClr val="000099"/>
                </a:solidFill>
                <a:latin typeface="Trebuchet MS"/>
                <a:cs typeface="Trebuchet MS"/>
              </a:rPr>
              <a:t>for</a:t>
            </a:r>
            <a:r>
              <a:rPr sz="1800" b="1" spc="-145" dirty="0">
                <a:solidFill>
                  <a:srgbClr val="000099"/>
                </a:solidFill>
                <a:latin typeface="Trebuchet MS"/>
                <a:cs typeface="Trebuchet MS"/>
              </a:rPr>
              <a:t> </a:t>
            </a:r>
            <a:r>
              <a:rPr sz="1800" b="1" spc="-360" dirty="0">
                <a:solidFill>
                  <a:srgbClr val="000099"/>
                </a:solidFill>
                <a:latin typeface="Trebuchet MS"/>
                <a:cs typeface="Trebuchet MS"/>
              </a:rPr>
              <a:t>infrastructure;</a:t>
            </a:r>
            <a:r>
              <a:rPr sz="1800" b="1" spc="-165" dirty="0">
                <a:solidFill>
                  <a:srgbClr val="000099"/>
                </a:solidFill>
                <a:latin typeface="Trebuchet MS"/>
                <a:cs typeface="Trebuchet MS"/>
              </a:rPr>
              <a:t> </a:t>
            </a:r>
            <a:r>
              <a:rPr sz="1800" b="1" spc="-300" dirty="0">
                <a:solidFill>
                  <a:srgbClr val="000099"/>
                </a:solidFill>
                <a:latin typeface="Trebuchet MS"/>
                <a:cs typeface="Trebuchet MS"/>
              </a:rPr>
              <a:t>5%</a:t>
            </a:r>
            <a:r>
              <a:rPr sz="1800" b="1" spc="-140" dirty="0">
                <a:solidFill>
                  <a:srgbClr val="000099"/>
                </a:solidFill>
                <a:latin typeface="Trebuchet MS"/>
                <a:cs typeface="Trebuchet MS"/>
              </a:rPr>
              <a:t> </a:t>
            </a:r>
            <a:r>
              <a:rPr sz="1800" b="1" spc="-325" dirty="0">
                <a:solidFill>
                  <a:srgbClr val="000099"/>
                </a:solidFill>
                <a:latin typeface="Trebuchet MS"/>
                <a:cs typeface="Trebuchet MS"/>
              </a:rPr>
              <a:t>cost</a:t>
            </a:r>
            <a:r>
              <a:rPr sz="1800" b="1" spc="-150" dirty="0">
                <a:solidFill>
                  <a:srgbClr val="000099"/>
                </a:solidFill>
                <a:latin typeface="Trebuchet MS"/>
                <a:cs typeface="Trebuchet MS"/>
              </a:rPr>
              <a:t> </a:t>
            </a:r>
            <a:r>
              <a:rPr sz="1800" b="1" spc="-355" dirty="0">
                <a:solidFill>
                  <a:srgbClr val="000099"/>
                </a:solidFill>
                <a:latin typeface="Trebuchet MS"/>
                <a:cs typeface="Trebuchet MS"/>
              </a:rPr>
              <a:t>of</a:t>
            </a:r>
            <a:r>
              <a:rPr sz="1800" b="1" spc="-140" dirty="0">
                <a:solidFill>
                  <a:srgbClr val="000099"/>
                </a:solidFill>
                <a:latin typeface="Trebuchet MS"/>
                <a:cs typeface="Trebuchet MS"/>
              </a:rPr>
              <a:t> </a:t>
            </a:r>
            <a:r>
              <a:rPr sz="1800" b="1" spc="-430" dirty="0">
                <a:solidFill>
                  <a:srgbClr val="000099"/>
                </a:solidFill>
                <a:latin typeface="Trebuchet MS"/>
                <a:cs typeface="Trebuchet MS"/>
              </a:rPr>
              <a:t>money</a:t>
            </a:r>
            <a:endParaRPr sz="1800">
              <a:latin typeface="Trebuchet MS"/>
              <a:cs typeface="Trebuchet MS"/>
            </a:endParaRPr>
          </a:p>
        </p:txBody>
      </p:sp>
      <p:sp>
        <p:nvSpPr>
          <p:cNvPr id="12" name="object 12"/>
          <p:cNvSpPr txBox="1"/>
          <p:nvPr/>
        </p:nvSpPr>
        <p:spPr>
          <a:xfrm>
            <a:off x="682244" y="6466128"/>
            <a:ext cx="694626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Calibri"/>
                <a:cs typeface="Calibri"/>
              </a:rPr>
              <a:t>Source:</a:t>
            </a:r>
            <a:r>
              <a:rPr sz="1400" b="1" spc="-40" dirty="0">
                <a:latin typeface="Calibri"/>
                <a:cs typeface="Calibri"/>
              </a:rPr>
              <a:t> </a:t>
            </a:r>
            <a:r>
              <a:rPr sz="1400" b="1" dirty="0">
                <a:latin typeface="Calibri"/>
                <a:cs typeface="Calibri"/>
              </a:rPr>
              <a:t>the</a:t>
            </a:r>
            <a:r>
              <a:rPr sz="1400" b="1" spc="-50" dirty="0">
                <a:latin typeface="Calibri"/>
                <a:cs typeface="Calibri"/>
              </a:rPr>
              <a:t> </a:t>
            </a:r>
            <a:r>
              <a:rPr sz="1400" b="1" dirty="0">
                <a:latin typeface="Calibri"/>
                <a:cs typeface="Calibri"/>
              </a:rPr>
              <a:t>Cost</a:t>
            </a:r>
            <a:r>
              <a:rPr sz="1400" b="1" spc="-30" dirty="0">
                <a:latin typeface="Calibri"/>
                <a:cs typeface="Calibri"/>
              </a:rPr>
              <a:t> </a:t>
            </a:r>
            <a:r>
              <a:rPr sz="1400" b="1" dirty="0">
                <a:latin typeface="Calibri"/>
                <a:cs typeface="Calibri"/>
              </a:rPr>
              <a:t>of</a:t>
            </a:r>
            <a:r>
              <a:rPr sz="1400" b="1" spc="-40" dirty="0">
                <a:latin typeface="Calibri"/>
                <a:cs typeface="Calibri"/>
              </a:rPr>
              <a:t> </a:t>
            </a:r>
            <a:r>
              <a:rPr sz="1400" b="1" dirty="0">
                <a:latin typeface="Calibri"/>
                <a:cs typeface="Calibri"/>
              </a:rPr>
              <a:t>a</a:t>
            </a:r>
            <a:r>
              <a:rPr sz="1400" b="1" spc="-35" dirty="0">
                <a:latin typeface="Calibri"/>
                <a:cs typeface="Calibri"/>
              </a:rPr>
              <a:t> </a:t>
            </a:r>
            <a:r>
              <a:rPr sz="1400" b="1" dirty="0">
                <a:latin typeface="Calibri"/>
                <a:cs typeface="Calibri"/>
              </a:rPr>
              <a:t>Cloud:</a:t>
            </a:r>
            <a:r>
              <a:rPr sz="1400" b="1" spc="-45" dirty="0">
                <a:latin typeface="Calibri"/>
                <a:cs typeface="Calibri"/>
              </a:rPr>
              <a:t> </a:t>
            </a:r>
            <a:r>
              <a:rPr sz="1400" b="1" spc="-10" dirty="0">
                <a:latin typeface="Calibri"/>
                <a:cs typeface="Calibri"/>
              </a:rPr>
              <a:t>Research</a:t>
            </a:r>
            <a:r>
              <a:rPr sz="1400" b="1" spc="-50" dirty="0">
                <a:latin typeface="Calibri"/>
                <a:cs typeface="Calibri"/>
              </a:rPr>
              <a:t> </a:t>
            </a:r>
            <a:r>
              <a:rPr sz="1400" b="1" dirty="0">
                <a:latin typeface="Calibri"/>
                <a:cs typeface="Calibri"/>
              </a:rPr>
              <a:t>Problems</a:t>
            </a:r>
            <a:r>
              <a:rPr sz="1400" b="1" spc="-40" dirty="0">
                <a:latin typeface="Calibri"/>
                <a:cs typeface="Calibri"/>
              </a:rPr>
              <a:t> </a:t>
            </a:r>
            <a:r>
              <a:rPr sz="1400" b="1" dirty="0">
                <a:latin typeface="Calibri"/>
                <a:cs typeface="Calibri"/>
              </a:rPr>
              <a:t>in</a:t>
            </a:r>
            <a:r>
              <a:rPr sz="1400" b="1" spc="-35" dirty="0">
                <a:latin typeface="Calibri"/>
                <a:cs typeface="Calibri"/>
              </a:rPr>
              <a:t> </a:t>
            </a:r>
            <a:r>
              <a:rPr sz="1400" b="1" dirty="0">
                <a:latin typeface="Calibri"/>
                <a:cs typeface="Calibri"/>
              </a:rPr>
              <a:t>Data</a:t>
            </a:r>
            <a:r>
              <a:rPr sz="1400" b="1" spc="-45" dirty="0">
                <a:latin typeface="Calibri"/>
                <a:cs typeface="Calibri"/>
              </a:rPr>
              <a:t> </a:t>
            </a:r>
            <a:r>
              <a:rPr sz="1400" b="1" dirty="0">
                <a:latin typeface="Calibri"/>
                <a:cs typeface="Calibri"/>
              </a:rPr>
              <a:t>Center</a:t>
            </a:r>
            <a:r>
              <a:rPr sz="1400" b="1" spc="-55" dirty="0">
                <a:latin typeface="Calibri"/>
                <a:cs typeface="Calibri"/>
              </a:rPr>
              <a:t> </a:t>
            </a:r>
            <a:r>
              <a:rPr sz="1400" b="1" dirty="0">
                <a:latin typeface="Calibri"/>
                <a:cs typeface="Calibri"/>
              </a:rPr>
              <a:t>Networks.</a:t>
            </a:r>
            <a:r>
              <a:rPr sz="1400" b="1" spc="260" dirty="0">
                <a:latin typeface="Calibri"/>
                <a:cs typeface="Calibri"/>
              </a:rPr>
              <a:t> </a:t>
            </a:r>
            <a:r>
              <a:rPr sz="1400" b="1" dirty="0">
                <a:latin typeface="Calibri"/>
                <a:cs typeface="Calibri"/>
              </a:rPr>
              <a:t>Sigcomm</a:t>
            </a:r>
            <a:r>
              <a:rPr sz="1400" b="1" spc="260" dirty="0">
                <a:latin typeface="Calibri"/>
                <a:cs typeface="Calibri"/>
              </a:rPr>
              <a:t> </a:t>
            </a:r>
            <a:r>
              <a:rPr sz="1400" b="1" dirty="0">
                <a:latin typeface="Calibri"/>
                <a:cs typeface="Calibri"/>
              </a:rPr>
              <a:t>CCR</a:t>
            </a:r>
            <a:r>
              <a:rPr sz="1400" b="1" spc="-35" dirty="0">
                <a:latin typeface="Calibri"/>
                <a:cs typeface="Calibri"/>
              </a:rPr>
              <a:t> </a:t>
            </a:r>
            <a:r>
              <a:rPr sz="1400" b="1" spc="-10" dirty="0">
                <a:latin typeface="Calibri"/>
                <a:cs typeface="Calibri"/>
              </a:rPr>
              <a:t>2009.</a:t>
            </a:r>
            <a:endParaRPr sz="1400">
              <a:latin typeface="Calibri"/>
              <a:cs typeface="Calibri"/>
            </a:endParaRPr>
          </a:p>
        </p:txBody>
      </p:sp>
      <p:sp>
        <p:nvSpPr>
          <p:cNvPr id="13" name="object 13"/>
          <p:cNvSpPr txBox="1"/>
          <p:nvPr/>
        </p:nvSpPr>
        <p:spPr>
          <a:xfrm>
            <a:off x="9190990" y="6499047"/>
            <a:ext cx="193040" cy="269240"/>
          </a:xfrm>
          <a:prstGeom prst="rect">
            <a:avLst/>
          </a:prstGeom>
        </p:spPr>
        <p:txBody>
          <a:bodyPr vert="horz" wrap="square" lIns="0" tIns="12065" rIns="0" bIns="0" rtlCol="0">
            <a:spAutoFit/>
          </a:bodyPr>
          <a:lstStyle/>
          <a:p>
            <a:pPr marL="12700">
              <a:lnSpc>
                <a:spcPct val="100000"/>
              </a:lnSpc>
              <a:spcBef>
                <a:spcPts val="95"/>
              </a:spcBef>
            </a:pPr>
            <a:r>
              <a:rPr sz="1600" b="1" spc="-210" dirty="0">
                <a:latin typeface="Arial"/>
                <a:cs typeface="Arial"/>
              </a:rPr>
              <a:t>11</a:t>
            </a:r>
            <a:endParaRPr sz="16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Contents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435"/>
              </a:lnSpc>
            </a:pPr>
            <a:r>
              <a:rPr spc="-25" dirty="0"/>
              <a:t>39</a:t>
            </a:r>
          </a:p>
        </p:txBody>
      </p:sp>
      <p:sp>
        <p:nvSpPr>
          <p:cNvPr id="3" name="object 3"/>
          <p:cNvSpPr txBox="1"/>
          <p:nvPr/>
        </p:nvSpPr>
        <p:spPr>
          <a:xfrm>
            <a:off x="574040" y="1450695"/>
            <a:ext cx="4378325" cy="2366645"/>
          </a:xfrm>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sz="3200" spc="-10" dirty="0">
                <a:latin typeface="Calibri"/>
                <a:cs typeface="Calibri"/>
              </a:rPr>
              <a:t>Virtualisation</a:t>
            </a:r>
            <a:endParaRPr sz="320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spc="-10" dirty="0">
                <a:latin typeface="Calibri"/>
                <a:cs typeface="Calibri"/>
              </a:rPr>
              <a:t>Datacentres</a:t>
            </a:r>
            <a:endParaRPr sz="3200">
              <a:latin typeface="Calibri"/>
              <a:cs typeface="Calibri"/>
            </a:endParaRPr>
          </a:p>
          <a:p>
            <a:pPr marL="194945" indent="-182245">
              <a:lnSpc>
                <a:spcPct val="100000"/>
              </a:lnSpc>
              <a:spcBef>
                <a:spcPts val="765"/>
              </a:spcBef>
              <a:buClr>
                <a:srgbClr val="2C7B9F"/>
              </a:buClr>
              <a:buSzPct val="84375"/>
              <a:buFont typeface="Arial MT"/>
              <a:buChar char="•"/>
              <a:tabLst>
                <a:tab pos="194945" algn="l"/>
              </a:tabLst>
            </a:pPr>
            <a:r>
              <a:rPr sz="3200" b="1" dirty="0">
                <a:solidFill>
                  <a:srgbClr val="234957"/>
                </a:solidFill>
                <a:latin typeface="Calibri"/>
                <a:cs typeface="Calibri"/>
              </a:rPr>
              <a:t>Cloud</a:t>
            </a:r>
            <a:r>
              <a:rPr sz="3200" b="1" spc="-35" dirty="0">
                <a:solidFill>
                  <a:srgbClr val="234957"/>
                </a:solidFill>
                <a:latin typeface="Calibri"/>
                <a:cs typeface="Calibri"/>
              </a:rPr>
              <a:t> </a:t>
            </a:r>
            <a:r>
              <a:rPr sz="3200" b="1" dirty="0">
                <a:solidFill>
                  <a:srgbClr val="234957"/>
                </a:solidFill>
                <a:latin typeface="Calibri"/>
                <a:cs typeface="Calibri"/>
              </a:rPr>
              <a:t>Computing</a:t>
            </a:r>
            <a:r>
              <a:rPr sz="3200" b="1" spc="-35" dirty="0">
                <a:solidFill>
                  <a:srgbClr val="234957"/>
                </a:solidFill>
                <a:latin typeface="Calibri"/>
                <a:cs typeface="Calibri"/>
              </a:rPr>
              <a:t> </a:t>
            </a:r>
            <a:r>
              <a:rPr sz="3200" b="1" spc="-10" dirty="0">
                <a:solidFill>
                  <a:srgbClr val="234957"/>
                </a:solidFill>
                <a:latin typeface="Calibri"/>
                <a:cs typeface="Calibri"/>
              </a:rPr>
              <a:t>drivers</a:t>
            </a:r>
            <a:endParaRPr sz="320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dirty="0">
                <a:latin typeface="Calibri"/>
                <a:cs typeface="Calibri"/>
              </a:rPr>
              <a:t>Cloud</a:t>
            </a:r>
            <a:r>
              <a:rPr sz="3200" spc="-80" dirty="0">
                <a:latin typeface="Calibri"/>
                <a:cs typeface="Calibri"/>
              </a:rPr>
              <a:t> </a:t>
            </a:r>
            <a:r>
              <a:rPr sz="3200" spc="-10" dirty="0">
                <a:latin typeface="Calibri"/>
                <a:cs typeface="Calibri"/>
              </a:rPr>
              <a:t>Computing</a:t>
            </a:r>
            <a:endParaRPr sz="32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5" dirty="0"/>
              <a:t>Scalability</a:t>
            </a:r>
          </a:p>
        </p:txBody>
      </p:sp>
      <p:pic>
        <p:nvPicPr>
          <p:cNvPr id="9" name="object 9"/>
          <p:cNvPicPr/>
          <p:nvPr/>
        </p:nvPicPr>
        <p:blipFill>
          <a:blip r:embed="rId3" cstate="print"/>
          <a:stretch>
            <a:fillRect/>
          </a:stretch>
        </p:blipFill>
        <p:spPr>
          <a:xfrm>
            <a:off x="6697980" y="3005137"/>
            <a:ext cx="3208020" cy="3711575"/>
          </a:xfrm>
          <a:prstGeom prst="rect">
            <a:avLst/>
          </a:prstGeom>
        </p:spPr>
      </p:pic>
      <p:sp>
        <p:nvSpPr>
          <p:cNvPr id="10" name="object 10"/>
          <p:cNvSpPr txBox="1"/>
          <p:nvPr/>
        </p:nvSpPr>
        <p:spPr>
          <a:xfrm>
            <a:off x="574040" y="1547621"/>
            <a:ext cx="8725535" cy="4830445"/>
          </a:xfrm>
          <a:prstGeom prst="rect">
            <a:avLst/>
          </a:prstGeom>
        </p:spPr>
        <p:txBody>
          <a:bodyPr vert="horz" wrap="square" lIns="0" tIns="13335" rIns="0" bIns="0" rtlCol="0">
            <a:spAutoFit/>
          </a:bodyPr>
          <a:lstStyle/>
          <a:p>
            <a:pPr marL="194945" marR="5080" indent="-182880">
              <a:lnSpc>
                <a:spcPct val="100000"/>
              </a:lnSpc>
              <a:spcBef>
                <a:spcPts val="105"/>
              </a:spcBef>
              <a:buClr>
                <a:srgbClr val="2C7B9F"/>
              </a:buClr>
              <a:buSzPct val="84375"/>
              <a:buFont typeface="Arial MT"/>
              <a:buChar char="•"/>
              <a:tabLst>
                <a:tab pos="194945" algn="l"/>
              </a:tabLst>
            </a:pPr>
            <a:r>
              <a:rPr sz="3200" dirty="0">
                <a:solidFill>
                  <a:srgbClr val="3D5078"/>
                </a:solidFill>
                <a:latin typeface="Calibri"/>
                <a:cs typeface="Calibri"/>
              </a:rPr>
              <a:t>Ability</a:t>
            </a:r>
            <a:r>
              <a:rPr sz="3200" spc="-30" dirty="0">
                <a:solidFill>
                  <a:srgbClr val="3D5078"/>
                </a:solidFill>
                <a:latin typeface="Calibri"/>
                <a:cs typeface="Calibri"/>
              </a:rPr>
              <a:t> </a:t>
            </a:r>
            <a:r>
              <a:rPr sz="3200" dirty="0">
                <a:solidFill>
                  <a:srgbClr val="3D5078"/>
                </a:solidFill>
                <a:latin typeface="Calibri"/>
                <a:cs typeface="Calibri"/>
              </a:rPr>
              <a:t>of</a:t>
            </a:r>
            <a:r>
              <a:rPr sz="3200" spc="-50" dirty="0">
                <a:solidFill>
                  <a:srgbClr val="3D5078"/>
                </a:solidFill>
                <a:latin typeface="Calibri"/>
                <a:cs typeface="Calibri"/>
              </a:rPr>
              <a:t> </a:t>
            </a:r>
            <a:r>
              <a:rPr sz="3200" dirty="0">
                <a:solidFill>
                  <a:srgbClr val="3D5078"/>
                </a:solidFill>
                <a:latin typeface="Calibri"/>
                <a:cs typeface="Calibri"/>
              </a:rPr>
              <a:t>a</a:t>
            </a:r>
            <a:r>
              <a:rPr sz="3200" spc="-45" dirty="0">
                <a:solidFill>
                  <a:srgbClr val="3D5078"/>
                </a:solidFill>
                <a:latin typeface="Calibri"/>
                <a:cs typeface="Calibri"/>
              </a:rPr>
              <a:t> </a:t>
            </a:r>
            <a:r>
              <a:rPr sz="3200" dirty="0">
                <a:solidFill>
                  <a:srgbClr val="3D5078"/>
                </a:solidFill>
                <a:latin typeface="Calibri"/>
                <a:cs typeface="Calibri"/>
              </a:rPr>
              <a:t>system,</a:t>
            </a:r>
            <a:r>
              <a:rPr sz="3200" spc="-55" dirty="0">
                <a:solidFill>
                  <a:srgbClr val="3D5078"/>
                </a:solidFill>
                <a:latin typeface="Calibri"/>
                <a:cs typeface="Calibri"/>
              </a:rPr>
              <a:t> </a:t>
            </a:r>
            <a:r>
              <a:rPr sz="3200" dirty="0">
                <a:solidFill>
                  <a:srgbClr val="3D5078"/>
                </a:solidFill>
                <a:latin typeface="Calibri"/>
                <a:cs typeface="Calibri"/>
              </a:rPr>
              <a:t>network,</a:t>
            </a:r>
            <a:r>
              <a:rPr sz="3200" spc="-50" dirty="0">
                <a:solidFill>
                  <a:srgbClr val="3D5078"/>
                </a:solidFill>
                <a:latin typeface="Calibri"/>
                <a:cs typeface="Calibri"/>
              </a:rPr>
              <a:t> </a:t>
            </a:r>
            <a:r>
              <a:rPr sz="3200" dirty="0">
                <a:solidFill>
                  <a:srgbClr val="3D5078"/>
                </a:solidFill>
                <a:latin typeface="Calibri"/>
                <a:cs typeface="Calibri"/>
              </a:rPr>
              <a:t>or</a:t>
            </a:r>
            <a:r>
              <a:rPr sz="3200" spc="-55" dirty="0">
                <a:solidFill>
                  <a:srgbClr val="3D5078"/>
                </a:solidFill>
                <a:latin typeface="Calibri"/>
                <a:cs typeface="Calibri"/>
              </a:rPr>
              <a:t> </a:t>
            </a:r>
            <a:r>
              <a:rPr sz="3200" dirty="0">
                <a:solidFill>
                  <a:srgbClr val="3D5078"/>
                </a:solidFill>
                <a:latin typeface="Calibri"/>
                <a:cs typeface="Calibri"/>
              </a:rPr>
              <a:t>process,</a:t>
            </a:r>
            <a:r>
              <a:rPr sz="3200" spc="-75" dirty="0">
                <a:solidFill>
                  <a:srgbClr val="3D5078"/>
                </a:solidFill>
                <a:latin typeface="Calibri"/>
                <a:cs typeface="Calibri"/>
              </a:rPr>
              <a:t> </a:t>
            </a:r>
            <a:r>
              <a:rPr sz="3200" dirty="0">
                <a:solidFill>
                  <a:srgbClr val="3D5078"/>
                </a:solidFill>
                <a:latin typeface="Calibri"/>
                <a:cs typeface="Calibri"/>
              </a:rPr>
              <a:t>to</a:t>
            </a:r>
            <a:r>
              <a:rPr sz="3200" spc="-145" dirty="0">
                <a:solidFill>
                  <a:srgbClr val="3D5078"/>
                </a:solidFill>
                <a:latin typeface="Calibri"/>
                <a:cs typeface="Calibri"/>
              </a:rPr>
              <a:t> </a:t>
            </a:r>
            <a:r>
              <a:rPr sz="3200" b="1" spc="-10" dirty="0">
                <a:solidFill>
                  <a:srgbClr val="3D5078"/>
                </a:solidFill>
                <a:latin typeface="Calibri"/>
                <a:cs typeface="Calibri"/>
              </a:rPr>
              <a:t>handle </a:t>
            </a:r>
            <a:r>
              <a:rPr sz="3200" b="1" dirty="0">
                <a:solidFill>
                  <a:srgbClr val="3D5078"/>
                </a:solidFill>
                <a:latin typeface="Calibri"/>
                <a:cs typeface="Calibri"/>
              </a:rPr>
              <a:t>growing</a:t>
            </a:r>
            <a:r>
              <a:rPr sz="3200" b="1" spc="-85" dirty="0">
                <a:solidFill>
                  <a:srgbClr val="3D5078"/>
                </a:solidFill>
                <a:latin typeface="Calibri"/>
                <a:cs typeface="Calibri"/>
              </a:rPr>
              <a:t> </a:t>
            </a:r>
            <a:r>
              <a:rPr sz="3200" dirty="0">
                <a:solidFill>
                  <a:srgbClr val="3D5078"/>
                </a:solidFill>
                <a:latin typeface="Calibri"/>
                <a:cs typeface="Calibri"/>
              </a:rPr>
              <a:t>amount</a:t>
            </a:r>
            <a:r>
              <a:rPr sz="3200" spc="-50" dirty="0">
                <a:solidFill>
                  <a:srgbClr val="3D5078"/>
                </a:solidFill>
                <a:latin typeface="Calibri"/>
                <a:cs typeface="Calibri"/>
              </a:rPr>
              <a:t> </a:t>
            </a:r>
            <a:r>
              <a:rPr sz="3200" dirty="0">
                <a:solidFill>
                  <a:srgbClr val="3D5078"/>
                </a:solidFill>
                <a:latin typeface="Calibri"/>
                <a:cs typeface="Calibri"/>
              </a:rPr>
              <a:t>of</a:t>
            </a:r>
            <a:r>
              <a:rPr sz="3200" spc="-55" dirty="0">
                <a:solidFill>
                  <a:srgbClr val="3D5078"/>
                </a:solidFill>
                <a:latin typeface="Calibri"/>
                <a:cs typeface="Calibri"/>
              </a:rPr>
              <a:t> </a:t>
            </a:r>
            <a:r>
              <a:rPr sz="3200" dirty="0">
                <a:solidFill>
                  <a:srgbClr val="3D5078"/>
                </a:solidFill>
                <a:latin typeface="Calibri"/>
                <a:cs typeface="Calibri"/>
              </a:rPr>
              <a:t>work</a:t>
            </a:r>
            <a:r>
              <a:rPr sz="3200" spc="-75" dirty="0">
                <a:solidFill>
                  <a:srgbClr val="3D5078"/>
                </a:solidFill>
                <a:latin typeface="Calibri"/>
                <a:cs typeface="Calibri"/>
              </a:rPr>
              <a:t> </a:t>
            </a:r>
            <a:r>
              <a:rPr sz="3200" dirty="0">
                <a:solidFill>
                  <a:srgbClr val="3D5078"/>
                </a:solidFill>
                <a:latin typeface="Calibri"/>
                <a:cs typeface="Calibri"/>
              </a:rPr>
              <a:t>in</a:t>
            </a:r>
            <a:r>
              <a:rPr sz="3200" spc="-60" dirty="0">
                <a:solidFill>
                  <a:srgbClr val="3D5078"/>
                </a:solidFill>
                <a:latin typeface="Calibri"/>
                <a:cs typeface="Calibri"/>
              </a:rPr>
              <a:t> </a:t>
            </a:r>
            <a:r>
              <a:rPr sz="3200" dirty="0">
                <a:solidFill>
                  <a:srgbClr val="3D5078"/>
                </a:solidFill>
                <a:latin typeface="Calibri"/>
                <a:cs typeface="Calibri"/>
              </a:rPr>
              <a:t>a</a:t>
            </a:r>
            <a:r>
              <a:rPr sz="3200" spc="-50" dirty="0">
                <a:solidFill>
                  <a:srgbClr val="3D5078"/>
                </a:solidFill>
                <a:latin typeface="Calibri"/>
                <a:cs typeface="Calibri"/>
              </a:rPr>
              <a:t> </a:t>
            </a:r>
            <a:r>
              <a:rPr sz="3200" dirty="0">
                <a:solidFill>
                  <a:srgbClr val="3D5078"/>
                </a:solidFill>
                <a:latin typeface="Calibri"/>
                <a:cs typeface="Calibri"/>
              </a:rPr>
              <a:t>capable</a:t>
            </a:r>
            <a:r>
              <a:rPr sz="3200" spc="-55" dirty="0">
                <a:solidFill>
                  <a:srgbClr val="3D5078"/>
                </a:solidFill>
                <a:latin typeface="Calibri"/>
                <a:cs typeface="Calibri"/>
              </a:rPr>
              <a:t> </a:t>
            </a:r>
            <a:r>
              <a:rPr sz="3200" dirty="0">
                <a:solidFill>
                  <a:srgbClr val="3D5078"/>
                </a:solidFill>
                <a:latin typeface="Calibri"/>
                <a:cs typeface="Calibri"/>
              </a:rPr>
              <a:t>manner</a:t>
            </a:r>
            <a:r>
              <a:rPr sz="3200" spc="-60" dirty="0">
                <a:solidFill>
                  <a:srgbClr val="3D5078"/>
                </a:solidFill>
                <a:latin typeface="Calibri"/>
                <a:cs typeface="Calibri"/>
              </a:rPr>
              <a:t> </a:t>
            </a:r>
            <a:r>
              <a:rPr sz="3200" dirty="0">
                <a:solidFill>
                  <a:srgbClr val="3D5078"/>
                </a:solidFill>
                <a:latin typeface="Calibri"/>
                <a:cs typeface="Calibri"/>
              </a:rPr>
              <a:t>or</a:t>
            </a:r>
            <a:r>
              <a:rPr sz="3200" spc="-55" dirty="0">
                <a:solidFill>
                  <a:srgbClr val="3D5078"/>
                </a:solidFill>
                <a:latin typeface="Calibri"/>
                <a:cs typeface="Calibri"/>
              </a:rPr>
              <a:t> </a:t>
            </a:r>
            <a:r>
              <a:rPr sz="3200" spc="-25" dirty="0">
                <a:solidFill>
                  <a:srgbClr val="3D5078"/>
                </a:solidFill>
                <a:latin typeface="Calibri"/>
                <a:cs typeface="Calibri"/>
              </a:rPr>
              <a:t>its </a:t>
            </a:r>
            <a:r>
              <a:rPr sz="3200" b="1" dirty="0">
                <a:solidFill>
                  <a:srgbClr val="3D5078"/>
                </a:solidFill>
                <a:latin typeface="Calibri"/>
                <a:cs typeface="Calibri"/>
              </a:rPr>
              <a:t>ability</a:t>
            </a:r>
            <a:r>
              <a:rPr sz="3200" b="1" spc="-85" dirty="0">
                <a:solidFill>
                  <a:srgbClr val="3D5078"/>
                </a:solidFill>
                <a:latin typeface="Calibri"/>
                <a:cs typeface="Calibri"/>
              </a:rPr>
              <a:t> </a:t>
            </a:r>
            <a:r>
              <a:rPr sz="3200" b="1" dirty="0">
                <a:solidFill>
                  <a:srgbClr val="3D5078"/>
                </a:solidFill>
                <a:latin typeface="Calibri"/>
                <a:cs typeface="Calibri"/>
              </a:rPr>
              <a:t>to</a:t>
            </a:r>
            <a:r>
              <a:rPr sz="3200" b="1" spc="-50" dirty="0">
                <a:solidFill>
                  <a:srgbClr val="3D5078"/>
                </a:solidFill>
                <a:latin typeface="Calibri"/>
                <a:cs typeface="Calibri"/>
              </a:rPr>
              <a:t> </a:t>
            </a:r>
            <a:r>
              <a:rPr sz="3200" b="1" dirty="0">
                <a:solidFill>
                  <a:srgbClr val="3D5078"/>
                </a:solidFill>
                <a:latin typeface="Calibri"/>
                <a:cs typeface="Calibri"/>
              </a:rPr>
              <a:t>be</a:t>
            </a:r>
            <a:r>
              <a:rPr sz="3200" b="1" spc="-60" dirty="0">
                <a:solidFill>
                  <a:srgbClr val="3D5078"/>
                </a:solidFill>
                <a:latin typeface="Calibri"/>
                <a:cs typeface="Calibri"/>
              </a:rPr>
              <a:t> </a:t>
            </a:r>
            <a:r>
              <a:rPr sz="3200" b="1" dirty="0">
                <a:solidFill>
                  <a:srgbClr val="3D5078"/>
                </a:solidFill>
                <a:latin typeface="Calibri"/>
                <a:cs typeface="Calibri"/>
              </a:rPr>
              <a:t>enlarged</a:t>
            </a:r>
            <a:r>
              <a:rPr sz="3200" b="1" spc="-120" dirty="0">
                <a:solidFill>
                  <a:srgbClr val="3D5078"/>
                </a:solidFill>
                <a:latin typeface="Calibri"/>
                <a:cs typeface="Calibri"/>
              </a:rPr>
              <a:t> </a:t>
            </a:r>
            <a:r>
              <a:rPr sz="3200" dirty="0">
                <a:solidFill>
                  <a:srgbClr val="3D5078"/>
                </a:solidFill>
                <a:latin typeface="Calibri"/>
                <a:cs typeface="Calibri"/>
              </a:rPr>
              <a:t>to</a:t>
            </a:r>
            <a:r>
              <a:rPr sz="3200" spc="-45" dirty="0">
                <a:solidFill>
                  <a:srgbClr val="3D5078"/>
                </a:solidFill>
                <a:latin typeface="Calibri"/>
                <a:cs typeface="Calibri"/>
              </a:rPr>
              <a:t> </a:t>
            </a:r>
            <a:r>
              <a:rPr sz="3200" dirty="0">
                <a:solidFill>
                  <a:srgbClr val="3D5078"/>
                </a:solidFill>
                <a:latin typeface="Calibri"/>
                <a:cs typeface="Calibri"/>
              </a:rPr>
              <a:t>accommodate</a:t>
            </a:r>
            <a:r>
              <a:rPr sz="3200" spc="-55" dirty="0">
                <a:solidFill>
                  <a:srgbClr val="3D5078"/>
                </a:solidFill>
                <a:latin typeface="Calibri"/>
                <a:cs typeface="Calibri"/>
              </a:rPr>
              <a:t> </a:t>
            </a:r>
            <a:r>
              <a:rPr sz="3200" dirty="0">
                <a:solidFill>
                  <a:srgbClr val="3D5078"/>
                </a:solidFill>
                <a:latin typeface="Calibri"/>
                <a:cs typeface="Calibri"/>
              </a:rPr>
              <a:t>that</a:t>
            </a:r>
            <a:r>
              <a:rPr sz="3200" spc="-40" dirty="0">
                <a:solidFill>
                  <a:srgbClr val="3D5078"/>
                </a:solidFill>
                <a:latin typeface="Calibri"/>
                <a:cs typeface="Calibri"/>
              </a:rPr>
              <a:t> </a:t>
            </a:r>
            <a:r>
              <a:rPr sz="3200" spc="-10" dirty="0">
                <a:solidFill>
                  <a:srgbClr val="3D5078"/>
                </a:solidFill>
                <a:latin typeface="Calibri"/>
                <a:cs typeface="Calibri"/>
              </a:rPr>
              <a:t>growth</a:t>
            </a:r>
            <a:endParaRPr sz="3200">
              <a:latin typeface="Calibri"/>
              <a:cs typeface="Calibri"/>
            </a:endParaRPr>
          </a:p>
          <a:p>
            <a:pPr marL="469900" marR="3036570" lvl="1" indent="-182880">
              <a:lnSpc>
                <a:spcPct val="100000"/>
              </a:lnSpc>
              <a:spcBef>
                <a:spcPts val="2110"/>
              </a:spcBef>
              <a:buSzPct val="83928"/>
              <a:buFont typeface="Wingdings"/>
              <a:buChar char=""/>
              <a:tabLst>
                <a:tab pos="469900" algn="l"/>
              </a:tabLst>
            </a:pPr>
            <a:r>
              <a:rPr sz="2800" b="1" spc="-10" dirty="0">
                <a:solidFill>
                  <a:srgbClr val="3D5078"/>
                </a:solidFill>
                <a:latin typeface="Calibri"/>
                <a:cs typeface="Calibri"/>
              </a:rPr>
              <a:t>Vertical</a:t>
            </a:r>
            <a:r>
              <a:rPr sz="2800" b="1" spc="-120" dirty="0">
                <a:solidFill>
                  <a:srgbClr val="3D5078"/>
                </a:solidFill>
                <a:latin typeface="Calibri"/>
                <a:cs typeface="Calibri"/>
              </a:rPr>
              <a:t> </a:t>
            </a:r>
            <a:r>
              <a:rPr sz="2800" b="1" dirty="0">
                <a:solidFill>
                  <a:srgbClr val="3D5078"/>
                </a:solidFill>
                <a:latin typeface="Calibri"/>
                <a:cs typeface="Calibri"/>
              </a:rPr>
              <a:t>scaling:</a:t>
            </a:r>
            <a:r>
              <a:rPr sz="2800" b="1" spc="-120" dirty="0">
                <a:solidFill>
                  <a:srgbClr val="3D5078"/>
                </a:solidFill>
                <a:latin typeface="Calibri"/>
                <a:cs typeface="Calibri"/>
              </a:rPr>
              <a:t> </a:t>
            </a:r>
            <a:r>
              <a:rPr sz="2800" dirty="0">
                <a:solidFill>
                  <a:srgbClr val="3D5078"/>
                </a:solidFill>
                <a:latin typeface="Calibri"/>
                <a:cs typeface="Calibri"/>
              </a:rPr>
              <a:t>Upgrade</a:t>
            </a:r>
            <a:r>
              <a:rPr sz="2800" spc="-120" dirty="0">
                <a:solidFill>
                  <a:srgbClr val="3D5078"/>
                </a:solidFill>
                <a:latin typeface="Calibri"/>
                <a:cs typeface="Calibri"/>
              </a:rPr>
              <a:t> </a:t>
            </a:r>
            <a:r>
              <a:rPr sz="2800" spc="-10" dirty="0">
                <a:solidFill>
                  <a:srgbClr val="3D5078"/>
                </a:solidFill>
                <a:latin typeface="Calibri"/>
                <a:cs typeface="Calibri"/>
              </a:rPr>
              <a:t>machine </a:t>
            </a:r>
            <a:r>
              <a:rPr sz="2800" dirty="0">
                <a:solidFill>
                  <a:srgbClr val="3D5078"/>
                </a:solidFill>
                <a:latin typeface="Calibri"/>
                <a:cs typeface="Calibri"/>
              </a:rPr>
              <a:t>capabilities</a:t>
            </a:r>
            <a:r>
              <a:rPr sz="2800" spc="-80" dirty="0">
                <a:solidFill>
                  <a:srgbClr val="3D5078"/>
                </a:solidFill>
                <a:latin typeface="Calibri"/>
                <a:cs typeface="Calibri"/>
              </a:rPr>
              <a:t> </a:t>
            </a:r>
            <a:r>
              <a:rPr sz="2800" dirty="0">
                <a:solidFill>
                  <a:srgbClr val="3D5078"/>
                </a:solidFill>
                <a:latin typeface="Calibri"/>
                <a:cs typeface="Calibri"/>
              </a:rPr>
              <a:t>(RAM,</a:t>
            </a:r>
            <a:r>
              <a:rPr sz="2800" spc="-80" dirty="0">
                <a:solidFill>
                  <a:srgbClr val="3D5078"/>
                </a:solidFill>
                <a:latin typeface="Calibri"/>
                <a:cs typeface="Calibri"/>
              </a:rPr>
              <a:t> </a:t>
            </a:r>
            <a:r>
              <a:rPr sz="2800" spc="-30" dirty="0">
                <a:solidFill>
                  <a:srgbClr val="3D5078"/>
                </a:solidFill>
                <a:latin typeface="Calibri"/>
                <a:cs typeface="Calibri"/>
              </a:rPr>
              <a:t>processor,…).</a:t>
            </a:r>
            <a:r>
              <a:rPr sz="2800" spc="-65" dirty="0">
                <a:solidFill>
                  <a:srgbClr val="3D5078"/>
                </a:solidFill>
                <a:latin typeface="Calibri"/>
                <a:cs typeface="Calibri"/>
              </a:rPr>
              <a:t> </a:t>
            </a:r>
            <a:r>
              <a:rPr sz="2800" spc="-25" dirty="0">
                <a:solidFill>
                  <a:srgbClr val="3D5078"/>
                </a:solidFill>
                <a:latin typeface="Calibri"/>
                <a:cs typeface="Calibri"/>
              </a:rPr>
              <a:t>Aka </a:t>
            </a:r>
            <a:r>
              <a:rPr sz="2800" i="1" dirty="0">
                <a:solidFill>
                  <a:srgbClr val="3D5078"/>
                </a:solidFill>
                <a:latin typeface="Calibri"/>
                <a:cs typeface="Calibri"/>
              </a:rPr>
              <a:t>scale</a:t>
            </a:r>
            <a:r>
              <a:rPr sz="2800" i="1" spc="-40" dirty="0">
                <a:solidFill>
                  <a:srgbClr val="3D5078"/>
                </a:solidFill>
                <a:latin typeface="Calibri"/>
                <a:cs typeface="Calibri"/>
              </a:rPr>
              <a:t> </a:t>
            </a:r>
            <a:r>
              <a:rPr sz="2800" i="1" spc="-25" dirty="0">
                <a:solidFill>
                  <a:srgbClr val="3D5078"/>
                </a:solidFill>
                <a:latin typeface="Calibri"/>
                <a:cs typeface="Calibri"/>
              </a:rPr>
              <a:t>up</a:t>
            </a:r>
            <a:endParaRPr sz="2800">
              <a:latin typeface="Calibri"/>
              <a:cs typeface="Calibri"/>
            </a:endParaRPr>
          </a:p>
          <a:p>
            <a:pPr marL="469900" marR="2933700" lvl="1" indent="-182880">
              <a:lnSpc>
                <a:spcPct val="100000"/>
              </a:lnSpc>
              <a:spcBef>
                <a:spcPts val="675"/>
              </a:spcBef>
              <a:buSzPct val="83928"/>
              <a:buFont typeface="Wingdings"/>
              <a:buChar char=""/>
              <a:tabLst>
                <a:tab pos="469900" algn="l"/>
              </a:tabLst>
            </a:pPr>
            <a:r>
              <a:rPr sz="2800" b="1" spc="-10" dirty="0">
                <a:solidFill>
                  <a:srgbClr val="3D5078"/>
                </a:solidFill>
                <a:latin typeface="Calibri"/>
                <a:cs typeface="Calibri"/>
              </a:rPr>
              <a:t>Horizontal</a:t>
            </a:r>
            <a:r>
              <a:rPr sz="2800" b="1" spc="-85" dirty="0">
                <a:solidFill>
                  <a:srgbClr val="3D5078"/>
                </a:solidFill>
                <a:latin typeface="Calibri"/>
                <a:cs typeface="Calibri"/>
              </a:rPr>
              <a:t> </a:t>
            </a:r>
            <a:r>
              <a:rPr sz="2800" b="1" dirty="0">
                <a:solidFill>
                  <a:srgbClr val="3D5078"/>
                </a:solidFill>
                <a:latin typeface="Calibri"/>
                <a:cs typeface="Calibri"/>
              </a:rPr>
              <a:t>scaling</a:t>
            </a:r>
            <a:r>
              <a:rPr sz="2800" dirty="0">
                <a:solidFill>
                  <a:srgbClr val="3D5078"/>
                </a:solidFill>
                <a:latin typeface="Calibri"/>
                <a:cs typeface="Calibri"/>
              </a:rPr>
              <a:t>:</a:t>
            </a:r>
            <a:r>
              <a:rPr sz="2800" spc="-80" dirty="0">
                <a:solidFill>
                  <a:srgbClr val="3D5078"/>
                </a:solidFill>
                <a:latin typeface="Calibri"/>
                <a:cs typeface="Calibri"/>
              </a:rPr>
              <a:t> </a:t>
            </a:r>
            <a:r>
              <a:rPr sz="2800" spc="-10" dirty="0">
                <a:solidFill>
                  <a:srgbClr val="3D5078"/>
                </a:solidFill>
                <a:latin typeface="Calibri"/>
                <a:cs typeface="Calibri"/>
              </a:rPr>
              <a:t>Replicate</a:t>
            </a:r>
            <a:r>
              <a:rPr sz="2800" spc="-90" dirty="0">
                <a:solidFill>
                  <a:srgbClr val="3D5078"/>
                </a:solidFill>
                <a:latin typeface="Calibri"/>
                <a:cs typeface="Calibri"/>
              </a:rPr>
              <a:t> </a:t>
            </a:r>
            <a:r>
              <a:rPr sz="2800" spc="-25" dirty="0">
                <a:solidFill>
                  <a:srgbClr val="3D5078"/>
                </a:solidFill>
                <a:latin typeface="Calibri"/>
                <a:cs typeface="Calibri"/>
              </a:rPr>
              <a:t>the </a:t>
            </a:r>
            <a:r>
              <a:rPr sz="2800" dirty="0">
                <a:solidFill>
                  <a:srgbClr val="3D5078"/>
                </a:solidFill>
                <a:latin typeface="Calibri"/>
                <a:cs typeface="Calibri"/>
              </a:rPr>
              <a:t>functions</a:t>
            </a:r>
            <a:r>
              <a:rPr sz="2800" spc="-75" dirty="0">
                <a:solidFill>
                  <a:srgbClr val="3D5078"/>
                </a:solidFill>
                <a:latin typeface="Calibri"/>
                <a:cs typeface="Calibri"/>
              </a:rPr>
              <a:t> </a:t>
            </a:r>
            <a:r>
              <a:rPr sz="2800" dirty="0">
                <a:solidFill>
                  <a:srgbClr val="3D5078"/>
                </a:solidFill>
                <a:latin typeface="Calibri"/>
                <a:cs typeface="Calibri"/>
              </a:rPr>
              <a:t>in</a:t>
            </a:r>
            <a:r>
              <a:rPr sz="2800" spc="-90" dirty="0">
                <a:solidFill>
                  <a:srgbClr val="3D5078"/>
                </a:solidFill>
                <a:latin typeface="Calibri"/>
                <a:cs typeface="Calibri"/>
              </a:rPr>
              <a:t> </a:t>
            </a:r>
            <a:r>
              <a:rPr sz="2800" dirty="0">
                <a:solidFill>
                  <a:srgbClr val="3D5078"/>
                </a:solidFill>
                <a:latin typeface="Calibri"/>
                <a:cs typeface="Calibri"/>
              </a:rPr>
              <a:t>additional</a:t>
            </a:r>
            <a:r>
              <a:rPr sz="2800" spc="-85" dirty="0">
                <a:solidFill>
                  <a:srgbClr val="3D5078"/>
                </a:solidFill>
                <a:latin typeface="Calibri"/>
                <a:cs typeface="Calibri"/>
              </a:rPr>
              <a:t> </a:t>
            </a:r>
            <a:r>
              <a:rPr sz="2800" spc="-10" dirty="0">
                <a:solidFill>
                  <a:srgbClr val="3D5078"/>
                </a:solidFill>
                <a:latin typeface="Calibri"/>
                <a:cs typeface="Calibri"/>
              </a:rPr>
              <a:t>machines </a:t>
            </a:r>
            <a:r>
              <a:rPr sz="2800" dirty="0">
                <a:solidFill>
                  <a:srgbClr val="3D5078"/>
                </a:solidFill>
                <a:latin typeface="Calibri"/>
                <a:cs typeface="Calibri"/>
              </a:rPr>
              <a:t>spreading</a:t>
            </a:r>
            <a:r>
              <a:rPr sz="2800" spc="-45" dirty="0">
                <a:solidFill>
                  <a:srgbClr val="3D5078"/>
                </a:solidFill>
                <a:latin typeface="Calibri"/>
                <a:cs typeface="Calibri"/>
              </a:rPr>
              <a:t> </a:t>
            </a:r>
            <a:r>
              <a:rPr sz="2800" dirty="0">
                <a:solidFill>
                  <a:srgbClr val="3D5078"/>
                </a:solidFill>
                <a:latin typeface="Calibri"/>
                <a:cs typeface="Calibri"/>
              </a:rPr>
              <a:t>the</a:t>
            </a:r>
            <a:r>
              <a:rPr sz="2800" spc="-55" dirty="0">
                <a:solidFill>
                  <a:srgbClr val="3D5078"/>
                </a:solidFill>
                <a:latin typeface="Calibri"/>
                <a:cs typeface="Calibri"/>
              </a:rPr>
              <a:t> </a:t>
            </a:r>
            <a:r>
              <a:rPr sz="2800" dirty="0">
                <a:solidFill>
                  <a:srgbClr val="3D5078"/>
                </a:solidFill>
                <a:latin typeface="Calibri"/>
                <a:cs typeface="Calibri"/>
              </a:rPr>
              <a:t>load</a:t>
            </a:r>
            <a:r>
              <a:rPr sz="2800" spc="-45" dirty="0">
                <a:solidFill>
                  <a:srgbClr val="3D5078"/>
                </a:solidFill>
                <a:latin typeface="Calibri"/>
                <a:cs typeface="Calibri"/>
              </a:rPr>
              <a:t> </a:t>
            </a:r>
            <a:r>
              <a:rPr sz="2800" dirty="0">
                <a:solidFill>
                  <a:srgbClr val="3D5078"/>
                </a:solidFill>
                <a:latin typeface="Calibri"/>
                <a:cs typeface="Calibri"/>
              </a:rPr>
              <a:t>among</a:t>
            </a:r>
            <a:r>
              <a:rPr sz="2800" spc="-50" dirty="0">
                <a:solidFill>
                  <a:srgbClr val="3D5078"/>
                </a:solidFill>
                <a:latin typeface="Calibri"/>
                <a:cs typeface="Calibri"/>
              </a:rPr>
              <a:t> </a:t>
            </a:r>
            <a:r>
              <a:rPr sz="2800" dirty="0">
                <a:solidFill>
                  <a:srgbClr val="3D5078"/>
                </a:solidFill>
                <a:latin typeface="Calibri"/>
                <a:cs typeface="Calibri"/>
              </a:rPr>
              <a:t>them.</a:t>
            </a:r>
            <a:r>
              <a:rPr sz="2800" spc="-30" dirty="0">
                <a:solidFill>
                  <a:srgbClr val="3D5078"/>
                </a:solidFill>
                <a:latin typeface="Calibri"/>
                <a:cs typeface="Calibri"/>
              </a:rPr>
              <a:t> </a:t>
            </a:r>
            <a:r>
              <a:rPr sz="2800" spc="-25" dirty="0">
                <a:solidFill>
                  <a:srgbClr val="3D5078"/>
                </a:solidFill>
                <a:latin typeface="Calibri"/>
                <a:cs typeface="Calibri"/>
              </a:rPr>
              <a:t>Aka </a:t>
            </a:r>
            <a:r>
              <a:rPr sz="2800" i="1" dirty="0">
                <a:solidFill>
                  <a:srgbClr val="3D5078"/>
                </a:solidFill>
                <a:latin typeface="Calibri"/>
                <a:cs typeface="Calibri"/>
              </a:rPr>
              <a:t>scale</a:t>
            </a:r>
            <a:r>
              <a:rPr sz="2800" i="1" spc="-40" dirty="0">
                <a:solidFill>
                  <a:srgbClr val="3D5078"/>
                </a:solidFill>
                <a:latin typeface="Calibri"/>
                <a:cs typeface="Calibri"/>
              </a:rPr>
              <a:t> </a:t>
            </a:r>
            <a:r>
              <a:rPr sz="2800" i="1" spc="-25" dirty="0">
                <a:solidFill>
                  <a:srgbClr val="3D5078"/>
                </a:solidFill>
                <a:latin typeface="Calibri"/>
                <a:cs typeface="Calibri"/>
              </a:rPr>
              <a:t>out</a:t>
            </a:r>
            <a:endParaRPr sz="28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5" dirty="0"/>
              <a:t>Utility</a:t>
            </a:r>
            <a:r>
              <a:rPr spc="-200" dirty="0"/>
              <a:t> </a:t>
            </a:r>
            <a:r>
              <a:rPr spc="-80" dirty="0"/>
              <a:t>Computing</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41</a:t>
            </a:r>
          </a:p>
        </p:txBody>
      </p:sp>
      <p:sp>
        <p:nvSpPr>
          <p:cNvPr id="9" name="object 9"/>
          <p:cNvSpPr txBox="1"/>
          <p:nvPr/>
        </p:nvSpPr>
        <p:spPr>
          <a:xfrm>
            <a:off x="574040" y="1539085"/>
            <a:ext cx="8757920" cy="4717415"/>
          </a:xfrm>
          <a:prstGeom prst="rect">
            <a:avLst/>
          </a:prstGeom>
        </p:spPr>
        <p:txBody>
          <a:bodyPr vert="horz" wrap="square" lIns="0" tIns="12065" rIns="0" bIns="0" rtlCol="0">
            <a:spAutoFit/>
          </a:bodyPr>
          <a:lstStyle/>
          <a:p>
            <a:pPr marR="5080" algn="r">
              <a:lnSpc>
                <a:spcPts val="3495"/>
              </a:lnSpc>
              <a:spcBef>
                <a:spcPts val="95"/>
              </a:spcBef>
            </a:pPr>
            <a:r>
              <a:rPr sz="2950" dirty="0">
                <a:latin typeface="MS PGothic"/>
                <a:cs typeface="MS PGothic"/>
              </a:rPr>
              <a:t>“</a:t>
            </a:r>
            <a:r>
              <a:rPr sz="2800" i="1" dirty="0">
                <a:latin typeface="Calibri"/>
                <a:cs typeface="Calibri"/>
              </a:rPr>
              <a:t>Computing</a:t>
            </a:r>
            <a:r>
              <a:rPr sz="2800" i="1" spc="-65" dirty="0">
                <a:latin typeface="Calibri"/>
                <a:cs typeface="Calibri"/>
              </a:rPr>
              <a:t> </a:t>
            </a:r>
            <a:r>
              <a:rPr sz="2800" i="1" dirty="0">
                <a:latin typeface="Calibri"/>
                <a:cs typeface="Calibri"/>
              </a:rPr>
              <a:t>may</a:t>
            </a:r>
            <a:r>
              <a:rPr sz="2800" i="1" spc="-45" dirty="0">
                <a:latin typeface="Calibri"/>
                <a:cs typeface="Calibri"/>
              </a:rPr>
              <a:t> </a:t>
            </a:r>
            <a:r>
              <a:rPr sz="2800" i="1" dirty="0">
                <a:latin typeface="Calibri"/>
                <a:cs typeface="Calibri"/>
              </a:rPr>
              <a:t>someday</a:t>
            </a:r>
            <a:r>
              <a:rPr sz="2800" i="1" spc="-60" dirty="0">
                <a:latin typeface="Calibri"/>
                <a:cs typeface="Calibri"/>
              </a:rPr>
              <a:t> </a:t>
            </a:r>
            <a:r>
              <a:rPr sz="2800" i="1" dirty="0">
                <a:latin typeface="Calibri"/>
                <a:cs typeface="Calibri"/>
              </a:rPr>
              <a:t>be</a:t>
            </a:r>
            <a:r>
              <a:rPr sz="2800" i="1" spc="-60" dirty="0">
                <a:latin typeface="Calibri"/>
                <a:cs typeface="Calibri"/>
              </a:rPr>
              <a:t> </a:t>
            </a:r>
            <a:r>
              <a:rPr sz="2800" i="1" dirty="0">
                <a:latin typeface="Calibri"/>
                <a:cs typeface="Calibri"/>
              </a:rPr>
              <a:t>organized</a:t>
            </a:r>
            <a:r>
              <a:rPr sz="2800" i="1" spc="-65" dirty="0">
                <a:latin typeface="Calibri"/>
                <a:cs typeface="Calibri"/>
              </a:rPr>
              <a:t> </a:t>
            </a:r>
            <a:r>
              <a:rPr sz="2800" i="1" dirty="0">
                <a:latin typeface="Calibri"/>
                <a:cs typeface="Calibri"/>
              </a:rPr>
              <a:t>as</a:t>
            </a:r>
            <a:r>
              <a:rPr sz="2800" i="1" spc="-50" dirty="0">
                <a:latin typeface="Calibri"/>
                <a:cs typeface="Calibri"/>
              </a:rPr>
              <a:t> </a:t>
            </a:r>
            <a:r>
              <a:rPr sz="2800" i="1" dirty="0">
                <a:latin typeface="Calibri"/>
                <a:cs typeface="Calibri"/>
              </a:rPr>
              <a:t>a</a:t>
            </a:r>
            <a:r>
              <a:rPr sz="2800" i="1" spc="-60" dirty="0">
                <a:latin typeface="Calibri"/>
                <a:cs typeface="Calibri"/>
              </a:rPr>
              <a:t> </a:t>
            </a:r>
            <a:r>
              <a:rPr sz="2800" i="1" dirty="0">
                <a:latin typeface="Calibri"/>
                <a:cs typeface="Calibri"/>
              </a:rPr>
              <a:t>public</a:t>
            </a:r>
            <a:r>
              <a:rPr sz="2800" i="1" spc="-65" dirty="0">
                <a:latin typeface="Calibri"/>
                <a:cs typeface="Calibri"/>
              </a:rPr>
              <a:t> </a:t>
            </a:r>
            <a:r>
              <a:rPr sz="2800" i="1" spc="-10" dirty="0">
                <a:latin typeface="Calibri"/>
                <a:cs typeface="Calibri"/>
              </a:rPr>
              <a:t>utility</a:t>
            </a:r>
            <a:r>
              <a:rPr sz="2950" spc="-10" dirty="0">
                <a:latin typeface="MS PGothic"/>
                <a:cs typeface="MS PGothic"/>
              </a:rPr>
              <a:t>”</a:t>
            </a:r>
            <a:endParaRPr sz="2950">
              <a:latin typeface="MS PGothic"/>
              <a:cs typeface="MS PGothic"/>
            </a:endParaRPr>
          </a:p>
          <a:p>
            <a:pPr marR="5080" algn="r">
              <a:lnSpc>
                <a:spcPts val="3315"/>
              </a:lnSpc>
            </a:pPr>
            <a:r>
              <a:rPr sz="2800" dirty="0">
                <a:latin typeface="Calibri"/>
                <a:cs typeface="Calibri"/>
              </a:rPr>
              <a:t>-</a:t>
            </a:r>
            <a:r>
              <a:rPr sz="2800" spc="-65" dirty="0">
                <a:latin typeface="Calibri"/>
                <a:cs typeface="Calibri"/>
              </a:rPr>
              <a:t> </a:t>
            </a:r>
            <a:r>
              <a:rPr sz="2800" dirty="0">
                <a:latin typeface="Calibri"/>
                <a:cs typeface="Calibri"/>
              </a:rPr>
              <a:t>John</a:t>
            </a:r>
            <a:r>
              <a:rPr sz="2800" spc="-60" dirty="0">
                <a:latin typeface="Calibri"/>
                <a:cs typeface="Calibri"/>
              </a:rPr>
              <a:t> </a:t>
            </a:r>
            <a:r>
              <a:rPr sz="2800" spc="-30" dirty="0">
                <a:latin typeface="Calibri"/>
                <a:cs typeface="Calibri"/>
              </a:rPr>
              <a:t>McCarthy,</a:t>
            </a:r>
            <a:r>
              <a:rPr sz="2800" spc="-40" dirty="0">
                <a:latin typeface="Calibri"/>
                <a:cs typeface="Calibri"/>
              </a:rPr>
              <a:t> </a:t>
            </a:r>
            <a:r>
              <a:rPr sz="2800" dirty="0">
                <a:latin typeface="Calibri"/>
                <a:cs typeface="Calibri"/>
              </a:rPr>
              <a:t>MIT</a:t>
            </a:r>
            <a:r>
              <a:rPr sz="2800" spc="-70" dirty="0">
                <a:latin typeface="Calibri"/>
                <a:cs typeface="Calibri"/>
              </a:rPr>
              <a:t> </a:t>
            </a:r>
            <a:r>
              <a:rPr sz="2800" dirty="0">
                <a:latin typeface="Calibri"/>
                <a:cs typeface="Calibri"/>
              </a:rPr>
              <a:t>Centennial</a:t>
            </a:r>
            <a:r>
              <a:rPr sz="2800" spc="-55" dirty="0">
                <a:latin typeface="Calibri"/>
                <a:cs typeface="Calibri"/>
              </a:rPr>
              <a:t> </a:t>
            </a:r>
            <a:r>
              <a:rPr sz="2800" dirty="0">
                <a:latin typeface="Calibri"/>
                <a:cs typeface="Calibri"/>
              </a:rPr>
              <a:t>in</a:t>
            </a:r>
            <a:r>
              <a:rPr sz="2800" spc="-70" dirty="0">
                <a:latin typeface="Calibri"/>
                <a:cs typeface="Calibri"/>
              </a:rPr>
              <a:t> </a:t>
            </a:r>
            <a:r>
              <a:rPr sz="2800" spc="-20" dirty="0">
                <a:latin typeface="Calibri"/>
                <a:cs typeface="Calibri"/>
              </a:rPr>
              <a:t>1961</a:t>
            </a:r>
            <a:endParaRPr sz="2800">
              <a:latin typeface="Calibri"/>
              <a:cs typeface="Calibri"/>
            </a:endParaRPr>
          </a:p>
          <a:p>
            <a:pPr marL="12700" marR="131445" indent="210820">
              <a:lnSpc>
                <a:spcPct val="100000"/>
              </a:lnSpc>
              <a:spcBef>
                <a:spcPts val="755"/>
              </a:spcBef>
              <a:buClr>
                <a:srgbClr val="2C7B9F"/>
              </a:buClr>
              <a:buSzPct val="84375"/>
              <a:buFont typeface="Arial MT"/>
              <a:buChar char="•"/>
              <a:tabLst>
                <a:tab pos="223520" algn="l"/>
              </a:tabLst>
            </a:pPr>
            <a:r>
              <a:rPr sz="3200" dirty="0">
                <a:latin typeface="Calibri"/>
                <a:cs typeface="Calibri"/>
              </a:rPr>
              <a:t>Instead</a:t>
            </a:r>
            <a:r>
              <a:rPr sz="3200" spc="-60" dirty="0">
                <a:latin typeface="Calibri"/>
                <a:cs typeface="Calibri"/>
              </a:rPr>
              <a:t> </a:t>
            </a:r>
            <a:r>
              <a:rPr sz="3200" dirty="0">
                <a:latin typeface="Calibri"/>
                <a:cs typeface="Calibri"/>
              </a:rPr>
              <a:t>of</a:t>
            </a:r>
            <a:r>
              <a:rPr sz="3200" spc="-90" dirty="0">
                <a:latin typeface="Calibri"/>
                <a:cs typeface="Calibri"/>
              </a:rPr>
              <a:t> </a:t>
            </a:r>
            <a:r>
              <a:rPr sz="3200" dirty="0">
                <a:latin typeface="Calibri"/>
                <a:cs typeface="Calibri"/>
              </a:rPr>
              <a:t>purchasing</a:t>
            </a:r>
            <a:r>
              <a:rPr sz="3200" spc="-60" dirty="0">
                <a:latin typeface="Calibri"/>
                <a:cs typeface="Calibri"/>
              </a:rPr>
              <a:t> </a:t>
            </a:r>
            <a:r>
              <a:rPr sz="3200" dirty="0">
                <a:latin typeface="Calibri"/>
                <a:cs typeface="Calibri"/>
              </a:rPr>
              <a:t>the</a:t>
            </a:r>
            <a:r>
              <a:rPr sz="3200" spc="-90" dirty="0">
                <a:latin typeface="Calibri"/>
                <a:cs typeface="Calibri"/>
              </a:rPr>
              <a:t> </a:t>
            </a:r>
            <a:r>
              <a:rPr sz="3200" dirty="0">
                <a:latin typeface="Calibri"/>
                <a:cs typeface="Calibri"/>
              </a:rPr>
              <a:t>computing</a:t>
            </a:r>
            <a:r>
              <a:rPr sz="3200" spc="-65" dirty="0">
                <a:latin typeface="Calibri"/>
                <a:cs typeface="Calibri"/>
              </a:rPr>
              <a:t> </a:t>
            </a:r>
            <a:r>
              <a:rPr sz="3200" dirty="0">
                <a:latin typeface="Calibri"/>
                <a:cs typeface="Calibri"/>
              </a:rPr>
              <a:t>equipment,</a:t>
            </a:r>
            <a:r>
              <a:rPr sz="3200" spc="-75" dirty="0">
                <a:latin typeface="Calibri"/>
                <a:cs typeface="Calibri"/>
              </a:rPr>
              <a:t> </a:t>
            </a:r>
            <a:r>
              <a:rPr sz="3200" spc="-25" dirty="0">
                <a:latin typeface="Calibri"/>
                <a:cs typeface="Calibri"/>
              </a:rPr>
              <a:t>it </a:t>
            </a:r>
            <a:r>
              <a:rPr sz="3200" dirty="0">
                <a:latin typeface="Calibri"/>
                <a:cs typeface="Calibri"/>
              </a:rPr>
              <a:t>is</a:t>
            </a:r>
            <a:r>
              <a:rPr sz="3200" spc="-65" dirty="0">
                <a:latin typeface="Calibri"/>
                <a:cs typeface="Calibri"/>
              </a:rPr>
              <a:t> </a:t>
            </a:r>
            <a:r>
              <a:rPr sz="3200" dirty="0">
                <a:latin typeface="Calibri"/>
                <a:cs typeface="Calibri"/>
              </a:rPr>
              <a:t>rented</a:t>
            </a:r>
            <a:r>
              <a:rPr sz="3200" spc="-55" dirty="0">
                <a:latin typeface="Calibri"/>
                <a:cs typeface="Calibri"/>
              </a:rPr>
              <a:t> </a:t>
            </a:r>
            <a:r>
              <a:rPr sz="3200" dirty="0">
                <a:latin typeface="Calibri"/>
                <a:cs typeface="Calibri"/>
              </a:rPr>
              <a:t>to</a:t>
            </a:r>
            <a:r>
              <a:rPr sz="3200" spc="-45" dirty="0">
                <a:latin typeface="Calibri"/>
                <a:cs typeface="Calibri"/>
              </a:rPr>
              <a:t> </a:t>
            </a:r>
            <a:r>
              <a:rPr sz="3200" dirty="0">
                <a:latin typeface="Calibri"/>
                <a:cs typeface="Calibri"/>
              </a:rPr>
              <a:t>a</a:t>
            </a:r>
            <a:r>
              <a:rPr sz="3200" spc="-55" dirty="0">
                <a:latin typeface="Calibri"/>
                <a:cs typeface="Calibri"/>
              </a:rPr>
              <a:t> </a:t>
            </a:r>
            <a:r>
              <a:rPr sz="3200" spc="-10" dirty="0">
                <a:latin typeface="Calibri"/>
                <a:cs typeface="Calibri"/>
              </a:rPr>
              <a:t>provider</a:t>
            </a:r>
            <a:endParaRPr sz="320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A</a:t>
            </a:r>
            <a:r>
              <a:rPr sz="2800" spc="-80" dirty="0">
                <a:latin typeface="Calibri"/>
                <a:cs typeface="Calibri"/>
              </a:rPr>
              <a:t> </a:t>
            </a:r>
            <a:r>
              <a:rPr sz="2800" dirty="0">
                <a:latin typeface="Calibri"/>
                <a:cs typeface="Calibri"/>
              </a:rPr>
              <a:t>provider</a:t>
            </a:r>
            <a:r>
              <a:rPr sz="2800" spc="-70" dirty="0">
                <a:latin typeface="Calibri"/>
                <a:cs typeface="Calibri"/>
              </a:rPr>
              <a:t> </a:t>
            </a:r>
            <a:r>
              <a:rPr sz="2800" dirty="0">
                <a:latin typeface="Calibri"/>
                <a:cs typeface="Calibri"/>
              </a:rPr>
              <a:t>hosts</a:t>
            </a:r>
            <a:r>
              <a:rPr sz="2800" spc="-60" dirty="0">
                <a:latin typeface="Calibri"/>
                <a:cs typeface="Calibri"/>
              </a:rPr>
              <a:t> </a:t>
            </a:r>
            <a:r>
              <a:rPr sz="2800" dirty="0">
                <a:latin typeface="Calibri"/>
                <a:cs typeface="Calibri"/>
              </a:rPr>
              <a:t>large</a:t>
            </a:r>
            <a:r>
              <a:rPr sz="2800" spc="-85" dirty="0">
                <a:latin typeface="Calibri"/>
                <a:cs typeface="Calibri"/>
              </a:rPr>
              <a:t> </a:t>
            </a:r>
            <a:r>
              <a:rPr sz="2800" spc="-10" dirty="0">
                <a:latin typeface="Calibri"/>
                <a:cs typeface="Calibri"/>
              </a:rPr>
              <a:t>datacenter</a:t>
            </a:r>
            <a:endParaRPr sz="2800">
              <a:latin typeface="Calibri"/>
              <a:cs typeface="Calibri"/>
            </a:endParaRPr>
          </a:p>
          <a:p>
            <a:pPr marL="223520" indent="-210820">
              <a:lnSpc>
                <a:spcPct val="100000"/>
              </a:lnSpc>
              <a:spcBef>
                <a:spcPts val="750"/>
              </a:spcBef>
              <a:buClr>
                <a:srgbClr val="2C7B9F"/>
              </a:buClr>
              <a:buSzPct val="84375"/>
              <a:buFont typeface="Arial MT"/>
              <a:buChar char="•"/>
              <a:tabLst>
                <a:tab pos="223520" algn="l"/>
              </a:tabLst>
            </a:pPr>
            <a:r>
              <a:rPr sz="3200" dirty="0">
                <a:latin typeface="Calibri"/>
                <a:cs typeface="Calibri"/>
              </a:rPr>
              <a:t>Metered</a:t>
            </a:r>
            <a:r>
              <a:rPr sz="3200" spc="-90" dirty="0">
                <a:latin typeface="Calibri"/>
                <a:cs typeface="Calibri"/>
              </a:rPr>
              <a:t> </a:t>
            </a:r>
            <a:r>
              <a:rPr sz="3200" dirty="0">
                <a:latin typeface="Calibri"/>
                <a:cs typeface="Calibri"/>
              </a:rPr>
              <a:t>billing</a:t>
            </a:r>
            <a:r>
              <a:rPr sz="3200" spc="-35" dirty="0">
                <a:latin typeface="Calibri"/>
                <a:cs typeface="Calibri"/>
              </a:rPr>
              <a:t> </a:t>
            </a:r>
            <a:r>
              <a:rPr sz="3200" dirty="0">
                <a:latin typeface="Calibri"/>
                <a:cs typeface="Calibri"/>
              </a:rPr>
              <a:t>(pay</a:t>
            </a:r>
            <a:r>
              <a:rPr sz="3200" spc="-60" dirty="0">
                <a:latin typeface="Calibri"/>
                <a:cs typeface="Calibri"/>
              </a:rPr>
              <a:t> </a:t>
            </a:r>
            <a:r>
              <a:rPr sz="3200" dirty="0">
                <a:latin typeface="Calibri"/>
                <a:cs typeface="Calibri"/>
              </a:rPr>
              <a:t>for</a:t>
            </a:r>
            <a:r>
              <a:rPr sz="3200" spc="-75" dirty="0">
                <a:latin typeface="Calibri"/>
                <a:cs typeface="Calibri"/>
              </a:rPr>
              <a:t> </a:t>
            </a:r>
            <a:r>
              <a:rPr sz="3200" dirty="0">
                <a:latin typeface="Calibri"/>
                <a:cs typeface="Calibri"/>
              </a:rPr>
              <a:t>what</a:t>
            </a:r>
            <a:r>
              <a:rPr sz="3200" spc="-70" dirty="0">
                <a:latin typeface="Calibri"/>
                <a:cs typeface="Calibri"/>
              </a:rPr>
              <a:t> </a:t>
            </a:r>
            <a:r>
              <a:rPr sz="3200" dirty="0">
                <a:latin typeface="Calibri"/>
                <a:cs typeface="Calibri"/>
              </a:rPr>
              <a:t>you</a:t>
            </a:r>
            <a:r>
              <a:rPr sz="3200" spc="-70" dirty="0">
                <a:latin typeface="Calibri"/>
                <a:cs typeface="Calibri"/>
              </a:rPr>
              <a:t> </a:t>
            </a:r>
            <a:r>
              <a:rPr sz="3200" spc="-20" dirty="0">
                <a:latin typeface="Calibri"/>
                <a:cs typeface="Calibri"/>
              </a:rPr>
              <a:t>use)</a:t>
            </a:r>
            <a:endParaRPr sz="3200">
              <a:latin typeface="Calibri"/>
              <a:cs typeface="Calibri"/>
            </a:endParaRPr>
          </a:p>
          <a:p>
            <a:pPr marL="12700" marR="823594" indent="210820">
              <a:lnSpc>
                <a:spcPct val="100000"/>
              </a:lnSpc>
              <a:spcBef>
                <a:spcPts val="770"/>
              </a:spcBef>
              <a:buClr>
                <a:srgbClr val="2C7B9F"/>
              </a:buClr>
              <a:buSzPct val="84375"/>
              <a:buFont typeface="Arial MT"/>
              <a:buChar char="•"/>
              <a:tabLst>
                <a:tab pos="223520" algn="l"/>
              </a:tabLst>
            </a:pPr>
            <a:r>
              <a:rPr sz="3200" dirty="0">
                <a:latin typeface="Calibri"/>
                <a:cs typeface="Calibri"/>
              </a:rPr>
              <a:t>Simple</a:t>
            </a:r>
            <a:r>
              <a:rPr sz="3200" spc="-25" dirty="0">
                <a:latin typeface="Calibri"/>
                <a:cs typeface="Calibri"/>
              </a:rPr>
              <a:t> </a:t>
            </a:r>
            <a:r>
              <a:rPr sz="3200" dirty="0">
                <a:latin typeface="Calibri"/>
                <a:cs typeface="Calibri"/>
              </a:rPr>
              <a:t>to</a:t>
            </a:r>
            <a:r>
              <a:rPr sz="3200" spc="-35" dirty="0">
                <a:latin typeface="Calibri"/>
                <a:cs typeface="Calibri"/>
              </a:rPr>
              <a:t> </a:t>
            </a:r>
            <a:r>
              <a:rPr sz="3200" dirty="0">
                <a:latin typeface="Calibri"/>
                <a:cs typeface="Calibri"/>
              </a:rPr>
              <a:t>use</a:t>
            </a:r>
            <a:r>
              <a:rPr sz="3200" spc="-35" dirty="0">
                <a:latin typeface="Calibri"/>
                <a:cs typeface="Calibri"/>
              </a:rPr>
              <a:t> </a:t>
            </a:r>
            <a:r>
              <a:rPr sz="3200" spc="-10" dirty="0">
                <a:latin typeface="Calibri"/>
                <a:cs typeface="Calibri"/>
              </a:rPr>
              <a:t>interface</a:t>
            </a:r>
            <a:r>
              <a:rPr sz="3200" spc="-40" dirty="0">
                <a:latin typeface="Calibri"/>
                <a:cs typeface="Calibri"/>
              </a:rPr>
              <a:t> </a:t>
            </a:r>
            <a:r>
              <a:rPr sz="3200" dirty="0">
                <a:latin typeface="Calibri"/>
                <a:cs typeface="Calibri"/>
              </a:rPr>
              <a:t>to</a:t>
            </a:r>
            <a:r>
              <a:rPr sz="3200" spc="-35" dirty="0">
                <a:latin typeface="Calibri"/>
                <a:cs typeface="Calibri"/>
              </a:rPr>
              <a:t> </a:t>
            </a:r>
            <a:r>
              <a:rPr sz="3200" dirty="0">
                <a:latin typeface="Calibri"/>
                <a:cs typeface="Calibri"/>
              </a:rPr>
              <a:t>access</a:t>
            </a:r>
            <a:r>
              <a:rPr sz="3200" spc="-40" dirty="0">
                <a:latin typeface="Calibri"/>
                <a:cs typeface="Calibri"/>
              </a:rPr>
              <a:t> </a:t>
            </a:r>
            <a:r>
              <a:rPr sz="3200" dirty="0">
                <a:latin typeface="Calibri"/>
                <a:cs typeface="Calibri"/>
              </a:rPr>
              <a:t>the</a:t>
            </a:r>
            <a:r>
              <a:rPr sz="3200" spc="-40" dirty="0">
                <a:latin typeface="Calibri"/>
                <a:cs typeface="Calibri"/>
              </a:rPr>
              <a:t> </a:t>
            </a:r>
            <a:r>
              <a:rPr sz="3200" spc="-10" dirty="0">
                <a:latin typeface="Calibri"/>
                <a:cs typeface="Calibri"/>
              </a:rPr>
              <a:t>capability </a:t>
            </a:r>
            <a:r>
              <a:rPr sz="3200" dirty="0">
                <a:latin typeface="Calibri"/>
                <a:cs typeface="Calibri"/>
              </a:rPr>
              <a:t>(e.g.,</a:t>
            </a:r>
            <a:r>
              <a:rPr sz="3200" spc="-65" dirty="0">
                <a:latin typeface="Calibri"/>
                <a:cs typeface="Calibri"/>
              </a:rPr>
              <a:t> </a:t>
            </a:r>
            <a:r>
              <a:rPr sz="3200" dirty="0">
                <a:latin typeface="Calibri"/>
                <a:cs typeface="Calibri"/>
              </a:rPr>
              <a:t>plugging</a:t>
            </a:r>
            <a:r>
              <a:rPr sz="3200" spc="-30" dirty="0">
                <a:latin typeface="Calibri"/>
                <a:cs typeface="Calibri"/>
              </a:rPr>
              <a:t> </a:t>
            </a:r>
            <a:r>
              <a:rPr sz="3200" dirty="0">
                <a:latin typeface="Calibri"/>
                <a:cs typeface="Calibri"/>
              </a:rPr>
              <a:t>into</a:t>
            </a:r>
            <a:r>
              <a:rPr sz="3200" spc="-65" dirty="0">
                <a:latin typeface="Calibri"/>
                <a:cs typeface="Calibri"/>
              </a:rPr>
              <a:t> </a:t>
            </a:r>
            <a:r>
              <a:rPr sz="3200" dirty="0">
                <a:latin typeface="Calibri"/>
                <a:cs typeface="Calibri"/>
              </a:rPr>
              <a:t>an</a:t>
            </a:r>
            <a:r>
              <a:rPr sz="3200" spc="-50" dirty="0">
                <a:latin typeface="Calibri"/>
                <a:cs typeface="Calibri"/>
              </a:rPr>
              <a:t> </a:t>
            </a:r>
            <a:r>
              <a:rPr sz="3200" spc="-10" dirty="0">
                <a:latin typeface="Calibri"/>
                <a:cs typeface="Calibri"/>
              </a:rPr>
              <a:t>outlet)</a:t>
            </a:r>
            <a:endParaRPr sz="3200">
              <a:latin typeface="Calibri"/>
              <a:cs typeface="Calibri"/>
            </a:endParaRPr>
          </a:p>
          <a:p>
            <a:pPr marL="223520" indent="-210820">
              <a:lnSpc>
                <a:spcPct val="100000"/>
              </a:lnSpc>
              <a:spcBef>
                <a:spcPts val="770"/>
              </a:spcBef>
              <a:buClr>
                <a:srgbClr val="2C7B9F"/>
              </a:buClr>
              <a:buSzPct val="84375"/>
              <a:buFont typeface="Arial MT"/>
              <a:buChar char="•"/>
              <a:tabLst>
                <a:tab pos="223520" algn="l"/>
              </a:tabLst>
            </a:pPr>
            <a:r>
              <a:rPr sz="3200" dirty="0">
                <a:latin typeface="Calibri"/>
                <a:cs typeface="Calibri"/>
              </a:rPr>
              <a:t>From</a:t>
            </a:r>
            <a:r>
              <a:rPr sz="3200" spc="-95" dirty="0">
                <a:latin typeface="Calibri"/>
                <a:cs typeface="Calibri"/>
              </a:rPr>
              <a:t> </a:t>
            </a:r>
            <a:r>
              <a:rPr sz="3200" dirty="0">
                <a:latin typeface="Calibri"/>
                <a:cs typeface="Calibri"/>
              </a:rPr>
              <a:t>fixed</a:t>
            </a:r>
            <a:r>
              <a:rPr sz="3200" spc="-85" dirty="0">
                <a:latin typeface="Calibri"/>
                <a:cs typeface="Calibri"/>
              </a:rPr>
              <a:t> </a:t>
            </a:r>
            <a:r>
              <a:rPr sz="3200" dirty="0">
                <a:latin typeface="Calibri"/>
                <a:cs typeface="Calibri"/>
              </a:rPr>
              <a:t>costs</a:t>
            </a:r>
            <a:r>
              <a:rPr sz="3200" spc="-90" dirty="0">
                <a:latin typeface="Calibri"/>
                <a:cs typeface="Calibri"/>
              </a:rPr>
              <a:t> </a:t>
            </a:r>
            <a:r>
              <a:rPr sz="3200" dirty="0">
                <a:latin typeface="Calibri"/>
                <a:cs typeface="Calibri"/>
              </a:rPr>
              <a:t>to</a:t>
            </a:r>
            <a:r>
              <a:rPr sz="3200" spc="-85" dirty="0">
                <a:latin typeface="Calibri"/>
                <a:cs typeface="Calibri"/>
              </a:rPr>
              <a:t> </a:t>
            </a:r>
            <a:r>
              <a:rPr sz="3200" dirty="0">
                <a:latin typeface="Calibri"/>
                <a:cs typeface="Calibri"/>
              </a:rPr>
              <a:t>variable</a:t>
            </a:r>
            <a:r>
              <a:rPr sz="3200" spc="-80" dirty="0">
                <a:latin typeface="Calibri"/>
                <a:cs typeface="Calibri"/>
              </a:rPr>
              <a:t> </a:t>
            </a:r>
            <a:r>
              <a:rPr sz="3200" spc="-10" dirty="0">
                <a:latin typeface="Calibri"/>
                <a:cs typeface="Calibri"/>
              </a:rPr>
              <a:t>costs</a:t>
            </a:r>
            <a:endParaRPr sz="32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550669"/>
            <a:ext cx="8757920" cy="3098165"/>
          </a:xfrm>
          <a:prstGeom prst="rect">
            <a:avLst/>
          </a:prstGeom>
        </p:spPr>
        <p:txBody>
          <a:bodyPr vert="horz" wrap="square" lIns="0" tIns="12065" rIns="0" bIns="0" rtlCol="0">
            <a:spAutoFit/>
          </a:bodyPr>
          <a:lstStyle/>
          <a:p>
            <a:pPr marL="194945" marR="142875" indent="-182880">
              <a:lnSpc>
                <a:spcPct val="100000"/>
              </a:lnSpc>
              <a:spcBef>
                <a:spcPts val="95"/>
              </a:spcBef>
              <a:buClr>
                <a:srgbClr val="2C7B9F"/>
              </a:buClr>
              <a:buSzPct val="83928"/>
              <a:buFont typeface="Arial MT"/>
              <a:buChar char="•"/>
              <a:tabLst>
                <a:tab pos="194945" algn="l"/>
              </a:tabLst>
            </a:pPr>
            <a:r>
              <a:rPr sz="2800" dirty="0">
                <a:latin typeface="Calibri"/>
                <a:cs typeface="Calibri"/>
              </a:rPr>
              <a:t>Cloud</a:t>
            </a:r>
            <a:r>
              <a:rPr sz="2800" spc="-35" dirty="0">
                <a:latin typeface="Calibri"/>
                <a:cs typeface="Calibri"/>
              </a:rPr>
              <a:t> </a:t>
            </a:r>
            <a:r>
              <a:rPr sz="2800" dirty="0">
                <a:latin typeface="Calibri"/>
                <a:cs typeface="Calibri"/>
              </a:rPr>
              <a:t>computing</a:t>
            </a:r>
            <a:r>
              <a:rPr sz="2800" spc="-10" dirty="0">
                <a:latin typeface="Calibri"/>
                <a:cs typeface="Calibri"/>
              </a:rPr>
              <a:t> </a:t>
            </a:r>
            <a:r>
              <a:rPr sz="2800" dirty="0">
                <a:latin typeface="Calibri"/>
                <a:cs typeface="Calibri"/>
              </a:rPr>
              <a:t>is</a:t>
            </a:r>
            <a:r>
              <a:rPr sz="2800" spc="-45"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model</a:t>
            </a:r>
            <a:r>
              <a:rPr sz="2800" spc="-25" dirty="0">
                <a:latin typeface="Calibri"/>
                <a:cs typeface="Calibri"/>
              </a:rPr>
              <a:t> </a:t>
            </a:r>
            <a:r>
              <a:rPr sz="2800" dirty="0">
                <a:latin typeface="Calibri"/>
                <a:cs typeface="Calibri"/>
              </a:rPr>
              <a:t>for</a:t>
            </a:r>
            <a:r>
              <a:rPr sz="2800" spc="-45" dirty="0">
                <a:latin typeface="Calibri"/>
                <a:cs typeface="Calibri"/>
              </a:rPr>
              <a:t> </a:t>
            </a:r>
            <a:r>
              <a:rPr sz="2800" dirty="0">
                <a:latin typeface="Calibri"/>
                <a:cs typeface="Calibri"/>
              </a:rPr>
              <a:t>enabling</a:t>
            </a:r>
            <a:r>
              <a:rPr sz="2800" spc="-35" dirty="0">
                <a:latin typeface="Calibri"/>
                <a:cs typeface="Calibri"/>
              </a:rPr>
              <a:t> </a:t>
            </a:r>
            <a:r>
              <a:rPr sz="2800" spc="-25" dirty="0">
                <a:latin typeface="Calibri"/>
                <a:cs typeface="Calibri"/>
              </a:rPr>
              <a:t>convenient,</a:t>
            </a:r>
            <a:r>
              <a:rPr sz="2800" spc="-110" dirty="0">
                <a:latin typeface="Calibri"/>
                <a:cs typeface="Calibri"/>
              </a:rPr>
              <a:t> </a:t>
            </a:r>
            <a:r>
              <a:rPr sz="2800" b="1" spc="-25" dirty="0">
                <a:solidFill>
                  <a:srgbClr val="234957"/>
                </a:solidFill>
                <a:latin typeface="Calibri"/>
                <a:cs typeface="Calibri"/>
              </a:rPr>
              <a:t>on- </a:t>
            </a:r>
            <a:r>
              <a:rPr sz="2800" b="1" dirty="0">
                <a:solidFill>
                  <a:srgbClr val="234957"/>
                </a:solidFill>
                <a:latin typeface="Calibri"/>
                <a:cs typeface="Calibri"/>
              </a:rPr>
              <a:t>demand</a:t>
            </a:r>
            <a:r>
              <a:rPr sz="2800" b="1" spc="-60" dirty="0">
                <a:solidFill>
                  <a:srgbClr val="234957"/>
                </a:solidFill>
                <a:latin typeface="Calibri"/>
                <a:cs typeface="Calibri"/>
              </a:rPr>
              <a:t> </a:t>
            </a:r>
            <a:r>
              <a:rPr sz="2800" dirty="0">
                <a:latin typeface="Calibri"/>
                <a:cs typeface="Calibri"/>
              </a:rPr>
              <a:t>network</a:t>
            </a:r>
            <a:r>
              <a:rPr sz="2800" spc="-60" dirty="0">
                <a:latin typeface="Calibri"/>
                <a:cs typeface="Calibri"/>
              </a:rPr>
              <a:t> </a:t>
            </a:r>
            <a:r>
              <a:rPr sz="2800" dirty="0">
                <a:latin typeface="Calibri"/>
                <a:cs typeface="Calibri"/>
              </a:rPr>
              <a:t>access</a:t>
            </a:r>
            <a:r>
              <a:rPr sz="2800" spc="-7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a</a:t>
            </a:r>
            <a:r>
              <a:rPr sz="2800" spc="-65" dirty="0">
                <a:latin typeface="Calibri"/>
                <a:cs typeface="Calibri"/>
              </a:rPr>
              <a:t> </a:t>
            </a:r>
            <a:r>
              <a:rPr sz="2800" dirty="0">
                <a:latin typeface="Calibri"/>
                <a:cs typeface="Calibri"/>
              </a:rPr>
              <a:t>shared</a:t>
            </a:r>
            <a:r>
              <a:rPr sz="2800" spc="-50" dirty="0">
                <a:latin typeface="Calibri"/>
                <a:cs typeface="Calibri"/>
              </a:rPr>
              <a:t> </a:t>
            </a:r>
            <a:r>
              <a:rPr sz="2800" dirty="0">
                <a:latin typeface="Calibri"/>
                <a:cs typeface="Calibri"/>
              </a:rPr>
              <a:t>pool</a:t>
            </a:r>
            <a:r>
              <a:rPr sz="2800" spc="-65" dirty="0">
                <a:latin typeface="Calibri"/>
                <a:cs typeface="Calibri"/>
              </a:rPr>
              <a:t> </a:t>
            </a:r>
            <a:r>
              <a:rPr sz="2800" dirty="0">
                <a:latin typeface="Calibri"/>
                <a:cs typeface="Calibri"/>
              </a:rPr>
              <a:t>of</a:t>
            </a:r>
            <a:r>
              <a:rPr sz="2800" spc="-75" dirty="0">
                <a:latin typeface="Calibri"/>
                <a:cs typeface="Calibri"/>
              </a:rPr>
              <a:t> </a:t>
            </a:r>
            <a:r>
              <a:rPr sz="2800" spc="-10" dirty="0">
                <a:latin typeface="Calibri"/>
                <a:cs typeface="Calibri"/>
              </a:rPr>
              <a:t>configurable </a:t>
            </a:r>
            <a:r>
              <a:rPr sz="2800" b="1" dirty="0">
                <a:solidFill>
                  <a:srgbClr val="234957"/>
                </a:solidFill>
                <a:latin typeface="Calibri"/>
                <a:cs typeface="Calibri"/>
              </a:rPr>
              <a:t>computing</a:t>
            </a:r>
            <a:r>
              <a:rPr sz="2800" b="1" spc="-95" dirty="0">
                <a:solidFill>
                  <a:srgbClr val="234957"/>
                </a:solidFill>
                <a:latin typeface="Calibri"/>
                <a:cs typeface="Calibri"/>
              </a:rPr>
              <a:t> </a:t>
            </a:r>
            <a:r>
              <a:rPr sz="2800" b="1" spc="-10" dirty="0">
                <a:solidFill>
                  <a:srgbClr val="234957"/>
                </a:solidFill>
                <a:latin typeface="Calibri"/>
                <a:cs typeface="Calibri"/>
              </a:rPr>
              <a:t>resources</a:t>
            </a:r>
            <a:r>
              <a:rPr sz="2800" b="1" spc="-90" dirty="0">
                <a:solidFill>
                  <a:srgbClr val="234957"/>
                </a:solidFill>
                <a:latin typeface="Calibri"/>
                <a:cs typeface="Calibri"/>
              </a:rPr>
              <a:t> </a:t>
            </a:r>
            <a:r>
              <a:rPr sz="2800" dirty="0">
                <a:latin typeface="Calibri"/>
                <a:cs typeface="Calibri"/>
              </a:rPr>
              <a:t>(e.g.,</a:t>
            </a:r>
            <a:r>
              <a:rPr sz="2800" spc="-75" dirty="0">
                <a:latin typeface="Calibri"/>
                <a:cs typeface="Calibri"/>
              </a:rPr>
              <a:t> </a:t>
            </a:r>
            <a:r>
              <a:rPr sz="2800" spc="-10" dirty="0">
                <a:latin typeface="Calibri"/>
                <a:cs typeface="Calibri"/>
              </a:rPr>
              <a:t>networks,</a:t>
            </a:r>
            <a:r>
              <a:rPr sz="2800" spc="-85" dirty="0">
                <a:latin typeface="Calibri"/>
                <a:cs typeface="Calibri"/>
              </a:rPr>
              <a:t> </a:t>
            </a:r>
            <a:r>
              <a:rPr sz="2800" dirty="0">
                <a:latin typeface="Calibri"/>
                <a:cs typeface="Calibri"/>
              </a:rPr>
              <a:t>servers,</a:t>
            </a:r>
            <a:r>
              <a:rPr sz="2800" spc="-70" dirty="0">
                <a:latin typeface="Calibri"/>
                <a:cs typeface="Calibri"/>
              </a:rPr>
              <a:t> </a:t>
            </a:r>
            <a:r>
              <a:rPr sz="2800" spc="-10" dirty="0">
                <a:latin typeface="Calibri"/>
                <a:cs typeface="Calibri"/>
              </a:rPr>
              <a:t>storage, </a:t>
            </a:r>
            <a:r>
              <a:rPr sz="2800" dirty="0">
                <a:latin typeface="Calibri"/>
                <a:cs typeface="Calibri"/>
              </a:rPr>
              <a:t>applications,</a:t>
            </a:r>
            <a:r>
              <a:rPr sz="2800" spc="-35" dirty="0">
                <a:latin typeface="Calibri"/>
                <a:cs typeface="Calibri"/>
              </a:rPr>
              <a:t> </a:t>
            </a:r>
            <a:r>
              <a:rPr sz="2800" dirty="0">
                <a:latin typeface="Calibri"/>
                <a:cs typeface="Calibri"/>
              </a:rPr>
              <a:t>and</a:t>
            </a:r>
            <a:r>
              <a:rPr sz="2800" spc="-40" dirty="0">
                <a:latin typeface="Calibri"/>
                <a:cs typeface="Calibri"/>
              </a:rPr>
              <a:t> </a:t>
            </a:r>
            <a:r>
              <a:rPr sz="2800" dirty="0">
                <a:latin typeface="Calibri"/>
                <a:cs typeface="Calibri"/>
              </a:rPr>
              <a:t>services)</a:t>
            </a:r>
            <a:r>
              <a:rPr sz="2800" spc="-45" dirty="0">
                <a:latin typeface="Calibri"/>
                <a:cs typeface="Calibri"/>
              </a:rPr>
              <a:t> </a:t>
            </a:r>
            <a:r>
              <a:rPr sz="2800" dirty="0">
                <a:latin typeface="Calibri"/>
                <a:cs typeface="Calibri"/>
              </a:rPr>
              <a:t>that</a:t>
            </a:r>
            <a:r>
              <a:rPr sz="2800" spc="-65" dirty="0">
                <a:latin typeface="Calibri"/>
                <a:cs typeface="Calibri"/>
              </a:rPr>
              <a:t> </a:t>
            </a:r>
            <a:r>
              <a:rPr sz="2800" dirty="0">
                <a:latin typeface="Calibri"/>
                <a:cs typeface="Calibri"/>
              </a:rPr>
              <a:t>can</a:t>
            </a:r>
            <a:r>
              <a:rPr sz="2800" spc="-45" dirty="0">
                <a:latin typeface="Calibri"/>
                <a:cs typeface="Calibri"/>
              </a:rPr>
              <a:t> </a:t>
            </a:r>
            <a:r>
              <a:rPr sz="2800" dirty="0">
                <a:latin typeface="Calibri"/>
                <a:cs typeface="Calibri"/>
              </a:rPr>
              <a:t>be</a:t>
            </a:r>
            <a:r>
              <a:rPr sz="2800" spc="-125" dirty="0">
                <a:latin typeface="Calibri"/>
                <a:cs typeface="Calibri"/>
              </a:rPr>
              <a:t> </a:t>
            </a:r>
            <a:r>
              <a:rPr sz="2800" b="1" dirty="0">
                <a:solidFill>
                  <a:srgbClr val="234957"/>
                </a:solidFill>
                <a:latin typeface="Calibri"/>
                <a:cs typeface="Calibri"/>
              </a:rPr>
              <a:t>rapidly</a:t>
            </a:r>
            <a:r>
              <a:rPr sz="2800" b="1" spc="-55" dirty="0">
                <a:solidFill>
                  <a:srgbClr val="234957"/>
                </a:solidFill>
                <a:latin typeface="Calibri"/>
                <a:cs typeface="Calibri"/>
              </a:rPr>
              <a:t> </a:t>
            </a:r>
            <a:r>
              <a:rPr sz="2800" b="1" spc="-10" dirty="0">
                <a:solidFill>
                  <a:srgbClr val="234957"/>
                </a:solidFill>
                <a:latin typeface="Calibri"/>
                <a:cs typeface="Calibri"/>
              </a:rPr>
              <a:t>provisioned </a:t>
            </a:r>
            <a:r>
              <a:rPr sz="2800" b="1" dirty="0">
                <a:solidFill>
                  <a:srgbClr val="234957"/>
                </a:solidFill>
                <a:latin typeface="Calibri"/>
                <a:cs typeface="Calibri"/>
              </a:rPr>
              <a:t>and</a:t>
            </a:r>
            <a:r>
              <a:rPr sz="2800" b="1" spc="-65" dirty="0">
                <a:solidFill>
                  <a:srgbClr val="234957"/>
                </a:solidFill>
                <a:latin typeface="Calibri"/>
                <a:cs typeface="Calibri"/>
              </a:rPr>
              <a:t> </a:t>
            </a:r>
            <a:r>
              <a:rPr sz="2800" b="1" dirty="0">
                <a:solidFill>
                  <a:srgbClr val="234957"/>
                </a:solidFill>
                <a:latin typeface="Calibri"/>
                <a:cs typeface="Calibri"/>
              </a:rPr>
              <a:t>released</a:t>
            </a:r>
            <a:r>
              <a:rPr sz="2800" b="1" spc="-65" dirty="0">
                <a:solidFill>
                  <a:srgbClr val="234957"/>
                </a:solidFill>
                <a:latin typeface="Calibri"/>
                <a:cs typeface="Calibri"/>
              </a:rPr>
              <a:t> </a:t>
            </a:r>
            <a:r>
              <a:rPr sz="2800" dirty="0">
                <a:latin typeface="Calibri"/>
                <a:cs typeface="Calibri"/>
              </a:rPr>
              <a:t>with</a:t>
            </a:r>
            <a:r>
              <a:rPr sz="2800" spc="-75" dirty="0">
                <a:latin typeface="Calibri"/>
                <a:cs typeface="Calibri"/>
              </a:rPr>
              <a:t> </a:t>
            </a:r>
            <a:r>
              <a:rPr sz="2800" dirty="0">
                <a:latin typeface="Calibri"/>
                <a:cs typeface="Calibri"/>
              </a:rPr>
              <a:t>minimal</a:t>
            </a:r>
            <a:r>
              <a:rPr sz="2800" spc="-60" dirty="0">
                <a:latin typeface="Calibri"/>
                <a:cs typeface="Calibri"/>
              </a:rPr>
              <a:t> </a:t>
            </a:r>
            <a:r>
              <a:rPr sz="2800" spc="-10" dirty="0">
                <a:latin typeface="Calibri"/>
                <a:cs typeface="Calibri"/>
              </a:rPr>
              <a:t>management</a:t>
            </a:r>
            <a:r>
              <a:rPr sz="2800" spc="-65" dirty="0">
                <a:latin typeface="Calibri"/>
                <a:cs typeface="Calibri"/>
              </a:rPr>
              <a:t> </a:t>
            </a:r>
            <a:r>
              <a:rPr sz="2800" spc="-10" dirty="0">
                <a:latin typeface="Calibri"/>
                <a:cs typeface="Calibri"/>
              </a:rPr>
              <a:t>effort</a:t>
            </a:r>
            <a:r>
              <a:rPr sz="2800" spc="-90" dirty="0">
                <a:latin typeface="Calibri"/>
                <a:cs typeface="Calibri"/>
              </a:rPr>
              <a:t> </a:t>
            </a:r>
            <a:r>
              <a:rPr sz="2800" dirty="0">
                <a:latin typeface="Calibri"/>
                <a:cs typeface="Calibri"/>
              </a:rPr>
              <a:t>or</a:t>
            </a:r>
            <a:r>
              <a:rPr sz="2800" spc="-75" dirty="0">
                <a:latin typeface="Calibri"/>
                <a:cs typeface="Calibri"/>
              </a:rPr>
              <a:t> </a:t>
            </a:r>
            <a:r>
              <a:rPr sz="2800" spc="-10" dirty="0">
                <a:latin typeface="Calibri"/>
                <a:cs typeface="Calibri"/>
              </a:rPr>
              <a:t>service </a:t>
            </a:r>
            <a:r>
              <a:rPr sz="2800" dirty="0">
                <a:latin typeface="Calibri"/>
                <a:cs typeface="Calibri"/>
              </a:rPr>
              <a:t>provider</a:t>
            </a:r>
            <a:r>
              <a:rPr sz="2800" spc="-85" dirty="0">
                <a:latin typeface="Calibri"/>
                <a:cs typeface="Calibri"/>
              </a:rPr>
              <a:t> </a:t>
            </a:r>
            <a:r>
              <a:rPr sz="2800" spc="-10" dirty="0">
                <a:latin typeface="Calibri"/>
                <a:cs typeface="Calibri"/>
              </a:rPr>
              <a:t>interaction.</a:t>
            </a:r>
            <a:endParaRPr sz="2800">
              <a:latin typeface="Calibri"/>
              <a:cs typeface="Calibri"/>
            </a:endParaRPr>
          </a:p>
          <a:p>
            <a:pPr marR="5080" algn="r">
              <a:lnSpc>
                <a:spcPct val="100000"/>
              </a:lnSpc>
              <a:spcBef>
                <a:spcPts val="675"/>
              </a:spcBef>
            </a:pPr>
            <a:r>
              <a:rPr sz="2800" spc="-60" dirty="0">
                <a:latin typeface="Calibri"/>
                <a:cs typeface="Calibri"/>
              </a:rPr>
              <a:t>NIST, </a:t>
            </a:r>
            <a:r>
              <a:rPr sz="2800" spc="-20" dirty="0">
                <a:latin typeface="Calibri"/>
                <a:cs typeface="Calibri"/>
              </a:rPr>
              <a:t>2011</a:t>
            </a:r>
            <a:endParaRPr sz="2800">
              <a:latin typeface="Calibri"/>
              <a:cs typeface="Calibri"/>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95" dirty="0"/>
              <a:t>Cloud</a:t>
            </a:r>
            <a:r>
              <a:rPr sz="3600" spc="-180" dirty="0"/>
              <a:t> </a:t>
            </a:r>
            <a:r>
              <a:rPr sz="3600" spc="-80" dirty="0"/>
              <a:t>Computing</a:t>
            </a:r>
            <a:endParaRPr sz="360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47030"/>
            <a:ext cx="7120890" cy="3980179"/>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b="1" dirty="0">
                <a:solidFill>
                  <a:srgbClr val="234957"/>
                </a:solidFill>
                <a:latin typeface="Calibri"/>
                <a:cs typeface="Calibri"/>
              </a:rPr>
              <a:t>Pervasive</a:t>
            </a:r>
            <a:r>
              <a:rPr sz="3200" b="1" spc="-114" dirty="0">
                <a:solidFill>
                  <a:srgbClr val="234957"/>
                </a:solidFill>
                <a:latin typeface="Calibri"/>
                <a:cs typeface="Calibri"/>
              </a:rPr>
              <a:t> </a:t>
            </a:r>
            <a:r>
              <a:rPr sz="3200" dirty="0">
                <a:latin typeface="Calibri"/>
                <a:cs typeface="Calibri"/>
              </a:rPr>
              <a:t>network</a:t>
            </a:r>
            <a:r>
              <a:rPr sz="3200" spc="-100" dirty="0">
                <a:latin typeface="Calibri"/>
                <a:cs typeface="Calibri"/>
              </a:rPr>
              <a:t> </a:t>
            </a:r>
            <a:r>
              <a:rPr sz="3200" spc="-10" dirty="0">
                <a:latin typeface="Calibri"/>
                <a:cs typeface="Calibri"/>
              </a:rPr>
              <a:t>access</a:t>
            </a:r>
            <a:endParaRPr sz="320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Location</a:t>
            </a:r>
            <a:r>
              <a:rPr sz="2800" spc="-150" dirty="0">
                <a:latin typeface="Calibri"/>
                <a:cs typeface="Calibri"/>
              </a:rPr>
              <a:t> </a:t>
            </a:r>
            <a:r>
              <a:rPr sz="2800" spc="-10" dirty="0">
                <a:latin typeface="Calibri"/>
                <a:cs typeface="Calibri"/>
              </a:rPr>
              <a:t>independence</a:t>
            </a:r>
            <a:endParaRPr sz="2800">
              <a:latin typeface="Calibri"/>
              <a:cs typeface="Calibri"/>
            </a:endParaRPr>
          </a:p>
          <a:p>
            <a:pPr marL="194945" indent="-182245">
              <a:lnSpc>
                <a:spcPct val="100000"/>
              </a:lnSpc>
              <a:spcBef>
                <a:spcPts val="750"/>
              </a:spcBef>
              <a:buClr>
                <a:srgbClr val="2C7B9F"/>
              </a:buClr>
              <a:buSzPct val="84375"/>
              <a:buFont typeface="Arial MT"/>
              <a:buChar char="•"/>
              <a:tabLst>
                <a:tab pos="194945" algn="l"/>
              </a:tabLst>
            </a:pPr>
            <a:r>
              <a:rPr sz="3200" dirty="0">
                <a:latin typeface="Calibri"/>
                <a:cs typeface="Calibri"/>
              </a:rPr>
              <a:t>High</a:t>
            </a:r>
            <a:r>
              <a:rPr sz="3200" spc="-65" dirty="0">
                <a:latin typeface="Calibri"/>
                <a:cs typeface="Calibri"/>
              </a:rPr>
              <a:t> </a:t>
            </a:r>
            <a:r>
              <a:rPr sz="3200" b="1" spc="-10" dirty="0">
                <a:solidFill>
                  <a:srgbClr val="234957"/>
                </a:solidFill>
                <a:latin typeface="Calibri"/>
                <a:cs typeface="Calibri"/>
              </a:rPr>
              <a:t>availability</a:t>
            </a:r>
            <a:endParaRPr sz="320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dirty="0">
                <a:latin typeface="Calibri"/>
                <a:cs typeface="Calibri"/>
              </a:rPr>
              <a:t>Resource</a:t>
            </a:r>
            <a:r>
              <a:rPr sz="3200" spc="-90" dirty="0">
                <a:latin typeface="Calibri"/>
                <a:cs typeface="Calibri"/>
              </a:rPr>
              <a:t> </a:t>
            </a:r>
            <a:r>
              <a:rPr sz="3200" b="1" dirty="0">
                <a:solidFill>
                  <a:srgbClr val="234957"/>
                </a:solidFill>
                <a:latin typeface="Calibri"/>
                <a:cs typeface="Calibri"/>
              </a:rPr>
              <a:t>pooling</a:t>
            </a:r>
            <a:r>
              <a:rPr sz="3200" b="1" spc="-85" dirty="0">
                <a:solidFill>
                  <a:srgbClr val="234957"/>
                </a:solidFill>
                <a:latin typeface="Calibri"/>
                <a:cs typeface="Calibri"/>
              </a:rPr>
              <a:t> </a:t>
            </a:r>
            <a:r>
              <a:rPr sz="3200" dirty="0">
                <a:latin typeface="Calibri"/>
                <a:cs typeface="Calibri"/>
              </a:rPr>
              <a:t>and</a:t>
            </a:r>
            <a:r>
              <a:rPr sz="3200" spc="-45" dirty="0">
                <a:latin typeface="Calibri"/>
                <a:cs typeface="Calibri"/>
              </a:rPr>
              <a:t> </a:t>
            </a:r>
            <a:r>
              <a:rPr sz="3200" spc="-10" dirty="0">
                <a:latin typeface="Calibri"/>
                <a:cs typeface="Calibri"/>
              </a:rPr>
              <a:t>partitioning</a:t>
            </a:r>
            <a:endParaRPr sz="320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Extensive</a:t>
            </a:r>
            <a:r>
              <a:rPr sz="2800" spc="-70" dirty="0">
                <a:latin typeface="Calibri"/>
                <a:cs typeface="Calibri"/>
              </a:rPr>
              <a:t> </a:t>
            </a:r>
            <a:r>
              <a:rPr sz="2800" dirty="0">
                <a:latin typeface="Calibri"/>
                <a:cs typeface="Calibri"/>
              </a:rPr>
              <a:t>use</a:t>
            </a:r>
            <a:r>
              <a:rPr sz="2800" spc="-45" dirty="0">
                <a:latin typeface="Calibri"/>
                <a:cs typeface="Calibri"/>
              </a:rPr>
              <a:t> </a:t>
            </a:r>
            <a:r>
              <a:rPr sz="2800" dirty="0">
                <a:latin typeface="Calibri"/>
                <a:cs typeface="Calibri"/>
              </a:rPr>
              <a:t>of</a:t>
            </a:r>
            <a:r>
              <a:rPr sz="2800" spc="-50" dirty="0">
                <a:latin typeface="Calibri"/>
                <a:cs typeface="Calibri"/>
              </a:rPr>
              <a:t> </a:t>
            </a:r>
            <a:r>
              <a:rPr sz="2800" spc="-10" dirty="0">
                <a:latin typeface="Calibri"/>
                <a:cs typeface="Calibri"/>
              </a:rPr>
              <a:t>virtualisation</a:t>
            </a:r>
            <a:endParaRPr sz="2800">
              <a:latin typeface="Calibri"/>
              <a:cs typeface="Calibri"/>
            </a:endParaRPr>
          </a:p>
          <a:p>
            <a:pPr marL="194945" indent="-182245">
              <a:lnSpc>
                <a:spcPct val="100000"/>
              </a:lnSpc>
              <a:spcBef>
                <a:spcPts val="750"/>
              </a:spcBef>
              <a:buClr>
                <a:srgbClr val="2C7B9F"/>
              </a:buClr>
              <a:buSzPct val="84375"/>
              <a:buFont typeface="Arial MT"/>
              <a:buChar char="•"/>
              <a:tabLst>
                <a:tab pos="194945" algn="l"/>
              </a:tabLst>
            </a:pPr>
            <a:r>
              <a:rPr sz="3200" b="1" dirty="0">
                <a:solidFill>
                  <a:srgbClr val="234957"/>
                </a:solidFill>
                <a:latin typeface="Calibri"/>
                <a:cs typeface="Calibri"/>
              </a:rPr>
              <a:t>Automated</a:t>
            </a:r>
            <a:r>
              <a:rPr sz="3200" b="1" spc="-165" dirty="0">
                <a:solidFill>
                  <a:srgbClr val="234957"/>
                </a:solidFill>
                <a:latin typeface="Calibri"/>
                <a:cs typeface="Calibri"/>
              </a:rPr>
              <a:t> </a:t>
            </a:r>
            <a:r>
              <a:rPr sz="3200" dirty="0">
                <a:latin typeface="Calibri"/>
                <a:cs typeface="Calibri"/>
              </a:rPr>
              <a:t>management</a:t>
            </a:r>
            <a:r>
              <a:rPr sz="3200" spc="-100" dirty="0">
                <a:latin typeface="Calibri"/>
                <a:cs typeface="Calibri"/>
              </a:rPr>
              <a:t> </a:t>
            </a:r>
            <a:r>
              <a:rPr sz="3200" dirty="0">
                <a:latin typeface="Calibri"/>
                <a:cs typeface="Calibri"/>
              </a:rPr>
              <a:t>for</a:t>
            </a:r>
            <a:r>
              <a:rPr sz="3200" spc="-110" dirty="0">
                <a:latin typeface="Calibri"/>
                <a:cs typeface="Calibri"/>
              </a:rPr>
              <a:t> </a:t>
            </a:r>
            <a:r>
              <a:rPr sz="3200" dirty="0">
                <a:latin typeface="Calibri"/>
                <a:cs typeface="Calibri"/>
              </a:rPr>
              <a:t>cloud</a:t>
            </a:r>
            <a:r>
              <a:rPr sz="3200" spc="-105" dirty="0">
                <a:latin typeface="Calibri"/>
                <a:cs typeface="Calibri"/>
              </a:rPr>
              <a:t> </a:t>
            </a:r>
            <a:r>
              <a:rPr sz="3200" spc="-10" dirty="0">
                <a:latin typeface="Calibri"/>
                <a:cs typeface="Calibri"/>
              </a:rPr>
              <a:t>clients</a:t>
            </a:r>
            <a:endParaRPr sz="3200">
              <a:latin typeface="Calibri"/>
              <a:cs typeface="Calibri"/>
            </a:endParaRPr>
          </a:p>
          <a:p>
            <a:pPr marL="194945" indent="-182245">
              <a:lnSpc>
                <a:spcPct val="100000"/>
              </a:lnSpc>
              <a:spcBef>
                <a:spcPts val="770"/>
              </a:spcBef>
              <a:buClr>
                <a:srgbClr val="2C7B9F"/>
              </a:buClr>
              <a:buSzPct val="84375"/>
              <a:buFont typeface="Arial MT"/>
              <a:buChar char="•"/>
              <a:tabLst>
                <a:tab pos="194945" algn="l"/>
              </a:tabLst>
            </a:pPr>
            <a:r>
              <a:rPr sz="3200" dirty="0">
                <a:latin typeface="Calibri"/>
                <a:cs typeface="Calibri"/>
              </a:rPr>
              <a:t>Rapid</a:t>
            </a:r>
            <a:r>
              <a:rPr sz="3200" spc="-80" dirty="0">
                <a:latin typeface="Calibri"/>
                <a:cs typeface="Calibri"/>
              </a:rPr>
              <a:t> </a:t>
            </a:r>
            <a:r>
              <a:rPr sz="3200" b="1" spc="-10" dirty="0">
                <a:solidFill>
                  <a:srgbClr val="234957"/>
                </a:solidFill>
                <a:latin typeface="Calibri"/>
                <a:cs typeface="Calibri"/>
              </a:rPr>
              <a:t>elasticity</a:t>
            </a:r>
            <a:endParaRPr sz="320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Essential</a:t>
            </a:r>
            <a:r>
              <a:rPr spc="-200" dirty="0"/>
              <a:t> </a:t>
            </a:r>
            <a:r>
              <a:rPr spc="-100" dirty="0"/>
              <a:t>Cloud</a:t>
            </a:r>
            <a:r>
              <a:rPr spc="-160" dirty="0"/>
              <a:t> </a:t>
            </a:r>
            <a:r>
              <a:rPr spc="-95" dirty="0"/>
              <a:t>Characteristics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5300" y="1810804"/>
            <a:ext cx="8915400" cy="3966845"/>
          </a:xfrm>
          <a:prstGeom prst="rect">
            <a:avLst/>
          </a:prstGeom>
        </p:spPr>
      </p:pic>
      <p:graphicFrame>
        <p:nvGraphicFramePr>
          <p:cNvPr id="3" name="object 3"/>
          <p:cNvGraphicFramePr>
            <a:graphicFrameLocks noGrp="1"/>
          </p:cNvGraphicFramePr>
          <p:nvPr/>
        </p:nvGraphicFramePr>
        <p:xfrm>
          <a:off x="490537" y="1806003"/>
          <a:ext cx="8915400" cy="3965575"/>
        </p:xfrm>
        <a:graphic>
          <a:graphicData uri="http://schemas.openxmlformats.org/drawingml/2006/table">
            <a:tbl>
              <a:tblPr firstRow="1" bandRow="1">
                <a:tableStyleId>{2D5ABB26-0587-4C30-8999-92F81FD0307C}</a:tableStyleId>
              </a:tblPr>
              <a:tblGrid>
                <a:gridCol w="2228850">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tblGrid>
              <a:tr h="474345">
                <a:tc>
                  <a:txBody>
                    <a:bodyPr/>
                    <a:lstStyle/>
                    <a:p>
                      <a:pPr>
                        <a:lnSpc>
                          <a:spcPct val="100000"/>
                        </a:lnSpc>
                      </a:pPr>
                      <a:endParaRPr sz="2200">
                        <a:latin typeface="Times New Roman"/>
                        <a:cs typeface="Times New Roman"/>
                      </a:endParaRPr>
                    </a:p>
                  </a:txBody>
                  <a:tcPr marL="0" marR="0" marT="0" marB="0">
                    <a:lnL w="9525">
                      <a:solidFill>
                        <a:srgbClr val="E1751D"/>
                      </a:solidFill>
                      <a:prstDash val="solid"/>
                    </a:lnL>
                    <a:lnT w="9525">
                      <a:solidFill>
                        <a:srgbClr val="E1751D"/>
                      </a:solidFill>
                      <a:prstDash val="solid"/>
                    </a:lnT>
                    <a:solidFill>
                      <a:srgbClr val="E1751D"/>
                    </a:solidFill>
                  </a:tcPr>
                </a:tc>
                <a:tc>
                  <a:txBody>
                    <a:bodyPr/>
                    <a:lstStyle/>
                    <a:p>
                      <a:pPr marL="99060">
                        <a:lnSpc>
                          <a:spcPct val="100000"/>
                        </a:lnSpc>
                        <a:spcBef>
                          <a:spcPts val="250"/>
                        </a:spcBef>
                      </a:pPr>
                      <a:r>
                        <a:rPr sz="2000" b="1" spc="-10" dirty="0">
                          <a:solidFill>
                            <a:srgbClr val="FFFFFF"/>
                          </a:solidFill>
                          <a:latin typeface="Calibri"/>
                          <a:cs typeface="Calibri"/>
                        </a:rPr>
                        <a:t>Colocation</a:t>
                      </a:r>
                      <a:endParaRPr sz="2000">
                        <a:latin typeface="Calibri"/>
                        <a:cs typeface="Calibri"/>
                      </a:endParaRPr>
                    </a:p>
                  </a:txBody>
                  <a:tcPr marL="0" marR="0" marT="31750" marB="0">
                    <a:lnT w="9525">
                      <a:solidFill>
                        <a:srgbClr val="E1751D"/>
                      </a:solidFill>
                      <a:prstDash val="solid"/>
                    </a:lnT>
                    <a:solidFill>
                      <a:srgbClr val="E1751D"/>
                    </a:solidFill>
                  </a:tcPr>
                </a:tc>
                <a:tc>
                  <a:txBody>
                    <a:bodyPr/>
                    <a:lstStyle/>
                    <a:p>
                      <a:pPr marL="99695">
                        <a:lnSpc>
                          <a:spcPct val="100000"/>
                        </a:lnSpc>
                        <a:spcBef>
                          <a:spcPts val="250"/>
                        </a:spcBef>
                      </a:pPr>
                      <a:r>
                        <a:rPr sz="2000" b="1" spc="-10" dirty="0">
                          <a:solidFill>
                            <a:srgbClr val="FFFFFF"/>
                          </a:solidFill>
                          <a:latin typeface="Calibri"/>
                          <a:cs typeface="Calibri"/>
                        </a:rPr>
                        <a:t>Managed</a:t>
                      </a:r>
                      <a:endParaRPr sz="2000">
                        <a:latin typeface="Calibri"/>
                        <a:cs typeface="Calibri"/>
                      </a:endParaRPr>
                    </a:p>
                  </a:txBody>
                  <a:tcPr marL="0" marR="0" marT="31750" marB="0">
                    <a:lnT w="9525">
                      <a:solidFill>
                        <a:srgbClr val="E1751D"/>
                      </a:solidFill>
                      <a:prstDash val="solid"/>
                    </a:lnT>
                    <a:solidFill>
                      <a:srgbClr val="E1751D"/>
                    </a:solidFill>
                  </a:tcPr>
                </a:tc>
                <a:tc>
                  <a:txBody>
                    <a:bodyPr/>
                    <a:lstStyle/>
                    <a:p>
                      <a:pPr marL="100330">
                        <a:lnSpc>
                          <a:spcPct val="100000"/>
                        </a:lnSpc>
                        <a:spcBef>
                          <a:spcPts val="250"/>
                        </a:spcBef>
                      </a:pPr>
                      <a:r>
                        <a:rPr sz="2000" b="1" spc="-10" dirty="0">
                          <a:solidFill>
                            <a:srgbClr val="FFFFFF"/>
                          </a:solidFill>
                          <a:latin typeface="Calibri"/>
                          <a:cs typeface="Calibri"/>
                        </a:rPr>
                        <a:t>Cloud</a:t>
                      </a:r>
                      <a:endParaRPr sz="2000">
                        <a:latin typeface="Calibri"/>
                        <a:cs typeface="Calibri"/>
                      </a:endParaRPr>
                    </a:p>
                  </a:txBody>
                  <a:tcPr marL="0" marR="0" marT="31750" marB="0">
                    <a:lnR w="9525">
                      <a:solidFill>
                        <a:srgbClr val="E1751D"/>
                      </a:solidFill>
                      <a:prstDash val="solid"/>
                    </a:lnR>
                    <a:lnT w="9525">
                      <a:solidFill>
                        <a:srgbClr val="E1751D"/>
                      </a:solidFill>
                      <a:prstDash val="solid"/>
                    </a:lnT>
                    <a:solidFill>
                      <a:srgbClr val="E1751D"/>
                    </a:solidFill>
                  </a:tcPr>
                </a:tc>
                <a:extLst>
                  <a:ext uri="{0D108BD9-81ED-4DB2-BD59-A6C34878D82A}">
                    <a16:rowId xmlns:a16="http://schemas.microsoft.com/office/drawing/2014/main" val="10000"/>
                  </a:ext>
                </a:extLst>
              </a:tr>
              <a:tr h="474345">
                <a:tc>
                  <a:txBody>
                    <a:bodyPr/>
                    <a:lstStyle/>
                    <a:p>
                      <a:pPr marL="98425">
                        <a:lnSpc>
                          <a:spcPct val="100000"/>
                        </a:lnSpc>
                        <a:spcBef>
                          <a:spcPts val="245"/>
                        </a:spcBef>
                      </a:pPr>
                      <a:r>
                        <a:rPr sz="2000" b="1" spc="-20" dirty="0">
                          <a:latin typeface="Calibri"/>
                          <a:cs typeface="Calibri"/>
                        </a:rPr>
                        <a:t>Time</a:t>
                      </a:r>
                      <a:endParaRPr sz="2000">
                        <a:latin typeface="Calibri"/>
                        <a:cs typeface="Calibri"/>
                      </a:endParaRPr>
                    </a:p>
                  </a:txBody>
                  <a:tcPr marL="0" marR="0" marT="31115" marB="0">
                    <a:lnL w="9525">
                      <a:solidFill>
                        <a:srgbClr val="E1751D"/>
                      </a:solidFill>
                      <a:prstDash val="solid"/>
                    </a:lnL>
                    <a:lnR w="28575">
                      <a:solidFill>
                        <a:srgbClr val="E1751D"/>
                      </a:solidFill>
                      <a:prstDash val="solid"/>
                    </a:lnR>
                    <a:lnB w="9525">
                      <a:solidFill>
                        <a:srgbClr val="E1751D"/>
                      </a:solidFill>
                      <a:prstDash val="solid"/>
                    </a:lnB>
                  </a:tcPr>
                </a:tc>
                <a:tc>
                  <a:txBody>
                    <a:bodyPr/>
                    <a:lstStyle/>
                    <a:p>
                      <a:pPr marL="99060">
                        <a:lnSpc>
                          <a:spcPct val="100000"/>
                        </a:lnSpc>
                        <a:spcBef>
                          <a:spcPts val="245"/>
                        </a:spcBef>
                      </a:pPr>
                      <a:r>
                        <a:rPr sz="2000" spc="-10" dirty="0">
                          <a:latin typeface="Calibri"/>
                          <a:cs typeface="Calibri"/>
                        </a:rPr>
                        <a:t>Weeks</a:t>
                      </a:r>
                      <a:r>
                        <a:rPr sz="2000" spc="-60" dirty="0">
                          <a:latin typeface="Calibri"/>
                          <a:cs typeface="Calibri"/>
                        </a:rPr>
                        <a:t> </a:t>
                      </a:r>
                      <a:r>
                        <a:rPr sz="2000" dirty="0">
                          <a:latin typeface="Calibri"/>
                          <a:cs typeface="Calibri"/>
                        </a:rPr>
                        <a:t>to</a:t>
                      </a:r>
                      <a:r>
                        <a:rPr sz="2000" spc="-60" dirty="0">
                          <a:latin typeface="Calibri"/>
                          <a:cs typeface="Calibri"/>
                        </a:rPr>
                        <a:t> </a:t>
                      </a:r>
                      <a:r>
                        <a:rPr sz="2000" spc="-10" dirty="0">
                          <a:latin typeface="Calibri"/>
                          <a:cs typeface="Calibri"/>
                        </a:rPr>
                        <a:t>Months</a:t>
                      </a:r>
                      <a:endParaRPr sz="2000">
                        <a:latin typeface="Calibri"/>
                        <a:cs typeface="Calibri"/>
                      </a:endParaRPr>
                    </a:p>
                  </a:txBody>
                  <a:tcPr marL="0" marR="0" marT="31115" marB="0">
                    <a:lnL w="28575">
                      <a:solidFill>
                        <a:srgbClr val="E1751D"/>
                      </a:solidFill>
                      <a:prstDash val="solid"/>
                    </a:lnL>
                    <a:lnR w="9525">
                      <a:solidFill>
                        <a:srgbClr val="E1751D"/>
                      </a:solidFill>
                      <a:prstDash val="solid"/>
                    </a:lnR>
                    <a:lnB w="9525">
                      <a:solidFill>
                        <a:srgbClr val="E1751D"/>
                      </a:solidFill>
                      <a:prstDash val="solid"/>
                    </a:lnB>
                  </a:tcPr>
                </a:tc>
                <a:tc>
                  <a:txBody>
                    <a:bodyPr/>
                    <a:lstStyle/>
                    <a:p>
                      <a:pPr marL="99695">
                        <a:lnSpc>
                          <a:spcPct val="100000"/>
                        </a:lnSpc>
                        <a:spcBef>
                          <a:spcPts val="245"/>
                        </a:spcBef>
                      </a:pPr>
                      <a:r>
                        <a:rPr sz="2000" dirty="0">
                          <a:latin typeface="Calibri"/>
                          <a:cs typeface="Calibri"/>
                        </a:rPr>
                        <a:t>Days</a:t>
                      </a:r>
                      <a:r>
                        <a:rPr sz="2000" spc="-65" dirty="0">
                          <a:latin typeface="Calibri"/>
                          <a:cs typeface="Calibri"/>
                        </a:rPr>
                        <a:t> </a:t>
                      </a:r>
                      <a:r>
                        <a:rPr sz="2000" dirty="0">
                          <a:latin typeface="Calibri"/>
                          <a:cs typeface="Calibri"/>
                        </a:rPr>
                        <a:t>to</a:t>
                      </a:r>
                      <a:r>
                        <a:rPr sz="2000" spc="-55" dirty="0">
                          <a:latin typeface="Calibri"/>
                          <a:cs typeface="Calibri"/>
                        </a:rPr>
                        <a:t> </a:t>
                      </a:r>
                      <a:r>
                        <a:rPr sz="2000" spc="-10" dirty="0">
                          <a:latin typeface="Calibri"/>
                          <a:cs typeface="Calibri"/>
                        </a:rPr>
                        <a:t>Weeks</a:t>
                      </a:r>
                      <a:endParaRPr sz="2000">
                        <a:latin typeface="Calibri"/>
                        <a:cs typeface="Calibri"/>
                      </a:endParaRPr>
                    </a:p>
                  </a:txBody>
                  <a:tcPr marL="0" marR="0" marT="31115" marB="0">
                    <a:lnL w="9525">
                      <a:solidFill>
                        <a:srgbClr val="E1751D"/>
                      </a:solidFill>
                      <a:prstDash val="solid"/>
                    </a:lnL>
                    <a:lnR w="9525">
                      <a:solidFill>
                        <a:srgbClr val="E1751D"/>
                      </a:solidFill>
                      <a:prstDash val="solid"/>
                    </a:lnR>
                    <a:lnB w="9525">
                      <a:solidFill>
                        <a:srgbClr val="E1751D"/>
                      </a:solidFill>
                      <a:prstDash val="solid"/>
                    </a:lnB>
                  </a:tcPr>
                </a:tc>
                <a:tc>
                  <a:txBody>
                    <a:bodyPr/>
                    <a:lstStyle/>
                    <a:p>
                      <a:pPr marL="100330">
                        <a:lnSpc>
                          <a:spcPct val="100000"/>
                        </a:lnSpc>
                        <a:spcBef>
                          <a:spcPts val="245"/>
                        </a:spcBef>
                      </a:pPr>
                      <a:r>
                        <a:rPr sz="2000" spc="-10" dirty="0">
                          <a:latin typeface="Calibri"/>
                          <a:cs typeface="Calibri"/>
                        </a:rPr>
                        <a:t>Minutes</a:t>
                      </a:r>
                      <a:endParaRPr sz="2000">
                        <a:latin typeface="Calibri"/>
                        <a:cs typeface="Calibri"/>
                      </a:endParaRPr>
                    </a:p>
                  </a:txBody>
                  <a:tcPr marL="0" marR="0" marT="31115" marB="0">
                    <a:lnL w="9525">
                      <a:solidFill>
                        <a:srgbClr val="E1751D"/>
                      </a:solidFill>
                      <a:prstDash val="solid"/>
                    </a:lnL>
                    <a:lnR w="9525">
                      <a:solidFill>
                        <a:srgbClr val="E1751D"/>
                      </a:solidFill>
                      <a:prstDash val="solid"/>
                    </a:lnR>
                    <a:lnB w="9525">
                      <a:solidFill>
                        <a:srgbClr val="E1751D"/>
                      </a:solidFill>
                      <a:prstDash val="solid"/>
                    </a:lnB>
                  </a:tcPr>
                </a:tc>
                <a:extLst>
                  <a:ext uri="{0D108BD9-81ED-4DB2-BD59-A6C34878D82A}">
                    <a16:rowId xmlns:a16="http://schemas.microsoft.com/office/drawing/2014/main" val="10001"/>
                  </a:ext>
                </a:extLst>
              </a:tr>
              <a:tr h="700405">
                <a:tc>
                  <a:txBody>
                    <a:bodyPr/>
                    <a:lstStyle/>
                    <a:p>
                      <a:pPr marL="98425">
                        <a:lnSpc>
                          <a:spcPct val="100000"/>
                        </a:lnSpc>
                        <a:spcBef>
                          <a:spcPts val="250"/>
                        </a:spcBef>
                      </a:pPr>
                      <a:r>
                        <a:rPr sz="2000" b="1" spc="-10" dirty="0">
                          <a:latin typeface="Calibri"/>
                          <a:cs typeface="Calibri"/>
                        </a:rPr>
                        <a:t>Scalability</a:t>
                      </a:r>
                      <a:endParaRPr sz="2000">
                        <a:latin typeface="Calibri"/>
                        <a:cs typeface="Calibri"/>
                      </a:endParaRPr>
                    </a:p>
                  </a:txBody>
                  <a:tcPr marL="0" marR="0" marT="31750" marB="0">
                    <a:lnL w="9525">
                      <a:solidFill>
                        <a:srgbClr val="E1751D"/>
                      </a:solidFill>
                      <a:prstDash val="solid"/>
                    </a:lnL>
                    <a:lnR w="28575">
                      <a:solidFill>
                        <a:srgbClr val="E1751D"/>
                      </a:solidFill>
                      <a:prstDash val="solid"/>
                    </a:lnR>
                    <a:lnT w="9525">
                      <a:solidFill>
                        <a:srgbClr val="E1751D"/>
                      </a:solidFill>
                      <a:prstDash val="solid"/>
                    </a:lnT>
                    <a:lnB w="9525">
                      <a:solidFill>
                        <a:srgbClr val="E1751D"/>
                      </a:solidFill>
                      <a:prstDash val="solid"/>
                    </a:lnB>
                  </a:tcPr>
                </a:tc>
                <a:tc>
                  <a:txBody>
                    <a:bodyPr/>
                    <a:lstStyle/>
                    <a:p>
                      <a:pPr marL="99060" marR="466090">
                        <a:lnSpc>
                          <a:spcPct val="100499"/>
                        </a:lnSpc>
                        <a:spcBef>
                          <a:spcPts val="225"/>
                        </a:spcBef>
                      </a:pPr>
                      <a:r>
                        <a:rPr sz="2000" spc="-10" dirty="0">
                          <a:latin typeface="Calibri"/>
                          <a:cs typeface="Calibri"/>
                        </a:rPr>
                        <a:t>Slowest,</a:t>
                      </a:r>
                      <a:r>
                        <a:rPr sz="2000" spc="-40" dirty="0">
                          <a:latin typeface="Calibri"/>
                          <a:cs typeface="Calibri"/>
                        </a:rPr>
                        <a:t> </a:t>
                      </a:r>
                      <a:r>
                        <a:rPr sz="2000" dirty="0">
                          <a:latin typeface="Calibri"/>
                          <a:cs typeface="Calibri"/>
                        </a:rPr>
                        <a:t>Rigid</a:t>
                      </a:r>
                      <a:r>
                        <a:rPr sz="2000" spc="-45" dirty="0">
                          <a:latin typeface="Calibri"/>
                          <a:cs typeface="Calibri"/>
                        </a:rPr>
                        <a:t> </a:t>
                      </a:r>
                      <a:r>
                        <a:rPr sz="2000" spc="-50" dirty="0">
                          <a:latin typeface="Calibri"/>
                          <a:cs typeface="Calibri"/>
                        </a:rPr>
                        <a:t>&amp; </a:t>
                      </a:r>
                      <a:r>
                        <a:rPr sz="2000" spc="-10" dirty="0">
                          <a:latin typeface="Calibri"/>
                          <a:cs typeface="Calibri"/>
                        </a:rPr>
                        <a:t>Costly</a:t>
                      </a:r>
                      <a:endParaRPr sz="2000">
                        <a:latin typeface="Calibri"/>
                        <a:cs typeface="Calibri"/>
                      </a:endParaRPr>
                    </a:p>
                  </a:txBody>
                  <a:tcPr marL="0" marR="0" marT="28575" marB="0">
                    <a:lnL w="2857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99695" marR="238760">
                        <a:lnSpc>
                          <a:spcPct val="100499"/>
                        </a:lnSpc>
                        <a:spcBef>
                          <a:spcPts val="225"/>
                        </a:spcBef>
                      </a:pPr>
                      <a:r>
                        <a:rPr sz="2000" spc="-30" dirty="0">
                          <a:latin typeface="Calibri"/>
                          <a:cs typeface="Calibri"/>
                        </a:rPr>
                        <a:t>Slower,</a:t>
                      </a:r>
                      <a:r>
                        <a:rPr sz="2000" spc="-55" dirty="0">
                          <a:latin typeface="Calibri"/>
                          <a:cs typeface="Calibri"/>
                        </a:rPr>
                        <a:t> </a:t>
                      </a:r>
                      <a:r>
                        <a:rPr sz="2000" spc="-10" dirty="0">
                          <a:latin typeface="Calibri"/>
                          <a:cs typeface="Calibri"/>
                        </a:rPr>
                        <a:t>somewhat </a:t>
                      </a:r>
                      <a:r>
                        <a:rPr sz="2000" dirty="0">
                          <a:latin typeface="Calibri"/>
                          <a:cs typeface="Calibri"/>
                        </a:rPr>
                        <a:t>flexible,</a:t>
                      </a:r>
                      <a:r>
                        <a:rPr sz="2000" spc="-95" dirty="0">
                          <a:latin typeface="Calibri"/>
                          <a:cs typeface="Calibri"/>
                        </a:rPr>
                        <a:t> </a:t>
                      </a:r>
                      <a:r>
                        <a:rPr sz="2000" spc="-10" dirty="0">
                          <a:latin typeface="Calibri"/>
                          <a:cs typeface="Calibri"/>
                        </a:rPr>
                        <a:t>Costly</a:t>
                      </a:r>
                      <a:endParaRPr sz="2000">
                        <a:latin typeface="Calibri"/>
                        <a:cs typeface="Calibri"/>
                      </a:endParaRPr>
                    </a:p>
                  </a:txBody>
                  <a:tcPr marL="0" marR="0" marT="28575"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100330" marR="436245">
                        <a:lnSpc>
                          <a:spcPct val="100499"/>
                        </a:lnSpc>
                        <a:spcBef>
                          <a:spcPts val="225"/>
                        </a:spcBef>
                      </a:pPr>
                      <a:r>
                        <a:rPr sz="2000" dirty="0">
                          <a:latin typeface="Calibri"/>
                          <a:cs typeface="Calibri"/>
                        </a:rPr>
                        <a:t>Instant,</a:t>
                      </a:r>
                      <a:r>
                        <a:rPr sz="2000" spc="-105" dirty="0">
                          <a:latin typeface="Calibri"/>
                          <a:cs typeface="Calibri"/>
                        </a:rPr>
                        <a:t> </a:t>
                      </a:r>
                      <a:r>
                        <a:rPr sz="2000" spc="-10" dirty="0">
                          <a:latin typeface="Calibri"/>
                          <a:cs typeface="Calibri"/>
                        </a:rPr>
                        <a:t>Flexible, </a:t>
                      </a:r>
                      <a:r>
                        <a:rPr sz="2000" spc="-35" dirty="0">
                          <a:latin typeface="Calibri"/>
                          <a:cs typeface="Calibri"/>
                        </a:rPr>
                        <a:t>Pay-</a:t>
                      </a:r>
                      <a:r>
                        <a:rPr sz="2000" spc="-10" dirty="0">
                          <a:latin typeface="Calibri"/>
                          <a:cs typeface="Calibri"/>
                        </a:rPr>
                        <a:t>per-</a:t>
                      </a:r>
                      <a:r>
                        <a:rPr sz="2000" spc="-20" dirty="0">
                          <a:latin typeface="Calibri"/>
                          <a:cs typeface="Calibri"/>
                        </a:rPr>
                        <a:t>usage</a:t>
                      </a:r>
                      <a:endParaRPr sz="2000">
                        <a:latin typeface="Calibri"/>
                        <a:cs typeface="Calibri"/>
                      </a:endParaRPr>
                    </a:p>
                  </a:txBody>
                  <a:tcPr marL="0" marR="0" marT="28575"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extLst>
                  <a:ext uri="{0D108BD9-81ED-4DB2-BD59-A6C34878D82A}">
                    <a16:rowId xmlns:a16="http://schemas.microsoft.com/office/drawing/2014/main" val="10002"/>
                  </a:ext>
                </a:extLst>
              </a:tr>
              <a:tr h="1005840">
                <a:tc>
                  <a:txBody>
                    <a:bodyPr/>
                    <a:lstStyle/>
                    <a:p>
                      <a:pPr marL="98425">
                        <a:lnSpc>
                          <a:spcPct val="100000"/>
                        </a:lnSpc>
                        <a:spcBef>
                          <a:spcPts val="250"/>
                        </a:spcBef>
                      </a:pPr>
                      <a:r>
                        <a:rPr sz="2000" b="1" spc="-20" dirty="0">
                          <a:latin typeface="Calibri"/>
                          <a:cs typeface="Calibri"/>
                        </a:rPr>
                        <a:t>Cost</a:t>
                      </a:r>
                      <a:endParaRPr sz="2000">
                        <a:latin typeface="Calibri"/>
                        <a:cs typeface="Calibri"/>
                      </a:endParaRPr>
                    </a:p>
                  </a:txBody>
                  <a:tcPr marL="0" marR="0" marT="31750" marB="0">
                    <a:lnL w="9525">
                      <a:solidFill>
                        <a:srgbClr val="E1751D"/>
                      </a:solidFill>
                      <a:prstDash val="solid"/>
                    </a:lnL>
                    <a:lnR w="28575">
                      <a:solidFill>
                        <a:srgbClr val="E1751D"/>
                      </a:solidFill>
                      <a:prstDash val="solid"/>
                    </a:lnR>
                    <a:lnT w="9525">
                      <a:solidFill>
                        <a:srgbClr val="E1751D"/>
                      </a:solidFill>
                      <a:prstDash val="solid"/>
                    </a:lnT>
                    <a:lnB w="9525">
                      <a:solidFill>
                        <a:srgbClr val="E1751D"/>
                      </a:solidFill>
                      <a:prstDash val="solid"/>
                    </a:lnB>
                  </a:tcPr>
                </a:tc>
                <a:tc>
                  <a:txBody>
                    <a:bodyPr/>
                    <a:lstStyle/>
                    <a:p>
                      <a:pPr marL="99060">
                        <a:lnSpc>
                          <a:spcPct val="100000"/>
                        </a:lnSpc>
                        <a:spcBef>
                          <a:spcPts val="250"/>
                        </a:spcBef>
                      </a:pPr>
                      <a:r>
                        <a:rPr sz="2000" dirty="0">
                          <a:latin typeface="Calibri"/>
                          <a:cs typeface="Calibri"/>
                        </a:rPr>
                        <a:t>High</a:t>
                      </a:r>
                      <a:r>
                        <a:rPr sz="2000" spc="-40" dirty="0">
                          <a:latin typeface="Calibri"/>
                          <a:cs typeface="Calibri"/>
                        </a:rPr>
                        <a:t> </a:t>
                      </a:r>
                      <a:r>
                        <a:rPr sz="2000" spc="-10" dirty="0">
                          <a:latin typeface="Calibri"/>
                          <a:cs typeface="Calibri"/>
                        </a:rPr>
                        <a:t>CapEx</a:t>
                      </a:r>
                      <a:endParaRPr sz="2000">
                        <a:latin typeface="Calibri"/>
                        <a:cs typeface="Calibri"/>
                      </a:endParaRPr>
                    </a:p>
                  </a:txBody>
                  <a:tcPr marL="0" marR="0" marT="31750" marB="0">
                    <a:lnL w="2857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99695" marR="93345">
                        <a:lnSpc>
                          <a:spcPct val="100299"/>
                        </a:lnSpc>
                        <a:spcBef>
                          <a:spcPts val="229"/>
                        </a:spcBef>
                      </a:pPr>
                      <a:r>
                        <a:rPr sz="2000" spc="-20" dirty="0">
                          <a:latin typeface="Calibri"/>
                          <a:cs typeface="Calibri"/>
                        </a:rPr>
                        <a:t>Costly,</a:t>
                      </a:r>
                      <a:r>
                        <a:rPr sz="2000" spc="-80" dirty="0">
                          <a:latin typeface="Calibri"/>
                          <a:cs typeface="Calibri"/>
                        </a:rPr>
                        <a:t> </a:t>
                      </a:r>
                      <a:r>
                        <a:rPr sz="2000" spc="-10" dirty="0">
                          <a:latin typeface="Calibri"/>
                          <a:cs typeface="Calibri"/>
                        </a:rPr>
                        <a:t>sometimes month/year contracts,</a:t>
                      </a:r>
                      <a:r>
                        <a:rPr sz="2000" spc="-25" dirty="0">
                          <a:latin typeface="Calibri"/>
                          <a:cs typeface="Calibri"/>
                        </a:rPr>
                        <a:t> </a:t>
                      </a:r>
                      <a:r>
                        <a:rPr sz="2000" dirty="0">
                          <a:latin typeface="Calibri"/>
                          <a:cs typeface="Calibri"/>
                        </a:rPr>
                        <a:t>no</a:t>
                      </a:r>
                      <a:r>
                        <a:rPr sz="2000" spc="-35" dirty="0">
                          <a:latin typeface="Calibri"/>
                          <a:cs typeface="Calibri"/>
                        </a:rPr>
                        <a:t> </a:t>
                      </a:r>
                      <a:r>
                        <a:rPr sz="2000" spc="-20" dirty="0">
                          <a:latin typeface="Calibri"/>
                          <a:cs typeface="Calibri"/>
                        </a:rPr>
                        <a:t>CapEx</a:t>
                      </a:r>
                      <a:endParaRPr sz="2000">
                        <a:latin typeface="Calibri"/>
                        <a:cs typeface="Calibri"/>
                      </a:endParaRPr>
                    </a:p>
                  </a:txBody>
                  <a:tcPr marL="0" marR="0" marT="29209"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100330" marR="89535">
                        <a:lnSpc>
                          <a:spcPct val="100299"/>
                        </a:lnSpc>
                        <a:spcBef>
                          <a:spcPts val="229"/>
                        </a:spcBef>
                      </a:pPr>
                      <a:r>
                        <a:rPr sz="2000" dirty="0">
                          <a:latin typeface="Calibri"/>
                          <a:cs typeface="Calibri"/>
                        </a:rPr>
                        <a:t>No</a:t>
                      </a:r>
                      <a:r>
                        <a:rPr sz="2000" spc="-50" dirty="0">
                          <a:latin typeface="Calibri"/>
                          <a:cs typeface="Calibri"/>
                        </a:rPr>
                        <a:t> </a:t>
                      </a:r>
                      <a:r>
                        <a:rPr sz="2000" spc="-10" dirty="0">
                          <a:latin typeface="Calibri"/>
                          <a:cs typeface="Calibri"/>
                        </a:rPr>
                        <a:t>contracts,</a:t>
                      </a:r>
                      <a:r>
                        <a:rPr sz="2000" spc="-30" dirty="0">
                          <a:latin typeface="Calibri"/>
                          <a:cs typeface="Calibri"/>
                        </a:rPr>
                        <a:t> </a:t>
                      </a:r>
                      <a:r>
                        <a:rPr sz="2000" spc="-20" dirty="0">
                          <a:latin typeface="Calibri"/>
                          <a:cs typeface="Calibri"/>
                        </a:rPr>
                        <a:t>usage </a:t>
                      </a:r>
                      <a:r>
                        <a:rPr sz="2000" dirty="0">
                          <a:latin typeface="Calibri"/>
                          <a:cs typeface="Calibri"/>
                        </a:rPr>
                        <a:t>based,</a:t>
                      </a:r>
                      <a:r>
                        <a:rPr sz="2000" spc="-30" dirty="0">
                          <a:latin typeface="Calibri"/>
                          <a:cs typeface="Calibri"/>
                        </a:rPr>
                        <a:t> </a:t>
                      </a:r>
                      <a:r>
                        <a:rPr sz="2000" dirty="0">
                          <a:latin typeface="Calibri"/>
                          <a:cs typeface="Calibri"/>
                        </a:rPr>
                        <a:t>no</a:t>
                      </a:r>
                      <a:r>
                        <a:rPr sz="2000" spc="-40" dirty="0">
                          <a:latin typeface="Calibri"/>
                          <a:cs typeface="Calibri"/>
                        </a:rPr>
                        <a:t> </a:t>
                      </a:r>
                      <a:r>
                        <a:rPr sz="2000" spc="-10" dirty="0">
                          <a:latin typeface="Calibri"/>
                          <a:cs typeface="Calibri"/>
                        </a:rPr>
                        <a:t>upfront costs</a:t>
                      </a:r>
                      <a:endParaRPr sz="2000">
                        <a:latin typeface="Calibri"/>
                        <a:cs typeface="Calibri"/>
                      </a:endParaRPr>
                    </a:p>
                  </a:txBody>
                  <a:tcPr marL="0" marR="0" marT="29209"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extLst>
                  <a:ext uri="{0D108BD9-81ED-4DB2-BD59-A6C34878D82A}">
                    <a16:rowId xmlns:a16="http://schemas.microsoft.com/office/drawing/2014/main" val="10003"/>
                  </a:ext>
                </a:extLst>
              </a:tr>
              <a:tr h="1310640">
                <a:tc>
                  <a:txBody>
                    <a:bodyPr/>
                    <a:lstStyle/>
                    <a:p>
                      <a:pPr marL="98425">
                        <a:lnSpc>
                          <a:spcPct val="100000"/>
                        </a:lnSpc>
                        <a:spcBef>
                          <a:spcPts val="250"/>
                        </a:spcBef>
                      </a:pPr>
                      <a:r>
                        <a:rPr sz="2000" b="1" dirty="0">
                          <a:latin typeface="Calibri"/>
                          <a:cs typeface="Calibri"/>
                        </a:rPr>
                        <a:t>Pricing</a:t>
                      </a:r>
                      <a:r>
                        <a:rPr sz="2000" b="1" spc="-50" dirty="0">
                          <a:latin typeface="Calibri"/>
                          <a:cs typeface="Calibri"/>
                        </a:rPr>
                        <a:t> </a:t>
                      </a:r>
                      <a:r>
                        <a:rPr sz="2000" b="1" spc="-10" dirty="0">
                          <a:latin typeface="Calibri"/>
                          <a:cs typeface="Calibri"/>
                        </a:rPr>
                        <a:t>model</a:t>
                      </a:r>
                      <a:endParaRPr sz="2000">
                        <a:latin typeface="Calibri"/>
                        <a:cs typeface="Calibri"/>
                      </a:endParaRPr>
                    </a:p>
                  </a:txBody>
                  <a:tcPr marL="0" marR="0" marT="31750" marB="0">
                    <a:lnL w="9525">
                      <a:solidFill>
                        <a:srgbClr val="E1751D"/>
                      </a:solidFill>
                      <a:prstDash val="solid"/>
                    </a:lnL>
                    <a:lnR w="28575">
                      <a:solidFill>
                        <a:srgbClr val="E1751D"/>
                      </a:solidFill>
                      <a:prstDash val="solid"/>
                    </a:lnR>
                    <a:lnT w="9525">
                      <a:solidFill>
                        <a:srgbClr val="E1751D"/>
                      </a:solidFill>
                      <a:prstDash val="solid"/>
                    </a:lnT>
                    <a:lnB w="9525">
                      <a:solidFill>
                        <a:srgbClr val="E1751D"/>
                      </a:solidFill>
                      <a:prstDash val="solid"/>
                    </a:lnB>
                  </a:tcPr>
                </a:tc>
                <a:tc>
                  <a:txBody>
                    <a:bodyPr/>
                    <a:lstStyle/>
                    <a:p>
                      <a:pPr marL="99060" marR="114935" algn="just">
                        <a:lnSpc>
                          <a:spcPct val="100299"/>
                        </a:lnSpc>
                        <a:spcBef>
                          <a:spcPts val="229"/>
                        </a:spcBef>
                      </a:pPr>
                      <a:r>
                        <a:rPr sz="2000" u="sng" dirty="0">
                          <a:uFill>
                            <a:solidFill>
                              <a:srgbClr val="000000"/>
                            </a:solidFill>
                          </a:uFill>
                          <a:latin typeface="Calibri"/>
                          <a:cs typeface="Calibri"/>
                        </a:rPr>
                        <a:t>Buy</a:t>
                      </a:r>
                      <a:r>
                        <a:rPr sz="2000" spc="-50" dirty="0">
                          <a:latin typeface="Calibri"/>
                          <a:cs typeface="Calibri"/>
                        </a:rPr>
                        <a:t> </a:t>
                      </a:r>
                      <a:r>
                        <a:rPr sz="2000" dirty="0">
                          <a:latin typeface="Calibri"/>
                          <a:cs typeface="Calibri"/>
                        </a:rPr>
                        <a:t>Servers</a:t>
                      </a:r>
                      <a:r>
                        <a:rPr sz="2000" spc="-30" dirty="0">
                          <a:latin typeface="Calibri"/>
                          <a:cs typeface="Calibri"/>
                        </a:rPr>
                        <a:t> </a:t>
                      </a:r>
                      <a:r>
                        <a:rPr sz="2000" dirty="0">
                          <a:latin typeface="Calibri"/>
                          <a:cs typeface="Calibri"/>
                        </a:rPr>
                        <a:t>&amp;</a:t>
                      </a:r>
                      <a:r>
                        <a:rPr sz="2000" spc="-45" dirty="0">
                          <a:latin typeface="Calibri"/>
                          <a:cs typeface="Calibri"/>
                        </a:rPr>
                        <a:t> </a:t>
                      </a:r>
                      <a:r>
                        <a:rPr sz="2000" spc="-20" dirty="0">
                          <a:latin typeface="Calibri"/>
                          <a:cs typeface="Calibri"/>
                        </a:rPr>
                        <a:t>Colo </a:t>
                      </a:r>
                      <a:r>
                        <a:rPr sz="2000" dirty="0">
                          <a:latin typeface="Calibri"/>
                          <a:cs typeface="Calibri"/>
                        </a:rPr>
                        <a:t>costs</a:t>
                      </a:r>
                      <a:r>
                        <a:rPr sz="2000" spc="-70" dirty="0">
                          <a:latin typeface="Calibri"/>
                          <a:cs typeface="Calibri"/>
                        </a:rPr>
                        <a:t> </a:t>
                      </a:r>
                      <a:r>
                        <a:rPr sz="2000" dirty="0">
                          <a:latin typeface="Calibri"/>
                          <a:cs typeface="Calibri"/>
                        </a:rPr>
                        <a:t>whether</a:t>
                      </a:r>
                      <a:r>
                        <a:rPr sz="2000" spc="-70" dirty="0">
                          <a:latin typeface="Calibri"/>
                          <a:cs typeface="Calibri"/>
                        </a:rPr>
                        <a:t> </a:t>
                      </a:r>
                      <a:r>
                        <a:rPr sz="2000" spc="-20" dirty="0">
                          <a:latin typeface="Calibri"/>
                          <a:cs typeface="Calibri"/>
                        </a:rPr>
                        <a:t>used </a:t>
                      </a:r>
                      <a:r>
                        <a:rPr sz="2000" dirty="0">
                          <a:latin typeface="Calibri"/>
                          <a:cs typeface="Calibri"/>
                        </a:rPr>
                        <a:t>or</a:t>
                      </a:r>
                      <a:r>
                        <a:rPr sz="2000" spc="-15" dirty="0">
                          <a:latin typeface="Calibri"/>
                          <a:cs typeface="Calibri"/>
                        </a:rPr>
                        <a:t> </a:t>
                      </a:r>
                      <a:r>
                        <a:rPr sz="2000" spc="-25" dirty="0">
                          <a:latin typeface="Calibri"/>
                          <a:cs typeface="Calibri"/>
                        </a:rPr>
                        <a:t>not</a:t>
                      </a:r>
                      <a:endParaRPr sz="2000">
                        <a:latin typeface="Calibri"/>
                        <a:cs typeface="Calibri"/>
                      </a:endParaRPr>
                    </a:p>
                  </a:txBody>
                  <a:tcPr marL="0" marR="0" marT="29209" marB="0">
                    <a:lnL w="2857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99695" marR="414655">
                        <a:lnSpc>
                          <a:spcPct val="100200"/>
                        </a:lnSpc>
                        <a:spcBef>
                          <a:spcPts val="235"/>
                        </a:spcBef>
                      </a:pPr>
                      <a:r>
                        <a:rPr sz="2000" u="sng" dirty="0">
                          <a:uFill>
                            <a:solidFill>
                              <a:srgbClr val="000000"/>
                            </a:solidFill>
                          </a:uFill>
                          <a:latin typeface="Calibri"/>
                          <a:cs typeface="Calibri"/>
                        </a:rPr>
                        <a:t>Rent</a:t>
                      </a:r>
                      <a:r>
                        <a:rPr sz="2000" spc="-85" dirty="0">
                          <a:latin typeface="Calibri"/>
                          <a:cs typeface="Calibri"/>
                        </a:rPr>
                        <a:t> </a:t>
                      </a:r>
                      <a:r>
                        <a:rPr sz="2000" dirty="0">
                          <a:latin typeface="Calibri"/>
                          <a:cs typeface="Calibri"/>
                        </a:rPr>
                        <a:t>Servers</a:t>
                      </a:r>
                      <a:r>
                        <a:rPr sz="2000" spc="-80" dirty="0">
                          <a:latin typeface="Calibri"/>
                          <a:cs typeface="Calibri"/>
                        </a:rPr>
                        <a:t> </a:t>
                      </a:r>
                      <a:r>
                        <a:rPr sz="2000" spc="-50" dirty="0">
                          <a:latin typeface="Calibri"/>
                          <a:cs typeface="Calibri"/>
                        </a:rPr>
                        <a:t>&amp; </a:t>
                      </a:r>
                      <a:r>
                        <a:rPr sz="2000" dirty="0">
                          <a:latin typeface="Calibri"/>
                          <a:cs typeface="Calibri"/>
                        </a:rPr>
                        <a:t>Hosting</a:t>
                      </a:r>
                      <a:r>
                        <a:rPr sz="2000" spc="-65" dirty="0">
                          <a:latin typeface="Calibri"/>
                          <a:cs typeface="Calibri"/>
                        </a:rPr>
                        <a:t> </a:t>
                      </a:r>
                      <a:r>
                        <a:rPr sz="2000" spc="-20" dirty="0">
                          <a:latin typeface="Calibri"/>
                          <a:cs typeface="Calibri"/>
                        </a:rPr>
                        <a:t>costs </a:t>
                      </a:r>
                      <a:r>
                        <a:rPr sz="2000" dirty="0">
                          <a:latin typeface="Calibri"/>
                          <a:cs typeface="Calibri"/>
                        </a:rPr>
                        <a:t>whether</a:t>
                      </a:r>
                      <a:r>
                        <a:rPr sz="2000" spc="-45" dirty="0">
                          <a:latin typeface="Calibri"/>
                          <a:cs typeface="Calibri"/>
                        </a:rPr>
                        <a:t> </a:t>
                      </a:r>
                      <a:r>
                        <a:rPr sz="2000" dirty="0">
                          <a:latin typeface="Calibri"/>
                          <a:cs typeface="Calibri"/>
                        </a:rPr>
                        <a:t>used</a:t>
                      </a:r>
                      <a:r>
                        <a:rPr sz="2000" spc="-55" dirty="0">
                          <a:latin typeface="Calibri"/>
                          <a:cs typeface="Calibri"/>
                        </a:rPr>
                        <a:t> </a:t>
                      </a:r>
                      <a:r>
                        <a:rPr sz="2000" spc="-25" dirty="0">
                          <a:latin typeface="Calibri"/>
                          <a:cs typeface="Calibri"/>
                        </a:rPr>
                        <a:t>or not</a:t>
                      </a:r>
                      <a:endParaRPr sz="2000">
                        <a:latin typeface="Calibri"/>
                        <a:cs typeface="Calibri"/>
                      </a:endParaRPr>
                    </a:p>
                  </a:txBody>
                  <a:tcPr marL="0" marR="0" marT="29845"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tc>
                  <a:txBody>
                    <a:bodyPr/>
                    <a:lstStyle/>
                    <a:p>
                      <a:pPr marL="100330">
                        <a:lnSpc>
                          <a:spcPct val="100000"/>
                        </a:lnSpc>
                        <a:spcBef>
                          <a:spcPts val="240"/>
                        </a:spcBef>
                      </a:pPr>
                      <a:r>
                        <a:rPr sz="2000" u="sng" dirty="0">
                          <a:uFill>
                            <a:solidFill>
                              <a:srgbClr val="000000"/>
                            </a:solidFill>
                          </a:uFill>
                          <a:latin typeface="Calibri"/>
                          <a:cs typeface="Calibri"/>
                        </a:rPr>
                        <a:t>Rent</a:t>
                      </a:r>
                      <a:r>
                        <a:rPr sz="2000" spc="-70" dirty="0">
                          <a:latin typeface="Calibri"/>
                          <a:cs typeface="Calibri"/>
                        </a:rPr>
                        <a:t> </a:t>
                      </a:r>
                      <a:r>
                        <a:rPr sz="2000" dirty="0">
                          <a:latin typeface="Calibri"/>
                          <a:cs typeface="Calibri"/>
                        </a:rPr>
                        <a:t>based</a:t>
                      </a:r>
                      <a:r>
                        <a:rPr sz="2000" spc="-80" dirty="0">
                          <a:latin typeface="Calibri"/>
                          <a:cs typeface="Calibri"/>
                        </a:rPr>
                        <a:t> </a:t>
                      </a:r>
                      <a:r>
                        <a:rPr sz="2000" spc="-25" dirty="0">
                          <a:latin typeface="Calibri"/>
                          <a:cs typeface="Calibri"/>
                        </a:rPr>
                        <a:t>on</a:t>
                      </a:r>
                      <a:endParaRPr sz="2000">
                        <a:latin typeface="Calibri"/>
                        <a:cs typeface="Calibri"/>
                      </a:endParaRPr>
                    </a:p>
                    <a:p>
                      <a:pPr marL="100330">
                        <a:lnSpc>
                          <a:spcPct val="100000"/>
                        </a:lnSpc>
                        <a:spcBef>
                          <a:spcPts val="10"/>
                        </a:spcBef>
                      </a:pPr>
                      <a:r>
                        <a:rPr sz="2000" dirty="0">
                          <a:latin typeface="Calibri"/>
                          <a:cs typeface="Calibri"/>
                        </a:rPr>
                        <a:t>usage</a:t>
                      </a:r>
                      <a:r>
                        <a:rPr sz="2000" spc="-35" dirty="0">
                          <a:latin typeface="Calibri"/>
                          <a:cs typeface="Calibri"/>
                        </a:rPr>
                        <a:t> </a:t>
                      </a:r>
                      <a:r>
                        <a:rPr sz="2000" spc="-20" dirty="0">
                          <a:latin typeface="Calibri"/>
                          <a:cs typeface="Calibri"/>
                        </a:rPr>
                        <a:t>only</a:t>
                      </a:r>
                      <a:endParaRPr sz="2000">
                        <a:latin typeface="Calibri"/>
                        <a:cs typeface="Calibri"/>
                      </a:endParaRPr>
                    </a:p>
                  </a:txBody>
                  <a:tcPr marL="0" marR="0" marT="30480" marB="0">
                    <a:lnL w="9525">
                      <a:solidFill>
                        <a:srgbClr val="E1751D"/>
                      </a:solidFill>
                      <a:prstDash val="solid"/>
                    </a:lnL>
                    <a:lnR w="9525">
                      <a:solidFill>
                        <a:srgbClr val="E1751D"/>
                      </a:solidFill>
                      <a:prstDash val="solid"/>
                    </a:lnR>
                    <a:lnT w="9525">
                      <a:solidFill>
                        <a:srgbClr val="E1751D"/>
                      </a:solidFill>
                      <a:prstDash val="solid"/>
                    </a:lnT>
                    <a:lnB w="9525">
                      <a:solidFill>
                        <a:srgbClr val="E1751D"/>
                      </a:solidFill>
                      <a:prstDash val="solid"/>
                    </a:lnB>
                  </a:tcPr>
                </a:tc>
                <a:extLst>
                  <a:ext uri="{0D108BD9-81ED-4DB2-BD59-A6C34878D82A}">
                    <a16:rowId xmlns:a16="http://schemas.microsoft.com/office/drawing/2014/main" val="10004"/>
                  </a:ext>
                </a:extLst>
              </a:tr>
            </a:tbl>
          </a:graphicData>
        </a:graphic>
      </p:graphicFrame>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Cloud</a:t>
            </a:r>
            <a:r>
              <a:rPr spc="-185" dirty="0"/>
              <a:t> </a:t>
            </a:r>
            <a:r>
              <a:rPr spc="-105" dirty="0"/>
              <a:t>driver:</a:t>
            </a:r>
            <a:r>
              <a:rPr spc="-165" dirty="0"/>
              <a:t> </a:t>
            </a:r>
            <a:r>
              <a:rPr spc="-105" dirty="0"/>
              <a:t>cost</a:t>
            </a:r>
            <a:r>
              <a:rPr spc="-180" dirty="0"/>
              <a:t> </a:t>
            </a:r>
            <a:r>
              <a:rPr spc="-105" dirty="0"/>
              <a:t>saving,</a:t>
            </a:r>
            <a:r>
              <a:rPr spc="-180" dirty="0"/>
              <a:t> </a:t>
            </a:r>
            <a:r>
              <a:rPr spc="-105" dirty="0"/>
              <a:t>capacity</a:t>
            </a:r>
            <a:r>
              <a:rPr spc="-200" dirty="0"/>
              <a:t> </a:t>
            </a:r>
            <a:r>
              <a:rPr spc="-40" dirty="0"/>
              <a:t>planning</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547621"/>
            <a:ext cx="8529320" cy="4763484"/>
          </a:xfrm>
          <a:prstGeom prst="rect">
            <a:avLst/>
          </a:prstGeom>
        </p:spPr>
        <p:txBody>
          <a:bodyPr vert="horz" wrap="square" lIns="0" tIns="13335" rIns="0" bIns="0" rtlCol="0">
            <a:spAutoFit/>
          </a:bodyPr>
          <a:lstStyle/>
          <a:p>
            <a:pPr marL="194945" marR="725170" indent="-182880">
              <a:lnSpc>
                <a:spcPct val="100000"/>
              </a:lnSpc>
              <a:spcBef>
                <a:spcPts val="105"/>
              </a:spcBef>
              <a:buClr>
                <a:srgbClr val="2C7B9F"/>
              </a:buClr>
              <a:buSzPct val="84375"/>
              <a:buFont typeface="Arial MT"/>
              <a:buChar char="•"/>
              <a:tabLst>
                <a:tab pos="194945" algn="l"/>
              </a:tabLst>
            </a:pPr>
            <a:r>
              <a:rPr sz="3200" b="1" dirty="0">
                <a:solidFill>
                  <a:srgbClr val="234957"/>
                </a:solidFill>
                <a:latin typeface="Calibri"/>
                <a:cs typeface="Calibri"/>
              </a:rPr>
              <a:t>Elasticity</a:t>
            </a:r>
            <a:r>
              <a:rPr sz="3200" b="1" spc="-135" dirty="0">
                <a:solidFill>
                  <a:srgbClr val="234957"/>
                </a:solidFill>
                <a:latin typeface="Calibri"/>
                <a:cs typeface="Calibri"/>
              </a:rPr>
              <a:t> </a:t>
            </a:r>
            <a:r>
              <a:rPr sz="3200" dirty="0">
                <a:latin typeface="Calibri"/>
                <a:cs typeface="Calibri"/>
              </a:rPr>
              <a:t>consists</a:t>
            </a:r>
            <a:r>
              <a:rPr sz="3200" spc="-95" dirty="0">
                <a:latin typeface="Calibri"/>
                <a:cs typeface="Calibri"/>
              </a:rPr>
              <a:t> </a:t>
            </a:r>
            <a:r>
              <a:rPr sz="3200" dirty="0">
                <a:latin typeface="Calibri"/>
                <a:cs typeface="Calibri"/>
              </a:rPr>
              <a:t>of</a:t>
            </a:r>
            <a:r>
              <a:rPr sz="3200" spc="-85" dirty="0">
                <a:latin typeface="Calibri"/>
                <a:cs typeface="Calibri"/>
              </a:rPr>
              <a:t> </a:t>
            </a:r>
            <a:r>
              <a:rPr sz="3200" dirty="0">
                <a:latin typeface="Calibri"/>
                <a:cs typeface="Calibri"/>
              </a:rPr>
              <a:t>changing</a:t>
            </a:r>
            <a:r>
              <a:rPr sz="3200" spc="-70" dirty="0">
                <a:latin typeface="Calibri"/>
                <a:cs typeface="Calibri"/>
              </a:rPr>
              <a:t> </a:t>
            </a:r>
            <a:r>
              <a:rPr sz="3200" dirty="0">
                <a:latin typeface="Calibri"/>
                <a:cs typeface="Calibri"/>
              </a:rPr>
              <a:t>dynamically</a:t>
            </a:r>
            <a:r>
              <a:rPr sz="3200" spc="-70" dirty="0">
                <a:latin typeface="Calibri"/>
                <a:cs typeface="Calibri"/>
              </a:rPr>
              <a:t> </a:t>
            </a:r>
            <a:r>
              <a:rPr sz="3200" spc="-25" dirty="0">
                <a:latin typeface="Calibri"/>
                <a:cs typeface="Calibri"/>
              </a:rPr>
              <a:t>the </a:t>
            </a:r>
            <a:r>
              <a:rPr sz="3200" spc="-10" dirty="0">
                <a:latin typeface="Calibri"/>
                <a:cs typeface="Calibri"/>
              </a:rPr>
              <a:t>capabilities</a:t>
            </a:r>
            <a:r>
              <a:rPr sz="3200" spc="-50" dirty="0">
                <a:latin typeface="Calibri"/>
                <a:cs typeface="Calibri"/>
              </a:rPr>
              <a:t> </a:t>
            </a:r>
            <a:r>
              <a:rPr sz="3200" dirty="0">
                <a:latin typeface="Calibri"/>
                <a:cs typeface="Calibri"/>
              </a:rPr>
              <a:t>of</a:t>
            </a:r>
            <a:r>
              <a:rPr sz="3200" spc="-75" dirty="0">
                <a:latin typeface="Calibri"/>
                <a:cs typeface="Calibri"/>
              </a:rPr>
              <a:t> </a:t>
            </a:r>
            <a:r>
              <a:rPr sz="3200" dirty="0">
                <a:latin typeface="Calibri"/>
                <a:cs typeface="Calibri"/>
              </a:rPr>
              <a:t>an</a:t>
            </a:r>
            <a:r>
              <a:rPr sz="3200" spc="-50" dirty="0">
                <a:latin typeface="Calibri"/>
                <a:cs typeface="Calibri"/>
              </a:rPr>
              <a:t> </a:t>
            </a:r>
            <a:r>
              <a:rPr sz="3200" dirty="0">
                <a:latin typeface="Calibri"/>
                <a:cs typeface="Calibri"/>
              </a:rPr>
              <a:t>existing</a:t>
            </a:r>
            <a:r>
              <a:rPr sz="3200" spc="-65" dirty="0">
                <a:latin typeface="Calibri"/>
                <a:cs typeface="Calibri"/>
              </a:rPr>
              <a:t> </a:t>
            </a:r>
            <a:r>
              <a:rPr sz="3200" dirty="0">
                <a:latin typeface="Calibri"/>
                <a:cs typeface="Calibri"/>
              </a:rPr>
              <a:t>cloud</a:t>
            </a:r>
            <a:r>
              <a:rPr sz="3200" spc="-65" dirty="0">
                <a:latin typeface="Calibri"/>
                <a:cs typeface="Calibri"/>
              </a:rPr>
              <a:t> </a:t>
            </a:r>
            <a:r>
              <a:rPr sz="3200" spc="-10" dirty="0">
                <a:latin typeface="Calibri"/>
                <a:cs typeface="Calibri"/>
              </a:rPr>
              <a:t>resource</a:t>
            </a:r>
            <a:endParaRPr sz="3200" dirty="0">
              <a:latin typeface="Calibri"/>
              <a:cs typeface="Calibri"/>
            </a:endParaRPr>
          </a:p>
          <a:p>
            <a:pPr marL="194945" marR="5080" indent="-182880">
              <a:lnSpc>
                <a:spcPct val="100000"/>
              </a:lnSpc>
              <a:spcBef>
                <a:spcPts val="765"/>
              </a:spcBef>
              <a:buClr>
                <a:srgbClr val="2C7B9F"/>
              </a:buClr>
              <a:buSzPct val="84375"/>
              <a:buFont typeface="Arial MT"/>
              <a:buChar char="•"/>
              <a:tabLst>
                <a:tab pos="194945" algn="l"/>
                <a:tab pos="8170545" algn="l"/>
              </a:tabLst>
            </a:pPr>
            <a:r>
              <a:rPr sz="3200" dirty="0">
                <a:latin typeface="Calibri"/>
                <a:cs typeface="Calibri"/>
              </a:rPr>
              <a:t>Elasticity</a:t>
            </a:r>
            <a:r>
              <a:rPr sz="3200" spc="-30" dirty="0">
                <a:latin typeface="Calibri"/>
                <a:cs typeface="Calibri"/>
              </a:rPr>
              <a:t> </a:t>
            </a:r>
            <a:r>
              <a:rPr sz="3200" dirty="0">
                <a:latin typeface="Calibri"/>
                <a:cs typeface="Calibri"/>
              </a:rPr>
              <a:t>allows</a:t>
            </a:r>
            <a:r>
              <a:rPr sz="3200" spc="-60" dirty="0">
                <a:latin typeface="Calibri"/>
                <a:cs typeface="Calibri"/>
              </a:rPr>
              <a:t> </a:t>
            </a:r>
            <a:r>
              <a:rPr sz="3200" dirty="0">
                <a:latin typeface="Calibri"/>
                <a:cs typeface="Calibri"/>
              </a:rPr>
              <a:t>cloud</a:t>
            </a:r>
            <a:r>
              <a:rPr sz="3200" spc="-40" dirty="0">
                <a:latin typeface="Calibri"/>
                <a:cs typeface="Calibri"/>
              </a:rPr>
              <a:t> </a:t>
            </a:r>
            <a:r>
              <a:rPr sz="3200" dirty="0">
                <a:latin typeface="Calibri"/>
                <a:cs typeface="Calibri"/>
              </a:rPr>
              <a:t>resources</a:t>
            </a:r>
            <a:r>
              <a:rPr sz="3200" spc="-80" dirty="0">
                <a:latin typeface="Calibri"/>
                <a:cs typeface="Calibri"/>
              </a:rPr>
              <a:t> </a:t>
            </a:r>
            <a:r>
              <a:rPr sz="3200" dirty="0">
                <a:latin typeface="Calibri"/>
                <a:cs typeface="Calibri"/>
              </a:rPr>
              <a:t>to</a:t>
            </a:r>
            <a:r>
              <a:rPr sz="3200" spc="-55" dirty="0">
                <a:latin typeface="Calibri"/>
                <a:cs typeface="Calibri"/>
              </a:rPr>
              <a:t> </a:t>
            </a:r>
            <a:r>
              <a:rPr sz="3200" dirty="0">
                <a:latin typeface="Calibri"/>
                <a:cs typeface="Calibri"/>
              </a:rPr>
              <a:t>easily</a:t>
            </a:r>
            <a:r>
              <a:rPr sz="3200" spc="-55" dirty="0">
                <a:latin typeface="Calibri"/>
                <a:cs typeface="Calibri"/>
              </a:rPr>
              <a:t> </a:t>
            </a:r>
            <a:r>
              <a:rPr sz="3200" spc="-10" dirty="0">
                <a:latin typeface="Calibri"/>
                <a:cs typeface="Calibri"/>
              </a:rPr>
              <a:t>adapt</a:t>
            </a:r>
            <a:r>
              <a:rPr sz="3200" dirty="0">
                <a:latin typeface="Calibri"/>
                <a:cs typeface="Calibri"/>
              </a:rPr>
              <a:t>	</a:t>
            </a:r>
            <a:r>
              <a:rPr sz="3200" spc="-45" dirty="0">
                <a:latin typeface="Calibri"/>
                <a:cs typeface="Calibri"/>
              </a:rPr>
              <a:t>to </a:t>
            </a:r>
            <a:r>
              <a:rPr sz="3200" b="1" dirty="0">
                <a:highlight>
                  <a:srgbClr val="FFFF00"/>
                </a:highlight>
                <a:latin typeface="Calibri"/>
                <a:cs typeface="Calibri"/>
              </a:rPr>
              <a:t>changes</a:t>
            </a:r>
            <a:r>
              <a:rPr sz="3200" b="1" spc="-55" dirty="0">
                <a:highlight>
                  <a:srgbClr val="FFFF00"/>
                </a:highlight>
                <a:latin typeface="Calibri"/>
                <a:cs typeface="Calibri"/>
              </a:rPr>
              <a:t> </a:t>
            </a:r>
            <a:r>
              <a:rPr sz="3200" b="1" dirty="0">
                <a:highlight>
                  <a:srgbClr val="FFFF00"/>
                </a:highlight>
                <a:latin typeface="Calibri"/>
                <a:cs typeface="Calibri"/>
              </a:rPr>
              <a:t>in</a:t>
            </a:r>
            <a:r>
              <a:rPr sz="3200" b="1" spc="-60" dirty="0">
                <a:highlight>
                  <a:srgbClr val="FFFF00"/>
                </a:highlight>
                <a:latin typeface="Calibri"/>
                <a:cs typeface="Calibri"/>
              </a:rPr>
              <a:t> </a:t>
            </a:r>
            <a:r>
              <a:rPr sz="3200" b="1" dirty="0">
                <a:highlight>
                  <a:srgbClr val="FFFF00"/>
                </a:highlight>
                <a:latin typeface="Calibri"/>
                <a:cs typeface="Calibri"/>
              </a:rPr>
              <a:t>the</a:t>
            </a:r>
            <a:r>
              <a:rPr sz="3200" b="1" spc="-40" dirty="0">
                <a:highlight>
                  <a:srgbClr val="FFFF00"/>
                </a:highlight>
                <a:latin typeface="Calibri"/>
                <a:cs typeface="Calibri"/>
              </a:rPr>
              <a:t> </a:t>
            </a:r>
            <a:r>
              <a:rPr sz="3200" b="1" dirty="0">
                <a:highlight>
                  <a:srgbClr val="FFFF00"/>
                </a:highlight>
                <a:latin typeface="Calibri"/>
                <a:cs typeface="Calibri"/>
              </a:rPr>
              <a:t>requirements</a:t>
            </a:r>
            <a:r>
              <a:rPr sz="3200" b="1" spc="-55" dirty="0">
                <a:highlight>
                  <a:srgbClr val="FFFF00"/>
                </a:highlight>
                <a:latin typeface="Calibri"/>
                <a:cs typeface="Calibri"/>
              </a:rPr>
              <a:t> </a:t>
            </a:r>
            <a:r>
              <a:rPr sz="3200" b="1" dirty="0">
                <a:highlight>
                  <a:srgbClr val="FFFF00"/>
                </a:highlight>
                <a:latin typeface="Calibri"/>
                <a:cs typeface="Calibri"/>
              </a:rPr>
              <a:t>/</a:t>
            </a:r>
            <a:r>
              <a:rPr sz="3200" b="1" spc="-55" dirty="0">
                <a:highlight>
                  <a:srgbClr val="FFFF00"/>
                </a:highlight>
                <a:latin typeface="Calibri"/>
                <a:cs typeface="Calibri"/>
              </a:rPr>
              <a:t> </a:t>
            </a:r>
            <a:r>
              <a:rPr sz="3200" b="1" dirty="0">
                <a:highlight>
                  <a:srgbClr val="FFFF00"/>
                </a:highlight>
                <a:latin typeface="Calibri"/>
                <a:cs typeface="Calibri"/>
              </a:rPr>
              <a:t>expected</a:t>
            </a:r>
            <a:r>
              <a:rPr sz="3200" b="1" spc="-60" dirty="0">
                <a:highlight>
                  <a:srgbClr val="FFFF00"/>
                </a:highlight>
                <a:latin typeface="Calibri"/>
                <a:cs typeface="Calibri"/>
              </a:rPr>
              <a:t> </a:t>
            </a:r>
            <a:r>
              <a:rPr sz="3200" b="1" spc="-20" dirty="0">
                <a:highlight>
                  <a:srgbClr val="FFFF00"/>
                </a:highlight>
                <a:latin typeface="Calibri"/>
                <a:cs typeface="Calibri"/>
              </a:rPr>
              <a:t>load</a:t>
            </a:r>
            <a:endParaRPr sz="3200" b="1" dirty="0">
              <a:highlight>
                <a:srgbClr val="FFFF00"/>
              </a:highlight>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supporting</a:t>
            </a:r>
            <a:r>
              <a:rPr sz="2800" spc="-15"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Mobile</a:t>
            </a:r>
            <a:r>
              <a:rPr sz="2800" spc="-45" dirty="0">
                <a:latin typeface="Calibri"/>
                <a:cs typeface="Calibri"/>
              </a:rPr>
              <a:t> </a:t>
            </a:r>
            <a:r>
              <a:rPr sz="2800" dirty="0">
                <a:latin typeface="Calibri"/>
                <a:cs typeface="Calibri"/>
              </a:rPr>
              <a:t>App,</a:t>
            </a:r>
            <a:r>
              <a:rPr sz="2800" spc="-40" dirty="0">
                <a:latin typeface="Calibri"/>
                <a:cs typeface="Calibri"/>
              </a:rPr>
              <a:t> </a:t>
            </a:r>
            <a:r>
              <a:rPr sz="2800" dirty="0">
                <a:latin typeface="Calibri"/>
                <a:cs typeface="Calibri"/>
              </a:rPr>
              <a:t>as</a:t>
            </a:r>
            <a:r>
              <a:rPr sz="2800" spc="-40" dirty="0">
                <a:latin typeface="Calibri"/>
                <a:cs typeface="Calibri"/>
              </a:rPr>
              <a:t> </a:t>
            </a:r>
            <a:r>
              <a:rPr sz="2800" dirty="0">
                <a:latin typeface="Calibri"/>
                <a:cs typeface="Calibri"/>
              </a:rPr>
              <a:t>n</a:t>
            </a:r>
            <a:r>
              <a:rPr lang="en-GB" sz="2800" dirty="0">
                <a:latin typeface="Calibri"/>
                <a:cs typeface="Calibri"/>
              </a:rPr>
              <a:t>o</a:t>
            </a:r>
            <a:r>
              <a:rPr sz="2800" spc="-55"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clients</a:t>
            </a:r>
            <a:r>
              <a:rPr sz="2800" spc="-55" dirty="0">
                <a:latin typeface="Calibri"/>
                <a:cs typeface="Calibri"/>
              </a:rPr>
              <a:t> </a:t>
            </a:r>
            <a:r>
              <a:rPr sz="2800" spc="-10" dirty="0">
                <a:latin typeface="Calibri"/>
                <a:cs typeface="Calibri"/>
              </a:rPr>
              <a:t>increases</a:t>
            </a:r>
            <a:endParaRPr sz="2800" dirty="0">
              <a:latin typeface="Calibri"/>
              <a:cs typeface="Calibri"/>
            </a:endParaRPr>
          </a:p>
          <a:p>
            <a:pPr marL="469265" lvl="1" indent="-182245">
              <a:lnSpc>
                <a:spcPct val="100000"/>
              </a:lnSpc>
              <a:spcBef>
                <a:spcPts val="675"/>
              </a:spcBef>
              <a:buClr>
                <a:srgbClr val="2C7B9F"/>
              </a:buClr>
              <a:buSzPct val="83928"/>
              <a:buFont typeface="Arial MT"/>
              <a:buChar char="•"/>
              <a:tabLst>
                <a:tab pos="469265" algn="l"/>
              </a:tabLst>
            </a:pPr>
            <a:r>
              <a:rPr sz="2800" dirty="0">
                <a:latin typeface="Calibri"/>
                <a:cs typeface="Calibri"/>
              </a:rPr>
              <a:t>increasing</a:t>
            </a:r>
            <a:r>
              <a:rPr sz="2800" spc="-55" dirty="0">
                <a:latin typeface="Calibri"/>
                <a:cs typeface="Calibri"/>
              </a:rPr>
              <a:t> </a:t>
            </a:r>
            <a:r>
              <a:rPr sz="2800" dirty="0">
                <a:latin typeface="Calibri"/>
                <a:cs typeface="Calibri"/>
              </a:rPr>
              <a:t>capacity</a:t>
            </a:r>
            <a:r>
              <a:rPr sz="2800" spc="-60" dirty="0">
                <a:latin typeface="Calibri"/>
                <a:cs typeface="Calibri"/>
              </a:rPr>
              <a:t> </a:t>
            </a:r>
            <a:r>
              <a:rPr sz="2800" dirty="0">
                <a:latin typeface="Calibri"/>
                <a:cs typeface="Calibri"/>
              </a:rPr>
              <a:t>of</a:t>
            </a:r>
            <a:r>
              <a:rPr sz="2800" spc="-60" dirty="0">
                <a:latin typeface="Calibri"/>
                <a:cs typeface="Calibri"/>
              </a:rPr>
              <a:t> </a:t>
            </a:r>
            <a:r>
              <a:rPr sz="2800" spc="-10" dirty="0">
                <a:latin typeface="Calibri"/>
                <a:cs typeface="Calibri"/>
              </a:rPr>
              <a:t>livescore</a:t>
            </a:r>
            <a:r>
              <a:rPr sz="2800" spc="-55" dirty="0">
                <a:latin typeface="Calibri"/>
                <a:cs typeface="Calibri"/>
              </a:rPr>
              <a:t> </a:t>
            </a:r>
            <a:r>
              <a:rPr sz="2800" dirty="0">
                <a:latin typeface="Calibri"/>
                <a:cs typeface="Calibri"/>
              </a:rPr>
              <a:t>service</a:t>
            </a:r>
            <a:r>
              <a:rPr sz="2800" spc="-45" dirty="0">
                <a:latin typeface="Calibri"/>
                <a:cs typeface="Calibri"/>
              </a:rPr>
              <a:t> </a:t>
            </a:r>
            <a:r>
              <a:rPr sz="2800" dirty="0">
                <a:latin typeface="Calibri"/>
                <a:cs typeface="Calibri"/>
              </a:rPr>
              <a:t>on</a:t>
            </a:r>
            <a:r>
              <a:rPr sz="2800" spc="-50" dirty="0">
                <a:latin typeface="Calibri"/>
                <a:cs typeface="Calibri"/>
              </a:rPr>
              <a:t> </a:t>
            </a:r>
            <a:r>
              <a:rPr sz="2800" spc="-10" dirty="0">
                <a:latin typeface="Calibri"/>
                <a:cs typeface="Calibri"/>
              </a:rPr>
              <a:t>Sundays</a:t>
            </a:r>
            <a:endParaRPr sz="2800" dirty="0">
              <a:latin typeface="Calibri"/>
              <a:cs typeface="Calibri"/>
            </a:endParaRPr>
          </a:p>
          <a:p>
            <a:pPr marL="194945" indent="-182245">
              <a:lnSpc>
                <a:spcPct val="100000"/>
              </a:lnSpc>
              <a:spcBef>
                <a:spcPts val="750"/>
              </a:spcBef>
              <a:buClr>
                <a:srgbClr val="2C7B9F"/>
              </a:buClr>
              <a:buSzPct val="84375"/>
              <a:buFont typeface="Arial MT"/>
              <a:buChar char="•"/>
              <a:tabLst>
                <a:tab pos="194945" algn="l"/>
              </a:tabLst>
            </a:pPr>
            <a:r>
              <a:rPr sz="3200" dirty="0">
                <a:latin typeface="Calibri"/>
                <a:cs typeface="Calibri"/>
              </a:rPr>
              <a:t>Two</a:t>
            </a:r>
            <a:r>
              <a:rPr sz="3200" spc="-130" dirty="0">
                <a:latin typeface="Calibri"/>
                <a:cs typeface="Calibri"/>
              </a:rPr>
              <a:t> </a:t>
            </a:r>
            <a:r>
              <a:rPr sz="3200" dirty="0">
                <a:latin typeface="Calibri"/>
                <a:cs typeface="Calibri"/>
              </a:rPr>
              <a:t>main</a:t>
            </a:r>
            <a:r>
              <a:rPr sz="3200" spc="-120" dirty="0">
                <a:latin typeface="Calibri"/>
                <a:cs typeface="Calibri"/>
              </a:rPr>
              <a:t> </a:t>
            </a:r>
            <a:r>
              <a:rPr sz="3200" dirty="0">
                <a:latin typeface="Calibri"/>
                <a:cs typeface="Calibri"/>
              </a:rPr>
              <a:t>elasticity</a:t>
            </a:r>
            <a:r>
              <a:rPr sz="3200" spc="-114" dirty="0">
                <a:latin typeface="Calibri"/>
                <a:cs typeface="Calibri"/>
              </a:rPr>
              <a:t> </a:t>
            </a:r>
            <a:r>
              <a:rPr sz="3200" spc="-10" dirty="0">
                <a:latin typeface="Calibri"/>
                <a:cs typeface="Calibri"/>
              </a:rPr>
              <a:t>techniques</a:t>
            </a:r>
            <a:endParaRPr sz="3200" dirty="0">
              <a:latin typeface="Calibri"/>
              <a:cs typeface="Calibri"/>
            </a:endParaRPr>
          </a:p>
          <a:p>
            <a:pPr marL="468630" lvl="1" indent="-181610">
              <a:lnSpc>
                <a:spcPct val="100000"/>
              </a:lnSpc>
              <a:spcBef>
                <a:spcPts val="690"/>
              </a:spcBef>
              <a:buClr>
                <a:srgbClr val="2C7B9F"/>
              </a:buClr>
              <a:buSzPct val="83928"/>
              <a:buFont typeface="Arial MT"/>
              <a:buChar char="•"/>
              <a:tabLst>
                <a:tab pos="468630" algn="l"/>
              </a:tabLst>
            </a:pPr>
            <a:r>
              <a:rPr sz="2800" b="1" spc="-10" dirty="0">
                <a:solidFill>
                  <a:srgbClr val="234957"/>
                </a:solidFill>
                <a:latin typeface="Calibri"/>
                <a:cs typeface="Calibri"/>
              </a:rPr>
              <a:t>Migration</a:t>
            </a:r>
            <a:r>
              <a:rPr sz="2800" b="1" spc="-40" dirty="0">
                <a:solidFill>
                  <a:srgbClr val="234957"/>
                </a:solidFill>
                <a:latin typeface="Calibri"/>
                <a:cs typeface="Calibri"/>
              </a:rPr>
              <a:t> </a:t>
            </a:r>
            <a:r>
              <a:rPr sz="2800" dirty="0">
                <a:latin typeface="Calibri"/>
                <a:cs typeface="Calibri"/>
              </a:rPr>
              <a:t>to</a:t>
            </a:r>
            <a:r>
              <a:rPr sz="2800" spc="-60" dirty="0">
                <a:latin typeface="Calibri"/>
                <a:cs typeface="Calibri"/>
              </a:rPr>
              <a:t> </a:t>
            </a:r>
            <a:r>
              <a:rPr sz="2800" dirty="0">
                <a:latin typeface="Calibri"/>
                <a:cs typeface="Calibri"/>
              </a:rPr>
              <a:t>a</a:t>
            </a:r>
            <a:r>
              <a:rPr sz="2800" spc="-55" dirty="0">
                <a:latin typeface="Calibri"/>
                <a:cs typeface="Calibri"/>
              </a:rPr>
              <a:t> </a:t>
            </a:r>
            <a:r>
              <a:rPr sz="2800" spc="-10" dirty="0">
                <a:latin typeface="Calibri"/>
                <a:cs typeface="Calibri"/>
              </a:rPr>
              <a:t>different</a:t>
            </a:r>
            <a:r>
              <a:rPr sz="2800" spc="-45" dirty="0">
                <a:latin typeface="Calibri"/>
                <a:cs typeface="Calibri"/>
              </a:rPr>
              <a:t> </a:t>
            </a:r>
            <a:r>
              <a:rPr sz="2800" dirty="0">
                <a:latin typeface="Calibri"/>
                <a:cs typeface="Calibri"/>
              </a:rPr>
              <a:t>profile</a:t>
            </a:r>
            <a:r>
              <a:rPr sz="2800" spc="-50" dirty="0">
                <a:latin typeface="Calibri"/>
                <a:cs typeface="Calibri"/>
              </a:rPr>
              <a:t> </a:t>
            </a:r>
            <a:r>
              <a:rPr sz="2800" dirty="0">
                <a:latin typeface="Calibri"/>
                <a:cs typeface="Calibri"/>
              </a:rPr>
              <a:t>of</a:t>
            </a:r>
            <a:r>
              <a:rPr sz="2800" spc="-55" dirty="0">
                <a:latin typeface="Calibri"/>
                <a:cs typeface="Calibri"/>
              </a:rPr>
              <a:t> </a:t>
            </a:r>
            <a:r>
              <a:rPr sz="2800" spc="-25" dirty="0">
                <a:latin typeface="Calibri"/>
                <a:cs typeface="Calibri"/>
              </a:rPr>
              <a:t>VM</a:t>
            </a:r>
            <a:endParaRPr sz="2800" dirty="0">
              <a:latin typeface="Calibri"/>
              <a:cs typeface="Calibri"/>
            </a:endParaRPr>
          </a:p>
          <a:p>
            <a:pPr marL="469265" lvl="1" indent="-182245">
              <a:lnSpc>
                <a:spcPct val="100000"/>
              </a:lnSpc>
              <a:spcBef>
                <a:spcPts val="675"/>
              </a:spcBef>
              <a:buClr>
                <a:srgbClr val="2C7B9F"/>
              </a:buClr>
              <a:buSzPct val="83928"/>
              <a:buFont typeface="Arial MT"/>
              <a:buChar char="•"/>
              <a:tabLst>
                <a:tab pos="469265" algn="l"/>
              </a:tabLst>
            </a:pPr>
            <a:r>
              <a:rPr sz="2800" b="1" spc="-10" dirty="0">
                <a:solidFill>
                  <a:srgbClr val="234957"/>
                </a:solidFill>
                <a:latin typeface="Calibri"/>
                <a:cs typeface="Calibri"/>
              </a:rPr>
              <a:t>Replication</a:t>
            </a:r>
            <a:r>
              <a:rPr sz="2800" b="1" spc="-80" dirty="0">
                <a:solidFill>
                  <a:srgbClr val="234957"/>
                </a:solidFill>
                <a:latin typeface="Calibri"/>
                <a:cs typeface="Calibri"/>
              </a:rPr>
              <a:t> </a:t>
            </a:r>
            <a:r>
              <a:rPr sz="2800" dirty="0">
                <a:latin typeface="Calibri"/>
                <a:cs typeface="Calibri"/>
              </a:rPr>
              <a:t>and</a:t>
            </a:r>
            <a:r>
              <a:rPr sz="2800" spc="-80" dirty="0">
                <a:latin typeface="Calibri"/>
                <a:cs typeface="Calibri"/>
              </a:rPr>
              <a:t> </a:t>
            </a:r>
            <a:r>
              <a:rPr sz="2800" dirty="0">
                <a:latin typeface="Calibri"/>
                <a:cs typeface="Calibri"/>
              </a:rPr>
              <a:t>load</a:t>
            </a:r>
            <a:r>
              <a:rPr sz="2800" spc="-85" dirty="0">
                <a:latin typeface="Calibri"/>
                <a:cs typeface="Calibri"/>
              </a:rPr>
              <a:t> </a:t>
            </a:r>
            <a:r>
              <a:rPr sz="2800" dirty="0">
                <a:latin typeface="Calibri"/>
                <a:cs typeface="Calibri"/>
              </a:rPr>
              <a:t>balancing</a:t>
            </a:r>
            <a:r>
              <a:rPr sz="2800" spc="-75" dirty="0">
                <a:latin typeface="Calibri"/>
                <a:cs typeface="Calibri"/>
              </a:rPr>
              <a:t> </a:t>
            </a:r>
            <a:r>
              <a:rPr sz="2800" dirty="0">
                <a:latin typeface="Calibri"/>
                <a:cs typeface="Calibri"/>
              </a:rPr>
              <a:t>among</a:t>
            </a:r>
            <a:r>
              <a:rPr sz="2800" spc="-85" dirty="0">
                <a:latin typeface="Calibri"/>
                <a:cs typeface="Calibri"/>
              </a:rPr>
              <a:t> </a:t>
            </a:r>
            <a:r>
              <a:rPr sz="2800" spc="-10" dirty="0">
                <a:latin typeface="Calibri"/>
                <a:cs typeface="Calibri"/>
              </a:rPr>
              <a:t>multiple</a:t>
            </a:r>
            <a:endParaRPr sz="28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Cloud</a:t>
            </a:r>
            <a:r>
              <a:rPr spc="-195" dirty="0"/>
              <a:t> </a:t>
            </a:r>
            <a:r>
              <a:rPr spc="-105" dirty="0"/>
              <a:t>driver:</a:t>
            </a:r>
            <a:r>
              <a:rPr spc="-170" dirty="0"/>
              <a:t> </a:t>
            </a:r>
            <a:r>
              <a:rPr spc="-60" dirty="0"/>
              <a:t>agility</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695690" cy="4018279"/>
          </a:xfrm>
          <a:prstGeom prst="rect">
            <a:avLst/>
          </a:prstGeom>
        </p:spPr>
        <p:txBody>
          <a:bodyPr vert="horz" wrap="square" lIns="0" tIns="13335" rIns="0" bIns="0" rtlCol="0">
            <a:spAutoFit/>
          </a:bodyPr>
          <a:lstStyle/>
          <a:p>
            <a:pPr marL="355600" marR="5080" indent="-343535">
              <a:lnSpc>
                <a:spcPct val="100000"/>
              </a:lnSpc>
              <a:spcBef>
                <a:spcPts val="105"/>
              </a:spcBef>
              <a:buClr>
                <a:srgbClr val="2C7B9F"/>
              </a:buClr>
              <a:buSzPct val="84375"/>
              <a:buFont typeface="Arial MT"/>
              <a:buChar char="•"/>
              <a:tabLst>
                <a:tab pos="355600" algn="l"/>
                <a:tab pos="6523990" algn="l"/>
                <a:tab pos="6990715" algn="l"/>
              </a:tabLst>
            </a:pPr>
            <a:r>
              <a:rPr sz="3200" dirty="0">
                <a:latin typeface="Arial MT"/>
                <a:cs typeface="Arial MT"/>
              </a:rPr>
              <a:t>One</a:t>
            </a:r>
            <a:r>
              <a:rPr sz="3200" spc="-60" dirty="0">
                <a:latin typeface="Arial MT"/>
                <a:cs typeface="Arial MT"/>
              </a:rPr>
              <a:t> </a:t>
            </a:r>
            <a:r>
              <a:rPr sz="3200" dirty="0">
                <a:latin typeface="Arial MT"/>
                <a:cs typeface="Arial MT"/>
              </a:rPr>
              <a:t>of</a:t>
            </a:r>
            <a:r>
              <a:rPr sz="3200" spc="-30" dirty="0">
                <a:latin typeface="Arial MT"/>
                <a:cs typeface="Arial MT"/>
              </a:rPr>
              <a:t> </a:t>
            </a:r>
            <a:r>
              <a:rPr sz="3200" dirty="0">
                <a:latin typeface="Arial MT"/>
                <a:cs typeface="Arial MT"/>
              </a:rPr>
              <a:t>the</a:t>
            </a:r>
            <a:r>
              <a:rPr sz="3200" spc="-40" dirty="0">
                <a:latin typeface="Arial MT"/>
                <a:cs typeface="Arial MT"/>
              </a:rPr>
              <a:t> </a:t>
            </a:r>
            <a:r>
              <a:rPr sz="3200" dirty="0">
                <a:latin typeface="Arial MT"/>
                <a:cs typeface="Arial MT"/>
              </a:rPr>
              <a:t>main</a:t>
            </a:r>
            <a:r>
              <a:rPr sz="3200" spc="-55" dirty="0">
                <a:latin typeface="Arial MT"/>
                <a:cs typeface="Arial MT"/>
              </a:rPr>
              <a:t> </a:t>
            </a:r>
            <a:r>
              <a:rPr sz="3200" dirty="0">
                <a:latin typeface="Arial MT"/>
                <a:cs typeface="Arial MT"/>
              </a:rPr>
              <a:t>economic</a:t>
            </a:r>
            <a:r>
              <a:rPr sz="3200" spc="-80" dirty="0">
                <a:latin typeface="Arial MT"/>
                <a:cs typeface="Arial MT"/>
              </a:rPr>
              <a:t> </a:t>
            </a:r>
            <a:r>
              <a:rPr sz="3200" dirty="0">
                <a:latin typeface="Arial MT"/>
                <a:cs typeface="Arial MT"/>
              </a:rPr>
              <a:t>appeals</a:t>
            </a:r>
            <a:r>
              <a:rPr sz="3200" spc="-75" dirty="0">
                <a:latin typeface="Arial MT"/>
                <a:cs typeface="Arial MT"/>
              </a:rPr>
              <a:t> </a:t>
            </a:r>
            <a:r>
              <a:rPr sz="3200" dirty="0">
                <a:latin typeface="Arial MT"/>
                <a:cs typeface="Arial MT"/>
              </a:rPr>
              <a:t>can</a:t>
            </a:r>
            <a:r>
              <a:rPr sz="3200" spc="-55" dirty="0">
                <a:latin typeface="Arial MT"/>
                <a:cs typeface="Arial MT"/>
              </a:rPr>
              <a:t> </a:t>
            </a:r>
            <a:r>
              <a:rPr sz="3200" spc="-25" dirty="0">
                <a:latin typeface="Arial MT"/>
                <a:cs typeface="Arial MT"/>
              </a:rPr>
              <a:t>be </a:t>
            </a:r>
            <a:r>
              <a:rPr sz="3200" dirty="0">
                <a:latin typeface="Arial MT"/>
                <a:cs typeface="Arial MT"/>
              </a:rPr>
              <a:t>described</a:t>
            </a:r>
            <a:r>
              <a:rPr sz="3200" spc="-105" dirty="0">
                <a:latin typeface="Arial MT"/>
                <a:cs typeface="Arial MT"/>
              </a:rPr>
              <a:t> </a:t>
            </a:r>
            <a:r>
              <a:rPr sz="3200" dirty="0">
                <a:latin typeface="Arial MT"/>
                <a:cs typeface="Arial MT"/>
              </a:rPr>
              <a:t>as</a:t>
            </a:r>
            <a:r>
              <a:rPr sz="3200" spc="-65" dirty="0">
                <a:latin typeface="Arial MT"/>
                <a:cs typeface="Arial MT"/>
              </a:rPr>
              <a:t> </a:t>
            </a:r>
            <a:r>
              <a:rPr sz="3200" dirty="0">
                <a:latin typeface="Arial MT"/>
                <a:cs typeface="Arial MT"/>
              </a:rPr>
              <a:t>“</a:t>
            </a:r>
            <a:r>
              <a:rPr sz="3200" dirty="0">
                <a:highlight>
                  <a:srgbClr val="FFFF00"/>
                </a:highlight>
                <a:latin typeface="Arial MT"/>
                <a:cs typeface="Arial MT"/>
              </a:rPr>
              <a:t>converting</a:t>
            </a:r>
            <a:r>
              <a:rPr sz="3200" spc="-95" dirty="0">
                <a:highlight>
                  <a:srgbClr val="FFFF00"/>
                </a:highlight>
                <a:latin typeface="Arial MT"/>
                <a:cs typeface="Arial MT"/>
              </a:rPr>
              <a:t> </a:t>
            </a:r>
            <a:r>
              <a:rPr sz="3200" dirty="0">
                <a:highlight>
                  <a:srgbClr val="FFFF00"/>
                </a:highlight>
                <a:latin typeface="Arial MT"/>
                <a:cs typeface="Arial MT"/>
              </a:rPr>
              <a:t>capital</a:t>
            </a:r>
            <a:r>
              <a:rPr sz="3200" spc="-55" dirty="0">
                <a:highlight>
                  <a:srgbClr val="FFFF00"/>
                </a:highlight>
                <a:latin typeface="Arial MT"/>
                <a:cs typeface="Arial MT"/>
              </a:rPr>
              <a:t> </a:t>
            </a:r>
            <a:r>
              <a:rPr sz="3200" spc="-10" dirty="0">
                <a:highlight>
                  <a:srgbClr val="FFFF00"/>
                </a:highlight>
                <a:latin typeface="Arial MT"/>
                <a:cs typeface="Arial MT"/>
              </a:rPr>
              <a:t>expenses</a:t>
            </a:r>
            <a:r>
              <a:rPr sz="3200" spc="-204" dirty="0">
                <a:highlight>
                  <a:srgbClr val="FFFF00"/>
                </a:highlight>
                <a:latin typeface="Arial MT"/>
                <a:cs typeface="Arial MT"/>
              </a:rPr>
              <a:t> </a:t>
            </a:r>
            <a:r>
              <a:rPr sz="3200" spc="-25" dirty="0">
                <a:highlight>
                  <a:srgbClr val="FFFF00"/>
                </a:highlight>
                <a:latin typeface="Arial MT"/>
                <a:cs typeface="Arial MT"/>
              </a:rPr>
              <a:t>to </a:t>
            </a:r>
            <a:r>
              <a:rPr sz="3200" dirty="0">
                <a:highlight>
                  <a:srgbClr val="FFFF00"/>
                </a:highlight>
                <a:latin typeface="Arial MT"/>
                <a:cs typeface="Arial MT"/>
              </a:rPr>
              <a:t>operating</a:t>
            </a:r>
            <a:r>
              <a:rPr sz="3200" spc="-110" dirty="0">
                <a:highlight>
                  <a:srgbClr val="FFFF00"/>
                </a:highlight>
                <a:latin typeface="Arial MT"/>
                <a:cs typeface="Arial MT"/>
              </a:rPr>
              <a:t> </a:t>
            </a:r>
            <a:r>
              <a:rPr sz="3200" dirty="0">
                <a:highlight>
                  <a:srgbClr val="FFFF00"/>
                </a:highlight>
                <a:latin typeface="Arial MT"/>
                <a:cs typeface="Arial MT"/>
              </a:rPr>
              <a:t>expenses”</a:t>
            </a:r>
            <a:r>
              <a:rPr sz="3200" spc="-95" dirty="0">
                <a:highlight>
                  <a:srgbClr val="FFFF00"/>
                </a:highlight>
                <a:latin typeface="Arial MT"/>
                <a:cs typeface="Arial MT"/>
              </a:rPr>
              <a:t> </a:t>
            </a:r>
            <a:r>
              <a:rPr sz="3200" dirty="0">
                <a:highlight>
                  <a:srgbClr val="FFFF00"/>
                </a:highlight>
                <a:latin typeface="Arial MT"/>
                <a:cs typeface="Arial MT"/>
              </a:rPr>
              <a:t>but</a:t>
            </a:r>
            <a:r>
              <a:rPr sz="3200" spc="-70" dirty="0">
                <a:highlight>
                  <a:srgbClr val="FFFF00"/>
                </a:highlight>
                <a:latin typeface="Arial MT"/>
                <a:cs typeface="Arial MT"/>
              </a:rPr>
              <a:t> </a:t>
            </a:r>
            <a:r>
              <a:rPr sz="3200" dirty="0">
                <a:highlight>
                  <a:srgbClr val="FFFF00"/>
                </a:highlight>
                <a:latin typeface="Arial MT"/>
                <a:cs typeface="Arial MT"/>
              </a:rPr>
              <a:t>this</a:t>
            </a:r>
            <a:r>
              <a:rPr sz="3200" spc="-40" dirty="0">
                <a:highlight>
                  <a:srgbClr val="FFFF00"/>
                </a:highlight>
                <a:latin typeface="Arial MT"/>
                <a:cs typeface="Arial MT"/>
              </a:rPr>
              <a:t> </a:t>
            </a:r>
            <a:r>
              <a:rPr sz="3200" dirty="0">
                <a:highlight>
                  <a:srgbClr val="FFFF00"/>
                </a:highlight>
                <a:latin typeface="Arial MT"/>
                <a:cs typeface="Arial MT"/>
              </a:rPr>
              <a:t>can</a:t>
            </a:r>
            <a:r>
              <a:rPr sz="3200" spc="-50" dirty="0">
                <a:highlight>
                  <a:srgbClr val="FFFF00"/>
                </a:highlight>
                <a:latin typeface="Arial MT"/>
                <a:cs typeface="Arial MT"/>
              </a:rPr>
              <a:t> </a:t>
            </a:r>
            <a:r>
              <a:rPr sz="3200" spc="-25" dirty="0">
                <a:highlight>
                  <a:srgbClr val="FFFF00"/>
                </a:highlight>
                <a:latin typeface="Arial MT"/>
                <a:cs typeface="Arial MT"/>
              </a:rPr>
              <a:t>be</a:t>
            </a:r>
            <a:r>
              <a:rPr sz="3200" dirty="0">
                <a:highlight>
                  <a:srgbClr val="FFFF00"/>
                </a:highlight>
                <a:latin typeface="Arial MT"/>
                <a:cs typeface="Arial MT"/>
              </a:rPr>
              <a:t>	</a:t>
            </a:r>
            <a:r>
              <a:rPr sz="3200" spc="-10" dirty="0">
                <a:highlight>
                  <a:srgbClr val="FFFF00"/>
                </a:highlight>
                <a:latin typeface="Arial MT"/>
                <a:cs typeface="Arial MT"/>
              </a:rPr>
              <a:t>simplified </a:t>
            </a:r>
            <a:r>
              <a:rPr sz="3200" dirty="0">
                <a:highlight>
                  <a:srgbClr val="FFFF00"/>
                </a:highlight>
                <a:latin typeface="Arial MT"/>
                <a:cs typeface="Arial MT"/>
              </a:rPr>
              <a:t>by</a:t>
            </a:r>
            <a:r>
              <a:rPr sz="3200" spc="-40" dirty="0">
                <a:highlight>
                  <a:srgbClr val="FFFF00"/>
                </a:highlight>
                <a:latin typeface="Arial MT"/>
                <a:cs typeface="Arial MT"/>
              </a:rPr>
              <a:t> </a:t>
            </a:r>
            <a:r>
              <a:rPr sz="3200" dirty="0">
                <a:highlight>
                  <a:srgbClr val="FFFF00"/>
                </a:highlight>
                <a:latin typeface="Arial MT"/>
                <a:cs typeface="Arial MT"/>
              </a:rPr>
              <a:t>think</a:t>
            </a:r>
            <a:r>
              <a:rPr sz="3200" spc="-20" dirty="0">
                <a:highlight>
                  <a:srgbClr val="FFFF00"/>
                </a:highlight>
                <a:latin typeface="Arial MT"/>
                <a:cs typeface="Arial MT"/>
              </a:rPr>
              <a:t> </a:t>
            </a:r>
            <a:r>
              <a:rPr sz="3200" dirty="0">
                <a:highlight>
                  <a:srgbClr val="FFFF00"/>
                </a:highlight>
                <a:latin typeface="Arial MT"/>
                <a:cs typeface="Arial MT"/>
              </a:rPr>
              <a:t>of</a:t>
            </a:r>
            <a:r>
              <a:rPr sz="3200" spc="-25" dirty="0">
                <a:highlight>
                  <a:srgbClr val="FFFF00"/>
                </a:highlight>
                <a:latin typeface="Arial MT"/>
                <a:cs typeface="Arial MT"/>
              </a:rPr>
              <a:t> </a:t>
            </a:r>
            <a:r>
              <a:rPr sz="3200" dirty="0">
                <a:highlight>
                  <a:srgbClr val="FFFF00"/>
                </a:highlight>
                <a:latin typeface="Arial MT"/>
                <a:cs typeface="Arial MT"/>
              </a:rPr>
              <a:t>it</a:t>
            </a:r>
            <a:r>
              <a:rPr sz="3200" spc="-25" dirty="0">
                <a:highlight>
                  <a:srgbClr val="FFFF00"/>
                </a:highlight>
                <a:latin typeface="Arial MT"/>
                <a:cs typeface="Arial MT"/>
              </a:rPr>
              <a:t> </a:t>
            </a:r>
            <a:r>
              <a:rPr sz="3200" dirty="0">
                <a:highlight>
                  <a:srgbClr val="FFFF00"/>
                </a:highlight>
                <a:latin typeface="Arial MT"/>
                <a:cs typeface="Arial MT"/>
              </a:rPr>
              <a:t>as</a:t>
            </a:r>
            <a:r>
              <a:rPr sz="3200" spc="-40" dirty="0">
                <a:highlight>
                  <a:srgbClr val="FFFF00"/>
                </a:highlight>
                <a:latin typeface="Arial MT"/>
                <a:cs typeface="Arial MT"/>
              </a:rPr>
              <a:t> </a:t>
            </a:r>
            <a:r>
              <a:rPr sz="3200" dirty="0">
                <a:highlight>
                  <a:srgbClr val="FFFF00"/>
                </a:highlight>
                <a:latin typeface="Arial MT"/>
                <a:cs typeface="Arial MT"/>
              </a:rPr>
              <a:t>a</a:t>
            </a:r>
            <a:r>
              <a:rPr sz="3200" spc="-5" dirty="0">
                <a:highlight>
                  <a:srgbClr val="FFFF00"/>
                </a:highlight>
                <a:latin typeface="Arial MT"/>
                <a:cs typeface="Arial MT"/>
              </a:rPr>
              <a:t> </a:t>
            </a:r>
            <a:r>
              <a:rPr sz="3200" dirty="0">
                <a:highlight>
                  <a:srgbClr val="FFFF00"/>
                </a:highlight>
                <a:latin typeface="Arial MT"/>
                <a:cs typeface="Arial MT"/>
              </a:rPr>
              <a:t>“pay</a:t>
            </a:r>
            <a:r>
              <a:rPr sz="3200" spc="-20" dirty="0">
                <a:highlight>
                  <a:srgbClr val="FFFF00"/>
                </a:highlight>
                <a:latin typeface="Arial MT"/>
                <a:cs typeface="Arial MT"/>
              </a:rPr>
              <a:t> </a:t>
            </a:r>
            <a:r>
              <a:rPr sz="3200" dirty="0">
                <a:highlight>
                  <a:srgbClr val="FFFF00"/>
                </a:highlight>
                <a:latin typeface="Arial MT"/>
                <a:cs typeface="Arial MT"/>
              </a:rPr>
              <a:t>as</a:t>
            </a:r>
            <a:r>
              <a:rPr sz="3200" spc="-30" dirty="0">
                <a:highlight>
                  <a:srgbClr val="FFFF00"/>
                </a:highlight>
                <a:latin typeface="Arial MT"/>
                <a:cs typeface="Arial MT"/>
              </a:rPr>
              <a:t> </a:t>
            </a:r>
            <a:r>
              <a:rPr sz="3200" dirty="0">
                <a:highlight>
                  <a:srgbClr val="FFFF00"/>
                </a:highlight>
                <a:latin typeface="Arial MT"/>
                <a:cs typeface="Arial MT"/>
              </a:rPr>
              <a:t>you</a:t>
            </a:r>
            <a:r>
              <a:rPr sz="3200" spc="-25" dirty="0">
                <a:highlight>
                  <a:srgbClr val="FFFF00"/>
                </a:highlight>
                <a:latin typeface="Arial MT"/>
                <a:cs typeface="Arial MT"/>
              </a:rPr>
              <a:t> go</a:t>
            </a:r>
            <a:r>
              <a:rPr sz="3200" spc="-25" dirty="0">
                <a:latin typeface="Arial MT"/>
                <a:cs typeface="Arial MT"/>
              </a:rPr>
              <a:t>”</a:t>
            </a:r>
            <a:r>
              <a:rPr sz="3200" dirty="0">
                <a:latin typeface="Arial MT"/>
                <a:cs typeface="Arial MT"/>
              </a:rPr>
              <a:t>	</a:t>
            </a:r>
            <a:r>
              <a:rPr sz="3200" spc="-10" dirty="0">
                <a:latin typeface="Arial MT"/>
                <a:cs typeface="Arial MT"/>
              </a:rPr>
              <a:t>model</a:t>
            </a:r>
            <a:endParaRPr sz="3200" dirty="0">
              <a:latin typeface="Arial MT"/>
              <a:cs typeface="Arial MT"/>
            </a:endParaRPr>
          </a:p>
          <a:p>
            <a:pPr marL="355600" marR="321310" indent="-343535">
              <a:lnSpc>
                <a:spcPct val="100000"/>
              </a:lnSpc>
              <a:spcBef>
                <a:spcPts val="710"/>
              </a:spcBef>
              <a:buClr>
                <a:srgbClr val="2C7B9F"/>
              </a:buClr>
              <a:buSzPct val="84375"/>
              <a:buChar char="•"/>
              <a:tabLst>
                <a:tab pos="355600" algn="l"/>
              </a:tabLst>
            </a:pPr>
            <a:r>
              <a:rPr sz="3200" dirty="0">
                <a:latin typeface="Arial MT"/>
                <a:cs typeface="Arial MT"/>
              </a:rPr>
              <a:t>Hours</a:t>
            </a:r>
            <a:r>
              <a:rPr sz="3200" spc="-90" dirty="0">
                <a:latin typeface="Arial MT"/>
                <a:cs typeface="Arial MT"/>
              </a:rPr>
              <a:t> </a:t>
            </a:r>
            <a:r>
              <a:rPr sz="3200" dirty="0">
                <a:latin typeface="Arial MT"/>
                <a:cs typeface="Arial MT"/>
              </a:rPr>
              <a:t>purchased</a:t>
            </a:r>
            <a:r>
              <a:rPr sz="3200" spc="-100" dirty="0">
                <a:latin typeface="Arial MT"/>
                <a:cs typeface="Arial MT"/>
              </a:rPr>
              <a:t> </a:t>
            </a:r>
            <a:r>
              <a:rPr sz="3200" dirty="0">
                <a:latin typeface="Arial MT"/>
                <a:cs typeface="Arial MT"/>
              </a:rPr>
              <a:t>via</a:t>
            </a:r>
            <a:r>
              <a:rPr sz="3200" spc="-65" dirty="0">
                <a:latin typeface="Arial MT"/>
                <a:cs typeface="Arial MT"/>
              </a:rPr>
              <a:t> </a:t>
            </a:r>
            <a:r>
              <a:rPr sz="3200" dirty="0">
                <a:latin typeface="Arial MT"/>
                <a:cs typeface="Arial MT"/>
              </a:rPr>
              <a:t>Cloud</a:t>
            </a:r>
            <a:r>
              <a:rPr sz="3200" spc="-50" dirty="0">
                <a:latin typeface="Arial MT"/>
                <a:cs typeface="Arial MT"/>
              </a:rPr>
              <a:t> </a:t>
            </a:r>
            <a:r>
              <a:rPr sz="3200" dirty="0">
                <a:latin typeface="Arial MT"/>
                <a:cs typeface="Arial MT"/>
              </a:rPr>
              <a:t>Computing</a:t>
            </a:r>
            <a:r>
              <a:rPr sz="3200" spc="-95" dirty="0">
                <a:latin typeface="Arial MT"/>
                <a:cs typeface="Arial MT"/>
              </a:rPr>
              <a:t> </a:t>
            </a:r>
            <a:r>
              <a:rPr sz="3200" spc="-25" dirty="0">
                <a:latin typeface="Arial MT"/>
                <a:cs typeface="Arial MT"/>
              </a:rPr>
              <a:t>can </a:t>
            </a:r>
            <a:r>
              <a:rPr sz="3200" dirty="0">
                <a:latin typeface="Arial MT"/>
                <a:cs typeface="Arial MT"/>
              </a:rPr>
              <a:t>be</a:t>
            </a:r>
            <a:r>
              <a:rPr sz="3200" spc="-55" dirty="0">
                <a:latin typeface="Arial MT"/>
                <a:cs typeface="Arial MT"/>
              </a:rPr>
              <a:t> </a:t>
            </a:r>
            <a:r>
              <a:rPr sz="3200" dirty="0">
                <a:latin typeface="Arial MT"/>
                <a:cs typeface="Arial MT"/>
              </a:rPr>
              <a:t>distributed</a:t>
            </a:r>
            <a:r>
              <a:rPr sz="3200" spc="-95" dirty="0">
                <a:latin typeface="Arial MT"/>
                <a:cs typeface="Arial MT"/>
              </a:rPr>
              <a:t> </a:t>
            </a:r>
            <a:r>
              <a:rPr sz="3200" spc="-10" dirty="0">
                <a:highlight>
                  <a:srgbClr val="FFFF00"/>
                </a:highlight>
                <a:latin typeface="Arial MT"/>
                <a:cs typeface="Arial MT"/>
              </a:rPr>
              <a:t>non-</a:t>
            </a:r>
            <a:r>
              <a:rPr sz="3200" dirty="0">
                <a:highlight>
                  <a:srgbClr val="FFFF00"/>
                </a:highlight>
                <a:latin typeface="Arial MT"/>
                <a:cs typeface="Arial MT"/>
              </a:rPr>
              <a:t>uniformly</a:t>
            </a:r>
            <a:r>
              <a:rPr sz="3200" spc="-85" dirty="0">
                <a:highlight>
                  <a:srgbClr val="FFFF00"/>
                </a:highlight>
                <a:latin typeface="Arial MT"/>
                <a:cs typeface="Arial MT"/>
              </a:rPr>
              <a:t> </a:t>
            </a:r>
            <a:r>
              <a:rPr sz="3200" dirty="0">
                <a:highlight>
                  <a:srgbClr val="FFFF00"/>
                </a:highlight>
                <a:latin typeface="Arial MT"/>
                <a:cs typeface="Arial MT"/>
              </a:rPr>
              <a:t>in</a:t>
            </a:r>
            <a:r>
              <a:rPr sz="3200" spc="-45" dirty="0">
                <a:highlight>
                  <a:srgbClr val="FFFF00"/>
                </a:highlight>
                <a:latin typeface="Arial MT"/>
                <a:cs typeface="Arial MT"/>
              </a:rPr>
              <a:t> </a:t>
            </a:r>
            <a:r>
              <a:rPr sz="3200" dirty="0">
                <a:highlight>
                  <a:srgbClr val="FFFF00"/>
                </a:highlight>
                <a:latin typeface="Arial MT"/>
                <a:cs typeface="Arial MT"/>
              </a:rPr>
              <a:t>time</a:t>
            </a:r>
            <a:r>
              <a:rPr sz="3200" spc="-70" dirty="0">
                <a:highlight>
                  <a:srgbClr val="FFFF00"/>
                </a:highlight>
                <a:latin typeface="Arial MT"/>
                <a:cs typeface="Arial MT"/>
              </a:rPr>
              <a:t> </a:t>
            </a:r>
            <a:r>
              <a:rPr sz="3200" dirty="0">
                <a:latin typeface="Arial MT"/>
                <a:cs typeface="Arial MT"/>
              </a:rPr>
              <a:t>(e.g.</a:t>
            </a:r>
            <a:r>
              <a:rPr sz="3200" spc="-70" dirty="0">
                <a:latin typeface="Arial MT"/>
                <a:cs typeface="Arial MT"/>
              </a:rPr>
              <a:t> </a:t>
            </a:r>
            <a:r>
              <a:rPr sz="3200" spc="-25" dirty="0">
                <a:latin typeface="Arial MT"/>
                <a:cs typeface="Arial MT"/>
              </a:rPr>
              <a:t>use </a:t>
            </a:r>
            <a:r>
              <a:rPr sz="3200" dirty="0">
                <a:latin typeface="Arial MT"/>
                <a:cs typeface="Arial MT"/>
              </a:rPr>
              <a:t>100</a:t>
            </a:r>
            <a:r>
              <a:rPr sz="3200" spc="-70" dirty="0">
                <a:latin typeface="Arial MT"/>
                <a:cs typeface="Arial MT"/>
              </a:rPr>
              <a:t> </a:t>
            </a:r>
            <a:r>
              <a:rPr sz="3200" spc="-10" dirty="0">
                <a:latin typeface="Arial MT"/>
                <a:cs typeface="Arial MT"/>
              </a:rPr>
              <a:t>server-</a:t>
            </a:r>
            <a:r>
              <a:rPr sz="3200" dirty="0">
                <a:latin typeface="Arial MT"/>
                <a:cs typeface="Arial MT"/>
              </a:rPr>
              <a:t>hours</a:t>
            </a:r>
            <a:r>
              <a:rPr sz="3200" spc="-80" dirty="0">
                <a:latin typeface="Arial MT"/>
                <a:cs typeface="Arial MT"/>
              </a:rPr>
              <a:t> </a:t>
            </a:r>
            <a:r>
              <a:rPr sz="3200" dirty="0">
                <a:latin typeface="Arial MT"/>
                <a:cs typeface="Arial MT"/>
              </a:rPr>
              <a:t>today</a:t>
            </a:r>
            <a:r>
              <a:rPr sz="3200" spc="-60" dirty="0">
                <a:latin typeface="Arial MT"/>
                <a:cs typeface="Arial MT"/>
              </a:rPr>
              <a:t> </a:t>
            </a:r>
            <a:r>
              <a:rPr sz="3200" dirty="0">
                <a:latin typeface="Arial MT"/>
                <a:cs typeface="Arial MT"/>
              </a:rPr>
              <a:t>and</a:t>
            </a:r>
            <a:r>
              <a:rPr sz="3200" spc="-55" dirty="0">
                <a:latin typeface="Arial MT"/>
                <a:cs typeface="Arial MT"/>
              </a:rPr>
              <a:t> </a:t>
            </a:r>
            <a:r>
              <a:rPr sz="3200" dirty="0">
                <a:latin typeface="Arial MT"/>
                <a:cs typeface="Arial MT"/>
              </a:rPr>
              <a:t>no</a:t>
            </a:r>
            <a:r>
              <a:rPr sz="3200" spc="-60" dirty="0">
                <a:latin typeface="Arial MT"/>
                <a:cs typeface="Arial MT"/>
              </a:rPr>
              <a:t> </a:t>
            </a:r>
            <a:r>
              <a:rPr sz="3200" spc="-10" dirty="0">
                <a:latin typeface="Arial MT"/>
                <a:cs typeface="Arial MT"/>
              </a:rPr>
              <a:t>server-hours </a:t>
            </a:r>
            <a:r>
              <a:rPr sz="3200" dirty="0">
                <a:latin typeface="Arial MT"/>
                <a:cs typeface="Arial MT"/>
              </a:rPr>
              <a:t>tomorrow</a:t>
            </a:r>
            <a:r>
              <a:rPr sz="3200" spc="-85" dirty="0">
                <a:latin typeface="Arial MT"/>
                <a:cs typeface="Arial MT"/>
              </a:rPr>
              <a:t> </a:t>
            </a:r>
            <a:r>
              <a:rPr sz="3200" dirty="0">
                <a:latin typeface="Arial MT"/>
                <a:cs typeface="Arial MT"/>
              </a:rPr>
              <a:t>and</a:t>
            </a:r>
            <a:r>
              <a:rPr sz="3200" spc="-50" dirty="0">
                <a:latin typeface="Arial MT"/>
                <a:cs typeface="Arial MT"/>
              </a:rPr>
              <a:t> </a:t>
            </a:r>
            <a:r>
              <a:rPr sz="3200" dirty="0">
                <a:latin typeface="Arial MT"/>
                <a:cs typeface="Arial MT"/>
              </a:rPr>
              <a:t>still</a:t>
            </a:r>
            <a:r>
              <a:rPr sz="3200" spc="-50" dirty="0">
                <a:latin typeface="Arial MT"/>
                <a:cs typeface="Arial MT"/>
              </a:rPr>
              <a:t> </a:t>
            </a:r>
            <a:r>
              <a:rPr sz="3200" dirty="0">
                <a:latin typeface="Arial MT"/>
                <a:cs typeface="Arial MT"/>
              </a:rPr>
              <a:t>only</a:t>
            </a:r>
            <a:r>
              <a:rPr sz="3200" spc="-50" dirty="0">
                <a:latin typeface="Arial MT"/>
                <a:cs typeface="Arial MT"/>
              </a:rPr>
              <a:t> </a:t>
            </a:r>
            <a:r>
              <a:rPr sz="3200" dirty="0">
                <a:latin typeface="Arial MT"/>
                <a:cs typeface="Arial MT"/>
              </a:rPr>
              <a:t>pay</a:t>
            </a:r>
            <a:r>
              <a:rPr sz="3200" spc="-55" dirty="0">
                <a:latin typeface="Arial MT"/>
                <a:cs typeface="Arial MT"/>
              </a:rPr>
              <a:t> </a:t>
            </a:r>
            <a:r>
              <a:rPr sz="3200" dirty="0">
                <a:latin typeface="Arial MT"/>
                <a:cs typeface="Arial MT"/>
              </a:rPr>
              <a:t>for</a:t>
            </a:r>
            <a:r>
              <a:rPr sz="3200" spc="-50" dirty="0">
                <a:latin typeface="Arial MT"/>
                <a:cs typeface="Arial MT"/>
              </a:rPr>
              <a:t> </a:t>
            </a:r>
            <a:r>
              <a:rPr sz="3200" dirty="0">
                <a:latin typeface="Arial MT"/>
                <a:cs typeface="Arial MT"/>
              </a:rPr>
              <a:t>what</a:t>
            </a:r>
            <a:r>
              <a:rPr sz="3200" spc="-65" dirty="0">
                <a:latin typeface="Arial MT"/>
                <a:cs typeface="Arial MT"/>
              </a:rPr>
              <a:t> </a:t>
            </a:r>
            <a:r>
              <a:rPr sz="3200" dirty="0">
                <a:latin typeface="Arial MT"/>
                <a:cs typeface="Arial MT"/>
              </a:rPr>
              <a:t>you</a:t>
            </a:r>
            <a:r>
              <a:rPr sz="3200" spc="-10" dirty="0">
                <a:latin typeface="Arial MT"/>
                <a:cs typeface="Arial MT"/>
              </a:rPr>
              <a:t> </a:t>
            </a:r>
            <a:r>
              <a:rPr sz="3200" spc="-20" dirty="0">
                <a:latin typeface="Arial MT"/>
                <a:cs typeface="Arial MT"/>
              </a:rPr>
              <a:t>use)</a:t>
            </a:r>
            <a:endParaRPr sz="3200" dirty="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392160" cy="3644900"/>
          </a:xfrm>
          <a:prstGeom prst="rect">
            <a:avLst/>
          </a:prstGeom>
        </p:spPr>
        <p:txBody>
          <a:bodyPr vert="horz" wrap="square" lIns="0" tIns="13335" rIns="0" bIns="0" rtlCol="0">
            <a:spAutoFit/>
          </a:bodyPr>
          <a:lstStyle/>
          <a:p>
            <a:pPr marL="355600" marR="1122045" indent="-343535">
              <a:lnSpc>
                <a:spcPct val="100000"/>
              </a:lnSpc>
              <a:spcBef>
                <a:spcPts val="105"/>
              </a:spcBef>
              <a:buClr>
                <a:srgbClr val="2C7B9F"/>
              </a:buClr>
              <a:buSzPct val="84375"/>
              <a:buFont typeface="Arial MT"/>
              <a:buChar char="•"/>
              <a:tabLst>
                <a:tab pos="355600" algn="l"/>
              </a:tabLst>
            </a:pPr>
            <a:r>
              <a:rPr sz="3200" dirty="0">
                <a:latin typeface="Arial MT"/>
                <a:cs typeface="Arial MT"/>
              </a:rPr>
              <a:t>In</a:t>
            </a:r>
            <a:r>
              <a:rPr sz="3200" spc="-45" dirty="0">
                <a:latin typeface="Arial MT"/>
                <a:cs typeface="Arial MT"/>
              </a:rPr>
              <a:t> </a:t>
            </a:r>
            <a:r>
              <a:rPr sz="3200" dirty="0">
                <a:latin typeface="Arial MT"/>
                <a:cs typeface="Arial MT"/>
              </a:rPr>
              <a:t>bandwidth</a:t>
            </a:r>
            <a:r>
              <a:rPr sz="3200" spc="-80" dirty="0">
                <a:latin typeface="Arial MT"/>
                <a:cs typeface="Arial MT"/>
              </a:rPr>
              <a:t> </a:t>
            </a:r>
            <a:r>
              <a:rPr sz="3200" dirty="0">
                <a:latin typeface="Arial MT"/>
                <a:cs typeface="Arial MT"/>
              </a:rPr>
              <a:t>terms</a:t>
            </a:r>
            <a:r>
              <a:rPr sz="3200" spc="-70" dirty="0">
                <a:latin typeface="Arial MT"/>
                <a:cs typeface="Arial MT"/>
              </a:rPr>
              <a:t> </a:t>
            </a:r>
            <a:r>
              <a:rPr sz="3200" dirty="0">
                <a:latin typeface="Arial MT"/>
                <a:cs typeface="Arial MT"/>
              </a:rPr>
              <a:t>this</a:t>
            </a:r>
            <a:r>
              <a:rPr sz="3200" spc="-40" dirty="0">
                <a:latin typeface="Arial MT"/>
                <a:cs typeface="Arial MT"/>
              </a:rPr>
              <a:t> </a:t>
            </a:r>
            <a:r>
              <a:rPr sz="3200" dirty="0">
                <a:latin typeface="Arial MT"/>
                <a:cs typeface="Arial MT"/>
              </a:rPr>
              <a:t>now</a:t>
            </a:r>
            <a:r>
              <a:rPr sz="3200" spc="-50" dirty="0">
                <a:latin typeface="Arial MT"/>
                <a:cs typeface="Arial MT"/>
              </a:rPr>
              <a:t> </a:t>
            </a:r>
            <a:r>
              <a:rPr sz="3200" dirty="0">
                <a:latin typeface="Arial MT"/>
                <a:cs typeface="Arial MT"/>
              </a:rPr>
              <a:t>as</a:t>
            </a:r>
            <a:r>
              <a:rPr sz="3200" spc="-65" dirty="0">
                <a:latin typeface="Arial MT"/>
                <a:cs typeface="Arial MT"/>
              </a:rPr>
              <a:t> </a:t>
            </a:r>
            <a:r>
              <a:rPr sz="3200" i="1" spc="-10" dirty="0">
                <a:latin typeface="Arial"/>
                <a:cs typeface="Arial"/>
              </a:rPr>
              <a:t>usage- </a:t>
            </a:r>
            <a:r>
              <a:rPr sz="3200" i="1" dirty="0">
                <a:latin typeface="Arial"/>
                <a:cs typeface="Arial"/>
              </a:rPr>
              <a:t>based</a:t>
            </a:r>
            <a:r>
              <a:rPr sz="3200" i="1" spc="-114" dirty="0">
                <a:latin typeface="Arial"/>
                <a:cs typeface="Arial"/>
              </a:rPr>
              <a:t> </a:t>
            </a:r>
            <a:r>
              <a:rPr sz="3200" i="1" spc="-10" dirty="0">
                <a:latin typeface="Arial"/>
                <a:cs typeface="Arial"/>
              </a:rPr>
              <a:t>pricing</a:t>
            </a:r>
            <a:endParaRPr sz="3200">
              <a:latin typeface="Arial"/>
              <a:cs typeface="Arial"/>
            </a:endParaRPr>
          </a:p>
          <a:p>
            <a:pPr marL="355600" indent="-342900">
              <a:lnSpc>
                <a:spcPct val="100000"/>
              </a:lnSpc>
              <a:spcBef>
                <a:spcPts val="805"/>
              </a:spcBef>
              <a:buClr>
                <a:srgbClr val="2C7B9F"/>
              </a:buClr>
              <a:buSzPct val="84375"/>
              <a:buChar char="•"/>
              <a:tabLst>
                <a:tab pos="355600" algn="l"/>
              </a:tabLst>
            </a:pPr>
            <a:r>
              <a:rPr sz="3200" dirty="0">
                <a:latin typeface="Arial MT"/>
                <a:cs typeface="Arial MT"/>
              </a:rPr>
              <a:t>There</a:t>
            </a:r>
            <a:r>
              <a:rPr sz="3200" spc="-70" dirty="0">
                <a:latin typeface="Arial MT"/>
                <a:cs typeface="Arial MT"/>
              </a:rPr>
              <a:t> </a:t>
            </a:r>
            <a:r>
              <a:rPr sz="3200" dirty="0">
                <a:latin typeface="Arial MT"/>
                <a:cs typeface="Arial MT"/>
              </a:rPr>
              <a:t>is</a:t>
            </a:r>
            <a:r>
              <a:rPr sz="3200" spc="-15" dirty="0">
                <a:latin typeface="Arial MT"/>
                <a:cs typeface="Arial MT"/>
              </a:rPr>
              <a:t> </a:t>
            </a:r>
            <a:r>
              <a:rPr sz="3200" dirty="0">
                <a:latin typeface="Arial MT"/>
                <a:cs typeface="Arial MT"/>
              </a:rPr>
              <a:t>no</a:t>
            </a:r>
            <a:r>
              <a:rPr sz="3200" spc="-25" dirty="0">
                <a:latin typeface="Arial MT"/>
                <a:cs typeface="Arial MT"/>
              </a:rPr>
              <a:t> </a:t>
            </a:r>
            <a:r>
              <a:rPr sz="3200" spc="-10" dirty="0">
                <a:latin typeface="Arial MT"/>
                <a:cs typeface="Arial MT"/>
              </a:rPr>
              <a:t>up-</a:t>
            </a:r>
            <a:r>
              <a:rPr sz="3200" dirty="0">
                <a:latin typeface="Arial MT"/>
                <a:cs typeface="Arial MT"/>
              </a:rPr>
              <a:t>front</a:t>
            </a:r>
            <a:r>
              <a:rPr sz="3200" spc="-70" dirty="0">
                <a:latin typeface="Arial MT"/>
                <a:cs typeface="Arial MT"/>
              </a:rPr>
              <a:t> </a:t>
            </a:r>
            <a:r>
              <a:rPr sz="3200" dirty="0">
                <a:latin typeface="Arial MT"/>
                <a:cs typeface="Arial MT"/>
              </a:rPr>
              <a:t>capital</a:t>
            </a:r>
            <a:r>
              <a:rPr sz="3200" spc="-110" dirty="0">
                <a:latin typeface="Arial MT"/>
                <a:cs typeface="Arial MT"/>
              </a:rPr>
              <a:t> </a:t>
            </a:r>
            <a:r>
              <a:rPr sz="3200" spc="-10" dirty="0">
                <a:latin typeface="Arial MT"/>
                <a:cs typeface="Arial MT"/>
              </a:rPr>
              <a:t>expense</a:t>
            </a:r>
            <a:endParaRPr sz="3200">
              <a:latin typeface="Arial MT"/>
              <a:cs typeface="Arial MT"/>
            </a:endParaRPr>
          </a:p>
          <a:p>
            <a:pPr marL="355600" marR="5080" indent="-343535">
              <a:lnSpc>
                <a:spcPct val="100000"/>
              </a:lnSpc>
              <a:spcBef>
                <a:spcPts val="805"/>
              </a:spcBef>
              <a:buClr>
                <a:srgbClr val="2C7B9F"/>
              </a:buClr>
              <a:buSzPct val="84375"/>
              <a:buChar char="•"/>
              <a:tabLst>
                <a:tab pos="355600" algn="l"/>
                <a:tab pos="6330950" algn="l"/>
                <a:tab pos="6856095" algn="l"/>
                <a:tab pos="7702550" algn="l"/>
              </a:tabLst>
            </a:pPr>
            <a:r>
              <a:rPr sz="3200" dirty="0">
                <a:latin typeface="Arial MT"/>
                <a:cs typeface="Arial MT"/>
              </a:rPr>
              <a:t>Elasticity</a:t>
            </a:r>
            <a:r>
              <a:rPr sz="3200" spc="-70" dirty="0">
                <a:latin typeface="Arial MT"/>
                <a:cs typeface="Arial MT"/>
              </a:rPr>
              <a:t> </a:t>
            </a:r>
            <a:r>
              <a:rPr sz="3200" dirty="0">
                <a:latin typeface="Arial MT"/>
                <a:cs typeface="Arial MT"/>
              </a:rPr>
              <a:t>is</a:t>
            </a:r>
            <a:r>
              <a:rPr sz="3200" spc="-75" dirty="0">
                <a:latin typeface="Arial MT"/>
                <a:cs typeface="Arial MT"/>
              </a:rPr>
              <a:t> </a:t>
            </a:r>
            <a:r>
              <a:rPr sz="3200" dirty="0">
                <a:latin typeface="Arial MT"/>
                <a:cs typeface="Arial MT"/>
              </a:rPr>
              <a:t>Cloud</a:t>
            </a:r>
            <a:r>
              <a:rPr sz="3200" spc="-110" dirty="0">
                <a:latin typeface="Arial MT"/>
                <a:cs typeface="Arial MT"/>
              </a:rPr>
              <a:t> </a:t>
            </a:r>
            <a:r>
              <a:rPr sz="3200" spc="-10" dirty="0">
                <a:latin typeface="Arial MT"/>
                <a:cs typeface="Arial MT"/>
              </a:rPr>
              <a:t>Computing’s</a:t>
            </a:r>
            <a:r>
              <a:rPr sz="3200" spc="-60" dirty="0">
                <a:latin typeface="Arial MT"/>
                <a:cs typeface="Arial MT"/>
              </a:rPr>
              <a:t> </a:t>
            </a:r>
            <a:r>
              <a:rPr sz="3200" dirty="0">
                <a:latin typeface="Arial MT"/>
                <a:cs typeface="Arial MT"/>
              </a:rPr>
              <a:t>ability</a:t>
            </a:r>
            <a:r>
              <a:rPr sz="3200" spc="-90" dirty="0">
                <a:latin typeface="Arial MT"/>
                <a:cs typeface="Arial MT"/>
              </a:rPr>
              <a:t> </a:t>
            </a:r>
            <a:r>
              <a:rPr sz="3200" spc="-25" dirty="0">
                <a:latin typeface="Arial MT"/>
                <a:cs typeface="Arial MT"/>
              </a:rPr>
              <a:t>to</a:t>
            </a:r>
            <a:r>
              <a:rPr sz="3200" dirty="0">
                <a:latin typeface="Arial MT"/>
                <a:cs typeface="Arial MT"/>
              </a:rPr>
              <a:t>	</a:t>
            </a:r>
            <a:r>
              <a:rPr sz="3200" spc="-25" dirty="0">
                <a:latin typeface="Arial MT"/>
                <a:cs typeface="Arial MT"/>
              </a:rPr>
              <a:t>add </a:t>
            </a:r>
            <a:r>
              <a:rPr sz="3200" dirty="0">
                <a:latin typeface="Arial MT"/>
                <a:cs typeface="Arial MT"/>
              </a:rPr>
              <a:t>or</a:t>
            </a:r>
            <a:r>
              <a:rPr sz="3200" spc="-55" dirty="0">
                <a:latin typeface="Arial MT"/>
                <a:cs typeface="Arial MT"/>
              </a:rPr>
              <a:t> </a:t>
            </a:r>
            <a:r>
              <a:rPr sz="3200" dirty="0">
                <a:latin typeface="Arial MT"/>
                <a:cs typeface="Arial MT"/>
              </a:rPr>
              <a:t>remove</a:t>
            </a:r>
            <a:r>
              <a:rPr sz="3200" spc="-75" dirty="0">
                <a:latin typeface="Arial MT"/>
                <a:cs typeface="Arial MT"/>
              </a:rPr>
              <a:t> </a:t>
            </a:r>
            <a:r>
              <a:rPr sz="3200" dirty="0">
                <a:latin typeface="Arial MT"/>
                <a:cs typeface="Arial MT"/>
              </a:rPr>
              <a:t>resources</a:t>
            </a:r>
            <a:r>
              <a:rPr sz="3200" spc="-55" dirty="0">
                <a:latin typeface="Arial MT"/>
                <a:cs typeface="Arial MT"/>
              </a:rPr>
              <a:t> </a:t>
            </a:r>
            <a:r>
              <a:rPr sz="3200" dirty="0">
                <a:latin typeface="Arial MT"/>
                <a:cs typeface="Arial MT"/>
              </a:rPr>
              <a:t>at</a:t>
            </a:r>
            <a:r>
              <a:rPr sz="3200" spc="-25" dirty="0">
                <a:latin typeface="Arial MT"/>
                <a:cs typeface="Arial MT"/>
              </a:rPr>
              <a:t> </a:t>
            </a:r>
            <a:r>
              <a:rPr sz="3200" dirty="0">
                <a:latin typeface="Arial MT"/>
                <a:cs typeface="Arial MT"/>
              </a:rPr>
              <a:t>a</a:t>
            </a:r>
            <a:r>
              <a:rPr sz="3200" spc="-25" dirty="0">
                <a:latin typeface="Arial MT"/>
                <a:cs typeface="Arial MT"/>
              </a:rPr>
              <a:t> </a:t>
            </a:r>
            <a:r>
              <a:rPr sz="3200" dirty="0">
                <a:latin typeface="Arial MT"/>
                <a:cs typeface="Arial MT"/>
              </a:rPr>
              <a:t>fine</a:t>
            </a:r>
            <a:r>
              <a:rPr sz="3200" spc="-45" dirty="0">
                <a:latin typeface="Arial MT"/>
                <a:cs typeface="Arial MT"/>
              </a:rPr>
              <a:t> </a:t>
            </a:r>
            <a:r>
              <a:rPr sz="3200" spc="-10" dirty="0">
                <a:latin typeface="Arial MT"/>
                <a:cs typeface="Arial MT"/>
              </a:rPr>
              <a:t>grain</a:t>
            </a:r>
            <a:r>
              <a:rPr sz="3200" dirty="0">
                <a:latin typeface="Arial MT"/>
                <a:cs typeface="Arial MT"/>
              </a:rPr>
              <a:t>	</a:t>
            </a:r>
            <a:r>
              <a:rPr sz="3200" spc="-10" dirty="0">
                <a:latin typeface="Arial MT"/>
                <a:cs typeface="Arial MT"/>
              </a:rPr>
              <a:t>(usually </a:t>
            </a:r>
            <a:r>
              <a:rPr sz="3200" dirty="0">
                <a:latin typeface="Arial MT"/>
                <a:cs typeface="Arial MT"/>
              </a:rPr>
              <a:t>one</a:t>
            </a:r>
            <a:r>
              <a:rPr sz="3200" spc="-45" dirty="0">
                <a:latin typeface="Arial MT"/>
                <a:cs typeface="Arial MT"/>
              </a:rPr>
              <a:t> </a:t>
            </a:r>
            <a:r>
              <a:rPr sz="3200" dirty="0">
                <a:latin typeface="Arial MT"/>
                <a:cs typeface="Arial MT"/>
              </a:rPr>
              <a:t>server</a:t>
            </a:r>
            <a:r>
              <a:rPr sz="3200" spc="-30" dirty="0">
                <a:latin typeface="Arial MT"/>
                <a:cs typeface="Arial MT"/>
              </a:rPr>
              <a:t> </a:t>
            </a:r>
            <a:r>
              <a:rPr sz="3200" dirty="0">
                <a:latin typeface="Arial MT"/>
                <a:cs typeface="Arial MT"/>
              </a:rPr>
              <a:t>at</a:t>
            </a:r>
            <a:r>
              <a:rPr sz="3200" spc="-30" dirty="0">
                <a:latin typeface="Arial MT"/>
                <a:cs typeface="Arial MT"/>
              </a:rPr>
              <a:t> </a:t>
            </a:r>
            <a:r>
              <a:rPr sz="3200" dirty="0">
                <a:latin typeface="Arial MT"/>
                <a:cs typeface="Arial MT"/>
              </a:rPr>
              <a:t>a</a:t>
            </a:r>
            <a:r>
              <a:rPr sz="3200" spc="-20" dirty="0">
                <a:latin typeface="Arial MT"/>
                <a:cs typeface="Arial MT"/>
              </a:rPr>
              <a:t> </a:t>
            </a:r>
            <a:r>
              <a:rPr sz="3200" dirty="0">
                <a:latin typeface="Arial MT"/>
                <a:cs typeface="Arial MT"/>
              </a:rPr>
              <a:t>time)</a:t>
            </a:r>
            <a:r>
              <a:rPr sz="3200" spc="-50" dirty="0">
                <a:latin typeface="Arial MT"/>
                <a:cs typeface="Arial MT"/>
              </a:rPr>
              <a:t> </a:t>
            </a:r>
            <a:r>
              <a:rPr sz="3200" dirty="0">
                <a:latin typeface="Arial MT"/>
                <a:cs typeface="Arial MT"/>
              </a:rPr>
              <a:t>with</a:t>
            </a:r>
            <a:r>
              <a:rPr sz="3200" spc="-20" dirty="0">
                <a:latin typeface="Arial MT"/>
                <a:cs typeface="Arial MT"/>
              </a:rPr>
              <a:t> </a:t>
            </a:r>
            <a:r>
              <a:rPr sz="3200" dirty="0">
                <a:latin typeface="Arial MT"/>
                <a:cs typeface="Arial MT"/>
              </a:rPr>
              <a:t>a</a:t>
            </a:r>
            <a:r>
              <a:rPr sz="3200" spc="-120" dirty="0">
                <a:latin typeface="Arial MT"/>
                <a:cs typeface="Arial MT"/>
              </a:rPr>
              <a:t> </a:t>
            </a:r>
            <a:r>
              <a:rPr sz="3200" spc="-20" dirty="0">
                <a:latin typeface="Arial MT"/>
                <a:cs typeface="Arial MT"/>
              </a:rPr>
              <a:t>lead</a:t>
            </a:r>
            <a:r>
              <a:rPr sz="3200" dirty="0">
                <a:latin typeface="Arial MT"/>
                <a:cs typeface="Arial MT"/>
              </a:rPr>
              <a:t>	time</a:t>
            </a:r>
            <a:r>
              <a:rPr sz="3200" spc="-50" dirty="0">
                <a:latin typeface="Arial MT"/>
                <a:cs typeface="Arial MT"/>
              </a:rPr>
              <a:t> </a:t>
            </a:r>
            <a:r>
              <a:rPr sz="3200" spc="-25" dirty="0">
                <a:latin typeface="Arial MT"/>
                <a:cs typeface="Arial MT"/>
              </a:rPr>
              <a:t>of </a:t>
            </a:r>
            <a:r>
              <a:rPr sz="3200" dirty="0">
                <a:latin typeface="Arial MT"/>
                <a:cs typeface="Arial MT"/>
              </a:rPr>
              <a:t>minutes</a:t>
            </a:r>
            <a:r>
              <a:rPr sz="3200" spc="-90" dirty="0">
                <a:latin typeface="Arial MT"/>
                <a:cs typeface="Arial MT"/>
              </a:rPr>
              <a:t> </a:t>
            </a:r>
            <a:r>
              <a:rPr sz="3200" dirty="0">
                <a:latin typeface="Arial MT"/>
                <a:cs typeface="Arial MT"/>
              </a:rPr>
              <a:t>rather</a:t>
            </a:r>
            <a:r>
              <a:rPr sz="3200" spc="-90" dirty="0">
                <a:latin typeface="Arial MT"/>
                <a:cs typeface="Arial MT"/>
              </a:rPr>
              <a:t> </a:t>
            </a:r>
            <a:r>
              <a:rPr sz="3200" dirty="0">
                <a:latin typeface="Arial MT"/>
                <a:cs typeface="Arial MT"/>
              </a:rPr>
              <a:t>than</a:t>
            </a:r>
            <a:r>
              <a:rPr sz="3200" spc="-110" dirty="0">
                <a:latin typeface="Arial MT"/>
                <a:cs typeface="Arial MT"/>
              </a:rPr>
              <a:t> </a:t>
            </a:r>
            <a:r>
              <a:rPr sz="3200" spc="-10" dirty="0">
                <a:latin typeface="Arial MT"/>
                <a:cs typeface="Arial MT"/>
              </a:rPr>
              <a:t>weeks</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509635" cy="3644900"/>
          </a:xfrm>
          <a:prstGeom prst="rect">
            <a:avLst/>
          </a:prstGeom>
        </p:spPr>
        <p:txBody>
          <a:bodyPr vert="horz" wrap="square" lIns="0" tIns="13335" rIns="0" bIns="0" rtlCol="0">
            <a:spAutoFit/>
          </a:bodyPr>
          <a:lstStyle/>
          <a:p>
            <a:pPr marL="355600" marR="930910" indent="-343535">
              <a:lnSpc>
                <a:spcPct val="100000"/>
              </a:lnSpc>
              <a:spcBef>
                <a:spcPts val="105"/>
              </a:spcBef>
              <a:buClr>
                <a:srgbClr val="2C7B9F"/>
              </a:buClr>
              <a:buSzPct val="84375"/>
              <a:buFont typeface="Arial MT"/>
              <a:buChar char="•"/>
              <a:tabLst>
                <a:tab pos="355600" algn="l"/>
              </a:tabLst>
            </a:pPr>
            <a:r>
              <a:rPr sz="3200" dirty="0">
                <a:latin typeface="Arial MT"/>
                <a:cs typeface="Arial MT"/>
              </a:rPr>
              <a:t>This</a:t>
            </a:r>
            <a:r>
              <a:rPr sz="3200" spc="-70" dirty="0">
                <a:latin typeface="Arial MT"/>
                <a:cs typeface="Arial MT"/>
              </a:rPr>
              <a:t> </a:t>
            </a:r>
            <a:r>
              <a:rPr sz="3200" dirty="0">
                <a:latin typeface="Arial MT"/>
                <a:cs typeface="Arial MT"/>
              </a:rPr>
              <a:t>allows</a:t>
            </a:r>
            <a:r>
              <a:rPr sz="3200" spc="-60" dirty="0">
                <a:latin typeface="Arial MT"/>
                <a:cs typeface="Arial MT"/>
              </a:rPr>
              <a:t> </a:t>
            </a:r>
            <a:r>
              <a:rPr sz="3200" dirty="0">
                <a:latin typeface="Arial MT"/>
                <a:cs typeface="Arial MT"/>
              </a:rPr>
              <a:t>the</a:t>
            </a:r>
            <a:r>
              <a:rPr sz="3200" spc="-50" dirty="0">
                <a:latin typeface="Arial MT"/>
                <a:cs typeface="Arial MT"/>
              </a:rPr>
              <a:t> </a:t>
            </a:r>
            <a:r>
              <a:rPr sz="3200" dirty="0">
                <a:latin typeface="Arial MT"/>
                <a:cs typeface="Arial MT"/>
              </a:rPr>
              <a:t>matching</a:t>
            </a:r>
            <a:r>
              <a:rPr sz="3200" spc="-80" dirty="0">
                <a:latin typeface="Arial MT"/>
                <a:cs typeface="Arial MT"/>
              </a:rPr>
              <a:t> </a:t>
            </a:r>
            <a:r>
              <a:rPr sz="3200" dirty="0">
                <a:latin typeface="Arial MT"/>
                <a:cs typeface="Arial MT"/>
              </a:rPr>
              <a:t>of</a:t>
            </a:r>
            <a:r>
              <a:rPr sz="3200" spc="-50" dirty="0">
                <a:latin typeface="Arial MT"/>
                <a:cs typeface="Arial MT"/>
              </a:rPr>
              <a:t> </a:t>
            </a:r>
            <a:r>
              <a:rPr sz="3200" dirty="0">
                <a:latin typeface="Arial MT"/>
                <a:cs typeface="Arial MT"/>
              </a:rPr>
              <a:t>resources</a:t>
            </a:r>
            <a:r>
              <a:rPr sz="3200" spc="-130" dirty="0">
                <a:latin typeface="Arial MT"/>
                <a:cs typeface="Arial MT"/>
              </a:rPr>
              <a:t> </a:t>
            </a:r>
            <a:r>
              <a:rPr sz="3200" spc="-25" dirty="0">
                <a:latin typeface="Arial MT"/>
                <a:cs typeface="Arial MT"/>
              </a:rPr>
              <a:t>to </a:t>
            </a:r>
            <a:r>
              <a:rPr sz="3200" dirty="0">
                <a:latin typeface="Arial MT"/>
                <a:cs typeface="Arial MT"/>
              </a:rPr>
              <a:t>workloads</a:t>
            </a:r>
            <a:r>
              <a:rPr sz="3200" spc="-70" dirty="0">
                <a:latin typeface="Arial MT"/>
                <a:cs typeface="Arial MT"/>
              </a:rPr>
              <a:t> </a:t>
            </a:r>
            <a:r>
              <a:rPr sz="3200" dirty="0">
                <a:latin typeface="Arial MT"/>
                <a:cs typeface="Arial MT"/>
              </a:rPr>
              <a:t>much</a:t>
            </a:r>
            <a:r>
              <a:rPr sz="3200" spc="-80" dirty="0">
                <a:latin typeface="Arial MT"/>
                <a:cs typeface="Arial MT"/>
              </a:rPr>
              <a:t> </a:t>
            </a:r>
            <a:r>
              <a:rPr sz="3200" dirty="0">
                <a:latin typeface="Arial MT"/>
                <a:cs typeface="Arial MT"/>
              </a:rPr>
              <a:t>more</a:t>
            </a:r>
            <a:r>
              <a:rPr sz="3200" spc="-135" dirty="0">
                <a:latin typeface="Arial MT"/>
                <a:cs typeface="Arial MT"/>
              </a:rPr>
              <a:t> </a:t>
            </a:r>
            <a:r>
              <a:rPr sz="3200" spc="-10" dirty="0">
                <a:latin typeface="Arial MT"/>
                <a:cs typeface="Arial MT"/>
              </a:rPr>
              <a:t>closely</a:t>
            </a:r>
            <a:endParaRPr sz="3200">
              <a:latin typeface="Arial MT"/>
              <a:cs typeface="Arial MT"/>
            </a:endParaRPr>
          </a:p>
          <a:p>
            <a:pPr marL="355600" marR="5080" indent="-343535">
              <a:lnSpc>
                <a:spcPct val="100000"/>
              </a:lnSpc>
              <a:spcBef>
                <a:spcPts val="805"/>
              </a:spcBef>
              <a:buClr>
                <a:srgbClr val="2C7B9F"/>
              </a:buClr>
              <a:buSzPct val="84375"/>
              <a:buChar char="•"/>
              <a:tabLst>
                <a:tab pos="355600" algn="l"/>
                <a:tab pos="7682865" algn="l"/>
              </a:tabLst>
            </a:pPr>
            <a:r>
              <a:rPr sz="3200" dirty="0">
                <a:latin typeface="Arial MT"/>
                <a:cs typeface="Arial MT"/>
              </a:rPr>
              <a:t>Server</a:t>
            </a:r>
            <a:r>
              <a:rPr sz="3200" spc="-70" dirty="0">
                <a:latin typeface="Arial MT"/>
                <a:cs typeface="Arial MT"/>
              </a:rPr>
              <a:t> </a:t>
            </a:r>
            <a:r>
              <a:rPr sz="3200" dirty="0">
                <a:latin typeface="Arial MT"/>
                <a:cs typeface="Arial MT"/>
              </a:rPr>
              <a:t>utilisation</a:t>
            </a:r>
            <a:r>
              <a:rPr sz="3200" spc="-75" dirty="0">
                <a:latin typeface="Arial MT"/>
                <a:cs typeface="Arial MT"/>
              </a:rPr>
              <a:t> </a:t>
            </a:r>
            <a:r>
              <a:rPr sz="3200" dirty="0">
                <a:latin typeface="Arial MT"/>
                <a:cs typeface="Arial MT"/>
              </a:rPr>
              <a:t>in</a:t>
            </a:r>
            <a:r>
              <a:rPr sz="3200" spc="-40" dirty="0">
                <a:latin typeface="Arial MT"/>
                <a:cs typeface="Arial MT"/>
              </a:rPr>
              <a:t> </a:t>
            </a:r>
            <a:r>
              <a:rPr sz="3200" dirty="0">
                <a:latin typeface="Arial MT"/>
                <a:cs typeface="Arial MT"/>
              </a:rPr>
              <a:t>data</a:t>
            </a:r>
            <a:r>
              <a:rPr sz="3200" spc="-65" dirty="0">
                <a:latin typeface="Arial MT"/>
                <a:cs typeface="Arial MT"/>
              </a:rPr>
              <a:t> </a:t>
            </a:r>
            <a:r>
              <a:rPr sz="3200" dirty="0">
                <a:latin typeface="Arial MT"/>
                <a:cs typeface="Arial MT"/>
              </a:rPr>
              <a:t>centres</a:t>
            </a:r>
            <a:r>
              <a:rPr sz="3200" spc="-130" dirty="0">
                <a:latin typeface="Arial MT"/>
                <a:cs typeface="Arial MT"/>
              </a:rPr>
              <a:t> </a:t>
            </a:r>
            <a:r>
              <a:rPr sz="3200" spc="-10" dirty="0">
                <a:latin typeface="Arial MT"/>
                <a:cs typeface="Arial MT"/>
              </a:rPr>
              <a:t>ranges</a:t>
            </a:r>
            <a:r>
              <a:rPr sz="3200" dirty="0">
                <a:latin typeface="Arial MT"/>
                <a:cs typeface="Arial MT"/>
              </a:rPr>
              <a:t>	</a:t>
            </a:r>
            <a:r>
              <a:rPr sz="3200" spc="-20" dirty="0">
                <a:latin typeface="Arial MT"/>
                <a:cs typeface="Arial MT"/>
              </a:rPr>
              <a:t>from </a:t>
            </a:r>
            <a:r>
              <a:rPr sz="3200" dirty="0">
                <a:latin typeface="Arial MT"/>
                <a:cs typeface="Arial MT"/>
              </a:rPr>
              <a:t>5%</a:t>
            </a:r>
            <a:r>
              <a:rPr sz="3200" spc="-20" dirty="0">
                <a:latin typeface="Arial MT"/>
                <a:cs typeface="Arial MT"/>
              </a:rPr>
              <a:t> </a:t>
            </a:r>
            <a:r>
              <a:rPr sz="3200" dirty="0">
                <a:latin typeface="Arial MT"/>
                <a:cs typeface="Arial MT"/>
              </a:rPr>
              <a:t>to</a:t>
            </a:r>
            <a:r>
              <a:rPr sz="3200" spc="-75" dirty="0">
                <a:latin typeface="Arial MT"/>
                <a:cs typeface="Arial MT"/>
              </a:rPr>
              <a:t> </a:t>
            </a:r>
            <a:r>
              <a:rPr sz="3200" spc="-25" dirty="0">
                <a:latin typeface="Arial MT"/>
                <a:cs typeface="Arial MT"/>
              </a:rPr>
              <a:t>20%</a:t>
            </a:r>
            <a:endParaRPr sz="3200">
              <a:latin typeface="Arial MT"/>
              <a:cs typeface="Arial MT"/>
            </a:endParaRPr>
          </a:p>
          <a:p>
            <a:pPr marL="355600" marR="1130935" indent="-343535">
              <a:lnSpc>
                <a:spcPct val="100000"/>
              </a:lnSpc>
              <a:spcBef>
                <a:spcPts val="805"/>
              </a:spcBef>
              <a:buClr>
                <a:srgbClr val="2C7B9F"/>
              </a:buClr>
              <a:buSzPct val="84375"/>
              <a:buChar char="•"/>
              <a:tabLst>
                <a:tab pos="355600" algn="l"/>
              </a:tabLst>
            </a:pPr>
            <a:r>
              <a:rPr sz="3200" dirty="0">
                <a:latin typeface="Arial MT"/>
                <a:cs typeface="Arial MT"/>
              </a:rPr>
              <a:t>In</a:t>
            </a:r>
            <a:r>
              <a:rPr sz="3200" spc="-50" dirty="0">
                <a:latin typeface="Arial MT"/>
                <a:cs typeface="Arial MT"/>
              </a:rPr>
              <a:t> </a:t>
            </a:r>
            <a:r>
              <a:rPr sz="3200" dirty="0">
                <a:latin typeface="Arial MT"/>
                <a:cs typeface="Arial MT"/>
              </a:rPr>
              <a:t>general</a:t>
            </a:r>
            <a:r>
              <a:rPr sz="3200" spc="-85" dirty="0">
                <a:latin typeface="Arial MT"/>
                <a:cs typeface="Arial MT"/>
              </a:rPr>
              <a:t> </a:t>
            </a:r>
            <a:r>
              <a:rPr sz="3200" dirty="0">
                <a:latin typeface="Arial MT"/>
                <a:cs typeface="Arial MT"/>
              </a:rPr>
              <a:t>peak</a:t>
            </a:r>
            <a:r>
              <a:rPr sz="3200" spc="-75" dirty="0">
                <a:latin typeface="Arial MT"/>
                <a:cs typeface="Arial MT"/>
              </a:rPr>
              <a:t> </a:t>
            </a:r>
            <a:r>
              <a:rPr sz="3200" dirty="0">
                <a:latin typeface="Arial MT"/>
                <a:cs typeface="Arial MT"/>
              </a:rPr>
              <a:t>workloads</a:t>
            </a:r>
            <a:r>
              <a:rPr sz="3200" spc="-60" dirty="0">
                <a:latin typeface="Arial MT"/>
                <a:cs typeface="Arial MT"/>
              </a:rPr>
              <a:t> </a:t>
            </a:r>
            <a:r>
              <a:rPr sz="3200" dirty="0">
                <a:latin typeface="Arial MT"/>
                <a:cs typeface="Arial MT"/>
              </a:rPr>
              <a:t>exceeds</a:t>
            </a:r>
            <a:r>
              <a:rPr sz="3200" spc="-185" dirty="0">
                <a:latin typeface="Arial MT"/>
                <a:cs typeface="Arial MT"/>
              </a:rPr>
              <a:t> </a:t>
            </a:r>
            <a:r>
              <a:rPr sz="3200" spc="-25" dirty="0">
                <a:latin typeface="Arial MT"/>
                <a:cs typeface="Arial MT"/>
              </a:rPr>
              <a:t>the </a:t>
            </a:r>
            <a:r>
              <a:rPr sz="3200" dirty="0">
                <a:latin typeface="Arial MT"/>
                <a:cs typeface="Arial MT"/>
              </a:rPr>
              <a:t>average</a:t>
            </a:r>
            <a:r>
              <a:rPr sz="3200" spc="-75" dirty="0">
                <a:latin typeface="Arial MT"/>
                <a:cs typeface="Arial MT"/>
              </a:rPr>
              <a:t> </a:t>
            </a:r>
            <a:r>
              <a:rPr sz="3200" dirty="0">
                <a:latin typeface="Arial MT"/>
                <a:cs typeface="Arial MT"/>
              </a:rPr>
              <a:t>by</a:t>
            </a:r>
            <a:r>
              <a:rPr sz="3200" spc="-15" dirty="0">
                <a:latin typeface="Arial MT"/>
                <a:cs typeface="Arial MT"/>
              </a:rPr>
              <a:t> </a:t>
            </a:r>
            <a:r>
              <a:rPr sz="3200" dirty="0">
                <a:latin typeface="Arial MT"/>
                <a:cs typeface="Arial MT"/>
              </a:rPr>
              <a:t>factors</a:t>
            </a:r>
            <a:r>
              <a:rPr sz="3200" spc="-30" dirty="0">
                <a:latin typeface="Arial MT"/>
                <a:cs typeface="Arial MT"/>
              </a:rPr>
              <a:t> </a:t>
            </a:r>
            <a:r>
              <a:rPr sz="3200" dirty="0">
                <a:latin typeface="Arial MT"/>
                <a:cs typeface="Arial MT"/>
              </a:rPr>
              <a:t>of</a:t>
            </a:r>
            <a:r>
              <a:rPr sz="3200" spc="-15" dirty="0">
                <a:latin typeface="Arial MT"/>
                <a:cs typeface="Arial MT"/>
              </a:rPr>
              <a:t> </a:t>
            </a:r>
            <a:r>
              <a:rPr sz="3200" dirty="0">
                <a:latin typeface="Arial MT"/>
                <a:cs typeface="Arial MT"/>
              </a:rPr>
              <a:t>2</a:t>
            </a:r>
            <a:r>
              <a:rPr sz="3200" spc="-40" dirty="0">
                <a:latin typeface="Arial MT"/>
                <a:cs typeface="Arial MT"/>
              </a:rPr>
              <a:t> </a:t>
            </a:r>
            <a:r>
              <a:rPr sz="3200" dirty="0">
                <a:latin typeface="Arial MT"/>
                <a:cs typeface="Arial MT"/>
              </a:rPr>
              <a:t>to</a:t>
            </a:r>
            <a:r>
              <a:rPr sz="3200" spc="-40" dirty="0">
                <a:latin typeface="Arial MT"/>
                <a:cs typeface="Arial MT"/>
              </a:rPr>
              <a:t> </a:t>
            </a:r>
            <a:r>
              <a:rPr sz="3200" dirty="0">
                <a:latin typeface="Arial MT"/>
                <a:cs typeface="Arial MT"/>
              </a:rPr>
              <a:t>10</a:t>
            </a:r>
            <a:r>
              <a:rPr sz="3200" spc="-50" dirty="0">
                <a:latin typeface="Arial MT"/>
                <a:cs typeface="Arial MT"/>
              </a:rPr>
              <a:t> </a:t>
            </a:r>
            <a:r>
              <a:rPr sz="3200" dirty="0">
                <a:latin typeface="Arial MT"/>
                <a:cs typeface="Arial MT"/>
              </a:rPr>
              <a:t>so</a:t>
            </a:r>
            <a:r>
              <a:rPr sz="3200" spc="-25" dirty="0">
                <a:latin typeface="Arial MT"/>
                <a:cs typeface="Arial MT"/>
              </a:rPr>
              <a:t> </a:t>
            </a:r>
            <a:r>
              <a:rPr sz="3200" dirty="0">
                <a:latin typeface="Arial MT"/>
                <a:cs typeface="Arial MT"/>
              </a:rPr>
              <a:t>this</a:t>
            </a:r>
            <a:r>
              <a:rPr sz="3200" spc="-40" dirty="0">
                <a:latin typeface="Arial MT"/>
                <a:cs typeface="Arial MT"/>
              </a:rPr>
              <a:t> </a:t>
            </a:r>
            <a:r>
              <a:rPr sz="3200" spc="-25" dirty="0">
                <a:latin typeface="Arial MT"/>
                <a:cs typeface="Arial MT"/>
              </a:rPr>
              <a:t>is </a:t>
            </a:r>
            <a:r>
              <a:rPr sz="3200" dirty="0">
                <a:latin typeface="Arial MT"/>
                <a:cs typeface="Arial MT"/>
              </a:rPr>
              <a:t>consistent</a:t>
            </a:r>
            <a:r>
              <a:rPr sz="3200" spc="-65" dirty="0">
                <a:latin typeface="Arial MT"/>
                <a:cs typeface="Arial MT"/>
              </a:rPr>
              <a:t> </a:t>
            </a:r>
            <a:r>
              <a:rPr sz="3200" dirty="0">
                <a:latin typeface="Arial MT"/>
                <a:cs typeface="Arial MT"/>
              </a:rPr>
              <a:t>with</a:t>
            </a:r>
            <a:r>
              <a:rPr sz="3200" spc="-30" dirty="0">
                <a:latin typeface="Arial MT"/>
                <a:cs typeface="Arial MT"/>
              </a:rPr>
              <a:t> </a:t>
            </a:r>
            <a:r>
              <a:rPr sz="3200" spc="-10" dirty="0">
                <a:latin typeface="Arial MT"/>
                <a:cs typeface="Arial MT"/>
              </a:rPr>
              <a:t>utilisation</a:t>
            </a:r>
            <a:r>
              <a:rPr sz="3200" spc="-145" dirty="0">
                <a:latin typeface="Arial MT"/>
                <a:cs typeface="Arial MT"/>
              </a:rPr>
              <a:t> </a:t>
            </a:r>
            <a:r>
              <a:rPr sz="3200" spc="-10" dirty="0">
                <a:latin typeface="Arial MT"/>
                <a:cs typeface="Arial MT"/>
              </a:rPr>
              <a:t>levels</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12188"/>
            <a:ext cx="8637905" cy="4257675"/>
          </a:xfrm>
          <a:prstGeom prst="rect">
            <a:avLst/>
          </a:prstGeom>
        </p:spPr>
        <p:txBody>
          <a:bodyPr vert="horz" wrap="square" lIns="0" tIns="61594" rIns="0" bIns="0" rtlCol="0">
            <a:spAutoFit/>
          </a:bodyPr>
          <a:lstStyle/>
          <a:p>
            <a:pPr marL="355600" marR="1189990" indent="-343535">
              <a:lnSpc>
                <a:spcPct val="90000"/>
              </a:lnSpc>
              <a:spcBef>
                <a:spcPts val="484"/>
              </a:spcBef>
              <a:buClr>
                <a:srgbClr val="2C7B9F"/>
              </a:buClr>
              <a:buSzPct val="84375"/>
              <a:buFont typeface="Arial MT"/>
              <a:buChar char="•"/>
              <a:tabLst>
                <a:tab pos="355600" algn="l"/>
              </a:tabLst>
            </a:pPr>
            <a:r>
              <a:rPr sz="3200" dirty="0">
                <a:highlight>
                  <a:srgbClr val="FFFF00"/>
                </a:highlight>
                <a:latin typeface="Arial MT"/>
                <a:cs typeface="Arial MT"/>
              </a:rPr>
              <a:t>The</a:t>
            </a:r>
            <a:r>
              <a:rPr sz="3200" spc="-55" dirty="0">
                <a:highlight>
                  <a:srgbClr val="FFFF00"/>
                </a:highlight>
                <a:latin typeface="Arial MT"/>
                <a:cs typeface="Arial MT"/>
              </a:rPr>
              <a:t> </a:t>
            </a:r>
            <a:r>
              <a:rPr sz="3200" dirty="0">
                <a:highlight>
                  <a:srgbClr val="FFFF00"/>
                </a:highlight>
                <a:latin typeface="Arial MT"/>
                <a:cs typeface="Arial MT"/>
              </a:rPr>
              <a:t>key</a:t>
            </a:r>
            <a:r>
              <a:rPr sz="3200" spc="-30" dirty="0">
                <a:highlight>
                  <a:srgbClr val="FFFF00"/>
                </a:highlight>
                <a:latin typeface="Arial MT"/>
                <a:cs typeface="Arial MT"/>
              </a:rPr>
              <a:t> </a:t>
            </a:r>
            <a:r>
              <a:rPr sz="3200" dirty="0">
                <a:highlight>
                  <a:srgbClr val="FFFF00"/>
                </a:highlight>
                <a:latin typeface="Arial MT"/>
                <a:cs typeface="Arial MT"/>
              </a:rPr>
              <a:t>advantage</a:t>
            </a:r>
            <a:r>
              <a:rPr sz="3200" spc="-90" dirty="0">
                <a:highlight>
                  <a:srgbClr val="FFFF00"/>
                </a:highlight>
                <a:latin typeface="Arial MT"/>
                <a:cs typeface="Arial MT"/>
              </a:rPr>
              <a:t> </a:t>
            </a:r>
            <a:r>
              <a:rPr sz="3200" dirty="0">
                <a:highlight>
                  <a:srgbClr val="FFFF00"/>
                </a:highlight>
                <a:latin typeface="Arial MT"/>
                <a:cs typeface="Arial MT"/>
              </a:rPr>
              <a:t>of</a:t>
            </a:r>
            <a:r>
              <a:rPr sz="3200" spc="-30" dirty="0">
                <a:highlight>
                  <a:srgbClr val="FFFF00"/>
                </a:highlight>
                <a:latin typeface="Arial MT"/>
                <a:cs typeface="Arial MT"/>
              </a:rPr>
              <a:t> </a:t>
            </a:r>
            <a:r>
              <a:rPr sz="3200" dirty="0">
                <a:highlight>
                  <a:srgbClr val="FFFF00"/>
                </a:highlight>
                <a:latin typeface="Arial MT"/>
                <a:cs typeface="Arial MT"/>
              </a:rPr>
              <a:t>elasticity</a:t>
            </a:r>
            <a:r>
              <a:rPr sz="3200" spc="-80" dirty="0">
                <a:highlight>
                  <a:srgbClr val="FFFF00"/>
                </a:highlight>
                <a:latin typeface="Arial MT"/>
                <a:cs typeface="Arial MT"/>
              </a:rPr>
              <a:t> </a:t>
            </a:r>
            <a:r>
              <a:rPr sz="3200" dirty="0">
                <a:highlight>
                  <a:srgbClr val="FFFF00"/>
                </a:highlight>
                <a:latin typeface="Arial MT"/>
                <a:cs typeface="Arial MT"/>
              </a:rPr>
              <a:t>is</a:t>
            </a:r>
            <a:r>
              <a:rPr sz="3200" spc="-35" dirty="0">
                <a:highlight>
                  <a:srgbClr val="FFFF00"/>
                </a:highlight>
                <a:latin typeface="Arial MT"/>
                <a:cs typeface="Arial MT"/>
              </a:rPr>
              <a:t> </a:t>
            </a:r>
            <a:r>
              <a:rPr sz="3200" dirty="0">
                <a:highlight>
                  <a:srgbClr val="FFFF00"/>
                </a:highlight>
                <a:latin typeface="Arial MT"/>
                <a:cs typeface="Arial MT"/>
              </a:rPr>
              <a:t>that</a:t>
            </a:r>
            <a:r>
              <a:rPr sz="3200" spc="-60" dirty="0">
                <a:highlight>
                  <a:srgbClr val="FFFF00"/>
                </a:highlight>
                <a:latin typeface="Arial MT"/>
                <a:cs typeface="Arial MT"/>
              </a:rPr>
              <a:t> </a:t>
            </a:r>
            <a:r>
              <a:rPr sz="3200" spc="-25" dirty="0">
                <a:highlight>
                  <a:srgbClr val="FFFF00"/>
                </a:highlight>
                <a:latin typeface="Arial MT"/>
                <a:cs typeface="Arial MT"/>
              </a:rPr>
              <a:t>it </a:t>
            </a:r>
            <a:r>
              <a:rPr sz="3200" dirty="0">
                <a:highlight>
                  <a:srgbClr val="FFFF00"/>
                </a:highlight>
                <a:latin typeface="Arial MT"/>
                <a:cs typeface="Arial MT"/>
              </a:rPr>
              <a:t>reduces</a:t>
            </a:r>
            <a:r>
              <a:rPr sz="3200" spc="-55" dirty="0">
                <a:highlight>
                  <a:srgbClr val="FFFF00"/>
                </a:highlight>
                <a:latin typeface="Arial MT"/>
                <a:cs typeface="Arial MT"/>
              </a:rPr>
              <a:t> </a:t>
            </a:r>
            <a:r>
              <a:rPr sz="3200" dirty="0">
                <a:highlight>
                  <a:srgbClr val="FFFF00"/>
                </a:highlight>
                <a:latin typeface="Arial MT"/>
                <a:cs typeface="Arial MT"/>
              </a:rPr>
              <a:t>the</a:t>
            </a:r>
            <a:r>
              <a:rPr sz="3200" spc="-20" dirty="0">
                <a:highlight>
                  <a:srgbClr val="FFFF00"/>
                </a:highlight>
                <a:latin typeface="Arial MT"/>
                <a:cs typeface="Arial MT"/>
              </a:rPr>
              <a:t> </a:t>
            </a:r>
            <a:r>
              <a:rPr sz="3200" dirty="0">
                <a:highlight>
                  <a:srgbClr val="FFFF00"/>
                </a:highlight>
                <a:latin typeface="Arial MT"/>
                <a:cs typeface="Arial MT"/>
              </a:rPr>
              <a:t>risk</a:t>
            </a:r>
            <a:r>
              <a:rPr sz="3200" spc="-35" dirty="0">
                <a:highlight>
                  <a:srgbClr val="FFFF00"/>
                </a:highlight>
                <a:latin typeface="Arial MT"/>
                <a:cs typeface="Arial MT"/>
              </a:rPr>
              <a:t> </a:t>
            </a:r>
            <a:r>
              <a:rPr sz="3200" dirty="0">
                <a:highlight>
                  <a:srgbClr val="FFFF00"/>
                </a:highlight>
                <a:latin typeface="Arial MT"/>
                <a:cs typeface="Arial MT"/>
              </a:rPr>
              <a:t>of</a:t>
            </a:r>
            <a:r>
              <a:rPr sz="3200" spc="-20" dirty="0">
                <a:highlight>
                  <a:srgbClr val="FFFF00"/>
                </a:highlight>
                <a:latin typeface="Arial MT"/>
                <a:cs typeface="Arial MT"/>
              </a:rPr>
              <a:t> </a:t>
            </a:r>
            <a:r>
              <a:rPr sz="3200" spc="-10" dirty="0">
                <a:highlight>
                  <a:srgbClr val="FFFF00"/>
                </a:highlight>
                <a:latin typeface="Arial MT"/>
                <a:cs typeface="Arial MT"/>
              </a:rPr>
              <a:t>overprovisioning (underutilisation)</a:t>
            </a:r>
            <a:r>
              <a:rPr sz="3200" spc="-70" dirty="0">
                <a:highlight>
                  <a:srgbClr val="FFFF00"/>
                </a:highlight>
                <a:latin typeface="Arial MT"/>
                <a:cs typeface="Arial MT"/>
              </a:rPr>
              <a:t> </a:t>
            </a:r>
            <a:r>
              <a:rPr sz="3200" dirty="0">
                <a:highlight>
                  <a:srgbClr val="FFFF00"/>
                </a:highlight>
                <a:latin typeface="Arial MT"/>
                <a:cs typeface="Arial MT"/>
              </a:rPr>
              <a:t>and</a:t>
            </a:r>
            <a:r>
              <a:rPr sz="3200" spc="-55" dirty="0">
                <a:highlight>
                  <a:srgbClr val="FFFF00"/>
                </a:highlight>
                <a:latin typeface="Arial MT"/>
                <a:cs typeface="Arial MT"/>
              </a:rPr>
              <a:t> </a:t>
            </a:r>
            <a:r>
              <a:rPr sz="3200" spc="-10" dirty="0">
                <a:highlight>
                  <a:srgbClr val="FFFF00"/>
                </a:highlight>
                <a:latin typeface="Arial MT"/>
                <a:cs typeface="Arial MT"/>
              </a:rPr>
              <a:t>underprovisioning (saturation)</a:t>
            </a:r>
            <a:endParaRPr sz="3200" dirty="0">
              <a:highlight>
                <a:srgbClr val="FFFF00"/>
              </a:highlight>
              <a:latin typeface="Arial MT"/>
              <a:cs typeface="Arial MT"/>
            </a:endParaRPr>
          </a:p>
          <a:p>
            <a:pPr marL="355600" marR="5080" indent="-343535">
              <a:lnSpc>
                <a:spcPct val="91100"/>
              </a:lnSpc>
              <a:spcBef>
                <a:spcPts val="810"/>
              </a:spcBef>
              <a:buClr>
                <a:srgbClr val="2C7B9F"/>
              </a:buClr>
              <a:buSzPct val="84375"/>
              <a:buChar char="•"/>
              <a:tabLst>
                <a:tab pos="355600" algn="l"/>
                <a:tab pos="7381875" algn="l"/>
              </a:tabLst>
            </a:pPr>
            <a:r>
              <a:rPr sz="3200" dirty="0">
                <a:latin typeface="Arial MT"/>
                <a:cs typeface="Arial MT"/>
              </a:rPr>
              <a:t>Most</a:t>
            </a:r>
            <a:r>
              <a:rPr sz="3200" spc="-90" dirty="0">
                <a:latin typeface="Arial MT"/>
                <a:cs typeface="Arial MT"/>
              </a:rPr>
              <a:t> </a:t>
            </a:r>
            <a:r>
              <a:rPr sz="3200" dirty="0">
                <a:latin typeface="Arial MT"/>
                <a:cs typeface="Arial MT"/>
              </a:rPr>
              <a:t>users</a:t>
            </a:r>
            <a:r>
              <a:rPr sz="3200" spc="-80" dirty="0">
                <a:latin typeface="Arial MT"/>
                <a:cs typeface="Arial MT"/>
              </a:rPr>
              <a:t> </a:t>
            </a:r>
            <a:r>
              <a:rPr sz="3200" dirty="0">
                <a:latin typeface="Arial MT"/>
                <a:cs typeface="Arial MT"/>
              </a:rPr>
              <a:t>deliberately</a:t>
            </a:r>
            <a:r>
              <a:rPr sz="3200" spc="-95" dirty="0">
                <a:latin typeface="Arial MT"/>
                <a:cs typeface="Arial MT"/>
              </a:rPr>
              <a:t> </a:t>
            </a:r>
            <a:r>
              <a:rPr sz="3200" dirty="0">
                <a:latin typeface="Arial MT"/>
                <a:cs typeface="Arial MT"/>
              </a:rPr>
              <a:t>provision</a:t>
            </a:r>
            <a:r>
              <a:rPr sz="3200" spc="-100" dirty="0">
                <a:latin typeface="Arial MT"/>
                <a:cs typeface="Arial MT"/>
              </a:rPr>
              <a:t> </a:t>
            </a:r>
            <a:r>
              <a:rPr sz="3200" dirty="0">
                <a:latin typeface="Arial MT"/>
                <a:cs typeface="Arial MT"/>
              </a:rPr>
              <a:t>for</a:t>
            </a:r>
            <a:r>
              <a:rPr sz="3200" spc="-120" dirty="0">
                <a:latin typeface="Arial MT"/>
                <a:cs typeface="Arial MT"/>
              </a:rPr>
              <a:t> </a:t>
            </a:r>
            <a:r>
              <a:rPr sz="3200" spc="-25" dirty="0">
                <a:latin typeface="Arial MT"/>
                <a:cs typeface="Arial MT"/>
              </a:rPr>
              <a:t>the </a:t>
            </a:r>
            <a:r>
              <a:rPr sz="3200" dirty="0">
                <a:latin typeface="Arial MT"/>
                <a:cs typeface="Arial MT"/>
              </a:rPr>
              <a:t>expected</a:t>
            </a:r>
            <a:r>
              <a:rPr sz="3200" spc="-55" dirty="0">
                <a:latin typeface="Arial MT"/>
                <a:cs typeface="Arial MT"/>
              </a:rPr>
              <a:t> </a:t>
            </a:r>
            <a:r>
              <a:rPr sz="3200" dirty="0">
                <a:latin typeface="Arial MT"/>
                <a:cs typeface="Arial MT"/>
              </a:rPr>
              <a:t>peak</a:t>
            </a:r>
            <a:r>
              <a:rPr sz="3200" spc="-65" dirty="0">
                <a:latin typeface="Arial MT"/>
                <a:cs typeface="Arial MT"/>
              </a:rPr>
              <a:t> </a:t>
            </a:r>
            <a:r>
              <a:rPr sz="3200" dirty="0">
                <a:latin typeface="Arial MT"/>
                <a:cs typeface="Arial MT"/>
              </a:rPr>
              <a:t>and</a:t>
            </a:r>
            <a:r>
              <a:rPr sz="3200" spc="-55" dirty="0">
                <a:latin typeface="Arial MT"/>
                <a:cs typeface="Arial MT"/>
              </a:rPr>
              <a:t> </a:t>
            </a:r>
            <a:r>
              <a:rPr sz="3200" dirty="0">
                <a:latin typeface="Arial MT"/>
                <a:cs typeface="Arial MT"/>
              </a:rPr>
              <a:t>allow</a:t>
            </a:r>
            <a:r>
              <a:rPr sz="3200" spc="-55" dirty="0">
                <a:latin typeface="Arial MT"/>
                <a:cs typeface="Arial MT"/>
              </a:rPr>
              <a:t> </a:t>
            </a:r>
            <a:r>
              <a:rPr sz="3200" dirty="0">
                <a:latin typeface="Arial MT"/>
                <a:cs typeface="Arial MT"/>
              </a:rPr>
              <a:t>resources</a:t>
            </a:r>
            <a:r>
              <a:rPr sz="3200" spc="-60" dirty="0">
                <a:latin typeface="Arial MT"/>
                <a:cs typeface="Arial MT"/>
              </a:rPr>
              <a:t> </a:t>
            </a:r>
            <a:r>
              <a:rPr sz="3200" spc="-25" dirty="0">
                <a:latin typeface="Arial MT"/>
                <a:cs typeface="Arial MT"/>
              </a:rPr>
              <a:t>to</a:t>
            </a:r>
            <a:r>
              <a:rPr sz="3200" dirty="0">
                <a:latin typeface="Arial MT"/>
                <a:cs typeface="Arial MT"/>
              </a:rPr>
              <a:t>	</a:t>
            </a:r>
            <a:r>
              <a:rPr sz="3200" spc="-10" dirty="0">
                <a:latin typeface="Arial MT"/>
                <a:cs typeface="Arial MT"/>
              </a:rPr>
              <a:t>remain </a:t>
            </a:r>
            <a:r>
              <a:rPr sz="3200" dirty="0">
                <a:latin typeface="Arial MT"/>
                <a:cs typeface="Arial MT"/>
              </a:rPr>
              <a:t>idle</a:t>
            </a:r>
            <a:r>
              <a:rPr sz="3200" spc="-55" dirty="0">
                <a:latin typeface="Arial MT"/>
                <a:cs typeface="Arial MT"/>
              </a:rPr>
              <a:t> </a:t>
            </a:r>
            <a:r>
              <a:rPr sz="3200" dirty="0">
                <a:latin typeface="Arial MT"/>
                <a:cs typeface="Arial MT"/>
              </a:rPr>
              <a:t>at</a:t>
            </a:r>
            <a:r>
              <a:rPr sz="3200" spc="-25" dirty="0">
                <a:latin typeface="Arial MT"/>
                <a:cs typeface="Arial MT"/>
              </a:rPr>
              <a:t> </a:t>
            </a:r>
            <a:r>
              <a:rPr sz="3200" dirty="0">
                <a:latin typeface="Arial MT"/>
                <a:cs typeface="Arial MT"/>
              </a:rPr>
              <a:t>non</a:t>
            </a:r>
            <a:r>
              <a:rPr sz="3200" spc="-50" dirty="0">
                <a:latin typeface="Arial MT"/>
                <a:cs typeface="Arial MT"/>
              </a:rPr>
              <a:t> </a:t>
            </a:r>
            <a:r>
              <a:rPr sz="3200" dirty="0">
                <a:latin typeface="Arial MT"/>
                <a:cs typeface="Arial MT"/>
              </a:rPr>
              <a:t>peak</a:t>
            </a:r>
            <a:r>
              <a:rPr sz="3200" spc="-90" dirty="0">
                <a:latin typeface="Arial MT"/>
                <a:cs typeface="Arial MT"/>
              </a:rPr>
              <a:t> </a:t>
            </a:r>
            <a:r>
              <a:rPr sz="3200" spc="-20" dirty="0">
                <a:latin typeface="Arial MT"/>
                <a:cs typeface="Arial MT"/>
              </a:rPr>
              <a:t>times</a:t>
            </a:r>
            <a:endParaRPr sz="3200" dirty="0">
              <a:latin typeface="Arial MT"/>
              <a:cs typeface="Arial MT"/>
            </a:endParaRPr>
          </a:p>
          <a:p>
            <a:pPr marL="355600" marR="1309370" indent="-343535">
              <a:lnSpc>
                <a:spcPts val="3500"/>
              </a:lnSpc>
              <a:spcBef>
                <a:spcPts val="860"/>
              </a:spcBef>
              <a:buClr>
                <a:srgbClr val="2C7B9F"/>
              </a:buClr>
              <a:buSzPct val="84375"/>
              <a:buChar char="•"/>
              <a:tabLst>
                <a:tab pos="355600" algn="l"/>
              </a:tabLst>
            </a:pPr>
            <a:r>
              <a:rPr sz="3200" dirty="0">
                <a:latin typeface="Arial MT"/>
                <a:cs typeface="Arial MT"/>
              </a:rPr>
              <a:t>The</a:t>
            </a:r>
            <a:r>
              <a:rPr sz="3200" spc="-75" dirty="0">
                <a:latin typeface="Arial MT"/>
                <a:cs typeface="Arial MT"/>
              </a:rPr>
              <a:t> </a:t>
            </a:r>
            <a:r>
              <a:rPr sz="3200" dirty="0">
                <a:latin typeface="Arial MT"/>
                <a:cs typeface="Arial MT"/>
              </a:rPr>
              <a:t>more</a:t>
            </a:r>
            <a:r>
              <a:rPr sz="3200" spc="-85" dirty="0">
                <a:latin typeface="Arial MT"/>
                <a:cs typeface="Arial MT"/>
              </a:rPr>
              <a:t> </a:t>
            </a:r>
            <a:r>
              <a:rPr sz="3200" dirty="0">
                <a:latin typeface="Arial MT"/>
                <a:cs typeface="Arial MT"/>
              </a:rPr>
              <a:t>pronounced</a:t>
            </a:r>
            <a:r>
              <a:rPr sz="3200" spc="-95" dirty="0">
                <a:latin typeface="Arial MT"/>
                <a:cs typeface="Arial MT"/>
              </a:rPr>
              <a:t> </a:t>
            </a:r>
            <a:r>
              <a:rPr sz="3200" dirty="0">
                <a:latin typeface="Arial MT"/>
                <a:cs typeface="Arial MT"/>
              </a:rPr>
              <a:t>the</a:t>
            </a:r>
            <a:r>
              <a:rPr sz="3200" spc="-55" dirty="0">
                <a:latin typeface="Arial MT"/>
                <a:cs typeface="Arial MT"/>
              </a:rPr>
              <a:t> </a:t>
            </a:r>
            <a:r>
              <a:rPr sz="3200" dirty="0">
                <a:latin typeface="Arial MT"/>
                <a:cs typeface="Arial MT"/>
              </a:rPr>
              <a:t>variation</a:t>
            </a:r>
            <a:r>
              <a:rPr sz="3200" spc="-180" dirty="0">
                <a:latin typeface="Arial MT"/>
                <a:cs typeface="Arial MT"/>
              </a:rPr>
              <a:t> </a:t>
            </a:r>
            <a:r>
              <a:rPr sz="3200" spc="-25" dirty="0">
                <a:latin typeface="Arial MT"/>
                <a:cs typeface="Arial MT"/>
              </a:rPr>
              <a:t>the </a:t>
            </a:r>
            <a:r>
              <a:rPr sz="3200" dirty="0">
                <a:latin typeface="Arial MT"/>
                <a:cs typeface="Arial MT"/>
              </a:rPr>
              <a:t>greater</a:t>
            </a:r>
            <a:r>
              <a:rPr sz="3200" spc="-90" dirty="0">
                <a:latin typeface="Arial MT"/>
                <a:cs typeface="Arial MT"/>
              </a:rPr>
              <a:t> </a:t>
            </a:r>
            <a:r>
              <a:rPr sz="3200" dirty="0">
                <a:latin typeface="Arial MT"/>
                <a:cs typeface="Arial MT"/>
              </a:rPr>
              <a:t>the</a:t>
            </a:r>
            <a:r>
              <a:rPr sz="3200" spc="-90" dirty="0">
                <a:latin typeface="Arial MT"/>
                <a:cs typeface="Arial MT"/>
              </a:rPr>
              <a:t> </a:t>
            </a:r>
            <a:r>
              <a:rPr sz="3200" spc="-10" dirty="0">
                <a:latin typeface="Arial MT"/>
                <a:cs typeface="Arial MT"/>
              </a:rPr>
              <a:t>waste</a:t>
            </a:r>
            <a:endParaRPr sz="3200" dirty="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49</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12188"/>
            <a:ext cx="8527415" cy="4128135"/>
          </a:xfrm>
          <a:prstGeom prst="rect">
            <a:avLst/>
          </a:prstGeom>
        </p:spPr>
        <p:txBody>
          <a:bodyPr vert="horz" wrap="square" lIns="0" tIns="61594" rIns="0" bIns="0" rtlCol="0">
            <a:spAutoFit/>
          </a:bodyPr>
          <a:lstStyle/>
          <a:p>
            <a:pPr marL="355600" marR="5080" indent="-343535">
              <a:lnSpc>
                <a:spcPct val="90000"/>
              </a:lnSpc>
              <a:spcBef>
                <a:spcPts val="484"/>
              </a:spcBef>
              <a:buClr>
                <a:srgbClr val="2C7B9F"/>
              </a:buClr>
              <a:buSzPct val="84375"/>
              <a:buFont typeface="Arial MT"/>
              <a:buChar char="•"/>
              <a:tabLst>
                <a:tab pos="355600" algn="l"/>
                <a:tab pos="7360920" algn="l"/>
              </a:tabLst>
            </a:pPr>
            <a:r>
              <a:rPr sz="3200" dirty="0">
                <a:latin typeface="Arial MT"/>
                <a:cs typeface="Arial MT"/>
              </a:rPr>
              <a:t>Consider</a:t>
            </a:r>
            <a:r>
              <a:rPr sz="3200" spc="-60" dirty="0">
                <a:latin typeface="Arial MT"/>
                <a:cs typeface="Arial MT"/>
              </a:rPr>
              <a:t> </a:t>
            </a:r>
            <a:r>
              <a:rPr sz="3200" dirty="0">
                <a:latin typeface="Arial MT"/>
                <a:cs typeface="Arial MT"/>
              </a:rPr>
              <a:t>the</a:t>
            </a:r>
            <a:r>
              <a:rPr sz="3200" spc="-65" dirty="0">
                <a:latin typeface="Arial MT"/>
                <a:cs typeface="Arial MT"/>
              </a:rPr>
              <a:t> </a:t>
            </a:r>
            <a:r>
              <a:rPr sz="3200" dirty="0">
                <a:latin typeface="Arial MT"/>
                <a:cs typeface="Arial MT"/>
              </a:rPr>
              <a:t>following</a:t>
            </a:r>
            <a:r>
              <a:rPr sz="3200" spc="-80" dirty="0">
                <a:latin typeface="Arial MT"/>
                <a:cs typeface="Arial MT"/>
              </a:rPr>
              <a:t> </a:t>
            </a:r>
            <a:r>
              <a:rPr sz="3200" dirty="0">
                <a:latin typeface="Arial MT"/>
                <a:cs typeface="Arial MT"/>
              </a:rPr>
              <a:t>example</a:t>
            </a:r>
            <a:r>
              <a:rPr sz="3200" spc="-90" dirty="0">
                <a:latin typeface="Arial MT"/>
                <a:cs typeface="Arial MT"/>
              </a:rPr>
              <a:t> </a:t>
            </a:r>
            <a:r>
              <a:rPr sz="3200" spc="-10" dirty="0">
                <a:latin typeface="Arial MT"/>
                <a:cs typeface="Arial MT"/>
              </a:rPr>
              <a:t>which</a:t>
            </a:r>
            <a:r>
              <a:rPr sz="3200" dirty="0">
                <a:latin typeface="Arial MT"/>
                <a:cs typeface="Arial MT"/>
              </a:rPr>
              <a:t>	</a:t>
            </a:r>
            <a:r>
              <a:rPr sz="3200" spc="-10" dirty="0">
                <a:latin typeface="Arial MT"/>
                <a:cs typeface="Arial MT"/>
              </a:rPr>
              <a:t>shows </a:t>
            </a:r>
            <a:r>
              <a:rPr sz="3200" dirty="0">
                <a:latin typeface="Arial MT"/>
                <a:cs typeface="Arial MT"/>
              </a:rPr>
              <a:t>how</a:t>
            </a:r>
            <a:r>
              <a:rPr sz="3200" spc="-60" dirty="0">
                <a:latin typeface="Arial MT"/>
                <a:cs typeface="Arial MT"/>
              </a:rPr>
              <a:t> </a:t>
            </a:r>
            <a:r>
              <a:rPr sz="3200" dirty="0">
                <a:latin typeface="Arial MT"/>
                <a:cs typeface="Arial MT"/>
              </a:rPr>
              <a:t>elasticity</a:t>
            </a:r>
            <a:r>
              <a:rPr sz="3200" spc="-90" dirty="0">
                <a:latin typeface="Arial MT"/>
                <a:cs typeface="Arial MT"/>
              </a:rPr>
              <a:t> </a:t>
            </a:r>
            <a:r>
              <a:rPr sz="3200" dirty="0">
                <a:latin typeface="Arial MT"/>
                <a:cs typeface="Arial MT"/>
              </a:rPr>
              <a:t>can</a:t>
            </a:r>
            <a:r>
              <a:rPr sz="3200" spc="-50" dirty="0">
                <a:latin typeface="Arial MT"/>
                <a:cs typeface="Arial MT"/>
              </a:rPr>
              <a:t> </a:t>
            </a:r>
            <a:r>
              <a:rPr sz="3200" dirty="0">
                <a:latin typeface="Arial MT"/>
                <a:cs typeface="Arial MT"/>
              </a:rPr>
              <a:t>reduce</a:t>
            </a:r>
            <a:r>
              <a:rPr sz="3200" spc="-50" dirty="0">
                <a:latin typeface="Arial MT"/>
                <a:cs typeface="Arial MT"/>
              </a:rPr>
              <a:t> </a:t>
            </a:r>
            <a:r>
              <a:rPr sz="3200" dirty="0">
                <a:latin typeface="Arial MT"/>
                <a:cs typeface="Arial MT"/>
              </a:rPr>
              <a:t>waste</a:t>
            </a:r>
            <a:r>
              <a:rPr sz="3200" spc="-40" dirty="0">
                <a:latin typeface="Arial MT"/>
                <a:cs typeface="Arial MT"/>
              </a:rPr>
              <a:t> </a:t>
            </a:r>
            <a:r>
              <a:rPr sz="3200" dirty="0">
                <a:latin typeface="Arial MT"/>
                <a:cs typeface="Arial MT"/>
              </a:rPr>
              <a:t>and</a:t>
            </a:r>
            <a:r>
              <a:rPr sz="3200" spc="-55" dirty="0">
                <a:latin typeface="Arial MT"/>
                <a:cs typeface="Arial MT"/>
              </a:rPr>
              <a:t> </a:t>
            </a:r>
            <a:r>
              <a:rPr sz="3200" spc="-10" dirty="0">
                <a:latin typeface="Arial MT"/>
                <a:cs typeface="Arial MT"/>
              </a:rPr>
              <a:t>thus, </a:t>
            </a:r>
            <a:r>
              <a:rPr sz="3200" dirty="0">
                <a:latin typeface="Arial MT"/>
                <a:cs typeface="Arial MT"/>
              </a:rPr>
              <a:t>more</a:t>
            </a:r>
            <a:r>
              <a:rPr sz="3200" spc="-80" dirty="0">
                <a:latin typeface="Arial MT"/>
                <a:cs typeface="Arial MT"/>
              </a:rPr>
              <a:t> </a:t>
            </a:r>
            <a:r>
              <a:rPr sz="3200" dirty="0">
                <a:latin typeface="Arial MT"/>
                <a:cs typeface="Arial MT"/>
              </a:rPr>
              <a:t>than</a:t>
            </a:r>
            <a:r>
              <a:rPr sz="3200" spc="-65" dirty="0">
                <a:latin typeface="Arial MT"/>
                <a:cs typeface="Arial MT"/>
              </a:rPr>
              <a:t> </a:t>
            </a:r>
            <a:r>
              <a:rPr sz="3200" dirty="0">
                <a:latin typeface="Arial MT"/>
                <a:cs typeface="Arial MT"/>
              </a:rPr>
              <a:t>compensate</a:t>
            </a:r>
            <a:r>
              <a:rPr sz="3200" spc="-80" dirty="0">
                <a:latin typeface="Arial MT"/>
                <a:cs typeface="Arial MT"/>
              </a:rPr>
              <a:t> </a:t>
            </a:r>
            <a:r>
              <a:rPr sz="3200" dirty="0">
                <a:latin typeface="Arial MT"/>
                <a:cs typeface="Arial MT"/>
              </a:rPr>
              <a:t>for</a:t>
            </a:r>
            <a:r>
              <a:rPr sz="3200" spc="-60" dirty="0">
                <a:latin typeface="Arial MT"/>
                <a:cs typeface="Arial MT"/>
              </a:rPr>
              <a:t> </a:t>
            </a:r>
            <a:r>
              <a:rPr sz="3200" dirty="0">
                <a:latin typeface="Arial MT"/>
                <a:cs typeface="Arial MT"/>
              </a:rPr>
              <a:t>the</a:t>
            </a:r>
            <a:r>
              <a:rPr sz="3200" spc="-45" dirty="0">
                <a:latin typeface="Arial MT"/>
                <a:cs typeface="Arial MT"/>
              </a:rPr>
              <a:t> </a:t>
            </a:r>
            <a:r>
              <a:rPr sz="3200" spc="-10" dirty="0">
                <a:latin typeface="Arial MT"/>
                <a:cs typeface="Arial MT"/>
              </a:rPr>
              <a:t>potentially </a:t>
            </a:r>
            <a:r>
              <a:rPr sz="3200" dirty="0">
                <a:latin typeface="Arial MT"/>
                <a:cs typeface="Arial MT"/>
              </a:rPr>
              <a:t>higher</a:t>
            </a:r>
            <a:r>
              <a:rPr sz="3200" spc="-70" dirty="0">
                <a:latin typeface="Arial MT"/>
                <a:cs typeface="Arial MT"/>
              </a:rPr>
              <a:t> </a:t>
            </a:r>
            <a:r>
              <a:rPr sz="3200" dirty="0">
                <a:latin typeface="Arial MT"/>
                <a:cs typeface="Arial MT"/>
              </a:rPr>
              <a:t>cost</a:t>
            </a:r>
            <a:r>
              <a:rPr sz="3200" spc="-35" dirty="0">
                <a:latin typeface="Arial MT"/>
                <a:cs typeface="Arial MT"/>
              </a:rPr>
              <a:t> </a:t>
            </a:r>
            <a:r>
              <a:rPr sz="3200" dirty="0">
                <a:latin typeface="Arial MT"/>
                <a:cs typeface="Arial MT"/>
              </a:rPr>
              <a:t>per</a:t>
            </a:r>
            <a:r>
              <a:rPr sz="3200" spc="-45" dirty="0">
                <a:latin typeface="Arial MT"/>
                <a:cs typeface="Arial MT"/>
              </a:rPr>
              <a:t> </a:t>
            </a:r>
            <a:r>
              <a:rPr sz="3200" dirty="0">
                <a:latin typeface="Arial MT"/>
                <a:cs typeface="Arial MT"/>
              </a:rPr>
              <a:t>server-hour</a:t>
            </a:r>
            <a:r>
              <a:rPr sz="3200" spc="-165" dirty="0">
                <a:latin typeface="Arial MT"/>
                <a:cs typeface="Arial MT"/>
              </a:rPr>
              <a:t> </a:t>
            </a:r>
            <a:r>
              <a:rPr sz="3200" dirty="0">
                <a:latin typeface="Arial MT"/>
                <a:cs typeface="Arial MT"/>
              </a:rPr>
              <a:t>of</a:t>
            </a:r>
            <a:r>
              <a:rPr sz="3200" spc="-25" dirty="0">
                <a:latin typeface="Arial MT"/>
                <a:cs typeface="Arial MT"/>
              </a:rPr>
              <a:t> </a:t>
            </a:r>
            <a:r>
              <a:rPr sz="3200" dirty="0">
                <a:latin typeface="Arial MT"/>
                <a:cs typeface="Arial MT"/>
              </a:rPr>
              <a:t>pay</a:t>
            </a:r>
            <a:r>
              <a:rPr sz="3200" spc="-40" dirty="0">
                <a:latin typeface="Arial MT"/>
                <a:cs typeface="Arial MT"/>
              </a:rPr>
              <a:t> </a:t>
            </a:r>
            <a:r>
              <a:rPr sz="3200" dirty="0">
                <a:latin typeface="Arial MT"/>
                <a:cs typeface="Arial MT"/>
              </a:rPr>
              <a:t>as</a:t>
            </a:r>
            <a:r>
              <a:rPr sz="3200" spc="-30" dirty="0">
                <a:latin typeface="Arial MT"/>
                <a:cs typeface="Arial MT"/>
              </a:rPr>
              <a:t> </a:t>
            </a:r>
            <a:r>
              <a:rPr sz="3200" dirty="0">
                <a:latin typeface="Arial MT"/>
                <a:cs typeface="Arial MT"/>
              </a:rPr>
              <a:t>you</a:t>
            </a:r>
            <a:r>
              <a:rPr sz="3200" spc="-35" dirty="0">
                <a:latin typeface="Arial MT"/>
                <a:cs typeface="Arial MT"/>
              </a:rPr>
              <a:t> </a:t>
            </a:r>
            <a:r>
              <a:rPr sz="3200" spc="-25" dirty="0">
                <a:latin typeface="Arial MT"/>
                <a:cs typeface="Arial MT"/>
              </a:rPr>
              <a:t>go </a:t>
            </a:r>
            <a:r>
              <a:rPr sz="3200" dirty="0">
                <a:latin typeface="Arial MT"/>
                <a:cs typeface="Arial MT"/>
              </a:rPr>
              <a:t>vs</a:t>
            </a:r>
            <a:r>
              <a:rPr sz="3200" spc="-85" dirty="0">
                <a:latin typeface="Arial MT"/>
                <a:cs typeface="Arial MT"/>
              </a:rPr>
              <a:t> </a:t>
            </a:r>
            <a:r>
              <a:rPr sz="3200" spc="-10" dirty="0">
                <a:latin typeface="Arial MT"/>
                <a:cs typeface="Arial MT"/>
              </a:rPr>
              <a:t>buying</a:t>
            </a:r>
            <a:endParaRPr sz="3200" dirty="0">
              <a:latin typeface="Arial MT"/>
              <a:cs typeface="Arial MT"/>
            </a:endParaRPr>
          </a:p>
          <a:p>
            <a:pPr marL="355600" marR="321310" indent="-343535">
              <a:lnSpc>
                <a:spcPct val="90000"/>
              </a:lnSpc>
              <a:spcBef>
                <a:spcPts val="805"/>
              </a:spcBef>
              <a:buClr>
                <a:srgbClr val="2C7B9F"/>
              </a:buClr>
              <a:buSzPct val="84375"/>
              <a:buChar char="•"/>
              <a:tabLst>
                <a:tab pos="355600" algn="l"/>
                <a:tab pos="6287770" algn="l"/>
              </a:tabLst>
            </a:pPr>
            <a:r>
              <a:rPr sz="3200" dirty="0">
                <a:highlight>
                  <a:srgbClr val="FFFF00"/>
                </a:highlight>
                <a:latin typeface="Arial MT"/>
                <a:cs typeface="Arial MT"/>
              </a:rPr>
              <a:t>A</a:t>
            </a:r>
            <a:r>
              <a:rPr sz="3200" spc="-225" dirty="0">
                <a:highlight>
                  <a:srgbClr val="FFFF00"/>
                </a:highlight>
                <a:latin typeface="Arial MT"/>
                <a:cs typeface="Arial MT"/>
              </a:rPr>
              <a:t> </a:t>
            </a:r>
            <a:r>
              <a:rPr sz="3200" dirty="0">
                <a:highlight>
                  <a:srgbClr val="FFFF00"/>
                </a:highlight>
                <a:latin typeface="Arial MT"/>
                <a:cs typeface="Arial MT"/>
              </a:rPr>
              <a:t>service</a:t>
            </a:r>
            <a:r>
              <a:rPr sz="3200" spc="-50" dirty="0">
                <a:highlight>
                  <a:srgbClr val="FFFF00"/>
                </a:highlight>
                <a:latin typeface="Arial MT"/>
                <a:cs typeface="Arial MT"/>
              </a:rPr>
              <a:t> </a:t>
            </a:r>
            <a:r>
              <a:rPr sz="3200" dirty="0">
                <a:highlight>
                  <a:srgbClr val="FFFF00"/>
                </a:highlight>
                <a:latin typeface="Arial MT"/>
                <a:cs typeface="Arial MT"/>
              </a:rPr>
              <a:t>has</a:t>
            </a:r>
            <a:r>
              <a:rPr sz="3200" spc="-50" dirty="0">
                <a:highlight>
                  <a:srgbClr val="FFFF00"/>
                </a:highlight>
                <a:latin typeface="Arial MT"/>
                <a:cs typeface="Arial MT"/>
              </a:rPr>
              <a:t> </a:t>
            </a:r>
            <a:r>
              <a:rPr sz="3200" dirty="0">
                <a:highlight>
                  <a:srgbClr val="FFFF00"/>
                </a:highlight>
                <a:latin typeface="Arial MT"/>
                <a:cs typeface="Arial MT"/>
              </a:rPr>
              <a:t>predictable</a:t>
            </a:r>
            <a:r>
              <a:rPr sz="3200" spc="-90" dirty="0">
                <a:highlight>
                  <a:srgbClr val="FFFF00"/>
                </a:highlight>
                <a:latin typeface="Arial MT"/>
                <a:cs typeface="Arial MT"/>
              </a:rPr>
              <a:t> </a:t>
            </a:r>
            <a:r>
              <a:rPr sz="3200" spc="-10" dirty="0">
                <a:highlight>
                  <a:srgbClr val="FFFF00"/>
                </a:highlight>
                <a:latin typeface="Arial MT"/>
                <a:cs typeface="Arial MT"/>
              </a:rPr>
              <a:t>daily</a:t>
            </a:r>
            <a:r>
              <a:rPr sz="3200" spc="-270" dirty="0">
                <a:highlight>
                  <a:srgbClr val="FFFF00"/>
                </a:highlight>
                <a:latin typeface="Arial MT"/>
                <a:cs typeface="Arial MT"/>
              </a:rPr>
              <a:t> </a:t>
            </a:r>
            <a:r>
              <a:rPr sz="3200" spc="-10" dirty="0">
                <a:highlight>
                  <a:srgbClr val="FFFF00"/>
                </a:highlight>
                <a:latin typeface="Arial MT"/>
                <a:cs typeface="Arial MT"/>
              </a:rPr>
              <a:t>demand </a:t>
            </a:r>
            <a:r>
              <a:rPr sz="3200" dirty="0">
                <a:highlight>
                  <a:srgbClr val="FFFF00"/>
                </a:highlight>
                <a:latin typeface="Arial MT"/>
                <a:cs typeface="Arial MT"/>
              </a:rPr>
              <a:t>where</a:t>
            </a:r>
            <a:r>
              <a:rPr sz="3200" spc="-60" dirty="0">
                <a:highlight>
                  <a:srgbClr val="FFFF00"/>
                </a:highlight>
                <a:latin typeface="Arial MT"/>
                <a:cs typeface="Arial MT"/>
              </a:rPr>
              <a:t> </a:t>
            </a:r>
            <a:r>
              <a:rPr sz="3200" dirty="0">
                <a:highlight>
                  <a:srgbClr val="FFFF00"/>
                </a:highlight>
                <a:latin typeface="Arial MT"/>
                <a:cs typeface="Arial MT"/>
              </a:rPr>
              <a:t>the</a:t>
            </a:r>
            <a:r>
              <a:rPr sz="3200" spc="-25" dirty="0">
                <a:highlight>
                  <a:srgbClr val="FFFF00"/>
                </a:highlight>
                <a:latin typeface="Arial MT"/>
                <a:cs typeface="Arial MT"/>
              </a:rPr>
              <a:t> </a:t>
            </a:r>
            <a:r>
              <a:rPr sz="3200" dirty="0">
                <a:highlight>
                  <a:srgbClr val="FFFF00"/>
                </a:highlight>
                <a:latin typeface="Arial MT"/>
                <a:cs typeface="Arial MT"/>
              </a:rPr>
              <a:t>peak</a:t>
            </a:r>
            <a:r>
              <a:rPr sz="3200" spc="-55" dirty="0">
                <a:highlight>
                  <a:srgbClr val="FFFF00"/>
                </a:highlight>
                <a:latin typeface="Arial MT"/>
                <a:cs typeface="Arial MT"/>
              </a:rPr>
              <a:t> </a:t>
            </a:r>
            <a:r>
              <a:rPr sz="3200" dirty="0">
                <a:highlight>
                  <a:srgbClr val="FFFF00"/>
                </a:highlight>
                <a:latin typeface="Arial MT"/>
                <a:cs typeface="Arial MT"/>
              </a:rPr>
              <a:t>require</a:t>
            </a:r>
            <a:r>
              <a:rPr sz="3200" spc="-40" dirty="0">
                <a:highlight>
                  <a:srgbClr val="FFFF00"/>
                </a:highlight>
                <a:latin typeface="Arial MT"/>
                <a:cs typeface="Arial MT"/>
              </a:rPr>
              <a:t> </a:t>
            </a:r>
            <a:r>
              <a:rPr sz="3200" dirty="0">
                <a:highlight>
                  <a:srgbClr val="FFFF00"/>
                </a:highlight>
                <a:latin typeface="Arial MT"/>
                <a:cs typeface="Arial MT"/>
              </a:rPr>
              <a:t>500</a:t>
            </a:r>
            <a:r>
              <a:rPr sz="3200" spc="-50" dirty="0">
                <a:highlight>
                  <a:srgbClr val="FFFF00"/>
                </a:highlight>
                <a:latin typeface="Arial MT"/>
                <a:cs typeface="Arial MT"/>
              </a:rPr>
              <a:t> </a:t>
            </a:r>
            <a:r>
              <a:rPr sz="3200" dirty="0">
                <a:highlight>
                  <a:srgbClr val="FFFF00"/>
                </a:highlight>
                <a:latin typeface="Arial MT"/>
                <a:cs typeface="Arial MT"/>
              </a:rPr>
              <a:t>servers</a:t>
            </a:r>
            <a:r>
              <a:rPr sz="3200" spc="-45" dirty="0">
                <a:highlight>
                  <a:srgbClr val="FFFF00"/>
                </a:highlight>
                <a:latin typeface="Arial MT"/>
                <a:cs typeface="Arial MT"/>
              </a:rPr>
              <a:t> </a:t>
            </a:r>
            <a:r>
              <a:rPr sz="3200" dirty="0">
                <a:highlight>
                  <a:srgbClr val="FFFF00"/>
                </a:highlight>
                <a:latin typeface="Arial MT"/>
                <a:cs typeface="Arial MT"/>
              </a:rPr>
              <a:t>at</a:t>
            </a:r>
            <a:r>
              <a:rPr sz="3200" spc="-25" dirty="0">
                <a:highlight>
                  <a:srgbClr val="FFFF00"/>
                </a:highlight>
                <a:latin typeface="Arial MT"/>
                <a:cs typeface="Arial MT"/>
              </a:rPr>
              <a:t> </a:t>
            </a:r>
            <a:r>
              <a:rPr sz="3200" spc="-20" dirty="0">
                <a:highlight>
                  <a:srgbClr val="FFFF00"/>
                </a:highlight>
                <a:latin typeface="Arial MT"/>
                <a:cs typeface="Arial MT"/>
              </a:rPr>
              <a:t>noon </a:t>
            </a:r>
            <a:r>
              <a:rPr sz="3200" dirty="0">
                <a:highlight>
                  <a:srgbClr val="FFFF00"/>
                </a:highlight>
                <a:latin typeface="Arial MT"/>
                <a:cs typeface="Arial MT"/>
              </a:rPr>
              <a:t>but</a:t>
            </a:r>
            <a:r>
              <a:rPr sz="3200" spc="-65" dirty="0">
                <a:highlight>
                  <a:srgbClr val="FFFF00"/>
                </a:highlight>
                <a:latin typeface="Arial MT"/>
                <a:cs typeface="Arial MT"/>
              </a:rPr>
              <a:t> </a:t>
            </a:r>
            <a:r>
              <a:rPr sz="3200" dirty="0">
                <a:highlight>
                  <a:srgbClr val="FFFF00"/>
                </a:highlight>
                <a:latin typeface="Arial MT"/>
                <a:cs typeface="Arial MT"/>
              </a:rPr>
              <a:t>the</a:t>
            </a:r>
            <a:r>
              <a:rPr sz="3200" spc="-65" dirty="0">
                <a:highlight>
                  <a:srgbClr val="FFFF00"/>
                </a:highlight>
                <a:latin typeface="Arial MT"/>
                <a:cs typeface="Arial MT"/>
              </a:rPr>
              <a:t> </a:t>
            </a:r>
            <a:r>
              <a:rPr sz="3200" dirty="0">
                <a:highlight>
                  <a:srgbClr val="FFFF00"/>
                </a:highlight>
                <a:latin typeface="Arial MT"/>
                <a:cs typeface="Arial MT"/>
              </a:rPr>
              <a:t>trough</a:t>
            </a:r>
            <a:r>
              <a:rPr sz="3200" spc="-90" dirty="0">
                <a:highlight>
                  <a:srgbClr val="FFFF00"/>
                </a:highlight>
                <a:latin typeface="Arial MT"/>
                <a:cs typeface="Arial MT"/>
              </a:rPr>
              <a:t> </a:t>
            </a:r>
            <a:r>
              <a:rPr sz="3200" dirty="0">
                <a:highlight>
                  <a:srgbClr val="FFFF00"/>
                </a:highlight>
                <a:latin typeface="Arial MT"/>
                <a:cs typeface="Arial MT"/>
              </a:rPr>
              <a:t>requires</a:t>
            </a:r>
            <a:r>
              <a:rPr sz="3200" spc="-90" dirty="0">
                <a:highlight>
                  <a:srgbClr val="FFFF00"/>
                </a:highlight>
                <a:latin typeface="Arial MT"/>
                <a:cs typeface="Arial MT"/>
              </a:rPr>
              <a:t> </a:t>
            </a:r>
            <a:r>
              <a:rPr sz="3200" dirty="0">
                <a:highlight>
                  <a:srgbClr val="FFFF00"/>
                </a:highlight>
                <a:latin typeface="Arial MT"/>
                <a:cs typeface="Arial MT"/>
              </a:rPr>
              <a:t>only</a:t>
            </a:r>
            <a:r>
              <a:rPr sz="3200" spc="-70" dirty="0">
                <a:highlight>
                  <a:srgbClr val="FFFF00"/>
                </a:highlight>
                <a:latin typeface="Arial MT"/>
                <a:cs typeface="Arial MT"/>
              </a:rPr>
              <a:t> </a:t>
            </a:r>
            <a:r>
              <a:rPr sz="3200" spc="-25" dirty="0">
                <a:highlight>
                  <a:srgbClr val="FFFF00"/>
                </a:highlight>
                <a:latin typeface="Arial MT"/>
                <a:cs typeface="Arial MT"/>
              </a:rPr>
              <a:t>100</a:t>
            </a:r>
            <a:r>
              <a:rPr sz="3200" dirty="0">
                <a:highlight>
                  <a:srgbClr val="FFFF00"/>
                </a:highlight>
                <a:latin typeface="Arial MT"/>
                <a:cs typeface="Arial MT"/>
              </a:rPr>
              <a:t>	servers</a:t>
            </a:r>
            <a:r>
              <a:rPr sz="3200" spc="-50" dirty="0">
                <a:highlight>
                  <a:srgbClr val="FFFF00"/>
                </a:highlight>
                <a:latin typeface="Arial MT"/>
                <a:cs typeface="Arial MT"/>
              </a:rPr>
              <a:t> </a:t>
            </a:r>
            <a:r>
              <a:rPr sz="3200" spc="-25" dirty="0">
                <a:highlight>
                  <a:srgbClr val="FFFF00"/>
                </a:highlight>
                <a:latin typeface="Arial MT"/>
                <a:cs typeface="Arial MT"/>
              </a:rPr>
              <a:t>at </a:t>
            </a:r>
            <a:r>
              <a:rPr sz="3200" spc="-10" dirty="0">
                <a:highlight>
                  <a:srgbClr val="FFFF00"/>
                </a:highlight>
                <a:latin typeface="Arial MT"/>
                <a:cs typeface="Arial MT"/>
              </a:rPr>
              <a:t>midnight</a:t>
            </a:r>
            <a:endParaRPr sz="3200" dirty="0">
              <a:highlight>
                <a:srgbClr val="FFFF00"/>
              </a:highlight>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367395" cy="4788535"/>
          </a:xfrm>
          <a:prstGeom prst="rect">
            <a:avLst/>
          </a:prstGeom>
        </p:spPr>
        <p:txBody>
          <a:bodyPr vert="horz" wrap="square" lIns="0" tIns="13335" rIns="0" bIns="0" rtlCol="0">
            <a:spAutoFit/>
          </a:bodyPr>
          <a:lstStyle/>
          <a:p>
            <a:pPr marL="355600" marR="222885" indent="-343535">
              <a:lnSpc>
                <a:spcPct val="100000"/>
              </a:lnSpc>
              <a:spcBef>
                <a:spcPts val="105"/>
              </a:spcBef>
              <a:buClr>
                <a:srgbClr val="2C7B9F"/>
              </a:buClr>
              <a:buSzPct val="84375"/>
              <a:buFont typeface="Arial MT"/>
              <a:buChar char="•"/>
              <a:tabLst>
                <a:tab pos="355600" algn="l"/>
                <a:tab pos="5586730" algn="l"/>
              </a:tabLst>
            </a:pPr>
            <a:r>
              <a:rPr sz="3200" dirty="0">
                <a:latin typeface="Arial MT"/>
                <a:cs typeface="Arial MT"/>
              </a:rPr>
              <a:t>If</a:t>
            </a:r>
            <a:r>
              <a:rPr sz="3200" spc="-10" dirty="0">
                <a:latin typeface="Arial MT"/>
                <a:cs typeface="Arial MT"/>
              </a:rPr>
              <a:t> </a:t>
            </a:r>
            <a:r>
              <a:rPr sz="3200" dirty="0">
                <a:latin typeface="Arial MT"/>
                <a:cs typeface="Arial MT"/>
              </a:rPr>
              <a:t>we</a:t>
            </a:r>
            <a:r>
              <a:rPr sz="3200" spc="-30" dirty="0">
                <a:latin typeface="Arial MT"/>
                <a:cs typeface="Arial MT"/>
              </a:rPr>
              <a:t> </a:t>
            </a:r>
            <a:r>
              <a:rPr sz="3200" dirty="0">
                <a:latin typeface="Arial MT"/>
                <a:cs typeface="Arial MT"/>
              </a:rPr>
              <a:t>shift</a:t>
            </a:r>
            <a:r>
              <a:rPr sz="3200" spc="-15" dirty="0">
                <a:latin typeface="Arial MT"/>
                <a:cs typeface="Arial MT"/>
              </a:rPr>
              <a:t> </a:t>
            </a:r>
            <a:r>
              <a:rPr sz="3200" dirty="0">
                <a:latin typeface="Arial MT"/>
                <a:cs typeface="Arial MT"/>
              </a:rPr>
              <a:t>to</a:t>
            </a:r>
            <a:r>
              <a:rPr sz="3200" spc="-15" dirty="0">
                <a:latin typeface="Arial MT"/>
                <a:cs typeface="Arial MT"/>
              </a:rPr>
              <a:t> </a:t>
            </a:r>
            <a:r>
              <a:rPr sz="3200" dirty="0">
                <a:latin typeface="Arial MT"/>
                <a:cs typeface="Arial MT"/>
              </a:rPr>
              <a:t>a</a:t>
            </a:r>
            <a:r>
              <a:rPr sz="3200" spc="-15" dirty="0">
                <a:latin typeface="Arial MT"/>
                <a:cs typeface="Arial MT"/>
              </a:rPr>
              <a:t> </a:t>
            </a:r>
            <a:r>
              <a:rPr sz="3200" dirty="0">
                <a:latin typeface="Arial MT"/>
                <a:cs typeface="Arial MT"/>
              </a:rPr>
              <a:t>cloud</a:t>
            </a:r>
            <a:r>
              <a:rPr sz="3200" spc="-55" dirty="0">
                <a:latin typeface="Arial MT"/>
                <a:cs typeface="Arial MT"/>
              </a:rPr>
              <a:t> </a:t>
            </a:r>
            <a:r>
              <a:rPr sz="3200" dirty="0">
                <a:latin typeface="Arial MT"/>
                <a:cs typeface="Arial MT"/>
              </a:rPr>
              <a:t>service</a:t>
            </a:r>
            <a:r>
              <a:rPr sz="3200" spc="-50" dirty="0">
                <a:latin typeface="Arial MT"/>
                <a:cs typeface="Arial MT"/>
              </a:rPr>
              <a:t> </a:t>
            </a:r>
            <a:r>
              <a:rPr sz="3200" dirty="0">
                <a:latin typeface="Arial MT"/>
                <a:cs typeface="Arial MT"/>
              </a:rPr>
              <a:t>which</a:t>
            </a:r>
            <a:r>
              <a:rPr sz="3200" spc="-5" dirty="0">
                <a:latin typeface="Arial MT"/>
                <a:cs typeface="Arial MT"/>
              </a:rPr>
              <a:t> </a:t>
            </a:r>
            <a:r>
              <a:rPr sz="3200" spc="-10" dirty="0">
                <a:latin typeface="Arial MT"/>
                <a:cs typeface="Arial MT"/>
              </a:rPr>
              <a:t>matches </a:t>
            </a:r>
            <a:r>
              <a:rPr sz="3200" dirty="0">
                <a:latin typeface="Arial MT"/>
                <a:cs typeface="Arial MT"/>
              </a:rPr>
              <a:t>the</a:t>
            </a:r>
            <a:r>
              <a:rPr sz="3200" spc="-40" dirty="0">
                <a:latin typeface="Arial MT"/>
                <a:cs typeface="Arial MT"/>
              </a:rPr>
              <a:t> </a:t>
            </a:r>
            <a:r>
              <a:rPr sz="3200" dirty="0">
                <a:latin typeface="Arial MT"/>
                <a:cs typeface="Arial MT"/>
              </a:rPr>
              <a:t>server</a:t>
            </a:r>
            <a:r>
              <a:rPr sz="3200" spc="-60" dirty="0">
                <a:latin typeface="Arial MT"/>
                <a:cs typeface="Arial MT"/>
              </a:rPr>
              <a:t> </a:t>
            </a:r>
            <a:r>
              <a:rPr sz="3200" dirty="0">
                <a:latin typeface="Arial MT"/>
                <a:cs typeface="Arial MT"/>
              </a:rPr>
              <a:t>number</a:t>
            </a:r>
            <a:r>
              <a:rPr sz="3200" spc="-80" dirty="0">
                <a:latin typeface="Arial MT"/>
                <a:cs typeface="Arial MT"/>
              </a:rPr>
              <a:t> </a:t>
            </a:r>
            <a:r>
              <a:rPr sz="3200" dirty="0">
                <a:latin typeface="Arial MT"/>
                <a:cs typeface="Arial MT"/>
              </a:rPr>
              <a:t>to</a:t>
            </a:r>
            <a:r>
              <a:rPr sz="3200" spc="-25" dirty="0">
                <a:latin typeface="Arial MT"/>
                <a:cs typeface="Arial MT"/>
              </a:rPr>
              <a:t> </a:t>
            </a:r>
            <a:r>
              <a:rPr sz="3200" dirty="0">
                <a:latin typeface="Arial MT"/>
                <a:cs typeface="Arial MT"/>
              </a:rPr>
              <a:t>the</a:t>
            </a:r>
            <a:r>
              <a:rPr sz="3200" spc="-185" dirty="0">
                <a:latin typeface="Arial MT"/>
                <a:cs typeface="Arial MT"/>
              </a:rPr>
              <a:t> </a:t>
            </a:r>
            <a:r>
              <a:rPr sz="3200" dirty="0">
                <a:latin typeface="Arial MT"/>
                <a:cs typeface="Arial MT"/>
              </a:rPr>
              <a:t>demand</a:t>
            </a:r>
            <a:r>
              <a:rPr sz="3200" spc="-75" dirty="0">
                <a:latin typeface="Arial MT"/>
                <a:cs typeface="Arial MT"/>
              </a:rPr>
              <a:t> </a:t>
            </a:r>
            <a:r>
              <a:rPr sz="3200" dirty="0">
                <a:latin typeface="Arial MT"/>
                <a:cs typeface="Arial MT"/>
              </a:rPr>
              <a:t>we</a:t>
            </a:r>
            <a:r>
              <a:rPr sz="3200" spc="-15" dirty="0">
                <a:latin typeface="Arial MT"/>
                <a:cs typeface="Arial MT"/>
              </a:rPr>
              <a:t> </a:t>
            </a:r>
            <a:r>
              <a:rPr sz="3200" spc="-25" dirty="0">
                <a:latin typeface="Arial MT"/>
                <a:cs typeface="Arial MT"/>
              </a:rPr>
              <a:t>can </a:t>
            </a:r>
            <a:r>
              <a:rPr sz="3200" dirty="0">
                <a:latin typeface="Arial MT"/>
                <a:cs typeface="Arial MT"/>
              </a:rPr>
              <a:t>reduce</a:t>
            </a:r>
            <a:r>
              <a:rPr sz="3200" spc="-55" dirty="0">
                <a:latin typeface="Arial MT"/>
                <a:cs typeface="Arial MT"/>
              </a:rPr>
              <a:t> </a:t>
            </a:r>
            <a:r>
              <a:rPr sz="3200" dirty="0">
                <a:latin typeface="Arial MT"/>
                <a:cs typeface="Arial MT"/>
              </a:rPr>
              <a:t>server</a:t>
            </a:r>
            <a:r>
              <a:rPr sz="3200" spc="-35" dirty="0">
                <a:latin typeface="Arial MT"/>
                <a:cs typeface="Arial MT"/>
              </a:rPr>
              <a:t> </a:t>
            </a:r>
            <a:r>
              <a:rPr sz="3200" dirty="0">
                <a:latin typeface="Arial MT"/>
                <a:cs typeface="Arial MT"/>
              </a:rPr>
              <a:t>costs</a:t>
            </a:r>
            <a:r>
              <a:rPr sz="3200" spc="-30" dirty="0">
                <a:latin typeface="Arial MT"/>
                <a:cs typeface="Arial MT"/>
              </a:rPr>
              <a:t> </a:t>
            </a:r>
            <a:r>
              <a:rPr sz="3200" dirty="0">
                <a:latin typeface="Arial MT"/>
                <a:cs typeface="Arial MT"/>
              </a:rPr>
              <a:t>by</a:t>
            </a:r>
            <a:r>
              <a:rPr sz="3200" spc="-15" dirty="0">
                <a:latin typeface="Arial MT"/>
                <a:cs typeface="Arial MT"/>
              </a:rPr>
              <a:t> </a:t>
            </a:r>
            <a:r>
              <a:rPr sz="3200" spc="-25" dirty="0">
                <a:latin typeface="Arial MT"/>
                <a:cs typeface="Arial MT"/>
              </a:rPr>
              <a:t>40%</a:t>
            </a:r>
            <a:r>
              <a:rPr sz="3200" dirty="0">
                <a:latin typeface="Arial MT"/>
                <a:cs typeface="Arial MT"/>
              </a:rPr>
              <a:t>	(7200/12000</a:t>
            </a:r>
            <a:r>
              <a:rPr sz="3200" spc="-155" dirty="0">
                <a:latin typeface="Arial MT"/>
                <a:cs typeface="Arial MT"/>
              </a:rPr>
              <a:t> </a:t>
            </a:r>
            <a:r>
              <a:rPr sz="3200" spc="-50" dirty="0">
                <a:latin typeface="Arial MT"/>
                <a:cs typeface="Arial MT"/>
              </a:rPr>
              <a:t>* </a:t>
            </a:r>
            <a:r>
              <a:rPr sz="3200" dirty="0">
                <a:latin typeface="Arial MT"/>
                <a:cs typeface="Arial MT"/>
              </a:rPr>
              <a:t>100</a:t>
            </a:r>
            <a:r>
              <a:rPr sz="3200" spc="-55" dirty="0">
                <a:latin typeface="Arial MT"/>
                <a:cs typeface="Arial MT"/>
              </a:rPr>
              <a:t> </a:t>
            </a:r>
            <a:r>
              <a:rPr sz="3200" dirty="0">
                <a:latin typeface="Arial MT"/>
                <a:cs typeface="Arial MT"/>
              </a:rPr>
              <a:t>=</a:t>
            </a:r>
            <a:r>
              <a:rPr sz="3200" spc="-60" dirty="0">
                <a:latin typeface="Arial MT"/>
                <a:cs typeface="Arial MT"/>
              </a:rPr>
              <a:t> </a:t>
            </a:r>
            <a:r>
              <a:rPr sz="3200" spc="-20" dirty="0">
                <a:latin typeface="Arial MT"/>
                <a:cs typeface="Arial MT"/>
              </a:rPr>
              <a:t>60%)</a:t>
            </a:r>
            <a:endParaRPr sz="3200">
              <a:latin typeface="Arial MT"/>
              <a:cs typeface="Arial MT"/>
            </a:endParaRPr>
          </a:p>
          <a:p>
            <a:pPr marL="355600" indent="-342900">
              <a:lnSpc>
                <a:spcPct val="100000"/>
              </a:lnSpc>
              <a:spcBef>
                <a:spcPts val="130"/>
              </a:spcBef>
              <a:buClr>
                <a:srgbClr val="2C7B9F"/>
              </a:buClr>
              <a:buSzPct val="85416"/>
              <a:buChar char="•"/>
              <a:tabLst>
                <a:tab pos="355600" algn="l"/>
              </a:tabLst>
            </a:pPr>
            <a:r>
              <a:rPr sz="2400" dirty="0">
                <a:latin typeface="Arial MT"/>
                <a:cs typeface="Arial MT"/>
              </a:rPr>
              <a:t>Peak:</a:t>
            </a:r>
            <a:r>
              <a:rPr sz="2400" spc="-30" dirty="0">
                <a:latin typeface="Arial MT"/>
                <a:cs typeface="Arial MT"/>
              </a:rPr>
              <a:t> </a:t>
            </a:r>
            <a:r>
              <a:rPr sz="2400" dirty="0">
                <a:latin typeface="Arial MT"/>
                <a:cs typeface="Arial MT"/>
              </a:rPr>
              <a:t>500</a:t>
            </a:r>
            <a:r>
              <a:rPr sz="2400" spc="-40" dirty="0">
                <a:latin typeface="Arial MT"/>
                <a:cs typeface="Arial MT"/>
              </a:rPr>
              <a:t> </a:t>
            </a:r>
            <a:r>
              <a:rPr sz="2400" dirty="0">
                <a:latin typeface="Arial MT"/>
                <a:cs typeface="Arial MT"/>
              </a:rPr>
              <a:t>servers</a:t>
            </a:r>
            <a:r>
              <a:rPr sz="2400" spc="-30" dirty="0">
                <a:latin typeface="Arial MT"/>
                <a:cs typeface="Arial MT"/>
              </a:rPr>
              <a:t> </a:t>
            </a:r>
            <a:r>
              <a:rPr sz="2400" dirty="0">
                <a:latin typeface="Arial MT"/>
                <a:cs typeface="Arial MT"/>
              </a:rPr>
              <a:t>*</a:t>
            </a:r>
            <a:r>
              <a:rPr sz="2400" spc="-30" dirty="0">
                <a:latin typeface="Arial MT"/>
                <a:cs typeface="Arial MT"/>
              </a:rPr>
              <a:t> </a:t>
            </a:r>
            <a:r>
              <a:rPr sz="2400" dirty="0">
                <a:latin typeface="Arial MT"/>
                <a:cs typeface="Arial MT"/>
              </a:rPr>
              <a:t>24</a:t>
            </a:r>
            <a:r>
              <a:rPr sz="2400" spc="-40" dirty="0">
                <a:latin typeface="Arial MT"/>
                <a:cs typeface="Arial MT"/>
              </a:rPr>
              <a:t> </a:t>
            </a:r>
            <a:r>
              <a:rPr sz="2400" dirty="0">
                <a:latin typeface="Arial MT"/>
                <a:cs typeface="Arial MT"/>
              </a:rPr>
              <a:t>hours</a:t>
            </a:r>
            <a:r>
              <a:rPr sz="2400" spc="-30" dirty="0">
                <a:latin typeface="Arial MT"/>
                <a:cs typeface="Arial MT"/>
              </a:rPr>
              <a:t> </a:t>
            </a:r>
            <a:r>
              <a:rPr sz="2400" dirty="0">
                <a:latin typeface="Arial MT"/>
                <a:cs typeface="Arial MT"/>
              </a:rPr>
              <a:t>=</a:t>
            </a:r>
            <a:r>
              <a:rPr sz="2400" spc="-30" dirty="0">
                <a:latin typeface="Arial MT"/>
                <a:cs typeface="Arial MT"/>
              </a:rPr>
              <a:t> </a:t>
            </a:r>
            <a:r>
              <a:rPr sz="2400" dirty="0">
                <a:latin typeface="Arial MT"/>
                <a:cs typeface="Arial MT"/>
              </a:rPr>
              <a:t>12000</a:t>
            </a:r>
            <a:r>
              <a:rPr sz="2400" spc="-10" dirty="0">
                <a:latin typeface="Arial MT"/>
                <a:cs typeface="Arial MT"/>
              </a:rPr>
              <a:t> </a:t>
            </a:r>
            <a:r>
              <a:rPr sz="2400" dirty="0">
                <a:latin typeface="Arial MT"/>
                <a:cs typeface="Arial MT"/>
              </a:rPr>
              <a:t>server-</a:t>
            </a:r>
            <a:r>
              <a:rPr sz="2400" spc="-10" dirty="0">
                <a:latin typeface="Arial MT"/>
                <a:cs typeface="Arial MT"/>
              </a:rPr>
              <a:t>hours,</a:t>
            </a:r>
            <a:endParaRPr sz="2400">
              <a:latin typeface="Arial MT"/>
              <a:cs typeface="Arial MT"/>
            </a:endParaRPr>
          </a:p>
          <a:p>
            <a:pPr marL="355600" indent="-342900">
              <a:lnSpc>
                <a:spcPct val="100000"/>
              </a:lnSpc>
              <a:spcBef>
                <a:spcPts val="95"/>
              </a:spcBef>
              <a:buClr>
                <a:srgbClr val="2C7B9F"/>
              </a:buClr>
              <a:buSzPct val="85416"/>
              <a:buChar char="•"/>
              <a:tabLst>
                <a:tab pos="355600" algn="l"/>
              </a:tabLst>
            </a:pPr>
            <a:r>
              <a:rPr sz="2400" dirty="0">
                <a:latin typeface="Arial MT"/>
                <a:cs typeface="Arial MT"/>
              </a:rPr>
              <a:t>Average:</a:t>
            </a:r>
            <a:r>
              <a:rPr sz="2400" spc="-45" dirty="0">
                <a:latin typeface="Arial MT"/>
                <a:cs typeface="Arial MT"/>
              </a:rPr>
              <a:t> </a:t>
            </a:r>
            <a:r>
              <a:rPr sz="2400" dirty="0">
                <a:latin typeface="Arial MT"/>
                <a:cs typeface="Arial MT"/>
              </a:rPr>
              <a:t>300</a:t>
            </a:r>
            <a:r>
              <a:rPr sz="2400" spc="-60" dirty="0">
                <a:latin typeface="Arial MT"/>
                <a:cs typeface="Arial MT"/>
              </a:rPr>
              <a:t> </a:t>
            </a:r>
            <a:r>
              <a:rPr sz="2400" dirty="0">
                <a:latin typeface="Arial MT"/>
                <a:cs typeface="Arial MT"/>
              </a:rPr>
              <a:t>servers</a:t>
            </a:r>
            <a:r>
              <a:rPr sz="2400" spc="-45" dirty="0">
                <a:latin typeface="Arial MT"/>
                <a:cs typeface="Arial MT"/>
              </a:rPr>
              <a:t> </a:t>
            </a:r>
            <a:r>
              <a:rPr sz="2400" dirty="0">
                <a:latin typeface="Arial MT"/>
                <a:cs typeface="Arial MT"/>
              </a:rPr>
              <a:t>*</a:t>
            </a:r>
            <a:r>
              <a:rPr sz="2400" spc="-50" dirty="0">
                <a:latin typeface="Arial MT"/>
                <a:cs typeface="Arial MT"/>
              </a:rPr>
              <a:t> </a:t>
            </a:r>
            <a:r>
              <a:rPr sz="2400" dirty="0">
                <a:latin typeface="Arial MT"/>
                <a:cs typeface="Arial MT"/>
              </a:rPr>
              <a:t>24</a:t>
            </a:r>
            <a:r>
              <a:rPr sz="2400" spc="-50" dirty="0">
                <a:latin typeface="Arial MT"/>
                <a:cs typeface="Arial MT"/>
              </a:rPr>
              <a:t> </a:t>
            </a:r>
            <a:r>
              <a:rPr sz="2400" dirty="0">
                <a:latin typeface="Arial MT"/>
                <a:cs typeface="Arial MT"/>
              </a:rPr>
              <a:t>hours</a:t>
            </a:r>
            <a:r>
              <a:rPr sz="2400" spc="-55" dirty="0">
                <a:latin typeface="Arial MT"/>
                <a:cs typeface="Arial MT"/>
              </a:rPr>
              <a:t> </a:t>
            </a:r>
            <a:r>
              <a:rPr sz="2400" dirty="0">
                <a:latin typeface="Arial MT"/>
                <a:cs typeface="Arial MT"/>
              </a:rPr>
              <a:t>=</a:t>
            </a:r>
            <a:r>
              <a:rPr sz="2400" spc="-45" dirty="0">
                <a:latin typeface="Arial MT"/>
                <a:cs typeface="Arial MT"/>
              </a:rPr>
              <a:t> </a:t>
            </a:r>
            <a:r>
              <a:rPr sz="2400" dirty="0">
                <a:latin typeface="Arial MT"/>
                <a:cs typeface="Arial MT"/>
              </a:rPr>
              <a:t>7200</a:t>
            </a:r>
            <a:r>
              <a:rPr sz="2400" spc="-45" dirty="0">
                <a:latin typeface="Arial MT"/>
                <a:cs typeface="Arial MT"/>
              </a:rPr>
              <a:t> </a:t>
            </a:r>
            <a:r>
              <a:rPr sz="2400" spc="-10" dirty="0">
                <a:latin typeface="Arial MT"/>
                <a:cs typeface="Arial MT"/>
              </a:rPr>
              <a:t>server-hours</a:t>
            </a:r>
            <a:endParaRPr sz="2400">
              <a:latin typeface="Arial MT"/>
              <a:cs typeface="Arial MT"/>
            </a:endParaRPr>
          </a:p>
          <a:p>
            <a:pPr marL="355600" marR="5080" indent="-343535">
              <a:lnSpc>
                <a:spcPct val="100000"/>
              </a:lnSpc>
              <a:spcBef>
                <a:spcPts val="785"/>
              </a:spcBef>
              <a:buClr>
                <a:srgbClr val="2C7B9F"/>
              </a:buClr>
              <a:buSzPct val="84375"/>
              <a:buChar char="•"/>
              <a:tabLst>
                <a:tab pos="355600" algn="l"/>
              </a:tabLst>
            </a:pPr>
            <a:r>
              <a:rPr sz="3200" dirty="0">
                <a:latin typeface="Arial MT"/>
                <a:cs typeface="Arial MT"/>
              </a:rPr>
              <a:t>As</a:t>
            </a:r>
            <a:r>
              <a:rPr sz="3200" spc="-20" dirty="0">
                <a:latin typeface="Arial MT"/>
                <a:cs typeface="Arial MT"/>
              </a:rPr>
              <a:t> </a:t>
            </a:r>
            <a:r>
              <a:rPr sz="3200" dirty="0">
                <a:latin typeface="Arial MT"/>
                <a:cs typeface="Arial MT"/>
              </a:rPr>
              <a:t>long</a:t>
            </a:r>
            <a:r>
              <a:rPr sz="3200" spc="-45" dirty="0">
                <a:latin typeface="Arial MT"/>
                <a:cs typeface="Arial MT"/>
              </a:rPr>
              <a:t> </a:t>
            </a:r>
            <a:r>
              <a:rPr sz="3200" dirty="0">
                <a:latin typeface="Arial MT"/>
                <a:cs typeface="Arial MT"/>
              </a:rPr>
              <a:t>as</a:t>
            </a:r>
            <a:r>
              <a:rPr sz="3200" spc="-30" dirty="0">
                <a:latin typeface="Arial MT"/>
                <a:cs typeface="Arial MT"/>
              </a:rPr>
              <a:t> </a:t>
            </a:r>
            <a:r>
              <a:rPr sz="3200" dirty="0">
                <a:latin typeface="Arial MT"/>
                <a:cs typeface="Arial MT"/>
              </a:rPr>
              <a:t>the</a:t>
            </a:r>
            <a:r>
              <a:rPr sz="3200" spc="-25" dirty="0">
                <a:latin typeface="Arial MT"/>
                <a:cs typeface="Arial MT"/>
              </a:rPr>
              <a:t> </a:t>
            </a:r>
            <a:r>
              <a:rPr sz="3200" dirty="0">
                <a:latin typeface="Arial MT"/>
                <a:cs typeface="Arial MT"/>
              </a:rPr>
              <a:t>pay</a:t>
            </a:r>
            <a:r>
              <a:rPr sz="3200" spc="-45" dirty="0">
                <a:latin typeface="Arial MT"/>
                <a:cs typeface="Arial MT"/>
              </a:rPr>
              <a:t> </a:t>
            </a:r>
            <a:r>
              <a:rPr sz="3200" dirty="0">
                <a:latin typeface="Arial MT"/>
                <a:cs typeface="Arial MT"/>
              </a:rPr>
              <a:t>as</a:t>
            </a:r>
            <a:r>
              <a:rPr sz="3200" spc="-10" dirty="0">
                <a:latin typeface="Arial MT"/>
                <a:cs typeface="Arial MT"/>
              </a:rPr>
              <a:t> </a:t>
            </a:r>
            <a:r>
              <a:rPr sz="3200" dirty="0">
                <a:latin typeface="Arial MT"/>
                <a:cs typeface="Arial MT"/>
              </a:rPr>
              <a:t>you</a:t>
            </a:r>
            <a:r>
              <a:rPr sz="3200" spc="-30" dirty="0">
                <a:latin typeface="Arial MT"/>
                <a:cs typeface="Arial MT"/>
              </a:rPr>
              <a:t> </a:t>
            </a:r>
            <a:r>
              <a:rPr sz="3200" dirty="0">
                <a:latin typeface="Arial MT"/>
                <a:cs typeface="Arial MT"/>
              </a:rPr>
              <a:t>go</a:t>
            </a:r>
            <a:r>
              <a:rPr sz="3200" spc="-30" dirty="0">
                <a:latin typeface="Arial MT"/>
                <a:cs typeface="Arial MT"/>
              </a:rPr>
              <a:t> </a:t>
            </a:r>
            <a:r>
              <a:rPr sz="3200" dirty="0">
                <a:latin typeface="Arial MT"/>
                <a:cs typeface="Arial MT"/>
              </a:rPr>
              <a:t>cost</a:t>
            </a:r>
            <a:r>
              <a:rPr sz="3200" spc="-45" dirty="0">
                <a:latin typeface="Arial MT"/>
                <a:cs typeface="Arial MT"/>
              </a:rPr>
              <a:t> </a:t>
            </a:r>
            <a:r>
              <a:rPr sz="3200" dirty="0">
                <a:latin typeface="Arial MT"/>
                <a:cs typeface="Arial MT"/>
              </a:rPr>
              <a:t>per</a:t>
            </a:r>
            <a:r>
              <a:rPr sz="3200" spc="-35" dirty="0">
                <a:latin typeface="Arial MT"/>
                <a:cs typeface="Arial MT"/>
              </a:rPr>
              <a:t> </a:t>
            </a:r>
            <a:r>
              <a:rPr sz="3200" spc="-10" dirty="0">
                <a:latin typeface="Arial MT"/>
                <a:cs typeface="Arial MT"/>
              </a:rPr>
              <a:t>server </a:t>
            </a:r>
            <a:r>
              <a:rPr sz="3200" dirty="0">
                <a:latin typeface="Arial MT"/>
                <a:cs typeface="Arial MT"/>
              </a:rPr>
              <a:t>hour</a:t>
            </a:r>
            <a:r>
              <a:rPr sz="3200" spc="-75" dirty="0">
                <a:latin typeface="Arial MT"/>
                <a:cs typeface="Arial MT"/>
              </a:rPr>
              <a:t> </a:t>
            </a:r>
            <a:r>
              <a:rPr sz="3200" dirty="0">
                <a:latin typeface="Arial MT"/>
                <a:cs typeface="Arial MT"/>
              </a:rPr>
              <a:t>over</a:t>
            </a:r>
            <a:r>
              <a:rPr sz="3200" spc="-50" dirty="0">
                <a:latin typeface="Arial MT"/>
                <a:cs typeface="Arial MT"/>
              </a:rPr>
              <a:t> </a:t>
            </a:r>
            <a:r>
              <a:rPr sz="3200" dirty="0">
                <a:latin typeface="Arial MT"/>
                <a:cs typeface="Arial MT"/>
              </a:rPr>
              <a:t>the</a:t>
            </a:r>
            <a:r>
              <a:rPr sz="3200" spc="-45" dirty="0">
                <a:latin typeface="Arial MT"/>
                <a:cs typeface="Arial MT"/>
              </a:rPr>
              <a:t> </a:t>
            </a:r>
            <a:r>
              <a:rPr sz="3200" dirty="0">
                <a:latin typeface="Arial MT"/>
                <a:cs typeface="Arial MT"/>
              </a:rPr>
              <a:t>amortization</a:t>
            </a:r>
            <a:r>
              <a:rPr sz="3200" spc="-85" dirty="0">
                <a:latin typeface="Arial MT"/>
                <a:cs typeface="Arial MT"/>
              </a:rPr>
              <a:t> </a:t>
            </a:r>
            <a:r>
              <a:rPr sz="3200" dirty="0">
                <a:latin typeface="Arial MT"/>
                <a:cs typeface="Arial MT"/>
              </a:rPr>
              <a:t>period</a:t>
            </a:r>
            <a:r>
              <a:rPr sz="3200" spc="-180" dirty="0">
                <a:latin typeface="Arial MT"/>
                <a:cs typeface="Arial MT"/>
              </a:rPr>
              <a:t> </a:t>
            </a:r>
            <a:r>
              <a:rPr sz="3200" dirty="0">
                <a:latin typeface="Arial MT"/>
                <a:cs typeface="Arial MT"/>
              </a:rPr>
              <a:t>(3</a:t>
            </a:r>
            <a:r>
              <a:rPr sz="3200" spc="-30" dirty="0">
                <a:latin typeface="Arial MT"/>
                <a:cs typeface="Arial MT"/>
              </a:rPr>
              <a:t> </a:t>
            </a:r>
            <a:r>
              <a:rPr sz="3200" dirty="0">
                <a:latin typeface="Arial MT"/>
                <a:cs typeface="Arial MT"/>
              </a:rPr>
              <a:t>years</a:t>
            </a:r>
            <a:r>
              <a:rPr sz="3200" spc="-45" dirty="0">
                <a:latin typeface="Arial MT"/>
                <a:cs typeface="Arial MT"/>
              </a:rPr>
              <a:t> </a:t>
            </a:r>
            <a:r>
              <a:rPr sz="3200" spc="-25" dirty="0">
                <a:latin typeface="Arial MT"/>
                <a:cs typeface="Arial MT"/>
              </a:rPr>
              <a:t>is </a:t>
            </a:r>
            <a:r>
              <a:rPr sz="3200" dirty="0">
                <a:latin typeface="Arial MT"/>
                <a:cs typeface="Arial MT"/>
              </a:rPr>
              <a:t>typical)</a:t>
            </a:r>
            <a:r>
              <a:rPr sz="3200" spc="-45" dirty="0">
                <a:latin typeface="Arial MT"/>
                <a:cs typeface="Arial MT"/>
              </a:rPr>
              <a:t> </a:t>
            </a:r>
            <a:r>
              <a:rPr sz="3200" dirty="0">
                <a:latin typeface="Arial MT"/>
                <a:cs typeface="Arial MT"/>
              </a:rPr>
              <a:t>we</a:t>
            </a:r>
            <a:r>
              <a:rPr sz="3200" spc="-30" dirty="0">
                <a:latin typeface="Arial MT"/>
                <a:cs typeface="Arial MT"/>
              </a:rPr>
              <a:t> </a:t>
            </a:r>
            <a:r>
              <a:rPr sz="3200" dirty="0">
                <a:latin typeface="Arial MT"/>
                <a:cs typeface="Arial MT"/>
              </a:rPr>
              <a:t>can</a:t>
            </a:r>
            <a:r>
              <a:rPr sz="3200" spc="-45" dirty="0">
                <a:latin typeface="Arial MT"/>
                <a:cs typeface="Arial MT"/>
              </a:rPr>
              <a:t> </a:t>
            </a:r>
            <a:r>
              <a:rPr sz="3200" dirty="0">
                <a:latin typeface="Arial MT"/>
                <a:cs typeface="Arial MT"/>
              </a:rPr>
              <a:t>save</a:t>
            </a:r>
            <a:r>
              <a:rPr sz="3200" spc="-40" dirty="0">
                <a:latin typeface="Arial MT"/>
                <a:cs typeface="Arial MT"/>
              </a:rPr>
              <a:t> </a:t>
            </a:r>
            <a:r>
              <a:rPr sz="3200" dirty="0">
                <a:latin typeface="Arial MT"/>
                <a:cs typeface="Arial MT"/>
              </a:rPr>
              <a:t>money</a:t>
            </a:r>
            <a:r>
              <a:rPr sz="3200" spc="-50" dirty="0">
                <a:latin typeface="Arial MT"/>
                <a:cs typeface="Arial MT"/>
              </a:rPr>
              <a:t> </a:t>
            </a:r>
            <a:r>
              <a:rPr sz="3200" dirty="0">
                <a:latin typeface="Arial MT"/>
                <a:cs typeface="Arial MT"/>
              </a:rPr>
              <a:t>using</a:t>
            </a:r>
            <a:r>
              <a:rPr sz="3200" spc="-60" dirty="0">
                <a:latin typeface="Arial MT"/>
                <a:cs typeface="Arial MT"/>
              </a:rPr>
              <a:t> </a:t>
            </a:r>
            <a:r>
              <a:rPr sz="3200" spc="-10" dirty="0">
                <a:latin typeface="Arial MT"/>
                <a:cs typeface="Arial MT"/>
              </a:rPr>
              <a:t>cloud computing</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308340" cy="3054985"/>
          </a:xfrm>
          <a:prstGeom prst="rect">
            <a:avLst/>
          </a:prstGeom>
        </p:spPr>
        <p:txBody>
          <a:bodyPr vert="horz" wrap="square" lIns="0" tIns="13335" rIns="0" bIns="0" rtlCol="0">
            <a:spAutoFit/>
          </a:bodyPr>
          <a:lstStyle/>
          <a:p>
            <a:pPr marL="355600" marR="27305" indent="-343535">
              <a:lnSpc>
                <a:spcPct val="100000"/>
              </a:lnSpc>
              <a:spcBef>
                <a:spcPts val="105"/>
              </a:spcBef>
              <a:buClr>
                <a:srgbClr val="2C7B9F"/>
              </a:buClr>
              <a:buSzPct val="84375"/>
              <a:buFont typeface="Arial MT"/>
              <a:buChar char="•"/>
              <a:tabLst>
                <a:tab pos="355600" algn="l"/>
                <a:tab pos="7706995" algn="l"/>
              </a:tabLst>
            </a:pPr>
            <a:r>
              <a:rPr sz="3200" dirty="0">
                <a:latin typeface="Arial MT"/>
                <a:cs typeface="Arial MT"/>
              </a:rPr>
              <a:t>These</a:t>
            </a:r>
            <a:r>
              <a:rPr sz="3200" spc="-105" dirty="0">
                <a:latin typeface="Arial MT"/>
                <a:cs typeface="Arial MT"/>
              </a:rPr>
              <a:t> </a:t>
            </a:r>
            <a:r>
              <a:rPr sz="3200" dirty="0">
                <a:latin typeface="Arial MT"/>
                <a:cs typeface="Arial MT"/>
              </a:rPr>
              <a:t>examples</a:t>
            </a:r>
            <a:r>
              <a:rPr sz="3200" spc="-85" dirty="0">
                <a:latin typeface="Arial MT"/>
                <a:cs typeface="Arial MT"/>
              </a:rPr>
              <a:t> </a:t>
            </a:r>
            <a:r>
              <a:rPr sz="3200" dirty="0">
                <a:latin typeface="Arial MT"/>
                <a:cs typeface="Arial MT"/>
              </a:rPr>
              <a:t>actually</a:t>
            </a:r>
            <a:r>
              <a:rPr sz="3200" spc="-100" dirty="0">
                <a:latin typeface="Arial MT"/>
                <a:cs typeface="Arial MT"/>
              </a:rPr>
              <a:t> </a:t>
            </a:r>
            <a:r>
              <a:rPr sz="3200" spc="-10" dirty="0">
                <a:latin typeface="Arial MT"/>
                <a:cs typeface="Arial MT"/>
              </a:rPr>
              <a:t>underestimate</a:t>
            </a:r>
            <a:r>
              <a:rPr sz="3200" dirty="0">
                <a:latin typeface="Arial MT"/>
                <a:cs typeface="Arial MT"/>
              </a:rPr>
              <a:t>	</a:t>
            </a:r>
            <a:r>
              <a:rPr sz="3200" spc="-25" dirty="0">
                <a:latin typeface="Arial MT"/>
                <a:cs typeface="Arial MT"/>
              </a:rPr>
              <a:t>the </a:t>
            </a:r>
            <a:r>
              <a:rPr sz="3200" dirty="0">
                <a:latin typeface="Arial MT"/>
                <a:cs typeface="Arial MT"/>
              </a:rPr>
              <a:t>benefits</a:t>
            </a:r>
            <a:r>
              <a:rPr sz="3200" spc="-100" dirty="0">
                <a:latin typeface="Arial MT"/>
                <a:cs typeface="Arial MT"/>
              </a:rPr>
              <a:t> </a:t>
            </a:r>
            <a:r>
              <a:rPr sz="3200" dirty="0">
                <a:latin typeface="Arial MT"/>
                <a:cs typeface="Arial MT"/>
              </a:rPr>
              <a:t>of</a:t>
            </a:r>
            <a:r>
              <a:rPr sz="3200" spc="-35" dirty="0">
                <a:latin typeface="Arial MT"/>
                <a:cs typeface="Arial MT"/>
              </a:rPr>
              <a:t> </a:t>
            </a:r>
            <a:r>
              <a:rPr sz="3200" dirty="0">
                <a:latin typeface="Arial MT"/>
                <a:cs typeface="Arial MT"/>
              </a:rPr>
              <a:t>cloud</a:t>
            </a:r>
            <a:r>
              <a:rPr sz="3200" spc="-114" dirty="0">
                <a:latin typeface="Arial MT"/>
                <a:cs typeface="Arial MT"/>
              </a:rPr>
              <a:t> </a:t>
            </a:r>
            <a:r>
              <a:rPr sz="3200" spc="-10" dirty="0">
                <a:latin typeface="Arial MT"/>
                <a:cs typeface="Arial MT"/>
              </a:rPr>
              <a:t>computing</a:t>
            </a:r>
            <a:endParaRPr sz="3200">
              <a:latin typeface="Arial MT"/>
              <a:cs typeface="Arial MT"/>
            </a:endParaRPr>
          </a:p>
          <a:p>
            <a:pPr marL="355600" marR="5080" indent="-343535">
              <a:lnSpc>
                <a:spcPct val="100000"/>
              </a:lnSpc>
              <a:spcBef>
                <a:spcPts val="805"/>
              </a:spcBef>
              <a:buClr>
                <a:srgbClr val="2C7B9F"/>
              </a:buClr>
              <a:buSzPct val="84375"/>
              <a:buChar char="•"/>
              <a:tabLst>
                <a:tab pos="355600" algn="l"/>
              </a:tabLst>
            </a:pPr>
            <a:r>
              <a:rPr sz="3200" dirty="0">
                <a:latin typeface="Arial MT"/>
                <a:cs typeface="Arial MT"/>
              </a:rPr>
              <a:t>In</a:t>
            </a:r>
            <a:r>
              <a:rPr sz="3200" spc="-45" dirty="0">
                <a:latin typeface="Arial MT"/>
                <a:cs typeface="Arial MT"/>
              </a:rPr>
              <a:t> </a:t>
            </a:r>
            <a:r>
              <a:rPr sz="3200" dirty="0">
                <a:latin typeface="Arial MT"/>
                <a:cs typeface="Arial MT"/>
              </a:rPr>
              <a:t>addition</a:t>
            </a:r>
            <a:r>
              <a:rPr sz="3200" spc="-95" dirty="0">
                <a:latin typeface="Arial MT"/>
                <a:cs typeface="Arial MT"/>
              </a:rPr>
              <a:t> </a:t>
            </a:r>
            <a:r>
              <a:rPr sz="3200" dirty="0">
                <a:latin typeface="Arial MT"/>
                <a:cs typeface="Arial MT"/>
              </a:rPr>
              <a:t>to</a:t>
            </a:r>
            <a:r>
              <a:rPr sz="3200" spc="-40" dirty="0">
                <a:latin typeface="Arial MT"/>
                <a:cs typeface="Arial MT"/>
              </a:rPr>
              <a:t> </a:t>
            </a:r>
            <a:r>
              <a:rPr sz="3200" dirty="0">
                <a:latin typeface="Arial MT"/>
                <a:cs typeface="Arial MT"/>
              </a:rPr>
              <a:t>diurnal</a:t>
            </a:r>
            <a:r>
              <a:rPr sz="3200" spc="-80" dirty="0">
                <a:latin typeface="Arial MT"/>
                <a:cs typeface="Arial MT"/>
              </a:rPr>
              <a:t> </a:t>
            </a:r>
            <a:r>
              <a:rPr sz="3200" dirty="0">
                <a:latin typeface="Arial MT"/>
                <a:cs typeface="Arial MT"/>
              </a:rPr>
              <a:t>patterns</a:t>
            </a:r>
            <a:r>
              <a:rPr sz="3200" spc="-95" dirty="0">
                <a:latin typeface="Arial MT"/>
                <a:cs typeface="Arial MT"/>
              </a:rPr>
              <a:t> </a:t>
            </a:r>
            <a:r>
              <a:rPr sz="3200" dirty="0">
                <a:latin typeface="Arial MT"/>
                <a:cs typeface="Arial MT"/>
              </a:rPr>
              <a:t>most</a:t>
            </a:r>
            <a:r>
              <a:rPr sz="3200" spc="-65" dirty="0">
                <a:latin typeface="Arial MT"/>
                <a:cs typeface="Arial MT"/>
              </a:rPr>
              <a:t> </a:t>
            </a:r>
            <a:r>
              <a:rPr sz="3200" spc="-10" dirty="0">
                <a:latin typeface="Arial MT"/>
                <a:cs typeface="Arial MT"/>
              </a:rPr>
              <a:t>nontrivial </a:t>
            </a:r>
            <a:r>
              <a:rPr sz="3200" dirty="0">
                <a:latin typeface="Arial MT"/>
                <a:cs typeface="Arial MT"/>
              </a:rPr>
              <a:t>service</a:t>
            </a:r>
            <a:r>
              <a:rPr sz="3200" spc="-75" dirty="0">
                <a:latin typeface="Arial MT"/>
                <a:cs typeface="Arial MT"/>
              </a:rPr>
              <a:t> </a:t>
            </a:r>
            <a:r>
              <a:rPr sz="3200" dirty="0">
                <a:latin typeface="Arial MT"/>
                <a:cs typeface="Arial MT"/>
              </a:rPr>
              <a:t>also</a:t>
            </a:r>
            <a:r>
              <a:rPr sz="3200" spc="-55" dirty="0">
                <a:latin typeface="Arial MT"/>
                <a:cs typeface="Arial MT"/>
              </a:rPr>
              <a:t> </a:t>
            </a:r>
            <a:r>
              <a:rPr sz="3200" dirty="0">
                <a:latin typeface="Arial MT"/>
                <a:cs typeface="Arial MT"/>
              </a:rPr>
              <a:t>experience</a:t>
            </a:r>
            <a:r>
              <a:rPr sz="3200" spc="-95" dirty="0">
                <a:latin typeface="Arial MT"/>
                <a:cs typeface="Arial MT"/>
              </a:rPr>
              <a:t> </a:t>
            </a:r>
            <a:r>
              <a:rPr sz="3200" dirty="0">
                <a:latin typeface="Arial MT"/>
                <a:cs typeface="Arial MT"/>
              </a:rPr>
              <a:t>seasonal</a:t>
            </a:r>
            <a:r>
              <a:rPr sz="3200" spc="-75" dirty="0">
                <a:latin typeface="Arial MT"/>
                <a:cs typeface="Arial MT"/>
              </a:rPr>
              <a:t> </a:t>
            </a:r>
            <a:r>
              <a:rPr sz="3200" dirty="0">
                <a:latin typeface="Arial MT"/>
                <a:cs typeface="Arial MT"/>
              </a:rPr>
              <a:t>or</a:t>
            </a:r>
            <a:r>
              <a:rPr sz="3200" spc="-45" dirty="0">
                <a:latin typeface="Arial MT"/>
                <a:cs typeface="Arial MT"/>
              </a:rPr>
              <a:t> </a:t>
            </a:r>
            <a:r>
              <a:rPr sz="3200" spc="-10" dirty="0">
                <a:latin typeface="Arial MT"/>
                <a:cs typeface="Arial MT"/>
              </a:rPr>
              <a:t>other </a:t>
            </a:r>
            <a:r>
              <a:rPr sz="3200" dirty="0">
                <a:latin typeface="Arial MT"/>
                <a:cs typeface="Arial MT"/>
              </a:rPr>
              <a:t>periodic</a:t>
            </a:r>
            <a:r>
              <a:rPr sz="3200" spc="-105" dirty="0">
                <a:latin typeface="Arial MT"/>
                <a:cs typeface="Arial MT"/>
              </a:rPr>
              <a:t> </a:t>
            </a:r>
            <a:r>
              <a:rPr sz="3200" dirty="0">
                <a:latin typeface="Arial MT"/>
                <a:cs typeface="Arial MT"/>
              </a:rPr>
              <a:t>demands</a:t>
            </a:r>
            <a:r>
              <a:rPr sz="3200" spc="-160" dirty="0">
                <a:latin typeface="Arial MT"/>
                <a:cs typeface="Arial MT"/>
              </a:rPr>
              <a:t> </a:t>
            </a:r>
            <a:r>
              <a:rPr sz="3200" dirty="0">
                <a:latin typeface="Arial MT"/>
                <a:cs typeface="Arial MT"/>
              </a:rPr>
              <a:t>which</a:t>
            </a:r>
            <a:r>
              <a:rPr sz="3200" spc="-75" dirty="0">
                <a:latin typeface="Arial MT"/>
                <a:cs typeface="Arial MT"/>
              </a:rPr>
              <a:t> </a:t>
            </a:r>
            <a:r>
              <a:rPr sz="3200" dirty="0">
                <a:latin typeface="Arial MT"/>
                <a:cs typeface="Arial MT"/>
              </a:rPr>
              <a:t>need</a:t>
            </a:r>
            <a:r>
              <a:rPr sz="3200" spc="-70" dirty="0">
                <a:latin typeface="Arial MT"/>
                <a:cs typeface="Arial MT"/>
              </a:rPr>
              <a:t> </a:t>
            </a:r>
            <a:r>
              <a:rPr sz="3200" dirty="0">
                <a:latin typeface="Arial MT"/>
                <a:cs typeface="Arial MT"/>
              </a:rPr>
              <a:t>to</a:t>
            </a:r>
            <a:r>
              <a:rPr sz="3200" spc="-55" dirty="0">
                <a:latin typeface="Arial MT"/>
                <a:cs typeface="Arial MT"/>
              </a:rPr>
              <a:t> </a:t>
            </a:r>
            <a:r>
              <a:rPr sz="3200" spc="-25" dirty="0">
                <a:latin typeface="Arial MT"/>
                <a:cs typeface="Arial MT"/>
              </a:rPr>
              <a:t>be </a:t>
            </a:r>
            <a:r>
              <a:rPr sz="3200" dirty="0">
                <a:latin typeface="Arial MT"/>
                <a:cs typeface="Arial MT"/>
              </a:rPr>
              <a:t>incorporated</a:t>
            </a:r>
            <a:r>
              <a:rPr sz="3200" spc="-105" dirty="0">
                <a:latin typeface="Arial MT"/>
                <a:cs typeface="Arial MT"/>
              </a:rPr>
              <a:t> </a:t>
            </a:r>
            <a:r>
              <a:rPr sz="3200" dirty="0">
                <a:latin typeface="Arial MT"/>
                <a:cs typeface="Arial MT"/>
              </a:rPr>
              <a:t>into</a:t>
            </a:r>
            <a:r>
              <a:rPr sz="3200" spc="-80" dirty="0">
                <a:latin typeface="Arial MT"/>
                <a:cs typeface="Arial MT"/>
              </a:rPr>
              <a:t> </a:t>
            </a:r>
            <a:r>
              <a:rPr sz="3200" dirty="0">
                <a:latin typeface="Arial MT"/>
                <a:cs typeface="Arial MT"/>
              </a:rPr>
              <a:t>the</a:t>
            </a:r>
            <a:r>
              <a:rPr sz="3200" spc="-160" dirty="0">
                <a:latin typeface="Arial MT"/>
                <a:cs typeface="Arial MT"/>
              </a:rPr>
              <a:t> </a:t>
            </a:r>
            <a:r>
              <a:rPr sz="3200" spc="-10" dirty="0">
                <a:latin typeface="Arial MT"/>
                <a:cs typeface="Arial MT"/>
              </a:rPr>
              <a:t>analysis</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7947025" cy="4133215"/>
          </a:xfrm>
          <a:prstGeom prst="rect">
            <a:avLst/>
          </a:prstGeom>
        </p:spPr>
        <p:txBody>
          <a:bodyPr vert="horz" wrap="square" lIns="0" tIns="13335" rIns="0" bIns="0" rtlCol="0">
            <a:spAutoFit/>
          </a:bodyPr>
          <a:lstStyle/>
          <a:p>
            <a:pPr marL="355600" marR="610870" indent="-343535">
              <a:lnSpc>
                <a:spcPct val="100000"/>
              </a:lnSpc>
              <a:spcBef>
                <a:spcPts val="105"/>
              </a:spcBef>
              <a:buClr>
                <a:srgbClr val="2C7B9F"/>
              </a:buClr>
              <a:buSzPct val="84375"/>
              <a:buFont typeface="Arial MT"/>
              <a:buChar char="•"/>
              <a:tabLst>
                <a:tab pos="355600" algn="l"/>
              </a:tabLst>
            </a:pPr>
            <a:r>
              <a:rPr sz="3200" dirty="0">
                <a:latin typeface="Arial MT"/>
                <a:cs typeface="Arial MT"/>
              </a:rPr>
              <a:t>For</a:t>
            </a:r>
            <a:r>
              <a:rPr sz="3200" spc="-40" dirty="0">
                <a:latin typeface="Arial MT"/>
                <a:cs typeface="Arial MT"/>
              </a:rPr>
              <a:t> </a:t>
            </a:r>
            <a:r>
              <a:rPr sz="3200" dirty="0">
                <a:latin typeface="Arial MT"/>
                <a:cs typeface="Arial MT"/>
              </a:rPr>
              <a:t>example</a:t>
            </a:r>
            <a:r>
              <a:rPr sz="3200" spc="-35" dirty="0">
                <a:latin typeface="Arial MT"/>
                <a:cs typeface="Arial MT"/>
              </a:rPr>
              <a:t> </a:t>
            </a:r>
            <a:r>
              <a:rPr sz="3200" dirty="0">
                <a:highlight>
                  <a:srgbClr val="FFFF00"/>
                </a:highlight>
                <a:latin typeface="Arial MT"/>
                <a:cs typeface="Arial MT"/>
              </a:rPr>
              <a:t>Ebay</a:t>
            </a:r>
            <a:r>
              <a:rPr sz="3200" spc="-35" dirty="0">
                <a:highlight>
                  <a:srgbClr val="FFFF00"/>
                </a:highlight>
                <a:latin typeface="Arial MT"/>
                <a:cs typeface="Arial MT"/>
              </a:rPr>
              <a:t> </a:t>
            </a:r>
            <a:r>
              <a:rPr sz="3200" spc="-10" dirty="0">
                <a:latin typeface="Arial MT"/>
                <a:cs typeface="Arial MT"/>
              </a:rPr>
              <a:t>experiences</a:t>
            </a:r>
            <a:r>
              <a:rPr sz="3200" spc="-140" dirty="0">
                <a:latin typeface="Arial MT"/>
                <a:cs typeface="Arial MT"/>
              </a:rPr>
              <a:t> </a:t>
            </a:r>
            <a:r>
              <a:rPr sz="3200" spc="-10" dirty="0">
                <a:latin typeface="Arial MT"/>
                <a:cs typeface="Arial MT"/>
              </a:rPr>
              <a:t>greater </a:t>
            </a:r>
            <a:r>
              <a:rPr sz="3200" dirty="0">
                <a:latin typeface="Arial MT"/>
                <a:cs typeface="Arial MT"/>
              </a:rPr>
              <a:t>traffic</a:t>
            </a:r>
            <a:r>
              <a:rPr sz="3200" spc="-114" dirty="0">
                <a:latin typeface="Arial MT"/>
                <a:cs typeface="Arial MT"/>
              </a:rPr>
              <a:t> </a:t>
            </a:r>
            <a:r>
              <a:rPr sz="3200" dirty="0">
                <a:latin typeface="Arial MT"/>
                <a:cs typeface="Arial MT"/>
              </a:rPr>
              <a:t>in</a:t>
            </a:r>
            <a:r>
              <a:rPr sz="3200" spc="-130" dirty="0">
                <a:latin typeface="Arial MT"/>
                <a:cs typeface="Arial MT"/>
              </a:rPr>
              <a:t> </a:t>
            </a:r>
            <a:r>
              <a:rPr sz="3200" spc="-10" dirty="0">
                <a:latin typeface="Arial MT"/>
                <a:cs typeface="Arial MT"/>
              </a:rPr>
              <a:t>December</a:t>
            </a:r>
            <a:endParaRPr sz="3200" dirty="0">
              <a:latin typeface="Arial MT"/>
              <a:cs typeface="Arial MT"/>
            </a:endParaRPr>
          </a:p>
          <a:p>
            <a:pPr marL="355600" marR="741045" indent="-343535">
              <a:lnSpc>
                <a:spcPct val="100000"/>
              </a:lnSpc>
              <a:spcBef>
                <a:spcPts val="805"/>
              </a:spcBef>
              <a:buClr>
                <a:srgbClr val="2C7B9F"/>
              </a:buClr>
              <a:buSzPct val="84375"/>
              <a:buChar char="•"/>
              <a:tabLst>
                <a:tab pos="355600" algn="l"/>
              </a:tabLst>
            </a:pPr>
            <a:r>
              <a:rPr sz="3200" spc="-45" dirty="0">
                <a:latin typeface="Arial MT"/>
                <a:cs typeface="Arial MT"/>
              </a:rPr>
              <a:t>Additionally,</a:t>
            </a:r>
            <a:r>
              <a:rPr sz="3200" spc="-85" dirty="0">
                <a:latin typeface="Arial MT"/>
                <a:cs typeface="Arial MT"/>
              </a:rPr>
              <a:t> </a:t>
            </a:r>
            <a:r>
              <a:rPr sz="3200" dirty="0">
                <a:latin typeface="Arial MT"/>
                <a:cs typeface="Arial MT"/>
              </a:rPr>
              <a:t>there</a:t>
            </a:r>
            <a:r>
              <a:rPr sz="3200" spc="-25" dirty="0">
                <a:latin typeface="Arial MT"/>
                <a:cs typeface="Arial MT"/>
              </a:rPr>
              <a:t> </a:t>
            </a:r>
            <a:r>
              <a:rPr sz="3200" dirty="0">
                <a:latin typeface="Arial MT"/>
                <a:cs typeface="Arial MT"/>
              </a:rPr>
              <a:t>can</a:t>
            </a:r>
            <a:r>
              <a:rPr sz="3200" spc="-55" dirty="0">
                <a:latin typeface="Arial MT"/>
                <a:cs typeface="Arial MT"/>
              </a:rPr>
              <a:t> </a:t>
            </a:r>
            <a:r>
              <a:rPr sz="3200" dirty="0">
                <a:latin typeface="Arial MT"/>
                <a:cs typeface="Arial MT"/>
              </a:rPr>
              <a:t>be</a:t>
            </a:r>
            <a:r>
              <a:rPr sz="3200" spc="-35" dirty="0">
                <a:latin typeface="Arial MT"/>
                <a:cs typeface="Arial MT"/>
              </a:rPr>
              <a:t> </a:t>
            </a:r>
            <a:r>
              <a:rPr sz="3200" spc="-10" dirty="0">
                <a:latin typeface="Arial MT"/>
                <a:cs typeface="Arial MT"/>
              </a:rPr>
              <a:t>unexpected </a:t>
            </a:r>
            <a:r>
              <a:rPr sz="3200" dirty="0">
                <a:latin typeface="Arial MT"/>
                <a:cs typeface="Arial MT"/>
              </a:rPr>
              <a:t>demand</a:t>
            </a:r>
            <a:r>
              <a:rPr sz="3200" spc="-85" dirty="0">
                <a:latin typeface="Arial MT"/>
                <a:cs typeface="Arial MT"/>
              </a:rPr>
              <a:t> </a:t>
            </a:r>
            <a:r>
              <a:rPr sz="3200" dirty="0">
                <a:latin typeface="Arial MT"/>
                <a:cs typeface="Arial MT"/>
              </a:rPr>
              <a:t>bursts</a:t>
            </a:r>
            <a:r>
              <a:rPr sz="3200" spc="-70" dirty="0">
                <a:latin typeface="Arial MT"/>
                <a:cs typeface="Arial MT"/>
              </a:rPr>
              <a:t> </a:t>
            </a:r>
            <a:r>
              <a:rPr sz="3200" dirty="0">
                <a:latin typeface="Arial MT"/>
                <a:cs typeface="Arial MT"/>
              </a:rPr>
              <a:t>due</a:t>
            </a:r>
            <a:r>
              <a:rPr sz="3200" spc="-50" dirty="0">
                <a:latin typeface="Arial MT"/>
                <a:cs typeface="Arial MT"/>
              </a:rPr>
              <a:t> </a:t>
            </a:r>
            <a:r>
              <a:rPr sz="3200" dirty="0">
                <a:latin typeface="Arial MT"/>
                <a:cs typeface="Arial MT"/>
              </a:rPr>
              <a:t>to</a:t>
            </a:r>
            <a:r>
              <a:rPr sz="3200" spc="-50" dirty="0">
                <a:latin typeface="Arial MT"/>
                <a:cs typeface="Arial MT"/>
              </a:rPr>
              <a:t> </a:t>
            </a:r>
            <a:r>
              <a:rPr sz="3200" dirty="0">
                <a:latin typeface="Arial MT"/>
                <a:cs typeface="Arial MT"/>
              </a:rPr>
              <a:t>external</a:t>
            </a:r>
            <a:r>
              <a:rPr sz="3200" spc="-85" dirty="0">
                <a:latin typeface="Arial MT"/>
                <a:cs typeface="Arial MT"/>
              </a:rPr>
              <a:t> </a:t>
            </a:r>
            <a:r>
              <a:rPr sz="3200" spc="-10" dirty="0">
                <a:latin typeface="Arial MT"/>
                <a:cs typeface="Arial MT"/>
              </a:rPr>
              <a:t>events </a:t>
            </a:r>
            <a:r>
              <a:rPr sz="3200" dirty="0">
                <a:latin typeface="Arial MT"/>
                <a:cs typeface="Arial MT"/>
              </a:rPr>
              <a:t>(news</a:t>
            </a:r>
            <a:r>
              <a:rPr sz="3200" spc="-80" dirty="0">
                <a:latin typeface="Arial MT"/>
                <a:cs typeface="Arial MT"/>
              </a:rPr>
              <a:t> </a:t>
            </a:r>
            <a:r>
              <a:rPr sz="3200" dirty="0">
                <a:latin typeface="Arial MT"/>
                <a:cs typeface="Arial MT"/>
              </a:rPr>
              <a:t>events)</a:t>
            </a:r>
            <a:r>
              <a:rPr sz="3200" spc="-45" dirty="0">
                <a:latin typeface="Arial MT"/>
                <a:cs typeface="Arial MT"/>
              </a:rPr>
              <a:t> </a:t>
            </a:r>
            <a:r>
              <a:rPr sz="3200" dirty="0">
                <a:latin typeface="Arial MT"/>
                <a:cs typeface="Arial MT"/>
              </a:rPr>
              <a:t>which</a:t>
            </a:r>
            <a:r>
              <a:rPr sz="3200" spc="-40" dirty="0">
                <a:latin typeface="Arial MT"/>
                <a:cs typeface="Arial MT"/>
              </a:rPr>
              <a:t> </a:t>
            </a:r>
            <a:r>
              <a:rPr sz="3200" dirty="0">
                <a:latin typeface="Arial MT"/>
                <a:cs typeface="Arial MT"/>
              </a:rPr>
              <a:t>need</a:t>
            </a:r>
            <a:r>
              <a:rPr sz="3200" spc="-55" dirty="0">
                <a:latin typeface="Arial MT"/>
                <a:cs typeface="Arial MT"/>
              </a:rPr>
              <a:t> </a:t>
            </a:r>
            <a:r>
              <a:rPr sz="3200" dirty="0">
                <a:latin typeface="Arial MT"/>
                <a:cs typeface="Arial MT"/>
              </a:rPr>
              <a:t>to</a:t>
            </a:r>
            <a:r>
              <a:rPr sz="3200" spc="-45" dirty="0">
                <a:latin typeface="Arial MT"/>
                <a:cs typeface="Arial MT"/>
              </a:rPr>
              <a:t> </a:t>
            </a:r>
            <a:r>
              <a:rPr sz="3200" spc="-25" dirty="0">
                <a:latin typeface="Arial MT"/>
                <a:cs typeface="Arial MT"/>
              </a:rPr>
              <a:t>be </a:t>
            </a:r>
            <a:r>
              <a:rPr sz="3200" dirty="0">
                <a:latin typeface="Arial MT"/>
                <a:cs typeface="Arial MT"/>
              </a:rPr>
              <a:t>provisioned</a:t>
            </a:r>
            <a:r>
              <a:rPr sz="3200" spc="-95" dirty="0">
                <a:latin typeface="Arial MT"/>
                <a:cs typeface="Arial MT"/>
              </a:rPr>
              <a:t> </a:t>
            </a:r>
            <a:r>
              <a:rPr sz="3200" dirty="0">
                <a:latin typeface="Arial MT"/>
                <a:cs typeface="Arial MT"/>
              </a:rPr>
              <a:t>for</a:t>
            </a:r>
            <a:r>
              <a:rPr sz="3200" spc="-50" dirty="0">
                <a:latin typeface="Arial MT"/>
                <a:cs typeface="Arial MT"/>
              </a:rPr>
              <a:t> </a:t>
            </a:r>
            <a:r>
              <a:rPr sz="3200" dirty="0">
                <a:latin typeface="Arial MT"/>
                <a:cs typeface="Arial MT"/>
              </a:rPr>
              <a:t>when</a:t>
            </a:r>
            <a:r>
              <a:rPr sz="3200" spc="-65" dirty="0">
                <a:latin typeface="Arial MT"/>
                <a:cs typeface="Arial MT"/>
              </a:rPr>
              <a:t> </a:t>
            </a:r>
            <a:r>
              <a:rPr sz="3200" dirty="0">
                <a:latin typeface="Arial MT"/>
                <a:cs typeface="Arial MT"/>
              </a:rPr>
              <a:t>buying</a:t>
            </a:r>
            <a:r>
              <a:rPr sz="3200" spc="-140" dirty="0">
                <a:latin typeface="Arial MT"/>
                <a:cs typeface="Arial MT"/>
              </a:rPr>
              <a:t> </a:t>
            </a:r>
            <a:r>
              <a:rPr sz="3200" spc="-10" dirty="0">
                <a:latin typeface="Arial MT"/>
                <a:cs typeface="Arial MT"/>
              </a:rPr>
              <a:t>hardware</a:t>
            </a:r>
            <a:endParaRPr sz="3200" dirty="0">
              <a:latin typeface="Arial MT"/>
              <a:cs typeface="Arial MT"/>
            </a:endParaRPr>
          </a:p>
          <a:p>
            <a:pPr marL="355600" marR="5080" indent="-343535">
              <a:lnSpc>
                <a:spcPct val="100000"/>
              </a:lnSpc>
              <a:spcBef>
                <a:spcPts val="805"/>
              </a:spcBef>
              <a:buClr>
                <a:srgbClr val="2C7B9F"/>
              </a:buClr>
              <a:buSzPct val="84375"/>
              <a:buChar char="•"/>
              <a:tabLst>
                <a:tab pos="355600" algn="l"/>
              </a:tabLst>
            </a:pPr>
            <a:r>
              <a:rPr sz="3200" dirty="0">
                <a:latin typeface="Arial MT"/>
                <a:cs typeface="Arial MT"/>
              </a:rPr>
              <a:t>It</a:t>
            </a:r>
            <a:r>
              <a:rPr sz="3200" spc="-25" dirty="0">
                <a:latin typeface="Arial MT"/>
                <a:cs typeface="Arial MT"/>
              </a:rPr>
              <a:t> </a:t>
            </a:r>
            <a:r>
              <a:rPr sz="3200" dirty="0">
                <a:latin typeface="Arial MT"/>
                <a:cs typeface="Arial MT"/>
              </a:rPr>
              <a:t>is</a:t>
            </a:r>
            <a:r>
              <a:rPr sz="3200" spc="-20" dirty="0">
                <a:latin typeface="Arial MT"/>
                <a:cs typeface="Arial MT"/>
              </a:rPr>
              <a:t> </a:t>
            </a:r>
            <a:r>
              <a:rPr sz="3200" dirty="0">
                <a:latin typeface="Arial MT"/>
                <a:cs typeface="Arial MT"/>
              </a:rPr>
              <a:t>much</a:t>
            </a:r>
            <a:r>
              <a:rPr sz="3200" spc="-65" dirty="0">
                <a:latin typeface="Arial MT"/>
                <a:cs typeface="Arial MT"/>
              </a:rPr>
              <a:t> </a:t>
            </a:r>
            <a:r>
              <a:rPr sz="3200" dirty="0">
                <a:latin typeface="Arial MT"/>
                <a:cs typeface="Arial MT"/>
              </a:rPr>
              <a:t>easier</a:t>
            </a:r>
            <a:r>
              <a:rPr sz="3200" spc="-35" dirty="0">
                <a:latin typeface="Arial MT"/>
                <a:cs typeface="Arial MT"/>
              </a:rPr>
              <a:t> </a:t>
            </a:r>
            <a:r>
              <a:rPr sz="3200" dirty="0">
                <a:latin typeface="Arial MT"/>
                <a:cs typeface="Arial MT"/>
              </a:rPr>
              <a:t>to</a:t>
            </a:r>
            <a:r>
              <a:rPr sz="3200" spc="-30" dirty="0">
                <a:latin typeface="Arial MT"/>
                <a:cs typeface="Arial MT"/>
              </a:rPr>
              <a:t> </a:t>
            </a:r>
            <a:r>
              <a:rPr sz="3200" dirty="0">
                <a:latin typeface="Arial MT"/>
                <a:cs typeface="Arial MT"/>
              </a:rPr>
              <a:t>adjust</a:t>
            </a:r>
            <a:r>
              <a:rPr sz="3200" spc="-50" dirty="0">
                <a:latin typeface="Arial MT"/>
                <a:cs typeface="Arial MT"/>
              </a:rPr>
              <a:t> </a:t>
            </a:r>
            <a:r>
              <a:rPr sz="3200" dirty="0">
                <a:latin typeface="Arial MT"/>
                <a:cs typeface="Arial MT"/>
              </a:rPr>
              <a:t>for</a:t>
            </a:r>
            <a:r>
              <a:rPr sz="3200" spc="-75" dirty="0">
                <a:latin typeface="Arial MT"/>
                <a:cs typeface="Arial MT"/>
              </a:rPr>
              <a:t> </a:t>
            </a:r>
            <a:r>
              <a:rPr sz="3200" dirty="0">
                <a:latin typeface="Arial MT"/>
                <a:cs typeface="Arial MT"/>
              </a:rPr>
              <a:t>these</a:t>
            </a:r>
            <a:r>
              <a:rPr sz="3200" spc="-140" dirty="0">
                <a:latin typeface="Arial MT"/>
                <a:cs typeface="Arial MT"/>
              </a:rPr>
              <a:t> </a:t>
            </a:r>
            <a:r>
              <a:rPr sz="3200" spc="-10" dirty="0">
                <a:latin typeface="Arial MT"/>
                <a:cs typeface="Arial MT"/>
              </a:rPr>
              <a:t>events </a:t>
            </a:r>
            <a:r>
              <a:rPr sz="3200" dirty="0">
                <a:latin typeface="Arial MT"/>
                <a:cs typeface="Arial MT"/>
              </a:rPr>
              <a:t>with</a:t>
            </a:r>
            <a:r>
              <a:rPr sz="3200" spc="-45" dirty="0">
                <a:latin typeface="Arial MT"/>
                <a:cs typeface="Arial MT"/>
              </a:rPr>
              <a:t> </a:t>
            </a:r>
            <a:r>
              <a:rPr sz="3200" dirty="0">
                <a:latin typeface="Arial MT"/>
                <a:cs typeface="Arial MT"/>
              </a:rPr>
              <a:t>cloud</a:t>
            </a:r>
            <a:r>
              <a:rPr sz="3200" spc="-85" dirty="0">
                <a:latin typeface="Arial MT"/>
                <a:cs typeface="Arial MT"/>
              </a:rPr>
              <a:t> </a:t>
            </a:r>
            <a:r>
              <a:rPr sz="3200" spc="-10" dirty="0">
                <a:latin typeface="Arial MT"/>
                <a:cs typeface="Arial MT"/>
              </a:rPr>
              <a:t>computing</a:t>
            </a:r>
            <a:endParaRPr sz="3200" dirty="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Elasticity:</a:t>
            </a:r>
            <a:r>
              <a:rPr spc="-200" dirty="0"/>
              <a:t> </a:t>
            </a:r>
            <a:r>
              <a:rPr spc="-105" dirty="0"/>
              <a:t>Shifting</a:t>
            </a:r>
            <a:r>
              <a:rPr spc="-190" dirty="0"/>
              <a:t> </a:t>
            </a:r>
            <a:r>
              <a:rPr spc="-75" dirty="0"/>
              <a:t>the</a:t>
            </a:r>
            <a:r>
              <a:rPr spc="-120" dirty="0"/>
              <a:t> </a:t>
            </a:r>
            <a:r>
              <a:rPr spc="-2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7976234" cy="4133215"/>
          </a:xfrm>
          <a:prstGeom prst="rect">
            <a:avLst/>
          </a:prstGeom>
        </p:spPr>
        <p:txBody>
          <a:bodyPr vert="horz" wrap="square" lIns="0" tIns="13335" rIns="0" bIns="0" rtlCol="0">
            <a:spAutoFit/>
          </a:bodyPr>
          <a:lstStyle/>
          <a:p>
            <a:pPr marL="355600" marR="972819" indent="-343535">
              <a:lnSpc>
                <a:spcPct val="100000"/>
              </a:lnSpc>
              <a:spcBef>
                <a:spcPts val="105"/>
              </a:spcBef>
              <a:buClr>
                <a:srgbClr val="2C7B9F"/>
              </a:buClr>
              <a:buSzPct val="84375"/>
              <a:buFont typeface="Arial MT"/>
              <a:buChar char="•"/>
              <a:tabLst>
                <a:tab pos="355600" algn="l"/>
              </a:tabLst>
            </a:pPr>
            <a:r>
              <a:rPr sz="3200" dirty="0">
                <a:latin typeface="Arial MT"/>
                <a:cs typeface="Arial MT"/>
              </a:rPr>
              <a:t>It</a:t>
            </a:r>
            <a:r>
              <a:rPr sz="3200" spc="-55" dirty="0">
                <a:latin typeface="Arial MT"/>
                <a:cs typeface="Arial MT"/>
              </a:rPr>
              <a:t> </a:t>
            </a:r>
            <a:r>
              <a:rPr sz="3200" dirty="0">
                <a:latin typeface="Arial MT"/>
                <a:cs typeface="Arial MT"/>
              </a:rPr>
              <a:t>is</a:t>
            </a:r>
            <a:r>
              <a:rPr sz="3200" spc="-65" dirty="0">
                <a:latin typeface="Arial MT"/>
                <a:cs typeface="Arial MT"/>
              </a:rPr>
              <a:t> </a:t>
            </a:r>
            <a:r>
              <a:rPr sz="3200" dirty="0">
                <a:latin typeface="Arial MT"/>
                <a:cs typeface="Arial MT"/>
              </a:rPr>
              <a:t>frequently</a:t>
            </a:r>
            <a:r>
              <a:rPr sz="3200" spc="-100" dirty="0">
                <a:latin typeface="Arial MT"/>
                <a:cs typeface="Arial MT"/>
              </a:rPr>
              <a:t> </a:t>
            </a:r>
            <a:r>
              <a:rPr sz="3200" spc="-10" dirty="0">
                <a:latin typeface="Arial MT"/>
                <a:cs typeface="Arial MT"/>
              </a:rPr>
              <a:t>difficult</a:t>
            </a:r>
            <a:r>
              <a:rPr sz="3200" spc="-55" dirty="0">
                <a:latin typeface="Arial MT"/>
                <a:cs typeface="Arial MT"/>
              </a:rPr>
              <a:t> </a:t>
            </a:r>
            <a:r>
              <a:rPr sz="3200" dirty="0">
                <a:latin typeface="Arial MT"/>
                <a:cs typeface="Arial MT"/>
              </a:rPr>
              <a:t>to</a:t>
            </a:r>
            <a:r>
              <a:rPr sz="3200" spc="-55" dirty="0">
                <a:latin typeface="Arial MT"/>
                <a:cs typeface="Arial MT"/>
              </a:rPr>
              <a:t> </a:t>
            </a:r>
            <a:r>
              <a:rPr sz="3200" dirty="0">
                <a:latin typeface="Arial MT"/>
                <a:cs typeface="Arial MT"/>
              </a:rPr>
              <a:t>predict</a:t>
            </a:r>
            <a:r>
              <a:rPr sz="3200" spc="-120" dirty="0">
                <a:latin typeface="Arial MT"/>
                <a:cs typeface="Arial MT"/>
              </a:rPr>
              <a:t> </a:t>
            </a:r>
            <a:r>
              <a:rPr sz="3200" spc="-20" dirty="0">
                <a:latin typeface="Arial MT"/>
                <a:cs typeface="Arial MT"/>
              </a:rPr>
              <a:t>peak </a:t>
            </a:r>
            <a:r>
              <a:rPr sz="3200" spc="-10" dirty="0">
                <a:latin typeface="Arial MT"/>
                <a:cs typeface="Arial MT"/>
              </a:rPr>
              <a:t>utilisation</a:t>
            </a:r>
            <a:endParaRPr sz="3200">
              <a:latin typeface="Arial MT"/>
              <a:cs typeface="Arial MT"/>
            </a:endParaRPr>
          </a:p>
          <a:p>
            <a:pPr marL="355600" marR="5080" indent="-343535">
              <a:lnSpc>
                <a:spcPct val="100000"/>
              </a:lnSpc>
              <a:spcBef>
                <a:spcPts val="805"/>
              </a:spcBef>
              <a:buClr>
                <a:srgbClr val="2C7B9F"/>
              </a:buClr>
              <a:buSzPct val="84375"/>
              <a:buChar char="•"/>
              <a:tabLst>
                <a:tab pos="355600" algn="l"/>
              </a:tabLst>
            </a:pPr>
            <a:r>
              <a:rPr sz="3200" dirty="0">
                <a:latin typeface="Arial MT"/>
                <a:cs typeface="Arial MT"/>
              </a:rPr>
              <a:t>While</a:t>
            </a:r>
            <a:r>
              <a:rPr sz="3200" spc="-70" dirty="0">
                <a:latin typeface="Arial MT"/>
                <a:cs typeface="Arial MT"/>
              </a:rPr>
              <a:t> </a:t>
            </a:r>
            <a:r>
              <a:rPr sz="3200" dirty="0">
                <a:latin typeface="Arial MT"/>
                <a:cs typeface="Arial MT"/>
              </a:rPr>
              <a:t>it</a:t>
            </a:r>
            <a:r>
              <a:rPr sz="3200" spc="-35" dirty="0">
                <a:latin typeface="Arial MT"/>
                <a:cs typeface="Arial MT"/>
              </a:rPr>
              <a:t> </a:t>
            </a:r>
            <a:r>
              <a:rPr sz="3200" dirty="0">
                <a:latin typeface="Arial MT"/>
                <a:cs typeface="Arial MT"/>
              </a:rPr>
              <a:t>is</a:t>
            </a:r>
            <a:r>
              <a:rPr sz="3200" spc="-35" dirty="0">
                <a:latin typeface="Arial MT"/>
                <a:cs typeface="Arial MT"/>
              </a:rPr>
              <a:t> </a:t>
            </a:r>
            <a:r>
              <a:rPr sz="3200" dirty="0">
                <a:latin typeface="Arial MT"/>
                <a:cs typeface="Arial MT"/>
              </a:rPr>
              <a:t>more</a:t>
            </a:r>
            <a:r>
              <a:rPr sz="3200" spc="-75" dirty="0">
                <a:latin typeface="Arial MT"/>
                <a:cs typeface="Arial MT"/>
              </a:rPr>
              <a:t> </a:t>
            </a:r>
            <a:r>
              <a:rPr sz="3200" spc="-10" dirty="0">
                <a:latin typeface="Arial MT"/>
                <a:cs typeface="Arial MT"/>
              </a:rPr>
              <a:t>difficult</a:t>
            </a:r>
            <a:r>
              <a:rPr sz="3200" spc="-40" dirty="0">
                <a:latin typeface="Arial MT"/>
                <a:cs typeface="Arial MT"/>
              </a:rPr>
              <a:t> </a:t>
            </a:r>
            <a:r>
              <a:rPr sz="3200" dirty="0">
                <a:latin typeface="Arial MT"/>
                <a:cs typeface="Arial MT"/>
              </a:rPr>
              <a:t>to</a:t>
            </a:r>
            <a:r>
              <a:rPr sz="3200" spc="-50" dirty="0">
                <a:latin typeface="Arial MT"/>
                <a:cs typeface="Arial MT"/>
              </a:rPr>
              <a:t> </a:t>
            </a:r>
            <a:r>
              <a:rPr sz="3200" dirty="0">
                <a:latin typeface="Arial MT"/>
                <a:cs typeface="Arial MT"/>
              </a:rPr>
              <a:t>predict</a:t>
            </a:r>
            <a:r>
              <a:rPr sz="3200" spc="-85" dirty="0">
                <a:latin typeface="Arial MT"/>
                <a:cs typeface="Arial MT"/>
              </a:rPr>
              <a:t> </a:t>
            </a:r>
            <a:r>
              <a:rPr sz="3200" spc="-25" dirty="0">
                <a:latin typeface="Arial MT"/>
                <a:cs typeface="Arial MT"/>
              </a:rPr>
              <a:t>the </a:t>
            </a:r>
            <a:r>
              <a:rPr sz="3200" dirty="0">
                <a:latin typeface="Arial MT"/>
                <a:cs typeface="Arial MT"/>
              </a:rPr>
              <a:t>monetary</a:t>
            </a:r>
            <a:r>
              <a:rPr sz="3200" spc="-114" dirty="0">
                <a:latin typeface="Arial MT"/>
                <a:cs typeface="Arial MT"/>
              </a:rPr>
              <a:t> </a:t>
            </a:r>
            <a:r>
              <a:rPr sz="3200" dirty="0">
                <a:latin typeface="Arial MT"/>
                <a:cs typeface="Arial MT"/>
              </a:rPr>
              <a:t>effects</a:t>
            </a:r>
            <a:r>
              <a:rPr sz="3200" spc="-95" dirty="0">
                <a:latin typeface="Arial MT"/>
                <a:cs typeface="Arial MT"/>
              </a:rPr>
              <a:t> </a:t>
            </a:r>
            <a:r>
              <a:rPr sz="3200" dirty="0">
                <a:latin typeface="Arial MT"/>
                <a:cs typeface="Arial MT"/>
              </a:rPr>
              <a:t>of</a:t>
            </a:r>
            <a:r>
              <a:rPr sz="3200" spc="-75" dirty="0">
                <a:latin typeface="Arial MT"/>
                <a:cs typeface="Arial MT"/>
              </a:rPr>
              <a:t> </a:t>
            </a:r>
            <a:r>
              <a:rPr sz="3200" spc="-10" dirty="0">
                <a:latin typeface="Arial MT"/>
                <a:cs typeface="Arial MT"/>
              </a:rPr>
              <a:t>underprovisioning</a:t>
            </a:r>
            <a:r>
              <a:rPr sz="3200" spc="-145" dirty="0">
                <a:latin typeface="Arial MT"/>
                <a:cs typeface="Arial MT"/>
              </a:rPr>
              <a:t> </a:t>
            </a:r>
            <a:r>
              <a:rPr sz="3200" spc="-20" dirty="0">
                <a:latin typeface="Arial MT"/>
                <a:cs typeface="Arial MT"/>
              </a:rPr>
              <a:t>they </a:t>
            </a:r>
            <a:r>
              <a:rPr sz="3200" dirty="0">
                <a:latin typeface="Arial MT"/>
                <a:cs typeface="Arial MT"/>
              </a:rPr>
              <a:t>are</a:t>
            </a:r>
            <a:r>
              <a:rPr sz="3200" spc="-60" dirty="0">
                <a:latin typeface="Arial MT"/>
                <a:cs typeface="Arial MT"/>
              </a:rPr>
              <a:t> </a:t>
            </a:r>
            <a:r>
              <a:rPr sz="3200" dirty="0">
                <a:latin typeface="Arial MT"/>
                <a:cs typeface="Arial MT"/>
              </a:rPr>
              <a:t>as</a:t>
            </a:r>
            <a:r>
              <a:rPr sz="3200" spc="-35" dirty="0">
                <a:latin typeface="Arial MT"/>
                <a:cs typeface="Arial MT"/>
              </a:rPr>
              <a:t> </a:t>
            </a:r>
            <a:r>
              <a:rPr sz="3200" dirty="0">
                <a:latin typeface="Arial MT"/>
                <a:cs typeface="Arial MT"/>
              </a:rPr>
              <a:t>just</a:t>
            </a:r>
            <a:r>
              <a:rPr sz="3200" spc="-75" dirty="0">
                <a:latin typeface="Arial MT"/>
                <a:cs typeface="Arial MT"/>
              </a:rPr>
              <a:t> </a:t>
            </a:r>
            <a:r>
              <a:rPr sz="3200" dirty="0">
                <a:latin typeface="Arial MT"/>
                <a:cs typeface="Arial MT"/>
              </a:rPr>
              <a:t>serious</a:t>
            </a:r>
            <a:r>
              <a:rPr sz="3200" spc="-75" dirty="0">
                <a:latin typeface="Arial MT"/>
                <a:cs typeface="Arial MT"/>
              </a:rPr>
              <a:t> </a:t>
            </a:r>
            <a:r>
              <a:rPr sz="3200" dirty="0">
                <a:latin typeface="Arial MT"/>
                <a:cs typeface="Arial MT"/>
              </a:rPr>
              <a:t>as</a:t>
            </a:r>
            <a:r>
              <a:rPr sz="3200" spc="-45" dirty="0">
                <a:latin typeface="Arial MT"/>
                <a:cs typeface="Arial MT"/>
              </a:rPr>
              <a:t> </a:t>
            </a:r>
            <a:r>
              <a:rPr sz="3200" dirty="0">
                <a:latin typeface="Arial MT"/>
                <a:cs typeface="Arial MT"/>
              </a:rPr>
              <a:t>the</a:t>
            </a:r>
            <a:r>
              <a:rPr sz="3200" spc="-75" dirty="0">
                <a:latin typeface="Arial MT"/>
                <a:cs typeface="Arial MT"/>
              </a:rPr>
              <a:t> </a:t>
            </a:r>
            <a:r>
              <a:rPr sz="3200" dirty="0">
                <a:latin typeface="Arial MT"/>
                <a:cs typeface="Arial MT"/>
              </a:rPr>
              <a:t>effects</a:t>
            </a:r>
            <a:r>
              <a:rPr sz="3200" spc="-55" dirty="0">
                <a:latin typeface="Arial MT"/>
                <a:cs typeface="Arial MT"/>
              </a:rPr>
              <a:t> </a:t>
            </a:r>
            <a:r>
              <a:rPr sz="3200" spc="-25" dirty="0">
                <a:latin typeface="Arial MT"/>
                <a:cs typeface="Arial MT"/>
              </a:rPr>
              <a:t>of </a:t>
            </a:r>
            <a:r>
              <a:rPr sz="3200" spc="-10" dirty="0">
                <a:latin typeface="Arial MT"/>
                <a:cs typeface="Arial MT"/>
              </a:rPr>
              <a:t>overprovisioning</a:t>
            </a:r>
            <a:endParaRPr sz="3200">
              <a:latin typeface="Arial MT"/>
              <a:cs typeface="Arial MT"/>
            </a:endParaRPr>
          </a:p>
          <a:p>
            <a:pPr marL="355600" marR="153670" indent="-343535">
              <a:lnSpc>
                <a:spcPct val="100000"/>
              </a:lnSpc>
              <a:spcBef>
                <a:spcPts val="805"/>
              </a:spcBef>
              <a:buClr>
                <a:srgbClr val="2C7B9F"/>
              </a:buClr>
              <a:buSzPct val="84375"/>
              <a:buChar char="•"/>
              <a:tabLst>
                <a:tab pos="355600" algn="l"/>
              </a:tabLst>
            </a:pPr>
            <a:r>
              <a:rPr sz="3200" dirty="0">
                <a:latin typeface="Arial MT"/>
                <a:cs typeface="Arial MT"/>
              </a:rPr>
              <a:t>Rejected</a:t>
            </a:r>
            <a:r>
              <a:rPr sz="3200" spc="-85" dirty="0">
                <a:latin typeface="Arial MT"/>
                <a:cs typeface="Arial MT"/>
              </a:rPr>
              <a:t> </a:t>
            </a:r>
            <a:r>
              <a:rPr sz="3200" dirty="0">
                <a:latin typeface="Arial MT"/>
                <a:cs typeface="Arial MT"/>
              </a:rPr>
              <a:t>user</a:t>
            </a:r>
            <a:r>
              <a:rPr sz="3200" spc="-40" dirty="0">
                <a:latin typeface="Arial MT"/>
                <a:cs typeface="Arial MT"/>
              </a:rPr>
              <a:t> </a:t>
            </a:r>
            <a:r>
              <a:rPr sz="3200" dirty="0">
                <a:latin typeface="Arial MT"/>
                <a:cs typeface="Arial MT"/>
              </a:rPr>
              <a:t>generate</a:t>
            </a:r>
            <a:r>
              <a:rPr sz="3200" spc="-85" dirty="0">
                <a:latin typeface="Arial MT"/>
                <a:cs typeface="Arial MT"/>
              </a:rPr>
              <a:t> </a:t>
            </a:r>
            <a:r>
              <a:rPr sz="3200" dirty="0">
                <a:latin typeface="Arial MT"/>
                <a:cs typeface="Arial MT"/>
              </a:rPr>
              <a:t>zero</a:t>
            </a:r>
            <a:r>
              <a:rPr sz="3200" spc="-45" dirty="0">
                <a:latin typeface="Arial MT"/>
                <a:cs typeface="Arial MT"/>
              </a:rPr>
              <a:t> </a:t>
            </a:r>
            <a:r>
              <a:rPr sz="3200" spc="-10" dirty="0">
                <a:latin typeface="Arial MT"/>
                <a:cs typeface="Arial MT"/>
              </a:rPr>
              <a:t>revenue</a:t>
            </a:r>
            <a:r>
              <a:rPr sz="3200" spc="-215" dirty="0">
                <a:latin typeface="Arial MT"/>
                <a:cs typeface="Arial MT"/>
              </a:rPr>
              <a:t> </a:t>
            </a:r>
            <a:r>
              <a:rPr sz="3200" spc="-25" dirty="0">
                <a:latin typeface="Arial MT"/>
                <a:cs typeface="Arial MT"/>
              </a:rPr>
              <a:t>and </a:t>
            </a:r>
            <a:r>
              <a:rPr sz="3200" dirty="0">
                <a:latin typeface="Arial MT"/>
                <a:cs typeface="Arial MT"/>
              </a:rPr>
              <a:t>may</a:t>
            </a:r>
            <a:r>
              <a:rPr sz="3200" spc="-55" dirty="0">
                <a:latin typeface="Arial MT"/>
                <a:cs typeface="Arial MT"/>
              </a:rPr>
              <a:t> </a:t>
            </a:r>
            <a:r>
              <a:rPr sz="3200" dirty="0">
                <a:latin typeface="Arial MT"/>
                <a:cs typeface="Arial MT"/>
              </a:rPr>
              <a:t>not</a:t>
            </a:r>
            <a:r>
              <a:rPr sz="3200" spc="-45" dirty="0">
                <a:latin typeface="Arial MT"/>
                <a:cs typeface="Arial MT"/>
              </a:rPr>
              <a:t> </a:t>
            </a:r>
            <a:r>
              <a:rPr sz="3200" dirty="0">
                <a:latin typeface="Arial MT"/>
                <a:cs typeface="Arial MT"/>
              </a:rPr>
              <a:t>come</a:t>
            </a:r>
            <a:r>
              <a:rPr sz="3200" spc="-30" dirty="0">
                <a:latin typeface="Arial MT"/>
                <a:cs typeface="Arial MT"/>
              </a:rPr>
              <a:t> </a:t>
            </a:r>
            <a:r>
              <a:rPr sz="3200" dirty="0">
                <a:latin typeface="Arial MT"/>
                <a:cs typeface="Arial MT"/>
              </a:rPr>
              <a:t>back</a:t>
            </a:r>
            <a:r>
              <a:rPr sz="3200" spc="-55" dirty="0">
                <a:latin typeface="Arial MT"/>
                <a:cs typeface="Arial MT"/>
              </a:rPr>
              <a:t> </a:t>
            </a:r>
            <a:r>
              <a:rPr sz="3200" dirty="0">
                <a:latin typeface="Arial MT"/>
                <a:cs typeface="Arial MT"/>
              </a:rPr>
              <a:t>due</a:t>
            </a:r>
            <a:r>
              <a:rPr sz="3200" spc="-55" dirty="0">
                <a:latin typeface="Arial MT"/>
                <a:cs typeface="Arial MT"/>
              </a:rPr>
              <a:t> </a:t>
            </a:r>
            <a:r>
              <a:rPr sz="3200" dirty="0">
                <a:latin typeface="Arial MT"/>
                <a:cs typeface="Arial MT"/>
              </a:rPr>
              <a:t>to</a:t>
            </a:r>
            <a:r>
              <a:rPr sz="3200" spc="-40" dirty="0">
                <a:latin typeface="Arial MT"/>
                <a:cs typeface="Arial MT"/>
              </a:rPr>
              <a:t> </a:t>
            </a:r>
            <a:r>
              <a:rPr sz="3200" dirty="0">
                <a:latin typeface="Arial MT"/>
                <a:cs typeface="Arial MT"/>
              </a:rPr>
              <a:t>poor</a:t>
            </a:r>
            <a:r>
              <a:rPr sz="3200" spc="-120" dirty="0">
                <a:latin typeface="Arial MT"/>
                <a:cs typeface="Arial MT"/>
              </a:rPr>
              <a:t> </a:t>
            </a:r>
            <a:r>
              <a:rPr sz="3200" spc="-10" dirty="0">
                <a:latin typeface="Arial MT"/>
                <a:cs typeface="Arial MT"/>
              </a:rPr>
              <a:t>service</a:t>
            </a:r>
            <a:endParaRPr sz="3200">
              <a:latin typeface="Arial MT"/>
              <a:cs typeface="Arial MT"/>
            </a:endParaRPr>
          </a:p>
        </p:txBody>
      </p:sp>
      <p:sp>
        <p:nvSpPr>
          <p:cNvPr id="3" name="object 3"/>
          <p:cNvSpPr txBox="1">
            <a:spLocks noGrp="1"/>
          </p:cNvSpPr>
          <p:nvPr>
            <p:ph type="title"/>
          </p:nvPr>
        </p:nvSpPr>
        <p:spPr>
          <a:xfrm>
            <a:off x="574040" y="679449"/>
            <a:ext cx="4047490" cy="635000"/>
          </a:xfrm>
          <a:prstGeom prst="rect">
            <a:avLst/>
          </a:prstGeom>
        </p:spPr>
        <p:txBody>
          <a:bodyPr vert="horz" wrap="square" lIns="0" tIns="12065" rIns="0" bIns="0" rtlCol="0">
            <a:spAutoFit/>
          </a:bodyPr>
          <a:lstStyle/>
          <a:p>
            <a:pPr marL="12700">
              <a:lnSpc>
                <a:spcPct val="100000"/>
              </a:lnSpc>
              <a:spcBef>
                <a:spcPts val="95"/>
              </a:spcBef>
            </a:pPr>
            <a:r>
              <a:rPr spc="-55" dirty="0"/>
              <a:t>Transference</a:t>
            </a:r>
            <a:r>
              <a:rPr spc="-120" dirty="0"/>
              <a:t> </a:t>
            </a:r>
            <a:r>
              <a:rPr spc="-50" dirty="0"/>
              <a:t>of</a:t>
            </a:r>
            <a:r>
              <a:rPr spc="-175" dirty="0"/>
              <a:t> </a:t>
            </a:r>
            <a:r>
              <a:rPr spc="-4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0957"/>
            <a:ext cx="8488045" cy="4594860"/>
          </a:xfrm>
          <a:prstGeom prst="rect">
            <a:avLst/>
          </a:prstGeom>
        </p:spPr>
        <p:txBody>
          <a:bodyPr vert="horz" wrap="square" lIns="0" tIns="13335" rIns="0" bIns="0" rtlCol="0">
            <a:spAutoFit/>
          </a:bodyPr>
          <a:lstStyle/>
          <a:p>
            <a:pPr marL="355600" marR="135255" indent="-343535">
              <a:lnSpc>
                <a:spcPct val="100000"/>
              </a:lnSpc>
              <a:spcBef>
                <a:spcPts val="105"/>
              </a:spcBef>
              <a:buClr>
                <a:srgbClr val="2C7B9F"/>
              </a:buClr>
              <a:buSzPct val="84375"/>
              <a:buFont typeface="Arial MT"/>
              <a:buChar char="•"/>
              <a:tabLst>
                <a:tab pos="355600" algn="l"/>
              </a:tabLst>
            </a:pPr>
            <a:r>
              <a:rPr sz="3200" spc="-10" dirty="0">
                <a:latin typeface="Arial MT"/>
                <a:cs typeface="Arial MT"/>
              </a:rPr>
              <a:t>When</a:t>
            </a:r>
            <a:r>
              <a:rPr sz="3200" spc="-215" dirty="0">
                <a:latin typeface="Arial MT"/>
                <a:cs typeface="Arial MT"/>
              </a:rPr>
              <a:t> </a:t>
            </a:r>
            <a:r>
              <a:rPr sz="3200" dirty="0">
                <a:latin typeface="Arial MT"/>
                <a:cs typeface="Arial MT"/>
              </a:rPr>
              <a:t>Animoto</a:t>
            </a:r>
            <a:r>
              <a:rPr sz="3200" spc="-80" dirty="0">
                <a:latin typeface="Arial MT"/>
                <a:cs typeface="Arial MT"/>
              </a:rPr>
              <a:t> </a:t>
            </a:r>
            <a:r>
              <a:rPr sz="3200" dirty="0">
                <a:latin typeface="Arial MT"/>
                <a:cs typeface="Arial MT"/>
              </a:rPr>
              <a:t>made</a:t>
            </a:r>
            <a:r>
              <a:rPr sz="3200" spc="-55" dirty="0">
                <a:latin typeface="Arial MT"/>
                <a:cs typeface="Arial MT"/>
              </a:rPr>
              <a:t> </a:t>
            </a:r>
            <a:r>
              <a:rPr sz="3200" dirty="0">
                <a:latin typeface="Arial MT"/>
                <a:cs typeface="Arial MT"/>
              </a:rPr>
              <a:t>its</a:t>
            </a:r>
            <a:r>
              <a:rPr sz="3200" spc="-10" dirty="0">
                <a:latin typeface="Arial MT"/>
                <a:cs typeface="Arial MT"/>
              </a:rPr>
              <a:t> </a:t>
            </a:r>
            <a:r>
              <a:rPr sz="3200" dirty="0">
                <a:latin typeface="Arial MT"/>
                <a:cs typeface="Arial MT"/>
              </a:rPr>
              <a:t>service</a:t>
            </a:r>
            <a:r>
              <a:rPr sz="3200" spc="-35" dirty="0">
                <a:latin typeface="Arial MT"/>
                <a:cs typeface="Arial MT"/>
              </a:rPr>
              <a:t> </a:t>
            </a:r>
            <a:r>
              <a:rPr sz="3200" spc="-10" dirty="0">
                <a:latin typeface="Arial MT"/>
                <a:cs typeface="Arial MT"/>
              </a:rPr>
              <a:t>available</a:t>
            </a:r>
            <a:r>
              <a:rPr sz="3200" spc="-270" dirty="0">
                <a:latin typeface="Arial MT"/>
                <a:cs typeface="Arial MT"/>
              </a:rPr>
              <a:t> </a:t>
            </a:r>
            <a:r>
              <a:rPr sz="3200" spc="-25" dirty="0">
                <a:latin typeface="Arial MT"/>
                <a:cs typeface="Arial MT"/>
              </a:rPr>
              <a:t>via </a:t>
            </a:r>
            <a:r>
              <a:rPr sz="3200" dirty="0">
                <a:latin typeface="Arial MT"/>
                <a:cs typeface="Arial MT"/>
              </a:rPr>
              <a:t>Facebook</a:t>
            </a:r>
            <a:r>
              <a:rPr sz="3200" spc="-95" dirty="0">
                <a:latin typeface="Arial MT"/>
                <a:cs typeface="Arial MT"/>
              </a:rPr>
              <a:t> </a:t>
            </a:r>
            <a:r>
              <a:rPr sz="3200" dirty="0">
                <a:latin typeface="Arial MT"/>
                <a:cs typeface="Arial MT"/>
              </a:rPr>
              <a:t>it</a:t>
            </a:r>
            <a:r>
              <a:rPr sz="3200" spc="-55" dirty="0">
                <a:latin typeface="Arial MT"/>
                <a:cs typeface="Arial MT"/>
              </a:rPr>
              <a:t> </a:t>
            </a:r>
            <a:r>
              <a:rPr sz="3200" dirty="0">
                <a:latin typeface="Arial MT"/>
                <a:cs typeface="Arial MT"/>
              </a:rPr>
              <a:t>experienced</a:t>
            </a:r>
            <a:r>
              <a:rPr sz="3200" spc="-105" dirty="0">
                <a:latin typeface="Arial MT"/>
                <a:cs typeface="Arial MT"/>
              </a:rPr>
              <a:t> </a:t>
            </a:r>
            <a:r>
              <a:rPr sz="3200" dirty="0">
                <a:latin typeface="Arial MT"/>
                <a:cs typeface="Arial MT"/>
              </a:rPr>
              <a:t>a</a:t>
            </a:r>
            <a:r>
              <a:rPr sz="3200" spc="-75" dirty="0">
                <a:latin typeface="Arial MT"/>
                <a:cs typeface="Arial MT"/>
              </a:rPr>
              <a:t> </a:t>
            </a:r>
            <a:r>
              <a:rPr sz="3200" dirty="0">
                <a:latin typeface="Arial MT"/>
                <a:cs typeface="Arial MT"/>
              </a:rPr>
              <a:t>demand</a:t>
            </a:r>
            <a:r>
              <a:rPr sz="3200" spc="-95" dirty="0">
                <a:latin typeface="Arial MT"/>
                <a:cs typeface="Arial MT"/>
              </a:rPr>
              <a:t> </a:t>
            </a:r>
            <a:r>
              <a:rPr sz="3200" spc="-10" dirty="0">
                <a:latin typeface="Arial MT"/>
                <a:cs typeface="Arial MT"/>
              </a:rPr>
              <a:t>surge </a:t>
            </a:r>
            <a:r>
              <a:rPr sz="3200" dirty="0">
                <a:latin typeface="Arial MT"/>
                <a:cs typeface="Arial MT"/>
              </a:rPr>
              <a:t>that</a:t>
            </a:r>
            <a:r>
              <a:rPr sz="3200" spc="-30" dirty="0">
                <a:latin typeface="Arial MT"/>
                <a:cs typeface="Arial MT"/>
              </a:rPr>
              <a:t> </a:t>
            </a:r>
            <a:r>
              <a:rPr sz="3200" dirty="0">
                <a:latin typeface="Arial MT"/>
                <a:cs typeface="Arial MT"/>
              </a:rPr>
              <a:t>resulted</a:t>
            </a:r>
            <a:r>
              <a:rPr sz="3200" spc="-80" dirty="0">
                <a:latin typeface="Arial MT"/>
                <a:cs typeface="Arial MT"/>
              </a:rPr>
              <a:t> </a:t>
            </a:r>
            <a:r>
              <a:rPr sz="3200" dirty="0">
                <a:latin typeface="Arial MT"/>
                <a:cs typeface="Arial MT"/>
              </a:rPr>
              <a:t>in</a:t>
            </a:r>
            <a:r>
              <a:rPr sz="3200" spc="-45" dirty="0">
                <a:latin typeface="Arial MT"/>
                <a:cs typeface="Arial MT"/>
              </a:rPr>
              <a:t> </a:t>
            </a:r>
            <a:r>
              <a:rPr sz="3200" dirty="0">
                <a:latin typeface="Arial MT"/>
                <a:cs typeface="Arial MT"/>
              </a:rPr>
              <a:t>growing</a:t>
            </a:r>
            <a:r>
              <a:rPr sz="3200" spc="-45" dirty="0">
                <a:latin typeface="Arial MT"/>
                <a:cs typeface="Arial MT"/>
              </a:rPr>
              <a:t> </a:t>
            </a:r>
            <a:r>
              <a:rPr sz="3200" dirty="0">
                <a:latin typeface="Arial MT"/>
                <a:cs typeface="Arial MT"/>
              </a:rPr>
              <a:t>from</a:t>
            </a:r>
            <a:r>
              <a:rPr sz="3200" spc="-70" dirty="0">
                <a:latin typeface="Arial MT"/>
                <a:cs typeface="Arial MT"/>
              </a:rPr>
              <a:t> </a:t>
            </a:r>
            <a:r>
              <a:rPr sz="3200" dirty="0">
                <a:latin typeface="Arial MT"/>
                <a:cs typeface="Arial MT"/>
              </a:rPr>
              <a:t>50</a:t>
            </a:r>
            <a:r>
              <a:rPr sz="3200" spc="-45" dirty="0">
                <a:latin typeface="Arial MT"/>
                <a:cs typeface="Arial MT"/>
              </a:rPr>
              <a:t> </a:t>
            </a:r>
            <a:r>
              <a:rPr sz="3200" dirty="0">
                <a:latin typeface="Arial MT"/>
                <a:cs typeface="Arial MT"/>
              </a:rPr>
              <a:t>servers</a:t>
            </a:r>
            <a:r>
              <a:rPr sz="3200" spc="-70" dirty="0">
                <a:latin typeface="Arial MT"/>
                <a:cs typeface="Arial MT"/>
              </a:rPr>
              <a:t> </a:t>
            </a:r>
            <a:r>
              <a:rPr sz="3200" spc="-25" dirty="0">
                <a:latin typeface="Arial MT"/>
                <a:cs typeface="Arial MT"/>
              </a:rPr>
              <a:t>to </a:t>
            </a:r>
            <a:r>
              <a:rPr sz="3200" dirty="0">
                <a:latin typeface="Arial MT"/>
                <a:cs typeface="Arial MT"/>
              </a:rPr>
              <a:t>3500</a:t>
            </a:r>
            <a:r>
              <a:rPr sz="3200" spc="-55" dirty="0">
                <a:latin typeface="Arial MT"/>
                <a:cs typeface="Arial MT"/>
              </a:rPr>
              <a:t> </a:t>
            </a:r>
            <a:r>
              <a:rPr sz="3200" dirty="0">
                <a:latin typeface="Arial MT"/>
                <a:cs typeface="Arial MT"/>
              </a:rPr>
              <a:t>servers</a:t>
            </a:r>
            <a:r>
              <a:rPr sz="3200" spc="-55" dirty="0">
                <a:latin typeface="Arial MT"/>
                <a:cs typeface="Arial MT"/>
              </a:rPr>
              <a:t> </a:t>
            </a:r>
            <a:r>
              <a:rPr sz="3200" dirty="0">
                <a:latin typeface="Arial MT"/>
                <a:cs typeface="Arial MT"/>
              </a:rPr>
              <a:t>in</a:t>
            </a:r>
            <a:r>
              <a:rPr sz="3200" spc="-40" dirty="0">
                <a:latin typeface="Arial MT"/>
                <a:cs typeface="Arial MT"/>
              </a:rPr>
              <a:t> </a:t>
            </a:r>
            <a:r>
              <a:rPr sz="3200" dirty="0">
                <a:latin typeface="Arial MT"/>
                <a:cs typeface="Arial MT"/>
              </a:rPr>
              <a:t>three</a:t>
            </a:r>
            <a:r>
              <a:rPr sz="3200" spc="-80" dirty="0">
                <a:latin typeface="Arial MT"/>
                <a:cs typeface="Arial MT"/>
              </a:rPr>
              <a:t> </a:t>
            </a:r>
            <a:r>
              <a:rPr sz="3200" spc="-20" dirty="0">
                <a:latin typeface="Arial MT"/>
                <a:cs typeface="Arial MT"/>
              </a:rPr>
              <a:t>days</a:t>
            </a:r>
            <a:endParaRPr sz="3200">
              <a:latin typeface="Arial MT"/>
              <a:cs typeface="Arial MT"/>
            </a:endParaRPr>
          </a:p>
          <a:p>
            <a:pPr marL="355600" marR="5080" indent="-343535">
              <a:lnSpc>
                <a:spcPct val="100000"/>
              </a:lnSpc>
              <a:spcBef>
                <a:spcPts val="710"/>
              </a:spcBef>
              <a:buClr>
                <a:srgbClr val="2C7B9F"/>
              </a:buClr>
              <a:buSzPct val="84375"/>
              <a:buChar char="•"/>
              <a:tabLst>
                <a:tab pos="355600" algn="l"/>
              </a:tabLst>
            </a:pPr>
            <a:r>
              <a:rPr sz="3200" dirty="0">
                <a:latin typeface="Arial MT"/>
                <a:cs typeface="Arial MT"/>
              </a:rPr>
              <a:t>No</a:t>
            </a:r>
            <a:r>
              <a:rPr sz="3200" spc="-60" dirty="0">
                <a:latin typeface="Arial MT"/>
                <a:cs typeface="Arial MT"/>
              </a:rPr>
              <a:t> </a:t>
            </a:r>
            <a:r>
              <a:rPr sz="3200" dirty="0">
                <a:latin typeface="Arial MT"/>
                <a:cs typeface="Arial MT"/>
              </a:rPr>
              <a:t>one</a:t>
            </a:r>
            <a:r>
              <a:rPr sz="3200" spc="-60" dirty="0">
                <a:latin typeface="Arial MT"/>
                <a:cs typeface="Arial MT"/>
              </a:rPr>
              <a:t> </a:t>
            </a:r>
            <a:r>
              <a:rPr sz="3200" dirty="0">
                <a:latin typeface="Arial MT"/>
                <a:cs typeface="Arial MT"/>
              </a:rPr>
              <a:t>could</a:t>
            </a:r>
            <a:r>
              <a:rPr sz="3200" spc="-80" dirty="0">
                <a:latin typeface="Arial MT"/>
                <a:cs typeface="Arial MT"/>
              </a:rPr>
              <a:t> </a:t>
            </a:r>
            <a:r>
              <a:rPr sz="3200" dirty="0">
                <a:latin typeface="Arial MT"/>
                <a:cs typeface="Arial MT"/>
              </a:rPr>
              <a:t>have</a:t>
            </a:r>
            <a:r>
              <a:rPr sz="3200" spc="-65" dirty="0">
                <a:latin typeface="Arial MT"/>
                <a:cs typeface="Arial MT"/>
              </a:rPr>
              <a:t> </a:t>
            </a:r>
            <a:r>
              <a:rPr sz="3200" dirty="0">
                <a:latin typeface="Arial MT"/>
                <a:cs typeface="Arial MT"/>
              </a:rPr>
              <a:t>foreseen</a:t>
            </a:r>
            <a:r>
              <a:rPr sz="3200" spc="-80" dirty="0">
                <a:latin typeface="Arial MT"/>
                <a:cs typeface="Arial MT"/>
              </a:rPr>
              <a:t> </a:t>
            </a:r>
            <a:r>
              <a:rPr sz="3200" dirty="0">
                <a:latin typeface="Arial MT"/>
                <a:cs typeface="Arial MT"/>
              </a:rPr>
              <a:t>that</a:t>
            </a:r>
            <a:r>
              <a:rPr sz="3200" spc="-55" dirty="0">
                <a:latin typeface="Arial MT"/>
                <a:cs typeface="Arial MT"/>
              </a:rPr>
              <a:t> </a:t>
            </a:r>
            <a:r>
              <a:rPr sz="3200" spc="-10" dirty="0">
                <a:latin typeface="Arial MT"/>
                <a:cs typeface="Arial MT"/>
              </a:rPr>
              <a:t>resource </a:t>
            </a:r>
            <a:r>
              <a:rPr sz="3200" dirty="0">
                <a:latin typeface="Arial MT"/>
                <a:cs typeface="Arial MT"/>
              </a:rPr>
              <a:t>needs</a:t>
            </a:r>
            <a:r>
              <a:rPr sz="3200" spc="-80" dirty="0">
                <a:latin typeface="Arial MT"/>
                <a:cs typeface="Arial MT"/>
              </a:rPr>
              <a:t> </a:t>
            </a:r>
            <a:r>
              <a:rPr sz="3200" dirty="0">
                <a:latin typeface="Arial MT"/>
                <a:cs typeface="Arial MT"/>
              </a:rPr>
              <a:t>would</a:t>
            </a:r>
            <a:r>
              <a:rPr sz="3200" spc="-35" dirty="0">
                <a:latin typeface="Arial MT"/>
                <a:cs typeface="Arial MT"/>
              </a:rPr>
              <a:t> </a:t>
            </a:r>
            <a:r>
              <a:rPr sz="3200" dirty="0">
                <a:latin typeface="Arial MT"/>
                <a:cs typeface="Arial MT"/>
              </a:rPr>
              <a:t>suddenly</a:t>
            </a:r>
            <a:r>
              <a:rPr sz="3200" spc="-85" dirty="0">
                <a:latin typeface="Arial MT"/>
                <a:cs typeface="Arial MT"/>
              </a:rPr>
              <a:t> </a:t>
            </a:r>
            <a:r>
              <a:rPr sz="3200" dirty="0">
                <a:latin typeface="Arial MT"/>
                <a:cs typeface="Arial MT"/>
              </a:rPr>
              <a:t>double</a:t>
            </a:r>
            <a:r>
              <a:rPr sz="3200" spc="-80" dirty="0">
                <a:latin typeface="Arial MT"/>
                <a:cs typeface="Arial MT"/>
              </a:rPr>
              <a:t> </a:t>
            </a:r>
            <a:r>
              <a:rPr sz="3200" dirty="0">
                <a:latin typeface="Arial MT"/>
                <a:cs typeface="Arial MT"/>
              </a:rPr>
              <a:t>every</a:t>
            </a:r>
            <a:r>
              <a:rPr sz="3200" spc="-75" dirty="0">
                <a:latin typeface="Arial MT"/>
                <a:cs typeface="Arial MT"/>
              </a:rPr>
              <a:t> </a:t>
            </a:r>
            <a:r>
              <a:rPr sz="3200" dirty="0">
                <a:latin typeface="Arial MT"/>
                <a:cs typeface="Arial MT"/>
              </a:rPr>
              <a:t>12</a:t>
            </a:r>
            <a:r>
              <a:rPr sz="3200" spc="-110" dirty="0">
                <a:latin typeface="Arial MT"/>
                <a:cs typeface="Arial MT"/>
              </a:rPr>
              <a:t> </a:t>
            </a:r>
            <a:r>
              <a:rPr sz="3200" spc="-10" dirty="0">
                <a:latin typeface="Arial MT"/>
                <a:cs typeface="Arial MT"/>
              </a:rPr>
              <a:t>hours </a:t>
            </a:r>
            <a:r>
              <a:rPr sz="3200" dirty="0">
                <a:latin typeface="Arial MT"/>
                <a:cs typeface="Arial MT"/>
              </a:rPr>
              <a:t>for</a:t>
            </a:r>
            <a:r>
              <a:rPr sz="3200" spc="-35" dirty="0">
                <a:latin typeface="Arial MT"/>
                <a:cs typeface="Arial MT"/>
              </a:rPr>
              <a:t> </a:t>
            </a:r>
            <a:r>
              <a:rPr sz="3200" dirty="0">
                <a:latin typeface="Arial MT"/>
                <a:cs typeface="Arial MT"/>
              </a:rPr>
              <a:t>3</a:t>
            </a:r>
            <a:r>
              <a:rPr sz="3200" spc="-30" dirty="0">
                <a:latin typeface="Arial MT"/>
                <a:cs typeface="Arial MT"/>
              </a:rPr>
              <a:t> </a:t>
            </a:r>
            <a:r>
              <a:rPr sz="3200" spc="-20" dirty="0">
                <a:latin typeface="Arial MT"/>
                <a:cs typeface="Arial MT"/>
              </a:rPr>
              <a:t>days</a:t>
            </a:r>
            <a:endParaRPr sz="3200">
              <a:latin typeface="Arial MT"/>
              <a:cs typeface="Arial MT"/>
            </a:endParaRPr>
          </a:p>
          <a:p>
            <a:pPr marL="355600" marR="340360" indent="-343535">
              <a:lnSpc>
                <a:spcPct val="100000"/>
              </a:lnSpc>
              <a:spcBef>
                <a:spcPts val="700"/>
              </a:spcBef>
              <a:buClr>
                <a:srgbClr val="2C7B9F"/>
              </a:buClr>
              <a:buSzPct val="84375"/>
              <a:buChar char="•"/>
              <a:tabLst>
                <a:tab pos="355600" algn="l"/>
              </a:tabLst>
            </a:pPr>
            <a:r>
              <a:rPr sz="3200" dirty="0">
                <a:latin typeface="Arial MT"/>
                <a:cs typeface="Arial MT"/>
              </a:rPr>
              <a:t>In</a:t>
            </a:r>
            <a:r>
              <a:rPr sz="3200" spc="-30" dirty="0">
                <a:latin typeface="Arial MT"/>
                <a:cs typeface="Arial MT"/>
              </a:rPr>
              <a:t> </a:t>
            </a:r>
            <a:r>
              <a:rPr sz="3200" dirty="0">
                <a:latin typeface="Arial MT"/>
                <a:cs typeface="Arial MT"/>
              </a:rPr>
              <a:t>cases</a:t>
            </a:r>
            <a:r>
              <a:rPr sz="3200" spc="-65" dirty="0">
                <a:latin typeface="Arial MT"/>
                <a:cs typeface="Arial MT"/>
              </a:rPr>
              <a:t> </a:t>
            </a:r>
            <a:r>
              <a:rPr sz="3200" dirty="0">
                <a:latin typeface="Arial MT"/>
                <a:cs typeface="Arial MT"/>
              </a:rPr>
              <a:t>like</a:t>
            </a:r>
            <a:r>
              <a:rPr sz="3200" spc="-45" dirty="0">
                <a:latin typeface="Arial MT"/>
                <a:cs typeface="Arial MT"/>
              </a:rPr>
              <a:t> </a:t>
            </a:r>
            <a:r>
              <a:rPr sz="3200" dirty="0">
                <a:latin typeface="Arial MT"/>
                <a:cs typeface="Arial MT"/>
              </a:rPr>
              <a:t>these</a:t>
            </a:r>
            <a:r>
              <a:rPr sz="3200" spc="-45" dirty="0">
                <a:latin typeface="Arial MT"/>
                <a:cs typeface="Arial MT"/>
              </a:rPr>
              <a:t> </a:t>
            </a:r>
            <a:r>
              <a:rPr sz="3200" dirty="0">
                <a:latin typeface="Arial MT"/>
                <a:cs typeface="Arial MT"/>
              </a:rPr>
              <a:t>elasticity</a:t>
            </a:r>
            <a:r>
              <a:rPr sz="3200" spc="-45" dirty="0">
                <a:latin typeface="Arial MT"/>
                <a:cs typeface="Arial MT"/>
              </a:rPr>
              <a:t> </a:t>
            </a:r>
            <a:r>
              <a:rPr sz="3200" dirty="0">
                <a:latin typeface="Arial MT"/>
                <a:cs typeface="Arial MT"/>
              </a:rPr>
              <a:t>is</a:t>
            </a:r>
            <a:r>
              <a:rPr sz="3200" spc="-20" dirty="0">
                <a:latin typeface="Arial MT"/>
                <a:cs typeface="Arial MT"/>
              </a:rPr>
              <a:t> </a:t>
            </a:r>
            <a:r>
              <a:rPr sz="3200" dirty="0">
                <a:latin typeface="Arial MT"/>
                <a:cs typeface="Arial MT"/>
              </a:rPr>
              <a:t>not</a:t>
            </a:r>
            <a:r>
              <a:rPr sz="3200" spc="-15" dirty="0">
                <a:latin typeface="Arial MT"/>
                <a:cs typeface="Arial MT"/>
              </a:rPr>
              <a:t> </a:t>
            </a:r>
            <a:r>
              <a:rPr sz="3200" dirty="0">
                <a:latin typeface="Arial MT"/>
                <a:cs typeface="Arial MT"/>
              </a:rPr>
              <a:t>a</a:t>
            </a:r>
            <a:r>
              <a:rPr sz="3200" spc="-25" dirty="0">
                <a:latin typeface="Arial MT"/>
                <a:cs typeface="Arial MT"/>
              </a:rPr>
              <a:t> </a:t>
            </a:r>
            <a:r>
              <a:rPr sz="3200" spc="-20" dirty="0">
                <a:latin typeface="Arial MT"/>
                <a:cs typeface="Arial MT"/>
              </a:rPr>
              <a:t>cost </a:t>
            </a:r>
            <a:r>
              <a:rPr sz="3200" dirty="0">
                <a:latin typeface="Arial MT"/>
                <a:cs typeface="Arial MT"/>
              </a:rPr>
              <a:t>optimisation</a:t>
            </a:r>
            <a:r>
              <a:rPr sz="3200" spc="-125" dirty="0">
                <a:latin typeface="Arial MT"/>
                <a:cs typeface="Arial MT"/>
              </a:rPr>
              <a:t> </a:t>
            </a:r>
            <a:r>
              <a:rPr sz="3200" dirty="0">
                <a:latin typeface="Arial MT"/>
                <a:cs typeface="Arial MT"/>
              </a:rPr>
              <a:t>but</a:t>
            </a:r>
            <a:r>
              <a:rPr sz="3200" spc="-65" dirty="0">
                <a:latin typeface="Arial MT"/>
                <a:cs typeface="Arial MT"/>
              </a:rPr>
              <a:t> </a:t>
            </a:r>
            <a:r>
              <a:rPr sz="3200" dirty="0">
                <a:latin typeface="Arial MT"/>
                <a:cs typeface="Arial MT"/>
              </a:rPr>
              <a:t>an</a:t>
            </a:r>
            <a:r>
              <a:rPr sz="3200" spc="-80" dirty="0">
                <a:latin typeface="Arial MT"/>
                <a:cs typeface="Arial MT"/>
              </a:rPr>
              <a:t> </a:t>
            </a:r>
            <a:r>
              <a:rPr sz="3200" dirty="0">
                <a:latin typeface="Arial MT"/>
                <a:cs typeface="Arial MT"/>
              </a:rPr>
              <a:t>operational</a:t>
            </a:r>
            <a:r>
              <a:rPr sz="3200" spc="-110" dirty="0">
                <a:latin typeface="Arial MT"/>
                <a:cs typeface="Arial MT"/>
              </a:rPr>
              <a:t> </a:t>
            </a:r>
            <a:r>
              <a:rPr sz="3200" spc="-10" dirty="0">
                <a:latin typeface="Arial MT"/>
                <a:cs typeface="Arial MT"/>
              </a:rPr>
              <a:t>requirement</a:t>
            </a:r>
            <a:endParaRPr sz="3200">
              <a:latin typeface="Arial MT"/>
              <a:cs typeface="Arial MT"/>
            </a:endParaRPr>
          </a:p>
        </p:txBody>
      </p:sp>
      <p:sp>
        <p:nvSpPr>
          <p:cNvPr id="3" name="object 3"/>
          <p:cNvSpPr txBox="1">
            <a:spLocks noGrp="1"/>
          </p:cNvSpPr>
          <p:nvPr>
            <p:ph type="title"/>
          </p:nvPr>
        </p:nvSpPr>
        <p:spPr>
          <a:xfrm>
            <a:off x="574040" y="679449"/>
            <a:ext cx="4047490" cy="635000"/>
          </a:xfrm>
          <a:prstGeom prst="rect">
            <a:avLst/>
          </a:prstGeom>
        </p:spPr>
        <p:txBody>
          <a:bodyPr vert="horz" wrap="square" lIns="0" tIns="12065" rIns="0" bIns="0" rtlCol="0">
            <a:spAutoFit/>
          </a:bodyPr>
          <a:lstStyle/>
          <a:p>
            <a:pPr marL="12700">
              <a:lnSpc>
                <a:spcPct val="100000"/>
              </a:lnSpc>
              <a:spcBef>
                <a:spcPts val="95"/>
              </a:spcBef>
            </a:pPr>
            <a:r>
              <a:rPr spc="-55" dirty="0"/>
              <a:t>Transference</a:t>
            </a:r>
            <a:r>
              <a:rPr spc="-120" dirty="0"/>
              <a:t> </a:t>
            </a:r>
            <a:r>
              <a:rPr spc="-50" dirty="0"/>
              <a:t>of</a:t>
            </a:r>
            <a:r>
              <a:rPr spc="-175" dirty="0"/>
              <a:t> </a:t>
            </a:r>
            <a:r>
              <a:rPr spc="-40" dirty="0"/>
              <a:t>Risk</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670"/>
              </a:lnSpc>
            </a:pPr>
            <a:r>
              <a:rPr spc="-25" dirty="0"/>
              <a:t>55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
            <a:ext cx="7861300" cy="365125"/>
          </a:xfrm>
          <a:custGeom>
            <a:avLst/>
            <a:gdLst/>
            <a:ahLst/>
            <a:cxnLst/>
            <a:rect l="l" t="t" r="r" b="b"/>
            <a:pathLst>
              <a:path w="7861300" h="365125">
                <a:moveTo>
                  <a:pt x="0" y="365125"/>
                </a:moveTo>
                <a:lnTo>
                  <a:pt x="7861300" y="365125"/>
                </a:lnTo>
                <a:lnTo>
                  <a:pt x="7861300" y="0"/>
                </a:lnTo>
                <a:lnTo>
                  <a:pt x="0" y="0"/>
                </a:lnTo>
                <a:lnTo>
                  <a:pt x="0" y="365125"/>
                </a:lnTo>
                <a:close/>
              </a:path>
            </a:pathLst>
          </a:custGeom>
          <a:solidFill>
            <a:srgbClr val="2C7B9F"/>
          </a:solidFill>
        </p:spPr>
        <p:txBody>
          <a:bodyPr wrap="square" lIns="0" tIns="0" rIns="0" bIns="0" rtlCol="0"/>
          <a:lstStyle/>
          <a:p>
            <a:endParaRPr/>
          </a:p>
        </p:txBody>
      </p:sp>
      <p:sp>
        <p:nvSpPr>
          <p:cNvPr id="3" name="object 3"/>
          <p:cNvSpPr/>
          <p:nvPr/>
        </p:nvSpPr>
        <p:spPr>
          <a:xfrm>
            <a:off x="9436100" y="76200"/>
            <a:ext cx="469900" cy="365125"/>
          </a:xfrm>
          <a:custGeom>
            <a:avLst/>
            <a:gdLst/>
            <a:ahLst/>
            <a:cxnLst/>
            <a:rect l="l" t="t" r="r" b="b"/>
            <a:pathLst>
              <a:path w="469900" h="365125">
                <a:moveTo>
                  <a:pt x="0" y="365125"/>
                </a:moveTo>
                <a:lnTo>
                  <a:pt x="469900" y="365125"/>
                </a:lnTo>
                <a:lnTo>
                  <a:pt x="469900" y="0"/>
                </a:lnTo>
                <a:lnTo>
                  <a:pt x="0" y="0"/>
                </a:lnTo>
                <a:lnTo>
                  <a:pt x="0" y="365125"/>
                </a:lnTo>
                <a:close/>
              </a:path>
            </a:pathLst>
          </a:custGeom>
          <a:solidFill>
            <a:srgbClr val="2C7B9F"/>
          </a:solidFill>
        </p:spPr>
        <p:txBody>
          <a:bodyPr wrap="square" lIns="0" tIns="0" rIns="0" bIns="0" rtlCol="0"/>
          <a:lstStyle/>
          <a:p>
            <a:endParaRPr/>
          </a:p>
        </p:txBody>
      </p:sp>
      <p:sp>
        <p:nvSpPr>
          <p:cNvPr id="4" name="object 4"/>
          <p:cNvSpPr/>
          <p:nvPr/>
        </p:nvSpPr>
        <p:spPr>
          <a:xfrm>
            <a:off x="495287" y="6470650"/>
            <a:ext cx="8926830" cy="50800"/>
          </a:xfrm>
          <a:custGeom>
            <a:avLst/>
            <a:gdLst/>
            <a:ahLst/>
            <a:cxnLst/>
            <a:rect l="l" t="t" r="r" b="b"/>
            <a:pathLst>
              <a:path w="8926830" h="50800">
                <a:moveTo>
                  <a:pt x="8926461" y="19050"/>
                </a:moveTo>
                <a:lnTo>
                  <a:pt x="12" y="22225"/>
                </a:lnTo>
                <a:lnTo>
                  <a:pt x="25" y="50800"/>
                </a:lnTo>
                <a:lnTo>
                  <a:pt x="8926588" y="47625"/>
                </a:lnTo>
                <a:lnTo>
                  <a:pt x="8926461" y="19050"/>
                </a:lnTo>
                <a:close/>
              </a:path>
              <a:path w="8926830" h="50800">
                <a:moveTo>
                  <a:pt x="8926461" y="0"/>
                </a:moveTo>
                <a:lnTo>
                  <a:pt x="0" y="3175"/>
                </a:lnTo>
                <a:lnTo>
                  <a:pt x="12" y="12700"/>
                </a:lnTo>
                <a:lnTo>
                  <a:pt x="8926461" y="9525"/>
                </a:lnTo>
                <a:lnTo>
                  <a:pt x="8926461" y="0"/>
                </a:lnTo>
                <a:close/>
              </a:path>
            </a:pathLst>
          </a:custGeom>
          <a:solidFill>
            <a:srgbClr val="234957"/>
          </a:solidFill>
        </p:spPr>
        <p:txBody>
          <a:bodyPr wrap="square" lIns="0" tIns="0" rIns="0" bIns="0" rtlCol="0"/>
          <a:lstStyle/>
          <a:p>
            <a:endParaRPr/>
          </a:p>
        </p:txBody>
      </p:sp>
      <p:grpSp>
        <p:nvGrpSpPr>
          <p:cNvPr id="5" name="object 5"/>
          <p:cNvGrpSpPr/>
          <p:nvPr/>
        </p:nvGrpSpPr>
        <p:grpSpPr>
          <a:xfrm>
            <a:off x="7842250" y="44450"/>
            <a:ext cx="1612900" cy="473075"/>
            <a:chOff x="7842250" y="44450"/>
            <a:chExt cx="1612900" cy="473075"/>
          </a:xfrm>
        </p:grpSpPr>
        <p:pic>
          <p:nvPicPr>
            <p:cNvPr id="6" name="object 6"/>
            <p:cNvPicPr/>
            <p:nvPr/>
          </p:nvPicPr>
          <p:blipFill>
            <a:blip r:embed="rId2" cstate="print"/>
            <a:stretch>
              <a:fillRect/>
            </a:stretch>
          </p:blipFill>
          <p:spPr>
            <a:xfrm>
              <a:off x="7890386" y="80070"/>
              <a:ext cx="1529093" cy="410119"/>
            </a:xfrm>
            <a:prstGeom prst="rect">
              <a:avLst/>
            </a:prstGeom>
          </p:spPr>
        </p:pic>
        <p:sp>
          <p:nvSpPr>
            <p:cNvPr id="7" name="object 7"/>
            <p:cNvSpPr/>
            <p:nvPr/>
          </p:nvSpPr>
          <p:spPr>
            <a:xfrm>
              <a:off x="7851775" y="53975"/>
              <a:ext cx="1593850" cy="454025"/>
            </a:xfrm>
            <a:custGeom>
              <a:avLst/>
              <a:gdLst/>
              <a:ahLst/>
              <a:cxnLst/>
              <a:rect l="l" t="t" r="r" b="b"/>
              <a:pathLst>
                <a:path w="1593850" h="454025">
                  <a:moveTo>
                    <a:pt x="0" y="454025"/>
                  </a:moveTo>
                  <a:lnTo>
                    <a:pt x="1593850" y="454025"/>
                  </a:lnTo>
                  <a:lnTo>
                    <a:pt x="1593850" y="0"/>
                  </a:lnTo>
                  <a:lnTo>
                    <a:pt x="0" y="0"/>
                  </a:lnTo>
                  <a:lnTo>
                    <a:pt x="0" y="454025"/>
                  </a:lnTo>
                  <a:close/>
                </a:path>
              </a:pathLst>
            </a:custGeom>
            <a:ln w="19050">
              <a:solidFill>
                <a:srgbClr val="234957"/>
              </a:solidFill>
            </a:ln>
          </p:spPr>
          <p:txBody>
            <a:bodyPr wrap="square" lIns="0" tIns="0" rIns="0" bIns="0" rtlCol="0"/>
            <a:lstStyle/>
            <a:p>
              <a:endParaRPr/>
            </a:p>
          </p:txBody>
        </p:sp>
      </p:grpSp>
      <p:sp>
        <p:nvSpPr>
          <p:cNvPr id="8" name="object 8"/>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0" dirty="0"/>
              <a:t>The</a:t>
            </a:r>
            <a:r>
              <a:rPr spc="-185" dirty="0"/>
              <a:t> </a:t>
            </a:r>
            <a:r>
              <a:rPr spc="-100" dirty="0"/>
              <a:t>cloud</a:t>
            </a:r>
            <a:r>
              <a:rPr spc="-204" dirty="0"/>
              <a:t> </a:t>
            </a:r>
            <a:r>
              <a:rPr spc="-55" dirty="0"/>
              <a:t>is</a:t>
            </a:r>
            <a:r>
              <a:rPr spc="-185" dirty="0"/>
              <a:t> </a:t>
            </a:r>
            <a:r>
              <a:rPr dirty="0"/>
              <a:t>a</a:t>
            </a:r>
            <a:r>
              <a:rPr spc="-195" dirty="0"/>
              <a:t> </a:t>
            </a:r>
            <a:r>
              <a:rPr spc="-105" dirty="0"/>
              <a:t>money</a:t>
            </a:r>
            <a:r>
              <a:rPr spc="-190" dirty="0"/>
              <a:t> </a:t>
            </a:r>
            <a:r>
              <a:rPr spc="-55" dirty="0"/>
              <a:t>maker</a:t>
            </a:r>
          </a:p>
        </p:txBody>
      </p:sp>
      <p:pic>
        <p:nvPicPr>
          <p:cNvPr id="9" name="object 9"/>
          <p:cNvPicPr/>
          <p:nvPr/>
        </p:nvPicPr>
        <p:blipFill>
          <a:blip r:embed="rId3" cstate="print"/>
          <a:stretch>
            <a:fillRect/>
          </a:stretch>
        </p:blipFill>
        <p:spPr>
          <a:xfrm>
            <a:off x="479872" y="2587111"/>
            <a:ext cx="1621732" cy="1948180"/>
          </a:xfrm>
          <a:prstGeom prst="rect">
            <a:avLst/>
          </a:prstGeom>
        </p:spPr>
      </p:pic>
      <p:pic>
        <p:nvPicPr>
          <p:cNvPr id="10" name="object 10"/>
          <p:cNvPicPr/>
          <p:nvPr/>
        </p:nvPicPr>
        <p:blipFill>
          <a:blip r:embed="rId4" cstate="print"/>
          <a:stretch>
            <a:fillRect/>
          </a:stretch>
        </p:blipFill>
        <p:spPr>
          <a:xfrm>
            <a:off x="2379572" y="2618631"/>
            <a:ext cx="1616140" cy="1936782"/>
          </a:xfrm>
          <a:prstGeom prst="rect">
            <a:avLst/>
          </a:prstGeom>
        </p:spPr>
      </p:pic>
      <p:sp>
        <p:nvSpPr>
          <p:cNvPr id="11" name="object 11"/>
          <p:cNvSpPr txBox="1"/>
          <p:nvPr/>
        </p:nvSpPr>
        <p:spPr>
          <a:xfrm>
            <a:off x="759968" y="1548533"/>
            <a:ext cx="2609215" cy="720090"/>
          </a:xfrm>
          <a:prstGeom prst="rect">
            <a:avLst/>
          </a:prstGeom>
        </p:spPr>
        <p:txBody>
          <a:bodyPr vert="horz" wrap="square" lIns="0" tIns="69850" rIns="0" bIns="0" rtlCol="0">
            <a:spAutoFit/>
          </a:bodyPr>
          <a:lstStyle/>
          <a:p>
            <a:pPr marL="196215" indent="-183515">
              <a:lnSpc>
                <a:spcPct val="100000"/>
              </a:lnSpc>
              <a:spcBef>
                <a:spcPts val="550"/>
              </a:spcBef>
              <a:buClr>
                <a:srgbClr val="2C7B9F"/>
              </a:buClr>
              <a:buSzPct val="84210"/>
              <a:buFont typeface="Arial MT"/>
              <a:buChar char="•"/>
              <a:tabLst>
                <a:tab pos="196215" algn="l"/>
              </a:tabLst>
            </a:pPr>
            <a:r>
              <a:rPr sz="1900" spc="-10" dirty="0">
                <a:latin typeface="Calibri"/>
                <a:cs typeface="Calibri"/>
              </a:rPr>
              <a:t>Amazon</a:t>
            </a:r>
            <a:r>
              <a:rPr sz="1900" spc="-50" dirty="0">
                <a:latin typeface="Calibri"/>
                <a:cs typeface="Calibri"/>
              </a:rPr>
              <a:t> </a:t>
            </a:r>
            <a:r>
              <a:rPr sz="1900" spc="-10" dirty="0">
                <a:latin typeface="Calibri"/>
                <a:cs typeface="Calibri"/>
              </a:rPr>
              <a:t>(2023)</a:t>
            </a:r>
            <a:endParaRPr sz="1900">
              <a:latin typeface="Calibri"/>
              <a:cs typeface="Calibri"/>
            </a:endParaRPr>
          </a:p>
          <a:p>
            <a:pPr marL="12700">
              <a:lnSpc>
                <a:spcPct val="100000"/>
              </a:lnSpc>
              <a:spcBef>
                <a:spcPts val="459"/>
              </a:spcBef>
            </a:pPr>
            <a:r>
              <a:rPr sz="1900" dirty="0">
                <a:latin typeface="Calibri"/>
                <a:cs typeface="Calibri"/>
              </a:rPr>
              <a:t>Net</a:t>
            </a:r>
            <a:r>
              <a:rPr sz="1900" spc="-85" dirty="0">
                <a:latin typeface="Calibri"/>
                <a:cs typeface="Calibri"/>
              </a:rPr>
              <a:t> </a:t>
            </a:r>
            <a:r>
              <a:rPr sz="1900" dirty="0">
                <a:latin typeface="Calibri"/>
                <a:cs typeface="Calibri"/>
              </a:rPr>
              <a:t>SalesOperating</a:t>
            </a:r>
            <a:r>
              <a:rPr sz="1900" spc="-65" dirty="0">
                <a:latin typeface="Calibri"/>
                <a:cs typeface="Calibri"/>
              </a:rPr>
              <a:t> </a:t>
            </a:r>
            <a:r>
              <a:rPr sz="1900" spc="-10" dirty="0">
                <a:latin typeface="Calibri"/>
                <a:cs typeface="Calibri"/>
              </a:rPr>
              <a:t>profits</a:t>
            </a:r>
            <a:endParaRPr sz="1900">
              <a:latin typeface="Calibri"/>
              <a:cs typeface="Calibri"/>
            </a:endParaRPr>
          </a:p>
        </p:txBody>
      </p:sp>
      <p:pic>
        <p:nvPicPr>
          <p:cNvPr id="12" name="object 12"/>
          <p:cNvPicPr/>
          <p:nvPr/>
        </p:nvPicPr>
        <p:blipFill>
          <a:blip r:embed="rId5" cstate="print"/>
          <a:stretch>
            <a:fillRect/>
          </a:stretch>
        </p:blipFill>
        <p:spPr>
          <a:xfrm>
            <a:off x="4834151" y="2558876"/>
            <a:ext cx="4829829" cy="2155578"/>
          </a:xfrm>
          <a:prstGeom prst="rect">
            <a:avLst/>
          </a:prstGeom>
        </p:spPr>
      </p:pic>
      <p:sp>
        <p:nvSpPr>
          <p:cNvPr id="13" name="object 13"/>
          <p:cNvSpPr txBox="1"/>
          <p:nvPr/>
        </p:nvSpPr>
        <p:spPr>
          <a:xfrm>
            <a:off x="6080886" y="1556496"/>
            <a:ext cx="1987550" cy="685165"/>
          </a:xfrm>
          <a:prstGeom prst="rect">
            <a:avLst/>
          </a:prstGeom>
        </p:spPr>
        <p:txBody>
          <a:bodyPr vert="horz" wrap="square" lIns="0" tIns="52705" rIns="0" bIns="0" rtlCol="0">
            <a:spAutoFit/>
          </a:bodyPr>
          <a:lstStyle/>
          <a:p>
            <a:pPr marL="240665" indent="-227965">
              <a:lnSpc>
                <a:spcPct val="100000"/>
              </a:lnSpc>
              <a:spcBef>
                <a:spcPts val="415"/>
              </a:spcBef>
              <a:buClr>
                <a:srgbClr val="3D5078"/>
              </a:buClr>
              <a:buFont typeface="Wingdings"/>
              <a:buChar char=""/>
              <a:tabLst>
                <a:tab pos="240665" algn="l"/>
              </a:tabLst>
            </a:pPr>
            <a:r>
              <a:rPr sz="1900" dirty="0">
                <a:solidFill>
                  <a:srgbClr val="205D77"/>
                </a:solidFill>
                <a:latin typeface="Calibri"/>
                <a:cs typeface="Calibri"/>
              </a:rPr>
              <a:t>Microsoft</a:t>
            </a:r>
            <a:r>
              <a:rPr sz="1900" spc="-90" dirty="0">
                <a:solidFill>
                  <a:srgbClr val="205D77"/>
                </a:solidFill>
                <a:latin typeface="Calibri"/>
                <a:cs typeface="Calibri"/>
              </a:rPr>
              <a:t> </a:t>
            </a:r>
            <a:r>
              <a:rPr sz="1900" spc="-10" dirty="0">
                <a:solidFill>
                  <a:srgbClr val="205D77"/>
                </a:solidFill>
                <a:latin typeface="Calibri"/>
                <a:cs typeface="Calibri"/>
              </a:rPr>
              <a:t>(2023)</a:t>
            </a:r>
            <a:endParaRPr sz="1900">
              <a:latin typeface="Calibri"/>
              <a:cs typeface="Calibri"/>
            </a:endParaRPr>
          </a:p>
          <a:p>
            <a:pPr marL="12700">
              <a:lnSpc>
                <a:spcPct val="100000"/>
              </a:lnSpc>
              <a:spcBef>
                <a:spcPts val="315"/>
              </a:spcBef>
            </a:pPr>
            <a:r>
              <a:rPr sz="1900" dirty="0">
                <a:solidFill>
                  <a:srgbClr val="205D77"/>
                </a:solidFill>
                <a:latin typeface="Calibri"/>
                <a:cs typeface="Calibri"/>
              </a:rPr>
              <a:t>Revenue</a:t>
            </a:r>
            <a:r>
              <a:rPr sz="1900" spc="-50" dirty="0">
                <a:solidFill>
                  <a:srgbClr val="205D77"/>
                </a:solidFill>
                <a:latin typeface="Calibri"/>
                <a:cs typeface="Calibri"/>
              </a:rPr>
              <a:t> </a:t>
            </a:r>
            <a:r>
              <a:rPr sz="1900" dirty="0">
                <a:solidFill>
                  <a:srgbClr val="205D77"/>
                </a:solidFill>
                <a:latin typeface="Calibri"/>
                <a:cs typeface="Calibri"/>
              </a:rPr>
              <a:t>by</a:t>
            </a:r>
            <a:r>
              <a:rPr sz="1900" spc="-80" dirty="0">
                <a:solidFill>
                  <a:srgbClr val="205D77"/>
                </a:solidFill>
                <a:latin typeface="Calibri"/>
                <a:cs typeface="Calibri"/>
              </a:rPr>
              <a:t> </a:t>
            </a:r>
            <a:r>
              <a:rPr sz="1900" spc="-10" dirty="0">
                <a:solidFill>
                  <a:srgbClr val="205D77"/>
                </a:solidFill>
                <a:latin typeface="Calibri"/>
                <a:cs typeface="Calibri"/>
              </a:rPr>
              <a:t>product</a:t>
            </a:r>
            <a:endParaRPr sz="1900">
              <a:latin typeface="Calibri"/>
              <a:cs typeface="Calibri"/>
            </a:endParaRPr>
          </a:p>
        </p:txBody>
      </p:sp>
      <p:sp>
        <p:nvSpPr>
          <p:cNvPr id="14" name="object 14"/>
          <p:cNvSpPr txBox="1"/>
          <p:nvPr/>
        </p:nvSpPr>
        <p:spPr>
          <a:xfrm>
            <a:off x="2235200" y="4856479"/>
            <a:ext cx="5456555" cy="186690"/>
          </a:xfrm>
          <a:prstGeom prst="rect">
            <a:avLst/>
          </a:prstGeom>
        </p:spPr>
        <p:txBody>
          <a:bodyPr vert="horz" wrap="square" lIns="0" tIns="13335" rIns="0" bIns="0" rtlCol="0">
            <a:spAutoFit/>
          </a:bodyPr>
          <a:lstStyle/>
          <a:p>
            <a:pPr marL="12700">
              <a:lnSpc>
                <a:spcPct val="100000"/>
              </a:lnSpc>
              <a:spcBef>
                <a:spcPts val="105"/>
              </a:spcBef>
            </a:pPr>
            <a:r>
              <a:rPr sz="1050" dirty="0">
                <a:latin typeface="Calibri"/>
                <a:cs typeface="Calibri"/>
              </a:rPr>
              <a:t>Source:</a:t>
            </a:r>
            <a:r>
              <a:rPr sz="1050" spc="465" dirty="0">
                <a:latin typeface="Calibri"/>
                <a:cs typeface="Calibri"/>
              </a:rPr>
              <a:t> </a:t>
            </a:r>
            <a:r>
              <a:rPr sz="1050" spc="-10" dirty="0">
                <a:latin typeface="Calibri"/>
                <a:cs typeface="Calibri"/>
              </a:rPr>
              <a:t>https:</a:t>
            </a:r>
            <a:r>
              <a:rPr sz="1050" spc="-10" dirty="0">
                <a:latin typeface="Calibri"/>
                <a:cs typeface="Calibri"/>
                <a:hlinkClick r:id="rId6"/>
              </a:rPr>
              <a:t>//www.hl.co.uk/news/articles/archive/how-technology-companies-make-their-money</a:t>
            </a:r>
            <a:endParaRPr sz="105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64716"/>
            <a:ext cx="8616950" cy="4037329"/>
          </a:xfrm>
          <a:prstGeom prst="rect">
            <a:avLst/>
          </a:prstGeom>
        </p:spPr>
        <p:txBody>
          <a:bodyPr vert="horz" wrap="square" lIns="0" tIns="97790" rIns="0" bIns="0" rtlCol="0">
            <a:spAutoFit/>
          </a:bodyPr>
          <a:lstStyle/>
          <a:p>
            <a:pPr marL="194945" indent="-182245">
              <a:lnSpc>
                <a:spcPct val="100000"/>
              </a:lnSpc>
              <a:spcBef>
                <a:spcPts val="770"/>
              </a:spcBef>
              <a:buClr>
                <a:srgbClr val="2C7B9F"/>
              </a:buClr>
              <a:buSzPct val="83928"/>
              <a:buFont typeface="Arial MT"/>
              <a:buChar char="•"/>
              <a:tabLst>
                <a:tab pos="194945" algn="l"/>
              </a:tabLst>
            </a:pPr>
            <a:r>
              <a:rPr sz="2800" dirty="0">
                <a:latin typeface="Calibri"/>
                <a:cs typeface="Calibri"/>
              </a:rPr>
              <a:t>Depending</a:t>
            </a:r>
            <a:r>
              <a:rPr sz="2800" spc="-30" dirty="0">
                <a:latin typeface="Calibri"/>
                <a:cs typeface="Calibri"/>
              </a:rPr>
              <a:t> </a:t>
            </a:r>
            <a:r>
              <a:rPr sz="2800" dirty="0">
                <a:latin typeface="Calibri"/>
                <a:cs typeface="Calibri"/>
              </a:rPr>
              <a:t>on</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types</a:t>
            </a:r>
            <a:r>
              <a:rPr sz="2800" spc="-35" dirty="0">
                <a:latin typeface="Calibri"/>
                <a:cs typeface="Calibri"/>
              </a:rPr>
              <a:t> </a:t>
            </a:r>
            <a:r>
              <a:rPr sz="2800" dirty="0">
                <a:latin typeface="Calibri"/>
                <a:cs typeface="Calibri"/>
              </a:rPr>
              <a:t>of</a:t>
            </a:r>
            <a:r>
              <a:rPr sz="2800" spc="-55" dirty="0">
                <a:latin typeface="Calibri"/>
                <a:cs typeface="Calibri"/>
              </a:rPr>
              <a:t> </a:t>
            </a:r>
            <a:r>
              <a:rPr sz="2800" spc="-10" dirty="0">
                <a:latin typeface="Calibri"/>
                <a:cs typeface="Calibri"/>
              </a:rPr>
              <a:t>resources</a:t>
            </a:r>
            <a:r>
              <a:rPr sz="2800" spc="-45" dirty="0">
                <a:latin typeface="Calibri"/>
                <a:cs typeface="Calibri"/>
              </a:rPr>
              <a:t> </a:t>
            </a:r>
            <a:r>
              <a:rPr sz="2800" spc="-10" dirty="0">
                <a:latin typeface="Calibri"/>
                <a:cs typeface="Calibri"/>
              </a:rPr>
              <a:t>offered</a:t>
            </a:r>
            <a:r>
              <a:rPr sz="2800" spc="-60" dirty="0">
                <a:latin typeface="Calibri"/>
                <a:cs typeface="Calibri"/>
              </a:rPr>
              <a:t> </a:t>
            </a:r>
            <a:r>
              <a:rPr sz="2800" dirty="0">
                <a:latin typeface="Calibri"/>
                <a:cs typeface="Calibri"/>
              </a:rPr>
              <a:t>by</a:t>
            </a:r>
            <a:r>
              <a:rPr sz="2800" spc="-55" dirty="0">
                <a:latin typeface="Calibri"/>
                <a:cs typeface="Calibri"/>
              </a:rPr>
              <a:t> </a:t>
            </a:r>
            <a:r>
              <a:rPr sz="2800" dirty="0">
                <a:latin typeface="Calibri"/>
                <a:cs typeface="Calibri"/>
              </a:rPr>
              <a:t>the</a:t>
            </a:r>
            <a:r>
              <a:rPr sz="2800" spc="-45" dirty="0">
                <a:latin typeface="Calibri"/>
                <a:cs typeface="Calibri"/>
              </a:rPr>
              <a:t> </a:t>
            </a:r>
            <a:r>
              <a:rPr sz="2800" spc="-10" dirty="0">
                <a:latin typeface="Calibri"/>
                <a:cs typeface="Calibri"/>
              </a:rPr>
              <a:t>cloud:</a:t>
            </a:r>
            <a:endParaRPr sz="2800" dirty="0">
              <a:latin typeface="Calibri"/>
              <a:cs typeface="Calibri"/>
            </a:endParaRPr>
          </a:p>
          <a:p>
            <a:pPr marL="194945" indent="-182245">
              <a:lnSpc>
                <a:spcPct val="100000"/>
              </a:lnSpc>
              <a:spcBef>
                <a:spcPts val="675"/>
              </a:spcBef>
              <a:buClr>
                <a:srgbClr val="2C7B9F"/>
              </a:buClr>
              <a:buSzPct val="83928"/>
              <a:buFont typeface="Arial MT"/>
              <a:buChar char="•"/>
              <a:tabLst>
                <a:tab pos="194945" algn="l"/>
              </a:tabLst>
            </a:pPr>
            <a:r>
              <a:rPr sz="2800" dirty="0">
                <a:latin typeface="Calibri"/>
                <a:cs typeface="Calibri"/>
              </a:rPr>
              <a:t>Software</a:t>
            </a:r>
            <a:r>
              <a:rPr sz="2800" spc="-20" dirty="0">
                <a:latin typeface="Calibri"/>
                <a:cs typeface="Calibri"/>
              </a:rPr>
              <a:t> </a:t>
            </a:r>
            <a:r>
              <a:rPr sz="2800" dirty="0">
                <a:latin typeface="Calibri"/>
                <a:cs typeface="Calibri"/>
              </a:rPr>
              <a:t>as</a:t>
            </a:r>
            <a:r>
              <a:rPr sz="2800" spc="-20"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Service</a:t>
            </a:r>
            <a:r>
              <a:rPr sz="2800" spc="-10" dirty="0">
                <a:latin typeface="Calibri"/>
                <a:cs typeface="Calibri"/>
              </a:rPr>
              <a:t> (</a:t>
            </a:r>
            <a:r>
              <a:rPr sz="2800" b="1" spc="-10" dirty="0">
                <a:solidFill>
                  <a:srgbClr val="234957"/>
                </a:solidFill>
                <a:latin typeface="Calibri"/>
                <a:cs typeface="Calibri"/>
              </a:rPr>
              <a:t>SaaS</a:t>
            </a:r>
            <a:r>
              <a:rPr sz="2800" spc="-10" dirty="0">
                <a:latin typeface="Calibri"/>
                <a:cs typeface="Calibri"/>
              </a:rPr>
              <a:t>)</a:t>
            </a:r>
            <a:endParaRPr sz="2800" dirty="0">
              <a:latin typeface="Calibri"/>
              <a:cs typeface="Calibri"/>
            </a:endParaRPr>
          </a:p>
          <a:p>
            <a:pPr marL="468630" lvl="1" indent="-181610">
              <a:lnSpc>
                <a:spcPct val="100000"/>
              </a:lnSpc>
              <a:spcBef>
                <a:spcPts val="670"/>
              </a:spcBef>
              <a:buClr>
                <a:srgbClr val="2C7B9F"/>
              </a:buClr>
              <a:buSzPct val="83928"/>
              <a:buFont typeface="Arial MT"/>
              <a:buChar char="•"/>
              <a:tabLst>
                <a:tab pos="468630" algn="l"/>
              </a:tabLst>
            </a:pPr>
            <a:r>
              <a:rPr sz="2800" b="1" dirty="0">
                <a:solidFill>
                  <a:srgbClr val="234957"/>
                </a:solidFill>
                <a:latin typeface="Calibri"/>
                <a:cs typeface="Calibri"/>
              </a:rPr>
              <a:t>Use</a:t>
            </a:r>
            <a:r>
              <a:rPr sz="2800" b="1" spc="-60" dirty="0">
                <a:solidFill>
                  <a:srgbClr val="234957"/>
                </a:solidFill>
                <a:latin typeface="Calibri"/>
                <a:cs typeface="Calibri"/>
              </a:rPr>
              <a:t> </a:t>
            </a:r>
            <a:r>
              <a:rPr sz="2800" spc="-10" dirty="0">
                <a:latin typeface="Calibri"/>
                <a:cs typeface="Calibri"/>
              </a:rPr>
              <a:t>provider’s</a:t>
            </a:r>
            <a:r>
              <a:rPr sz="2800" spc="-40" dirty="0">
                <a:latin typeface="Calibri"/>
                <a:cs typeface="Calibri"/>
              </a:rPr>
              <a:t> </a:t>
            </a:r>
            <a:r>
              <a:rPr sz="2800" dirty="0">
                <a:latin typeface="Calibri"/>
                <a:cs typeface="Calibri"/>
              </a:rPr>
              <a:t>applications</a:t>
            </a:r>
            <a:r>
              <a:rPr sz="2800" spc="-40" dirty="0">
                <a:latin typeface="Calibri"/>
                <a:cs typeface="Calibri"/>
              </a:rPr>
              <a:t> </a:t>
            </a:r>
            <a:r>
              <a:rPr sz="2800" dirty="0">
                <a:latin typeface="Calibri"/>
                <a:cs typeface="Calibri"/>
              </a:rPr>
              <a:t>over</a:t>
            </a:r>
            <a:r>
              <a:rPr sz="2800" spc="-60" dirty="0">
                <a:latin typeface="Calibri"/>
                <a:cs typeface="Calibri"/>
              </a:rPr>
              <a:t> </a:t>
            </a:r>
            <a:r>
              <a:rPr sz="2800" dirty="0">
                <a:latin typeface="Calibri"/>
                <a:cs typeface="Calibri"/>
              </a:rPr>
              <a:t>a</a:t>
            </a:r>
            <a:r>
              <a:rPr sz="2800" spc="-70" dirty="0">
                <a:latin typeface="Calibri"/>
                <a:cs typeface="Calibri"/>
              </a:rPr>
              <a:t> </a:t>
            </a:r>
            <a:r>
              <a:rPr sz="2800" spc="-10" dirty="0">
                <a:latin typeface="Calibri"/>
                <a:cs typeface="Calibri"/>
              </a:rPr>
              <a:t>network</a:t>
            </a:r>
            <a:endParaRPr sz="2800" dirty="0">
              <a:latin typeface="Calibri"/>
              <a:cs typeface="Calibri"/>
            </a:endParaRPr>
          </a:p>
          <a:p>
            <a:pPr marL="194945" indent="-182245">
              <a:lnSpc>
                <a:spcPct val="100000"/>
              </a:lnSpc>
              <a:spcBef>
                <a:spcPts val="675"/>
              </a:spcBef>
              <a:buClr>
                <a:srgbClr val="2C7B9F"/>
              </a:buClr>
              <a:buSzPct val="83928"/>
              <a:buFont typeface="Arial MT"/>
              <a:buChar char="•"/>
              <a:tabLst>
                <a:tab pos="194945" algn="l"/>
              </a:tabLst>
            </a:pPr>
            <a:r>
              <a:rPr sz="2800" dirty="0">
                <a:latin typeface="Calibri"/>
                <a:cs typeface="Calibri"/>
              </a:rPr>
              <a:t>Platform</a:t>
            </a:r>
            <a:r>
              <a:rPr sz="2800" spc="-25" dirty="0">
                <a:latin typeface="Calibri"/>
                <a:cs typeface="Calibri"/>
              </a:rPr>
              <a:t> </a:t>
            </a:r>
            <a:r>
              <a:rPr sz="2800" dirty="0">
                <a:latin typeface="Calibri"/>
                <a:cs typeface="Calibri"/>
              </a:rPr>
              <a:t>as</a:t>
            </a:r>
            <a:r>
              <a:rPr sz="2800" spc="-30"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Service</a:t>
            </a:r>
            <a:r>
              <a:rPr sz="2800" spc="-35" dirty="0">
                <a:latin typeface="Calibri"/>
                <a:cs typeface="Calibri"/>
              </a:rPr>
              <a:t> </a:t>
            </a:r>
            <a:r>
              <a:rPr sz="2800" spc="-10" dirty="0">
                <a:latin typeface="Calibri"/>
                <a:cs typeface="Calibri"/>
              </a:rPr>
              <a:t>(</a:t>
            </a:r>
            <a:r>
              <a:rPr sz="2800" b="1" spc="-10" dirty="0">
                <a:solidFill>
                  <a:srgbClr val="234957"/>
                </a:solidFill>
                <a:latin typeface="Calibri"/>
                <a:cs typeface="Calibri"/>
              </a:rPr>
              <a:t>PaaS</a:t>
            </a:r>
            <a:r>
              <a:rPr sz="2800" spc="-10" dirty="0">
                <a:latin typeface="Calibri"/>
                <a:cs typeface="Calibri"/>
              </a:rPr>
              <a:t>)</a:t>
            </a:r>
            <a:endParaRPr sz="2800" dirty="0">
              <a:latin typeface="Calibri"/>
              <a:cs typeface="Calibri"/>
            </a:endParaRPr>
          </a:p>
          <a:p>
            <a:pPr marL="469265" lvl="1" indent="-182245">
              <a:lnSpc>
                <a:spcPct val="100000"/>
              </a:lnSpc>
              <a:spcBef>
                <a:spcPts val="670"/>
              </a:spcBef>
              <a:buClr>
                <a:srgbClr val="2C7B9F"/>
              </a:buClr>
              <a:buSzPct val="83928"/>
              <a:buFont typeface="Arial MT"/>
              <a:buChar char="•"/>
              <a:tabLst>
                <a:tab pos="469265" algn="l"/>
              </a:tabLst>
            </a:pPr>
            <a:r>
              <a:rPr sz="2800" dirty="0">
                <a:latin typeface="Calibri"/>
                <a:cs typeface="Calibri"/>
              </a:rPr>
              <a:t>Deploy</a:t>
            </a:r>
            <a:r>
              <a:rPr sz="2800" spc="-60" dirty="0">
                <a:latin typeface="Calibri"/>
                <a:cs typeface="Calibri"/>
              </a:rPr>
              <a:t> </a:t>
            </a:r>
            <a:r>
              <a:rPr sz="2800" spc="-30" dirty="0">
                <a:latin typeface="Calibri"/>
                <a:cs typeface="Calibri"/>
              </a:rPr>
              <a:t>customer-</a:t>
            </a:r>
            <a:r>
              <a:rPr sz="2800" dirty="0">
                <a:latin typeface="Calibri"/>
                <a:cs typeface="Calibri"/>
              </a:rPr>
              <a:t>created</a:t>
            </a:r>
            <a:r>
              <a:rPr sz="2800" spc="-25" dirty="0">
                <a:latin typeface="Calibri"/>
                <a:cs typeface="Calibri"/>
              </a:rPr>
              <a:t> </a:t>
            </a:r>
            <a:r>
              <a:rPr sz="2800" b="1" spc="-10" dirty="0">
                <a:solidFill>
                  <a:srgbClr val="234957"/>
                </a:solidFill>
                <a:latin typeface="Calibri"/>
                <a:cs typeface="Calibri"/>
              </a:rPr>
              <a:t>applications</a:t>
            </a:r>
            <a:r>
              <a:rPr sz="2800" b="1" spc="-60" dirty="0">
                <a:solidFill>
                  <a:srgbClr val="234957"/>
                </a:solidFill>
                <a:latin typeface="Calibri"/>
                <a:cs typeface="Calibri"/>
              </a:rPr>
              <a:t> </a:t>
            </a:r>
            <a:r>
              <a:rPr sz="2800" dirty="0">
                <a:latin typeface="Calibri"/>
                <a:cs typeface="Calibri"/>
              </a:rPr>
              <a:t>to</a:t>
            </a:r>
            <a:r>
              <a:rPr sz="2800" spc="-65" dirty="0">
                <a:latin typeface="Calibri"/>
                <a:cs typeface="Calibri"/>
              </a:rPr>
              <a:t> </a:t>
            </a:r>
            <a:r>
              <a:rPr sz="2800" dirty="0">
                <a:latin typeface="Calibri"/>
                <a:cs typeface="Calibri"/>
              </a:rPr>
              <a:t>a</a:t>
            </a:r>
            <a:r>
              <a:rPr sz="2800" spc="-50" dirty="0">
                <a:latin typeface="Calibri"/>
                <a:cs typeface="Calibri"/>
              </a:rPr>
              <a:t> </a:t>
            </a:r>
            <a:r>
              <a:rPr sz="2800" spc="-10" dirty="0">
                <a:latin typeface="Calibri"/>
                <a:cs typeface="Calibri"/>
              </a:rPr>
              <a:t>cloud</a:t>
            </a:r>
            <a:endParaRPr sz="2800" dirty="0">
              <a:latin typeface="Calibri"/>
              <a:cs typeface="Calibri"/>
            </a:endParaRPr>
          </a:p>
          <a:p>
            <a:pPr marL="194310" indent="-181610">
              <a:lnSpc>
                <a:spcPct val="100000"/>
              </a:lnSpc>
              <a:spcBef>
                <a:spcPts val="675"/>
              </a:spcBef>
              <a:buClr>
                <a:srgbClr val="2C7B9F"/>
              </a:buClr>
              <a:buSzPct val="83928"/>
              <a:buFont typeface="Arial MT"/>
              <a:buChar char="•"/>
              <a:tabLst>
                <a:tab pos="194310" algn="l"/>
              </a:tabLst>
            </a:pPr>
            <a:r>
              <a:rPr sz="2800" spc="-10" dirty="0">
                <a:latin typeface="Calibri"/>
                <a:cs typeface="Calibri"/>
              </a:rPr>
              <a:t>Infrastructure</a:t>
            </a:r>
            <a:r>
              <a:rPr sz="2800" dirty="0">
                <a:latin typeface="Calibri"/>
                <a:cs typeface="Calibri"/>
              </a:rPr>
              <a:t> as</a:t>
            </a:r>
            <a:r>
              <a:rPr sz="2800" spc="-30"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Service</a:t>
            </a:r>
            <a:r>
              <a:rPr sz="2800" spc="-30" dirty="0">
                <a:latin typeface="Calibri"/>
                <a:cs typeface="Calibri"/>
              </a:rPr>
              <a:t> </a:t>
            </a:r>
            <a:r>
              <a:rPr sz="2800" spc="-10" dirty="0">
                <a:latin typeface="Calibri"/>
                <a:cs typeface="Calibri"/>
              </a:rPr>
              <a:t>(</a:t>
            </a:r>
            <a:r>
              <a:rPr sz="2800" b="1" spc="-10" dirty="0">
                <a:solidFill>
                  <a:srgbClr val="234957"/>
                </a:solidFill>
                <a:latin typeface="Calibri"/>
                <a:cs typeface="Calibri"/>
              </a:rPr>
              <a:t>IaaS</a:t>
            </a:r>
            <a:r>
              <a:rPr sz="2800" spc="-10" dirty="0">
                <a:latin typeface="Calibri"/>
                <a:cs typeface="Calibri"/>
              </a:rPr>
              <a:t>)</a:t>
            </a:r>
            <a:endParaRPr sz="2800" dirty="0">
              <a:latin typeface="Calibri"/>
              <a:cs typeface="Calibri"/>
            </a:endParaRPr>
          </a:p>
          <a:p>
            <a:pPr marL="469900" marR="412115" lvl="1" indent="-182880">
              <a:lnSpc>
                <a:spcPct val="100000"/>
              </a:lnSpc>
              <a:spcBef>
                <a:spcPts val="670"/>
              </a:spcBef>
              <a:buClr>
                <a:srgbClr val="2C7B9F"/>
              </a:buClr>
              <a:buSzPct val="83928"/>
              <a:buFont typeface="Arial MT"/>
              <a:buChar char="•"/>
              <a:tabLst>
                <a:tab pos="469900" algn="l"/>
              </a:tabLst>
            </a:pPr>
            <a:r>
              <a:rPr sz="2800" dirty="0">
                <a:latin typeface="Calibri"/>
                <a:cs typeface="Calibri"/>
              </a:rPr>
              <a:t>Rent</a:t>
            </a:r>
            <a:r>
              <a:rPr sz="2800" spc="-105" dirty="0">
                <a:latin typeface="Calibri"/>
                <a:cs typeface="Calibri"/>
              </a:rPr>
              <a:t> </a:t>
            </a:r>
            <a:r>
              <a:rPr sz="2800" dirty="0">
                <a:latin typeface="Calibri"/>
                <a:cs typeface="Calibri"/>
              </a:rPr>
              <a:t>processing,</a:t>
            </a:r>
            <a:r>
              <a:rPr sz="2800" spc="-95" dirty="0">
                <a:latin typeface="Calibri"/>
                <a:cs typeface="Calibri"/>
              </a:rPr>
              <a:t> </a:t>
            </a:r>
            <a:r>
              <a:rPr sz="2800" spc="-10" dirty="0">
                <a:latin typeface="Calibri"/>
                <a:cs typeface="Calibri"/>
              </a:rPr>
              <a:t>storage,</a:t>
            </a:r>
            <a:r>
              <a:rPr sz="2800" spc="-100" dirty="0">
                <a:latin typeface="Calibri"/>
                <a:cs typeface="Calibri"/>
              </a:rPr>
              <a:t> </a:t>
            </a:r>
            <a:r>
              <a:rPr sz="2800" dirty="0">
                <a:latin typeface="Calibri"/>
                <a:cs typeface="Calibri"/>
              </a:rPr>
              <a:t>network</a:t>
            </a:r>
            <a:r>
              <a:rPr sz="2800" spc="-110" dirty="0">
                <a:latin typeface="Calibri"/>
                <a:cs typeface="Calibri"/>
              </a:rPr>
              <a:t> </a:t>
            </a:r>
            <a:r>
              <a:rPr sz="2800" spc="-25" dirty="0">
                <a:latin typeface="Calibri"/>
                <a:cs typeface="Calibri"/>
              </a:rPr>
              <a:t>capacity,</a:t>
            </a:r>
            <a:r>
              <a:rPr sz="2800" spc="-105" dirty="0">
                <a:latin typeface="Calibri"/>
                <a:cs typeface="Calibri"/>
              </a:rPr>
              <a:t> </a:t>
            </a:r>
            <a:r>
              <a:rPr sz="2800" dirty="0">
                <a:latin typeface="Calibri"/>
                <a:cs typeface="Calibri"/>
              </a:rPr>
              <a:t>and</a:t>
            </a:r>
            <a:r>
              <a:rPr sz="2800" spc="-95" dirty="0">
                <a:latin typeface="Calibri"/>
                <a:cs typeface="Calibri"/>
              </a:rPr>
              <a:t> </a:t>
            </a:r>
            <a:r>
              <a:rPr sz="2800" spc="-10" dirty="0">
                <a:latin typeface="Calibri"/>
                <a:cs typeface="Calibri"/>
              </a:rPr>
              <a:t>other fundamental</a:t>
            </a:r>
            <a:r>
              <a:rPr sz="2800" spc="-65" dirty="0">
                <a:latin typeface="Calibri"/>
                <a:cs typeface="Calibri"/>
              </a:rPr>
              <a:t> </a:t>
            </a:r>
            <a:r>
              <a:rPr sz="2800" b="1" spc="-10" dirty="0">
                <a:solidFill>
                  <a:srgbClr val="234957"/>
                </a:solidFill>
                <a:latin typeface="Calibri"/>
                <a:cs typeface="Calibri"/>
              </a:rPr>
              <a:t>computing</a:t>
            </a:r>
            <a:r>
              <a:rPr sz="2800" b="1" spc="-105" dirty="0">
                <a:solidFill>
                  <a:srgbClr val="234957"/>
                </a:solidFill>
                <a:latin typeface="Calibri"/>
                <a:cs typeface="Calibri"/>
              </a:rPr>
              <a:t> </a:t>
            </a:r>
            <a:r>
              <a:rPr sz="2800" b="1" spc="-10" dirty="0">
                <a:solidFill>
                  <a:srgbClr val="234957"/>
                </a:solidFill>
                <a:latin typeface="Calibri"/>
                <a:cs typeface="Calibri"/>
              </a:rPr>
              <a:t>resources</a:t>
            </a:r>
            <a:endParaRPr sz="2800" dirty="0">
              <a:latin typeface="Calibri"/>
              <a:cs typeface="Calibri"/>
            </a:endParaRPr>
          </a:p>
        </p:txBody>
      </p:sp>
      <p:sp>
        <p:nvSpPr>
          <p:cNvPr id="3" name="object 3"/>
          <p:cNvSpPr txBox="1">
            <a:spLocks noGrp="1"/>
          </p:cNvSpPr>
          <p:nvPr>
            <p:ph type="title"/>
          </p:nvPr>
        </p:nvSpPr>
        <p:spPr>
          <a:xfrm>
            <a:off x="574040" y="679449"/>
            <a:ext cx="5486400" cy="635000"/>
          </a:xfrm>
          <a:prstGeom prst="rect">
            <a:avLst/>
          </a:prstGeom>
        </p:spPr>
        <p:txBody>
          <a:bodyPr vert="horz" wrap="square" lIns="0" tIns="12065" rIns="0" bIns="0" rtlCol="0">
            <a:spAutoFit/>
          </a:bodyPr>
          <a:lstStyle/>
          <a:p>
            <a:pPr marL="12700">
              <a:lnSpc>
                <a:spcPct val="100000"/>
              </a:lnSpc>
              <a:spcBef>
                <a:spcPts val="95"/>
              </a:spcBef>
            </a:pPr>
            <a:r>
              <a:rPr spc="-100" dirty="0"/>
              <a:t>Cloud</a:t>
            </a:r>
            <a:r>
              <a:rPr spc="-180" dirty="0"/>
              <a:t> </a:t>
            </a:r>
            <a:r>
              <a:rPr spc="-95" dirty="0"/>
              <a:t>Service</a:t>
            </a:r>
            <a:r>
              <a:rPr spc="-180" dirty="0"/>
              <a:t> </a:t>
            </a:r>
            <a:r>
              <a:rPr spc="-100" dirty="0"/>
              <a:t>Models</a:t>
            </a:r>
            <a:r>
              <a:rPr spc="-190" dirty="0"/>
              <a:t> </a:t>
            </a:r>
            <a:r>
              <a:rPr spc="-45" dirty="0"/>
              <a:t>(NIST)</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57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12570"/>
            <a:ext cx="8557260" cy="4117340"/>
          </a:xfrm>
          <a:prstGeom prst="rect">
            <a:avLst/>
          </a:prstGeom>
        </p:spPr>
        <p:txBody>
          <a:bodyPr vert="horz" wrap="square" lIns="0" tIns="69215" rIns="0" bIns="0" rtlCol="0">
            <a:spAutoFit/>
          </a:bodyPr>
          <a:lstStyle/>
          <a:p>
            <a:pPr marL="355600" marR="1892935" indent="-343535">
              <a:lnSpc>
                <a:spcPts val="3190"/>
              </a:lnSpc>
              <a:spcBef>
                <a:spcPts val="545"/>
              </a:spcBef>
              <a:buClr>
                <a:srgbClr val="2C7B9F"/>
              </a:buClr>
              <a:buSzPct val="45000"/>
              <a:buFont typeface="Arial MT"/>
              <a:buChar char="•"/>
              <a:tabLst>
                <a:tab pos="355600" algn="l"/>
              </a:tabLst>
            </a:pPr>
            <a:r>
              <a:rPr sz="3000" dirty="0">
                <a:latin typeface="Arial MT"/>
                <a:cs typeface="Arial MT"/>
              </a:rPr>
              <a:t>IaaS</a:t>
            </a:r>
            <a:r>
              <a:rPr sz="3000" spc="-20" dirty="0">
                <a:latin typeface="Arial MT"/>
                <a:cs typeface="Arial MT"/>
              </a:rPr>
              <a:t> </a:t>
            </a:r>
            <a:r>
              <a:rPr sz="3000" dirty="0">
                <a:latin typeface="Arial MT"/>
                <a:cs typeface="Arial MT"/>
              </a:rPr>
              <a:t>is</a:t>
            </a:r>
            <a:r>
              <a:rPr sz="3000" spc="-25" dirty="0">
                <a:latin typeface="Arial MT"/>
                <a:cs typeface="Arial MT"/>
              </a:rPr>
              <a:t> </a:t>
            </a:r>
            <a:r>
              <a:rPr sz="3000" dirty="0">
                <a:latin typeface="Arial MT"/>
                <a:cs typeface="Arial MT"/>
              </a:rPr>
              <a:t>“more</a:t>
            </a:r>
            <a:r>
              <a:rPr sz="3000" spc="-5" dirty="0">
                <a:latin typeface="Arial MT"/>
                <a:cs typeface="Arial MT"/>
              </a:rPr>
              <a:t> </a:t>
            </a:r>
            <a:r>
              <a:rPr sz="3000" dirty="0">
                <a:latin typeface="Arial MT"/>
                <a:cs typeface="Arial MT"/>
              </a:rPr>
              <a:t>powerful”</a:t>
            </a:r>
            <a:r>
              <a:rPr sz="3000" spc="-50" dirty="0">
                <a:latin typeface="Arial MT"/>
                <a:cs typeface="Arial MT"/>
              </a:rPr>
              <a:t> </a:t>
            </a:r>
            <a:r>
              <a:rPr sz="3000" dirty="0">
                <a:latin typeface="Arial MT"/>
                <a:cs typeface="Arial MT"/>
              </a:rPr>
              <a:t>as</a:t>
            </a:r>
            <a:r>
              <a:rPr sz="3000" spc="-30" dirty="0">
                <a:latin typeface="Arial MT"/>
                <a:cs typeface="Arial MT"/>
              </a:rPr>
              <a:t> </a:t>
            </a:r>
            <a:r>
              <a:rPr sz="3000" dirty="0">
                <a:latin typeface="Arial MT"/>
                <a:cs typeface="Arial MT"/>
              </a:rPr>
              <a:t>more</a:t>
            </a:r>
            <a:r>
              <a:rPr sz="3000" spc="-150" dirty="0">
                <a:latin typeface="Arial MT"/>
                <a:cs typeface="Arial MT"/>
              </a:rPr>
              <a:t> </a:t>
            </a:r>
            <a:r>
              <a:rPr sz="3000" spc="-10" dirty="0">
                <a:latin typeface="Arial MT"/>
                <a:cs typeface="Arial MT"/>
              </a:rPr>
              <a:t>tools </a:t>
            </a:r>
            <a:r>
              <a:rPr sz="3000" dirty="0">
                <a:latin typeface="Arial MT"/>
                <a:cs typeface="Arial MT"/>
              </a:rPr>
              <a:t>available</a:t>
            </a:r>
            <a:r>
              <a:rPr sz="3000" spc="-35" dirty="0">
                <a:latin typeface="Arial MT"/>
                <a:cs typeface="Arial MT"/>
              </a:rPr>
              <a:t> </a:t>
            </a:r>
            <a:r>
              <a:rPr sz="3000" dirty="0">
                <a:latin typeface="Arial MT"/>
                <a:cs typeface="Arial MT"/>
              </a:rPr>
              <a:t>and</a:t>
            </a:r>
            <a:r>
              <a:rPr sz="3000" spc="-45" dirty="0">
                <a:latin typeface="Arial MT"/>
                <a:cs typeface="Arial MT"/>
              </a:rPr>
              <a:t> </a:t>
            </a:r>
            <a:r>
              <a:rPr sz="3000" spc="-10" dirty="0">
                <a:latin typeface="Arial MT"/>
                <a:cs typeface="Arial MT"/>
              </a:rPr>
              <a:t>customization</a:t>
            </a:r>
            <a:r>
              <a:rPr sz="3000" spc="-155" dirty="0">
                <a:latin typeface="Arial MT"/>
                <a:cs typeface="Arial MT"/>
              </a:rPr>
              <a:t> </a:t>
            </a:r>
            <a:r>
              <a:rPr sz="3000" spc="-10" dirty="0">
                <a:latin typeface="Arial MT"/>
                <a:cs typeface="Arial MT"/>
              </a:rPr>
              <a:t>possible</a:t>
            </a:r>
            <a:endParaRPr sz="3000">
              <a:latin typeface="Arial MT"/>
              <a:cs typeface="Arial MT"/>
            </a:endParaRPr>
          </a:p>
          <a:p>
            <a:pPr marL="355600" indent="-342900">
              <a:lnSpc>
                <a:spcPct val="100000"/>
              </a:lnSpc>
              <a:spcBef>
                <a:spcPts val="265"/>
              </a:spcBef>
              <a:buClr>
                <a:srgbClr val="2C7B9F"/>
              </a:buClr>
              <a:buSzPct val="45000"/>
              <a:buChar char="•"/>
              <a:tabLst>
                <a:tab pos="355600" algn="l"/>
              </a:tabLst>
            </a:pPr>
            <a:r>
              <a:rPr sz="3000" dirty="0">
                <a:latin typeface="Arial MT"/>
                <a:cs typeface="Arial MT"/>
              </a:rPr>
              <a:t>But</a:t>
            </a:r>
            <a:r>
              <a:rPr sz="3000" spc="-25" dirty="0">
                <a:latin typeface="Arial MT"/>
                <a:cs typeface="Arial MT"/>
              </a:rPr>
              <a:t> </a:t>
            </a:r>
            <a:r>
              <a:rPr sz="3000" dirty="0">
                <a:latin typeface="Arial MT"/>
                <a:cs typeface="Arial MT"/>
              </a:rPr>
              <a:t>there</a:t>
            </a:r>
            <a:r>
              <a:rPr sz="3000" spc="-45" dirty="0">
                <a:latin typeface="Arial MT"/>
                <a:cs typeface="Arial MT"/>
              </a:rPr>
              <a:t> </a:t>
            </a:r>
            <a:r>
              <a:rPr sz="3000" dirty="0">
                <a:latin typeface="Arial MT"/>
                <a:cs typeface="Arial MT"/>
              </a:rPr>
              <a:t>is</a:t>
            </a:r>
            <a:r>
              <a:rPr sz="3000" spc="-20" dirty="0">
                <a:latin typeface="Arial MT"/>
                <a:cs typeface="Arial MT"/>
              </a:rPr>
              <a:t> </a:t>
            </a:r>
            <a:r>
              <a:rPr sz="3000" dirty="0">
                <a:latin typeface="Arial MT"/>
                <a:cs typeface="Arial MT"/>
              </a:rPr>
              <a:t>a</a:t>
            </a:r>
            <a:r>
              <a:rPr sz="3000" spc="-35" dirty="0">
                <a:latin typeface="Arial MT"/>
                <a:cs typeface="Arial MT"/>
              </a:rPr>
              <a:t> </a:t>
            </a:r>
            <a:r>
              <a:rPr sz="3000" spc="-10" dirty="0">
                <a:latin typeface="Arial MT"/>
                <a:cs typeface="Arial MT"/>
              </a:rPr>
              <a:t>price</a:t>
            </a:r>
            <a:endParaRPr sz="3000">
              <a:latin typeface="Arial MT"/>
              <a:cs typeface="Arial MT"/>
            </a:endParaRPr>
          </a:p>
          <a:p>
            <a:pPr marL="756285" marR="819150" lvl="1" indent="-287020">
              <a:lnSpc>
                <a:spcPts val="2800"/>
              </a:lnSpc>
              <a:spcBef>
                <a:spcPts val="765"/>
              </a:spcBef>
              <a:buClr>
                <a:srgbClr val="2C7B9F"/>
              </a:buClr>
              <a:buSzPct val="75000"/>
              <a:buChar char="•"/>
              <a:tabLst>
                <a:tab pos="756285" algn="l"/>
              </a:tabLst>
            </a:pPr>
            <a:r>
              <a:rPr sz="2600" dirty="0">
                <a:latin typeface="Arial MT"/>
                <a:cs typeface="Arial MT"/>
              </a:rPr>
              <a:t>User</a:t>
            </a:r>
            <a:r>
              <a:rPr sz="2600" spc="-40" dirty="0">
                <a:latin typeface="Arial MT"/>
                <a:cs typeface="Arial MT"/>
              </a:rPr>
              <a:t> </a:t>
            </a:r>
            <a:r>
              <a:rPr sz="2600" dirty="0">
                <a:latin typeface="Arial MT"/>
                <a:cs typeface="Arial MT"/>
              </a:rPr>
              <a:t>responsible</a:t>
            </a:r>
            <a:r>
              <a:rPr sz="2600" spc="-50" dirty="0">
                <a:latin typeface="Arial MT"/>
                <a:cs typeface="Arial MT"/>
              </a:rPr>
              <a:t> </a:t>
            </a:r>
            <a:r>
              <a:rPr sz="2600" dirty="0">
                <a:latin typeface="Arial MT"/>
                <a:cs typeface="Arial MT"/>
              </a:rPr>
              <a:t>for</a:t>
            </a:r>
            <a:r>
              <a:rPr sz="2600" spc="-30" dirty="0">
                <a:latin typeface="Arial MT"/>
                <a:cs typeface="Arial MT"/>
              </a:rPr>
              <a:t> </a:t>
            </a:r>
            <a:r>
              <a:rPr sz="2600" dirty="0">
                <a:latin typeface="Arial MT"/>
                <a:cs typeface="Arial MT"/>
              </a:rPr>
              <a:t>scaling</a:t>
            </a:r>
            <a:r>
              <a:rPr sz="2600" spc="-45" dirty="0">
                <a:latin typeface="Arial MT"/>
                <a:cs typeface="Arial MT"/>
              </a:rPr>
              <a:t> </a:t>
            </a:r>
            <a:r>
              <a:rPr sz="2600" dirty="0">
                <a:latin typeface="Arial MT"/>
                <a:cs typeface="Arial MT"/>
              </a:rPr>
              <a:t>applications</a:t>
            </a:r>
            <a:r>
              <a:rPr sz="2600" spc="-90" dirty="0">
                <a:latin typeface="Arial MT"/>
                <a:cs typeface="Arial MT"/>
              </a:rPr>
              <a:t> </a:t>
            </a:r>
            <a:r>
              <a:rPr sz="2600" spc="-10" dirty="0">
                <a:latin typeface="Arial MT"/>
                <a:cs typeface="Arial MT"/>
              </a:rPr>
              <a:t>(Some </a:t>
            </a:r>
            <a:r>
              <a:rPr sz="2600" dirty="0">
                <a:latin typeface="Arial MT"/>
                <a:cs typeface="Arial MT"/>
              </a:rPr>
              <a:t>tools</a:t>
            </a:r>
            <a:r>
              <a:rPr sz="2600" spc="-15" dirty="0">
                <a:latin typeface="Arial MT"/>
                <a:cs typeface="Arial MT"/>
              </a:rPr>
              <a:t> </a:t>
            </a:r>
            <a:r>
              <a:rPr sz="2600" dirty="0">
                <a:latin typeface="Arial MT"/>
                <a:cs typeface="Arial MT"/>
              </a:rPr>
              <a:t>like</a:t>
            </a:r>
            <a:r>
              <a:rPr sz="2600" spc="-165" dirty="0">
                <a:latin typeface="Arial MT"/>
                <a:cs typeface="Arial MT"/>
              </a:rPr>
              <a:t> </a:t>
            </a:r>
            <a:r>
              <a:rPr sz="2600" spc="-10" dirty="0">
                <a:latin typeface="Arial MT"/>
                <a:cs typeface="Arial MT"/>
              </a:rPr>
              <a:t>Amazon's</a:t>
            </a:r>
            <a:r>
              <a:rPr sz="2600" spc="-170" dirty="0">
                <a:latin typeface="Arial MT"/>
                <a:cs typeface="Arial MT"/>
              </a:rPr>
              <a:t> </a:t>
            </a:r>
            <a:r>
              <a:rPr sz="2600" dirty="0">
                <a:latin typeface="Arial MT"/>
                <a:cs typeface="Arial MT"/>
              </a:rPr>
              <a:t>Autoscaling</a:t>
            </a:r>
            <a:r>
              <a:rPr sz="2600" spc="-45" dirty="0">
                <a:latin typeface="Arial MT"/>
                <a:cs typeface="Arial MT"/>
              </a:rPr>
              <a:t> </a:t>
            </a:r>
            <a:r>
              <a:rPr sz="2600" dirty="0">
                <a:latin typeface="Arial MT"/>
                <a:cs typeface="Arial MT"/>
              </a:rPr>
              <a:t>can</a:t>
            </a:r>
            <a:r>
              <a:rPr sz="2600" spc="-30" dirty="0">
                <a:latin typeface="Arial MT"/>
                <a:cs typeface="Arial MT"/>
              </a:rPr>
              <a:t> </a:t>
            </a:r>
            <a:r>
              <a:rPr sz="2600" dirty="0">
                <a:latin typeface="Arial MT"/>
                <a:cs typeface="Arial MT"/>
              </a:rPr>
              <a:t>help</a:t>
            </a:r>
            <a:r>
              <a:rPr sz="2600" spc="-20" dirty="0">
                <a:latin typeface="Arial MT"/>
                <a:cs typeface="Arial MT"/>
              </a:rPr>
              <a:t> </a:t>
            </a:r>
            <a:r>
              <a:rPr sz="2600" spc="-25" dirty="0">
                <a:latin typeface="Arial MT"/>
                <a:cs typeface="Arial MT"/>
              </a:rPr>
              <a:t>but </a:t>
            </a:r>
            <a:r>
              <a:rPr sz="2600" spc="-10" dirty="0">
                <a:latin typeface="Arial MT"/>
                <a:cs typeface="Arial MT"/>
              </a:rPr>
              <a:t>configuration</a:t>
            </a:r>
            <a:r>
              <a:rPr sz="2600" spc="-55" dirty="0">
                <a:latin typeface="Arial MT"/>
                <a:cs typeface="Arial MT"/>
              </a:rPr>
              <a:t> </a:t>
            </a:r>
            <a:r>
              <a:rPr sz="2600" spc="-10" dirty="0">
                <a:latin typeface="Arial MT"/>
                <a:cs typeface="Arial MT"/>
              </a:rPr>
              <a:t>required)</a:t>
            </a:r>
            <a:endParaRPr sz="2600">
              <a:latin typeface="Arial MT"/>
              <a:cs typeface="Arial MT"/>
            </a:endParaRPr>
          </a:p>
          <a:p>
            <a:pPr marL="756285" marR="917575" lvl="1" indent="-287020">
              <a:lnSpc>
                <a:spcPts val="2800"/>
              </a:lnSpc>
              <a:spcBef>
                <a:spcPts val="595"/>
              </a:spcBef>
              <a:buClr>
                <a:srgbClr val="2C7B9F"/>
              </a:buClr>
              <a:buSzPct val="75000"/>
              <a:buChar char="•"/>
              <a:tabLst>
                <a:tab pos="756285" algn="l"/>
              </a:tabLst>
            </a:pPr>
            <a:r>
              <a:rPr sz="2600" dirty="0">
                <a:latin typeface="Arial MT"/>
                <a:cs typeface="Arial MT"/>
              </a:rPr>
              <a:t>User</a:t>
            </a:r>
            <a:r>
              <a:rPr sz="2600" spc="-50" dirty="0">
                <a:latin typeface="Arial MT"/>
                <a:cs typeface="Arial MT"/>
              </a:rPr>
              <a:t> </a:t>
            </a:r>
            <a:r>
              <a:rPr sz="2600" dirty="0">
                <a:latin typeface="Arial MT"/>
                <a:cs typeface="Arial MT"/>
              </a:rPr>
              <a:t>responsible</a:t>
            </a:r>
            <a:r>
              <a:rPr sz="2600" spc="-55" dirty="0">
                <a:latin typeface="Arial MT"/>
                <a:cs typeface="Arial MT"/>
              </a:rPr>
              <a:t> </a:t>
            </a:r>
            <a:r>
              <a:rPr sz="2600" dirty="0">
                <a:latin typeface="Arial MT"/>
                <a:cs typeface="Arial MT"/>
              </a:rPr>
              <a:t>for</a:t>
            </a:r>
            <a:r>
              <a:rPr sz="2600" spc="-40" dirty="0">
                <a:latin typeface="Arial MT"/>
                <a:cs typeface="Arial MT"/>
              </a:rPr>
              <a:t> </a:t>
            </a:r>
            <a:r>
              <a:rPr sz="2600" dirty="0">
                <a:latin typeface="Arial MT"/>
                <a:cs typeface="Arial MT"/>
              </a:rPr>
              <a:t>updating</a:t>
            </a:r>
            <a:r>
              <a:rPr sz="2600" spc="-30" dirty="0">
                <a:latin typeface="Arial MT"/>
                <a:cs typeface="Arial MT"/>
              </a:rPr>
              <a:t> </a:t>
            </a:r>
            <a:r>
              <a:rPr sz="2600" dirty="0">
                <a:latin typeface="Arial MT"/>
                <a:cs typeface="Arial MT"/>
              </a:rPr>
              <a:t>OS</a:t>
            </a:r>
            <a:r>
              <a:rPr sz="2600" spc="-25" dirty="0">
                <a:latin typeface="Arial MT"/>
                <a:cs typeface="Arial MT"/>
              </a:rPr>
              <a:t> </a:t>
            </a:r>
            <a:r>
              <a:rPr sz="2600" dirty="0">
                <a:latin typeface="Arial MT"/>
                <a:cs typeface="Arial MT"/>
              </a:rPr>
              <a:t>and</a:t>
            </a:r>
            <a:r>
              <a:rPr sz="2600" spc="-50" dirty="0">
                <a:latin typeface="Arial MT"/>
                <a:cs typeface="Arial MT"/>
              </a:rPr>
              <a:t> </a:t>
            </a:r>
            <a:r>
              <a:rPr sz="2600" spc="-10" dirty="0">
                <a:latin typeface="Arial MT"/>
                <a:cs typeface="Arial MT"/>
              </a:rPr>
              <a:t>machine </a:t>
            </a:r>
            <a:r>
              <a:rPr sz="2600" dirty="0">
                <a:latin typeface="Arial MT"/>
                <a:cs typeface="Arial MT"/>
              </a:rPr>
              <a:t>image</a:t>
            </a:r>
            <a:r>
              <a:rPr sz="2600" spc="-60" dirty="0">
                <a:latin typeface="Arial MT"/>
                <a:cs typeface="Arial MT"/>
              </a:rPr>
              <a:t> </a:t>
            </a:r>
            <a:r>
              <a:rPr sz="2600" dirty="0">
                <a:latin typeface="Arial MT"/>
                <a:cs typeface="Arial MT"/>
              </a:rPr>
              <a:t>(Happens</a:t>
            </a:r>
            <a:r>
              <a:rPr sz="2600" spc="-60" dirty="0">
                <a:latin typeface="Arial MT"/>
                <a:cs typeface="Arial MT"/>
              </a:rPr>
              <a:t> </a:t>
            </a:r>
            <a:r>
              <a:rPr sz="2600" dirty="0">
                <a:latin typeface="Arial MT"/>
                <a:cs typeface="Arial MT"/>
              </a:rPr>
              <a:t>automatically</a:t>
            </a:r>
            <a:r>
              <a:rPr sz="2600" spc="-70" dirty="0">
                <a:latin typeface="Arial MT"/>
                <a:cs typeface="Arial MT"/>
              </a:rPr>
              <a:t> </a:t>
            </a:r>
            <a:r>
              <a:rPr sz="2600" dirty="0">
                <a:latin typeface="Arial MT"/>
                <a:cs typeface="Arial MT"/>
              </a:rPr>
              <a:t>on</a:t>
            </a:r>
            <a:r>
              <a:rPr sz="2600" spc="-70" dirty="0">
                <a:latin typeface="Arial MT"/>
                <a:cs typeface="Arial MT"/>
              </a:rPr>
              <a:t> </a:t>
            </a:r>
            <a:r>
              <a:rPr sz="2600" spc="-10" dirty="0">
                <a:latin typeface="Arial MT"/>
                <a:cs typeface="Arial MT"/>
              </a:rPr>
              <a:t>PaaS)</a:t>
            </a:r>
            <a:endParaRPr sz="2600">
              <a:latin typeface="Arial MT"/>
              <a:cs typeface="Arial MT"/>
            </a:endParaRPr>
          </a:p>
          <a:p>
            <a:pPr marL="756285" marR="5080" lvl="1" indent="-287020">
              <a:lnSpc>
                <a:spcPts val="2810"/>
              </a:lnSpc>
              <a:spcBef>
                <a:spcPts val="590"/>
              </a:spcBef>
              <a:buClr>
                <a:srgbClr val="2C7B9F"/>
              </a:buClr>
              <a:buSzPct val="75000"/>
              <a:buChar char="•"/>
              <a:tabLst>
                <a:tab pos="756285" algn="l"/>
                <a:tab pos="8065770" algn="l"/>
              </a:tabLst>
            </a:pPr>
            <a:r>
              <a:rPr sz="2600" dirty="0">
                <a:latin typeface="Arial MT"/>
                <a:cs typeface="Arial MT"/>
              </a:rPr>
              <a:t>In</a:t>
            </a:r>
            <a:r>
              <a:rPr sz="2600" spc="-25" dirty="0">
                <a:latin typeface="Arial MT"/>
                <a:cs typeface="Arial MT"/>
              </a:rPr>
              <a:t> </a:t>
            </a:r>
            <a:r>
              <a:rPr sz="2600" dirty="0">
                <a:latin typeface="Arial MT"/>
                <a:cs typeface="Arial MT"/>
              </a:rPr>
              <a:t>general</a:t>
            </a:r>
            <a:r>
              <a:rPr sz="2600" spc="-45" dirty="0">
                <a:latin typeface="Arial MT"/>
                <a:cs typeface="Arial MT"/>
              </a:rPr>
              <a:t> </a:t>
            </a:r>
            <a:r>
              <a:rPr sz="2600" dirty="0">
                <a:latin typeface="Arial MT"/>
                <a:cs typeface="Arial MT"/>
              </a:rPr>
              <a:t>PaaS</a:t>
            </a:r>
            <a:r>
              <a:rPr sz="2600" spc="-25" dirty="0">
                <a:latin typeface="Arial MT"/>
                <a:cs typeface="Arial MT"/>
              </a:rPr>
              <a:t> </a:t>
            </a:r>
            <a:r>
              <a:rPr sz="2600" dirty="0">
                <a:latin typeface="Arial MT"/>
                <a:cs typeface="Arial MT"/>
              </a:rPr>
              <a:t>less</a:t>
            </a:r>
            <a:r>
              <a:rPr sz="2600" spc="-35" dirty="0">
                <a:latin typeface="Arial MT"/>
                <a:cs typeface="Arial MT"/>
              </a:rPr>
              <a:t> </a:t>
            </a:r>
            <a:r>
              <a:rPr sz="2600" dirty="0">
                <a:latin typeface="Arial MT"/>
                <a:cs typeface="Arial MT"/>
              </a:rPr>
              <a:t>complex</a:t>
            </a:r>
            <a:r>
              <a:rPr sz="2600" spc="-60" dirty="0">
                <a:latin typeface="Arial MT"/>
                <a:cs typeface="Arial MT"/>
              </a:rPr>
              <a:t> </a:t>
            </a:r>
            <a:r>
              <a:rPr sz="2600" dirty="0">
                <a:latin typeface="Arial MT"/>
                <a:cs typeface="Arial MT"/>
              </a:rPr>
              <a:t>as</a:t>
            </a:r>
            <a:r>
              <a:rPr sz="2600" spc="-20" dirty="0">
                <a:latin typeface="Arial MT"/>
                <a:cs typeface="Arial MT"/>
              </a:rPr>
              <a:t> </a:t>
            </a:r>
            <a:r>
              <a:rPr sz="2600" dirty="0">
                <a:latin typeface="Arial MT"/>
                <a:cs typeface="Arial MT"/>
              </a:rPr>
              <a:t>many</a:t>
            </a:r>
            <a:r>
              <a:rPr sz="2600" spc="-70" dirty="0">
                <a:latin typeface="Arial MT"/>
                <a:cs typeface="Arial MT"/>
              </a:rPr>
              <a:t> </a:t>
            </a:r>
            <a:r>
              <a:rPr sz="2600" spc="-10" dirty="0">
                <a:latin typeface="Arial MT"/>
                <a:cs typeface="Arial MT"/>
              </a:rPr>
              <a:t>concepts</a:t>
            </a:r>
            <a:r>
              <a:rPr sz="2600" dirty="0">
                <a:latin typeface="Arial MT"/>
                <a:cs typeface="Arial MT"/>
              </a:rPr>
              <a:t>	</a:t>
            </a:r>
            <a:r>
              <a:rPr sz="2600" spc="-25" dirty="0">
                <a:latin typeface="Arial MT"/>
                <a:cs typeface="Arial MT"/>
              </a:rPr>
              <a:t>are </a:t>
            </a:r>
            <a:r>
              <a:rPr sz="2600" dirty="0">
                <a:latin typeface="Arial MT"/>
                <a:cs typeface="Arial MT"/>
              </a:rPr>
              <a:t>abstracted</a:t>
            </a:r>
            <a:r>
              <a:rPr sz="2600" spc="-55" dirty="0">
                <a:latin typeface="Arial MT"/>
                <a:cs typeface="Arial MT"/>
              </a:rPr>
              <a:t> </a:t>
            </a:r>
            <a:r>
              <a:rPr sz="2600" dirty="0">
                <a:latin typeface="Arial MT"/>
                <a:cs typeface="Arial MT"/>
              </a:rPr>
              <a:t>from</a:t>
            </a:r>
            <a:r>
              <a:rPr sz="2600" spc="-35" dirty="0">
                <a:latin typeface="Arial MT"/>
                <a:cs typeface="Arial MT"/>
              </a:rPr>
              <a:t> </a:t>
            </a:r>
            <a:r>
              <a:rPr sz="2600" dirty="0">
                <a:latin typeface="Arial MT"/>
                <a:cs typeface="Arial MT"/>
              </a:rPr>
              <a:t>the</a:t>
            </a:r>
            <a:r>
              <a:rPr sz="2600" spc="-65" dirty="0">
                <a:latin typeface="Arial MT"/>
                <a:cs typeface="Arial MT"/>
              </a:rPr>
              <a:t> </a:t>
            </a:r>
            <a:r>
              <a:rPr sz="2600" spc="-20" dirty="0">
                <a:latin typeface="Arial MT"/>
                <a:cs typeface="Arial MT"/>
              </a:rPr>
              <a:t>user</a:t>
            </a:r>
            <a:endParaRPr sz="26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IaaS</a:t>
            </a:r>
            <a:r>
              <a:rPr spc="-95" dirty="0"/>
              <a:t> </a:t>
            </a:r>
            <a:r>
              <a:rPr dirty="0"/>
              <a:t>vs</a:t>
            </a:r>
            <a:r>
              <a:rPr spc="-105" dirty="0"/>
              <a:t> </a:t>
            </a:r>
            <a:r>
              <a:rPr spc="-20" dirty="0"/>
              <a:t>PaaS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58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47030"/>
            <a:ext cx="4076065" cy="2579370"/>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dirty="0">
                <a:latin typeface="Calibri"/>
                <a:cs typeface="Calibri"/>
              </a:rPr>
              <a:t>Public</a:t>
            </a:r>
            <a:r>
              <a:rPr sz="3200" spc="-60" dirty="0">
                <a:latin typeface="Calibri"/>
                <a:cs typeface="Calibri"/>
              </a:rPr>
              <a:t> </a:t>
            </a:r>
            <a:r>
              <a:rPr sz="3200" spc="-10" dirty="0">
                <a:latin typeface="Calibri"/>
                <a:cs typeface="Calibri"/>
              </a:rPr>
              <a:t>cloud</a:t>
            </a:r>
            <a:endParaRPr sz="3200">
              <a:latin typeface="Calibri"/>
              <a:cs typeface="Calibri"/>
            </a:endParaRPr>
          </a:p>
          <a:p>
            <a:pPr marL="469900" marR="5080" lvl="1" indent="-182880">
              <a:lnSpc>
                <a:spcPct val="100000"/>
              </a:lnSpc>
              <a:spcBef>
                <a:spcPts val="690"/>
              </a:spcBef>
              <a:buClr>
                <a:srgbClr val="2C7B9F"/>
              </a:buClr>
              <a:buSzPct val="83928"/>
              <a:buFont typeface="Arial MT"/>
              <a:buChar char="•"/>
              <a:tabLst>
                <a:tab pos="469900" algn="l"/>
              </a:tabLst>
            </a:pPr>
            <a:r>
              <a:rPr sz="2800" dirty="0">
                <a:latin typeface="Calibri"/>
                <a:cs typeface="Calibri"/>
              </a:rPr>
              <a:t>Sold</a:t>
            </a:r>
            <a:r>
              <a:rPr sz="2800" spc="-70" dirty="0">
                <a:latin typeface="Calibri"/>
                <a:cs typeface="Calibri"/>
              </a:rPr>
              <a:t> </a:t>
            </a:r>
            <a:r>
              <a:rPr sz="2800" dirty="0">
                <a:latin typeface="Calibri"/>
                <a:cs typeface="Calibri"/>
              </a:rPr>
              <a:t>to</a:t>
            </a:r>
            <a:r>
              <a:rPr sz="2800" spc="-6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public,</a:t>
            </a:r>
            <a:r>
              <a:rPr sz="2800" spc="-30" dirty="0">
                <a:latin typeface="Calibri"/>
                <a:cs typeface="Calibri"/>
              </a:rPr>
              <a:t> </a:t>
            </a:r>
            <a:r>
              <a:rPr sz="2800" spc="-10" dirty="0">
                <a:latin typeface="Calibri"/>
                <a:cs typeface="Calibri"/>
              </a:rPr>
              <a:t>mega- </a:t>
            </a:r>
            <a:r>
              <a:rPr sz="2800" dirty="0">
                <a:latin typeface="Calibri"/>
                <a:cs typeface="Calibri"/>
              </a:rPr>
              <a:t>scale</a:t>
            </a:r>
            <a:r>
              <a:rPr sz="2800" spc="-50" dirty="0">
                <a:latin typeface="Calibri"/>
                <a:cs typeface="Calibri"/>
              </a:rPr>
              <a:t> </a:t>
            </a:r>
            <a:r>
              <a:rPr sz="2800" spc="-10" dirty="0">
                <a:latin typeface="Calibri"/>
                <a:cs typeface="Calibri"/>
              </a:rPr>
              <a:t>infrastructure</a:t>
            </a:r>
            <a:endParaRPr sz="2800">
              <a:latin typeface="Calibri"/>
              <a:cs typeface="Calibri"/>
            </a:endParaRPr>
          </a:p>
          <a:p>
            <a:pPr marL="469265" lvl="1" indent="-182245">
              <a:lnSpc>
                <a:spcPct val="100000"/>
              </a:lnSpc>
              <a:spcBef>
                <a:spcPts val="670"/>
              </a:spcBef>
              <a:buClr>
                <a:srgbClr val="2C7B9F"/>
              </a:buClr>
              <a:buSzPct val="83928"/>
              <a:buFont typeface="Arial MT"/>
              <a:buChar char="•"/>
              <a:tabLst>
                <a:tab pos="469265" algn="l"/>
              </a:tabLst>
            </a:pPr>
            <a:r>
              <a:rPr sz="2800" dirty="0">
                <a:latin typeface="Calibri"/>
                <a:cs typeface="Calibri"/>
              </a:rPr>
              <a:t>‘Infinite’</a:t>
            </a:r>
            <a:r>
              <a:rPr sz="2800" spc="-110" dirty="0">
                <a:latin typeface="Calibri"/>
                <a:cs typeface="Calibri"/>
              </a:rPr>
              <a:t> </a:t>
            </a:r>
            <a:r>
              <a:rPr sz="2800" spc="-10" dirty="0">
                <a:latin typeface="Calibri"/>
                <a:cs typeface="Calibri"/>
              </a:rPr>
              <a:t>capability</a:t>
            </a:r>
            <a:endParaRPr sz="2800">
              <a:latin typeface="Calibri"/>
              <a:cs typeface="Calibri"/>
            </a:endParaRPr>
          </a:p>
          <a:p>
            <a:pPr marL="469265" lvl="1" indent="-182245">
              <a:lnSpc>
                <a:spcPct val="100000"/>
              </a:lnSpc>
              <a:spcBef>
                <a:spcPts val="675"/>
              </a:spcBef>
              <a:buClr>
                <a:srgbClr val="2C7B9F"/>
              </a:buClr>
              <a:buSzPct val="83928"/>
              <a:buFont typeface="Arial MT"/>
              <a:buChar char="•"/>
              <a:tabLst>
                <a:tab pos="469265" algn="l"/>
              </a:tabLst>
            </a:pPr>
            <a:r>
              <a:rPr sz="2800" spc="-10" dirty="0">
                <a:latin typeface="Calibri"/>
                <a:cs typeface="Calibri"/>
              </a:rPr>
              <a:t>Metered</a:t>
            </a:r>
            <a:r>
              <a:rPr sz="2800" spc="-105" dirty="0">
                <a:latin typeface="Calibri"/>
                <a:cs typeface="Calibri"/>
              </a:rPr>
              <a:t> </a:t>
            </a:r>
            <a:r>
              <a:rPr sz="2800" spc="-20" dirty="0">
                <a:latin typeface="Calibri"/>
                <a:cs typeface="Calibri"/>
              </a:rPr>
              <a:t>usage</a:t>
            </a:r>
            <a:endParaRPr sz="280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Cloud</a:t>
            </a:r>
            <a:r>
              <a:rPr spc="-170" dirty="0"/>
              <a:t> </a:t>
            </a:r>
            <a:r>
              <a:rPr spc="-114" dirty="0"/>
              <a:t>Deployment</a:t>
            </a:r>
            <a:r>
              <a:rPr spc="-195" dirty="0"/>
              <a:t> </a:t>
            </a:r>
            <a:r>
              <a:rPr spc="-100" dirty="0"/>
              <a:t>Models</a:t>
            </a:r>
            <a:r>
              <a:rPr spc="-175" dirty="0"/>
              <a:t> </a:t>
            </a:r>
            <a:r>
              <a:rPr spc="-35" dirty="0"/>
              <a:t>(NIST)</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59</a:t>
            </a:r>
          </a:p>
        </p:txBody>
      </p:sp>
      <p:sp>
        <p:nvSpPr>
          <p:cNvPr id="4" name="object 4"/>
          <p:cNvSpPr txBox="1"/>
          <p:nvPr/>
        </p:nvSpPr>
        <p:spPr>
          <a:xfrm>
            <a:off x="4989703" y="1447030"/>
            <a:ext cx="4439920" cy="1640839"/>
          </a:xfrm>
          <a:prstGeom prst="rect">
            <a:avLst/>
          </a:prstGeom>
        </p:spPr>
        <p:txBody>
          <a:bodyPr vert="horz" wrap="square" lIns="0" tIns="113664" rIns="0" bIns="0" rtlCol="0">
            <a:spAutoFit/>
          </a:bodyPr>
          <a:lstStyle/>
          <a:p>
            <a:pPr marL="194945" indent="-182245">
              <a:lnSpc>
                <a:spcPct val="100000"/>
              </a:lnSpc>
              <a:spcBef>
                <a:spcPts val="894"/>
              </a:spcBef>
              <a:buClr>
                <a:srgbClr val="2C7B9F"/>
              </a:buClr>
              <a:buSzPct val="84375"/>
              <a:buFont typeface="Arial MT"/>
              <a:buChar char="•"/>
              <a:tabLst>
                <a:tab pos="194945" algn="l"/>
              </a:tabLst>
            </a:pPr>
            <a:r>
              <a:rPr sz="3200" dirty="0">
                <a:latin typeface="Calibri"/>
                <a:cs typeface="Calibri"/>
              </a:rPr>
              <a:t>Private</a:t>
            </a:r>
            <a:r>
              <a:rPr sz="3200" spc="-155" dirty="0">
                <a:latin typeface="Calibri"/>
                <a:cs typeface="Calibri"/>
              </a:rPr>
              <a:t> </a:t>
            </a:r>
            <a:r>
              <a:rPr sz="3200" spc="-10" dirty="0">
                <a:latin typeface="Calibri"/>
                <a:cs typeface="Calibri"/>
              </a:rPr>
              <a:t>cloud</a:t>
            </a:r>
            <a:endParaRPr sz="3200">
              <a:latin typeface="Calibri"/>
              <a:cs typeface="Calibri"/>
            </a:endParaRPr>
          </a:p>
          <a:p>
            <a:pPr marL="469265" lvl="1" indent="-182245">
              <a:lnSpc>
                <a:spcPct val="100000"/>
              </a:lnSpc>
              <a:spcBef>
                <a:spcPts val="690"/>
              </a:spcBef>
              <a:buClr>
                <a:srgbClr val="2C7B9F"/>
              </a:buClr>
              <a:buSzPct val="83928"/>
              <a:buFont typeface="Arial MT"/>
              <a:buChar char="•"/>
              <a:tabLst>
                <a:tab pos="469265" algn="l"/>
              </a:tabLst>
            </a:pPr>
            <a:r>
              <a:rPr sz="2800" dirty="0">
                <a:latin typeface="Calibri"/>
                <a:cs typeface="Calibri"/>
              </a:rPr>
              <a:t>Enterprise</a:t>
            </a:r>
            <a:r>
              <a:rPr sz="2800" spc="-65" dirty="0">
                <a:latin typeface="Calibri"/>
                <a:cs typeface="Calibri"/>
              </a:rPr>
              <a:t> </a:t>
            </a:r>
            <a:r>
              <a:rPr sz="2800" dirty="0">
                <a:latin typeface="Calibri"/>
                <a:cs typeface="Calibri"/>
              </a:rPr>
              <a:t>owned</a:t>
            </a:r>
            <a:r>
              <a:rPr sz="2800" spc="-85" dirty="0">
                <a:latin typeface="Calibri"/>
                <a:cs typeface="Calibri"/>
              </a:rPr>
              <a:t> </a:t>
            </a:r>
            <a:r>
              <a:rPr sz="2800" dirty="0">
                <a:latin typeface="Calibri"/>
                <a:cs typeface="Calibri"/>
              </a:rPr>
              <a:t>or</a:t>
            </a:r>
            <a:r>
              <a:rPr sz="2800" spc="-90" dirty="0">
                <a:latin typeface="Calibri"/>
                <a:cs typeface="Calibri"/>
              </a:rPr>
              <a:t> </a:t>
            </a:r>
            <a:r>
              <a:rPr sz="2800" spc="-10" dirty="0">
                <a:latin typeface="Calibri"/>
                <a:cs typeface="Calibri"/>
              </a:rPr>
              <a:t>leased</a:t>
            </a:r>
            <a:endParaRPr sz="2800">
              <a:latin typeface="Calibri"/>
              <a:cs typeface="Calibri"/>
            </a:endParaRPr>
          </a:p>
          <a:p>
            <a:pPr marL="468630" lvl="1" indent="-181610">
              <a:lnSpc>
                <a:spcPct val="100000"/>
              </a:lnSpc>
              <a:spcBef>
                <a:spcPts val="670"/>
              </a:spcBef>
              <a:buClr>
                <a:srgbClr val="2C7B9F"/>
              </a:buClr>
              <a:buSzPct val="83928"/>
              <a:buFont typeface="Arial MT"/>
              <a:buChar char="•"/>
              <a:tabLst>
                <a:tab pos="468630" algn="l"/>
              </a:tabLst>
            </a:pPr>
            <a:r>
              <a:rPr sz="2800" dirty="0">
                <a:latin typeface="Calibri"/>
                <a:cs typeface="Calibri"/>
              </a:rPr>
              <a:t>Tight</a:t>
            </a:r>
            <a:r>
              <a:rPr sz="2800" spc="-70" dirty="0">
                <a:latin typeface="Calibri"/>
                <a:cs typeface="Calibri"/>
              </a:rPr>
              <a:t> </a:t>
            </a:r>
            <a:r>
              <a:rPr sz="2800" dirty="0">
                <a:latin typeface="Calibri"/>
                <a:cs typeface="Calibri"/>
              </a:rPr>
              <a:t>security</a:t>
            </a:r>
            <a:r>
              <a:rPr sz="2800" spc="-55" dirty="0">
                <a:latin typeface="Calibri"/>
                <a:cs typeface="Calibri"/>
              </a:rPr>
              <a:t> </a:t>
            </a:r>
            <a:r>
              <a:rPr sz="2800" spc="-10" dirty="0">
                <a:latin typeface="Calibri"/>
                <a:cs typeface="Calibri"/>
              </a:rPr>
              <a:t>control</a:t>
            </a:r>
            <a:endParaRPr sz="2800">
              <a:latin typeface="Calibri"/>
              <a:cs typeface="Calibri"/>
            </a:endParaRPr>
          </a:p>
        </p:txBody>
      </p:sp>
      <p:sp>
        <p:nvSpPr>
          <p:cNvPr id="5" name="object 5"/>
          <p:cNvSpPr txBox="1"/>
          <p:nvPr/>
        </p:nvSpPr>
        <p:spPr>
          <a:xfrm>
            <a:off x="4989703" y="4181602"/>
            <a:ext cx="4271010" cy="1369060"/>
          </a:xfrm>
          <a:prstGeom prst="rect">
            <a:avLst/>
          </a:prstGeom>
        </p:spPr>
        <p:txBody>
          <a:bodyPr vert="horz" wrap="square" lIns="0" tIns="12700" rIns="0" bIns="0" rtlCol="0">
            <a:spAutoFit/>
          </a:bodyPr>
          <a:lstStyle/>
          <a:p>
            <a:pPr marL="194945" indent="-182245">
              <a:lnSpc>
                <a:spcPct val="100000"/>
              </a:lnSpc>
              <a:spcBef>
                <a:spcPts val="100"/>
              </a:spcBef>
              <a:buClr>
                <a:srgbClr val="2C7B9F"/>
              </a:buClr>
              <a:buSzPct val="84375"/>
              <a:buFont typeface="Arial MT"/>
              <a:buChar char="•"/>
              <a:tabLst>
                <a:tab pos="194945" algn="l"/>
              </a:tabLst>
            </a:pPr>
            <a:r>
              <a:rPr sz="3200" dirty="0">
                <a:latin typeface="Calibri"/>
                <a:cs typeface="Calibri"/>
              </a:rPr>
              <a:t>Hybrid</a:t>
            </a:r>
            <a:r>
              <a:rPr sz="3200" spc="-90" dirty="0">
                <a:latin typeface="Calibri"/>
                <a:cs typeface="Calibri"/>
              </a:rPr>
              <a:t> </a:t>
            </a:r>
            <a:r>
              <a:rPr sz="3200" spc="-10" dirty="0">
                <a:latin typeface="Calibri"/>
                <a:cs typeface="Calibri"/>
              </a:rPr>
              <a:t>cloud</a:t>
            </a:r>
            <a:endParaRPr sz="3200">
              <a:latin typeface="Calibri"/>
              <a:cs typeface="Calibri"/>
            </a:endParaRPr>
          </a:p>
          <a:p>
            <a:pPr marL="469900" marR="5080" lvl="1" indent="-182880">
              <a:lnSpc>
                <a:spcPct val="100000"/>
              </a:lnSpc>
              <a:spcBef>
                <a:spcPts val="20"/>
              </a:spcBef>
              <a:buClr>
                <a:srgbClr val="2C7B9F"/>
              </a:buClr>
              <a:buSzPct val="83928"/>
              <a:buFont typeface="Arial MT"/>
              <a:buChar char="•"/>
              <a:tabLst>
                <a:tab pos="469900" algn="l"/>
              </a:tabLst>
            </a:pPr>
            <a:r>
              <a:rPr sz="2800" dirty="0">
                <a:latin typeface="Calibri"/>
                <a:cs typeface="Calibri"/>
              </a:rPr>
              <a:t>Composition</a:t>
            </a:r>
            <a:r>
              <a:rPr sz="2800" spc="-65" dirty="0">
                <a:latin typeface="Calibri"/>
                <a:cs typeface="Calibri"/>
              </a:rPr>
              <a:t> </a:t>
            </a:r>
            <a:r>
              <a:rPr sz="2800" dirty="0">
                <a:latin typeface="Calibri"/>
                <a:cs typeface="Calibri"/>
              </a:rPr>
              <a:t>of</a:t>
            </a:r>
            <a:r>
              <a:rPr sz="2800" spc="-90" dirty="0">
                <a:latin typeface="Calibri"/>
                <a:cs typeface="Calibri"/>
              </a:rPr>
              <a:t> </a:t>
            </a:r>
            <a:r>
              <a:rPr sz="2800" dirty="0">
                <a:latin typeface="Calibri"/>
                <a:cs typeface="Calibri"/>
              </a:rPr>
              <a:t>public</a:t>
            </a:r>
            <a:r>
              <a:rPr sz="2800" spc="-50" dirty="0">
                <a:latin typeface="Calibri"/>
                <a:cs typeface="Calibri"/>
              </a:rPr>
              <a:t> </a:t>
            </a:r>
            <a:r>
              <a:rPr sz="2800" spc="-25" dirty="0">
                <a:latin typeface="Calibri"/>
                <a:cs typeface="Calibri"/>
              </a:rPr>
              <a:t>and </a:t>
            </a:r>
            <a:r>
              <a:rPr sz="2800" dirty="0">
                <a:latin typeface="Calibri"/>
                <a:cs typeface="Calibri"/>
              </a:rPr>
              <a:t>private</a:t>
            </a:r>
            <a:r>
              <a:rPr sz="2800" spc="-145" dirty="0">
                <a:latin typeface="Calibri"/>
                <a:cs typeface="Calibri"/>
              </a:rPr>
              <a:t> </a:t>
            </a:r>
            <a:r>
              <a:rPr sz="2800" spc="-10" dirty="0">
                <a:latin typeface="Calibri"/>
                <a:cs typeface="Calibri"/>
              </a:rPr>
              <a:t>clouds</a:t>
            </a:r>
            <a:endParaRPr sz="2800">
              <a:latin typeface="Calibri"/>
              <a:cs typeface="Calibri"/>
            </a:endParaRPr>
          </a:p>
        </p:txBody>
      </p:sp>
      <p:grpSp>
        <p:nvGrpSpPr>
          <p:cNvPr id="6" name="object 6"/>
          <p:cNvGrpSpPr/>
          <p:nvPr/>
        </p:nvGrpSpPr>
        <p:grpSpPr>
          <a:xfrm>
            <a:off x="592137" y="4419536"/>
            <a:ext cx="3580129" cy="1808480"/>
            <a:chOff x="592137" y="4419536"/>
            <a:chExt cx="3580129" cy="1808480"/>
          </a:xfrm>
        </p:grpSpPr>
        <p:pic>
          <p:nvPicPr>
            <p:cNvPr id="7" name="object 7"/>
            <p:cNvPicPr/>
            <p:nvPr/>
          </p:nvPicPr>
          <p:blipFill>
            <a:blip r:embed="rId2" cstate="print"/>
            <a:stretch>
              <a:fillRect/>
            </a:stretch>
          </p:blipFill>
          <p:spPr>
            <a:xfrm>
              <a:off x="592137" y="4419536"/>
              <a:ext cx="1947799" cy="706437"/>
            </a:xfrm>
            <a:prstGeom prst="rect">
              <a:avLst/>
            </a:prstGeom>
          </p:spPr>
        </p:pic>
        <p:pic>
          <p:nvPicPr>
            <p:cNvPr id="8" name="object 8"/>
            <p:cNvPicPr/>
            <p:nvPr/>
          </p:nvPicPr>
          <p:blipFill>
            <a:blip r:embed="rId3" cstate="print"/>
            <a:stretch>
              <a:fillRect/>
            </a:stretch>
          </p:blipFill>
          <p:spPr>
            <a:xfrm>
              <a:off x="2365375" y="4421187"/>
              <a:ext cx="1806575" cy="1806575"/>
            </a:xfrm>
            <a:prstGeom prst="rect">
              <a:avLst/>
            </a:prstGeom>
          </p:spPr>
        </p:pic>
      </p:grpSp>
      <p:pic>
        <p:nvPicPr>
          <p:cNvPr id="9" name="object 9"/>
          <p:cNvPicPr/>
          <p:nvPr/>
        </p:nvPicPr>
        <p:blipFill>
          <a:blip r:embed="rId4" cstate="print"/>
          <a:stretch>
            <a:fillRect/>
          </a:stretch>
        </p:blipFill>
        <p:spPr>
          <a:xfrm>
            <a:off x="6756400" y="3051175"/>
            <a:ext cx="1168400" cy="1206500"/>
          </a:xfrm>
          <a:prstGeom prst="rect">
            <a:avLst/>
          </a:prstGeom>
        </p:spPr>
      </p:pic>
      <p:pic>
        <p:nvPicPr>
          <p:cNvPr id="10" name="object 10"/>
          <p:cNvPicPr/>
          <p:nvPr/>
        </p:nvPicPr>
        <p:blipFill>
          <a:blip r:embed="rId5" cstate="print"/>
          <a:stretch>
            <a:fillRect/>
          </a:stretch>
        </p:blipFill>
        <p:spPr>
          <a:xfrm>
            <a:off x="554350" y="5381063"/>
            <a:ext cx="1150490" cy="89218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Contents</a:t>
            </a:r>
          </a:p>
        </p:txBody>
      </p:sp>
      <p:sp>
        <p:nvSpPr>
          <p:cNvPr id="3" name="object 3"/>
          <p:cNvSpPr txBox="1">
            <a:spLocks noGrp="1"/>
          </p:cNvSpPr>
          <p:nvPr>
            <p:ph idx="1"/>
          </p:nvPr>
        </p:nvSpPr>
        <p:spPr>
          <a:prstGeom prst="rect">
            <a:avLst/>
          </a:prstGeom>
        </p:spPr>
        <p:txBody>
          <a:bodyPr vert="horz" wrap="square" lIns="0" tIns="109855" rIns="0" bIns="0" rtlCol="0">
            <a:spAutoFit/>
          </a:bodyPr>
          <a:lstStyle/>
          <a:p>
            <a:pPr marL="194945" indent="-182245">
              <a:lnSpc>
                <a:spcPct val="100000"/>
              </a:lnSpc>
              <a:spcBef>
                <a:spcPts val="865"/>
              </a:spcBef>
              <a:buClr>
                <a:srgbClr val="2C7B9F"/>
              </a:buClr>
              <a:buSzPct val="84375"/>
              <a:buFont typeface="Arial MT"/>
              <a:buChar char="•"/>
              <a:tabLst>
                <a:tab pos="194945" algn="l"/>
              </a:tabLst>
            </a:pPr>
            <a:r>
              <a:rPr spc="-10" dirty="0"/>
              <a:t>Virtualisation</a:t>
            </a:r>
          </a:p>
          <a:p>
            <a:pPr marL="194945" indent="-182245">
              <a:lnSpc>
                <a:spcPct val="100000"/>
              </a:lnSpc>
              <a:spcBef>
                <a:spcPts val="770"/>
              </a:spcBef>
              <a:buClr>
                <a:srgbClr val="2C7B9F"/>
              </a:buClr>
              <a:buSzPct val="84375"/>
              <a:buFont typeface="Arial MT"/>
              <a:buChar char="•"/>
              <a:tabLst>
                <a:tab pos="194945" algn="l"/>
              </a:tabLst>
            </a:pPr>
            <a:r>
              <a:rPr spc="-10" dirty="0"/>
              <a:t>Datacentres</a:t>
            </a:r>
          </a:p>
          <a:p>
            <a:pPr marL="194945" indent="-182245">
              <a:lnSpc>
                <a:spcPct val="100000"/>
              </a:lnSpc>
              <a:spcBef>
                <a:spcPts val="765"/>
              </a:spcBef>
              <a:buClr>
                <a:srgbClr val="2C7B9F"/>
              </a:buClr>
              <a:buSzPct val="84375"/>
              <a:buFont typeface="Arial MT"/>
              <a:buChar char="•"/>
              <a:tabLst>
                <a:tab pos="194945" algn="l"/>
              </a:tabLst>
            </a:pPr>
            <a:r>
              <a:rPr dirty="0"/>
              <a:t>Cloud</a:t>
            </a:r>
            <a:r>
              <a:rPr spc="-110" dirty="0"/>
              <a:t> </a:t>
            </a:r>
            <a:r>
              <a:rPr dirty="0"/>
              <a:t>Computing</a:t>
            </a:r>
            <a:r>
              <a:rPr spc="-70" dirty="0"/>
              <a:t> </a:t>
            </a:r>
            <a:r>
              <a:rPr spc="-10" dirty="0"/>
              <a:t>drivers</a:t>
            </a:r>
          </a:p>
          <a:p>
            <a:pPr marL="194945" indent="-182245">
              <a:lnSpc>
                <a:spcPct val="100000"/>
              </a:lnSpc>
              <a:spcBef>
                <a:spcPts val="770"/>
              </a:spcBef>
              <a:buClr>
                <a:srgbClr val="2C7B9F"/>
              </a:buClr>
              <a:buSzPct val="84375"/>
              <a:buFont typeface="Arial MT"/>
              <a:buChar char="•"/>
              <a:tabLst>
                <a:tab pos="194945" algn="l"/>
              </a:tabLst>
            </a:pPr>
            <a:r>
              <a:rPr b="1" dirty="0">
                <a:solidFill>
                  <a:srgbClr val="234957"/>
                </a:solidFill>
                <a:latin typeface="Calibri"/>
                <a:cs typeface="Calibri"/>
              </a:rPr>
              <a:t>Cloud</a:t>
            </a:r>
            <a:r>
              <a:rPr b="1" spc="-35" dirty="0">
                <a:solidFill>
                  <a:srgbClr val="234957"/>
                </a:solidFill>
                <a:latin typeface="Calibri"/>
                <a:cs typeface="Calibri"/>
              </a:rPr>
              <a:t> </a:t>
            </a:r>
            <a:r>
              <a:rPr b="1" spc="-10" dirty="0">
                <a:solidFill>
                  <a:srgbClr val="234957"/>
                </a:solidFill>
                <a:latin typeface="Calibri"/>
                <a:cs typeface="Calibri"/>
              </a:rPr>
              <a:t>Computing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484452"/>
            <a:ext cx="3602990" cy="1795145"/>
          </a:xfrm>
          <a:prstGeom prst="rect">
            <a:avLst/>
          </a:prstGeom>
        </p:spPr>
        <p:txBody>
          <a:bodyPr vert="horz" wrap="square" lIns="0" tIns="12065" rIns="0" bIns="0" rtlCol="0">
            <a:spAutoFit/>
          </a:bodyPr>
          <a:lstStyle/>
          <a:p>
            <a:pPr marL="266700" indent="-254000">
              <a:lnSpc>
                <a:spcPct val="100000"/>
              </a:lnSpc>
              <a:spcBef>
                <a:spcPts val="95"/>
              </a:spcBef>
              <a:buClr>
                <a:srgbClr val="2C7B9F"/>
              </a:buClr>
              <a:buSzPct val="84000"/>
              <a:buFont typeface="Arial MT"/>
              <a:buChar char="•"/>
              <a:tabLst>
                <a:tab pos="266700" algn="l"/>
              </a:tabLst>
            </a:pPr>
            <a:r>
              <a:rPr sz="2500" dirty="0">
                <a:latin typeface="Calibri"/>
                <a:cs typeface="Calibri"/>
              </a:rPr>
              <a:t>Ubiquitous</a:t>
            </a:r>
            <a:r>
              <a:rPr sz="2500" spc="-20" dirty="0">
                <a:latin typeface="Calibri"/>
                <a:cs typeface="Calibri"/>
              </a:rPr>
              <a:t> </a:t>
            </a:r>
            <a:r>
              <a:rPr sz="2500" spc="-10" dirty="0">
                <a:latin typeface="Calibri"/>
                <a:cs typeface="Calibri"/>
              </a:rPr>
              <a:t>services</a:t>
            </a:r>
            <a:endParaRPr sz="2500">
              <a:latin typeface="Calibri"/>
              <a:cs typeface="Calibri"/>
            </a:endParaRPr>
          </a:p>
          <a:p>
            <a:pPr marL="469265" lvl="1" indent="-182245">
              <a:lnSpc>
                <a:spcPts val="2635"/>
              </a:lnSpc>
              <a:spcBef>
                <a:spcPts val="15"/>
              </a:spcBef>
              <a:buClr>
                <a:srgbClr val="2C7B9F"/>
              </a:buClr>
              <a:buSzPct val="84090"/>
              <a:buFont typeface="Arial MT"/>
              <a:buChar char="•"/>
              <a:tabLst>
                <a:tab pos="469265" algn="l"/>
              </a:tabLst>
            </a:pPr>
            <a:r>
              <a:rPr sz="2200" i="1" dirty="0">
                <a:latin typeface="Calibri"/>
                <a:cs typeface="Calibri"/>
              </a:rPr>
              <a:t>“The</a:t>
            </a:r>
            <a:r>
              <a:rPr sz="2200" i="1" spc="55" dirty="0">
                <a:latin typeface="Calibri"/>
                <a:cs typeface="Calibri"/>
              </a:rPr>
              <a:t> </a:t>
            </a:r>
            <a:r>
              <a:rPr sz="2200" i="1" spc="-10" dirty="0">
                <a:latin typeface="Calibri"/>
                <a:cs typeface="Calibri"/>
              </a:rPr>
              <a:t>Cloud”</a:t>
            </a:r>
            <a:endParaRPr sz="2200">
              <a:latin typeface="Calibri"/>
              <a:cs typeface="Calibri"/>
            </a:endParaRPr>
          </a:p>
          <a:p>
            <a:pPr marL="469900" lvl="1" indent="-182880">
              <a:lnSpc>
                <a:spcPts val="2995"/>
              </a:lnSpc>
              <a:buClr>
                <a:srgbClr val="2C7B9F"/>
              </a:buClr>
              <a:buSzPct val="84000"/>
              <a:buFont typeface="Arial MT"/>
              <a:buChar char="•"/>
              <a:tabLst>
                <a:tab pos="469900" algn="l"/>
              </a:tabLst>
            </a:pPr>
            <a:r>
              <a:rPr sz="2500" dirty="0">
                <a:latin typeface="Calibri"/>
                <a:cs typeface="Calibri"/>
              </a:rPr>
              <a:t>Utility</a:t>
            </a:r>
            <a:r>
              <a:rPr sz="2500" spc="-120" dirty="0">
                <a:latin typeface="Calibri"/>
                <a:cs typeface="Calibri"/>
              </a:rPr>
              <a:t> </a:t>
            </a:r>
            <a:r>
              <a:rPr sz="2500" dirty="0">
                <a:latin typeface="Calibri"/>
                <a:cs typeface="Calibri"/>
              </a:rPr>
              <a:t>computing</a:t>
            </a:r>
            <a:r>
              <a:rPr sz="2500" spc="-85" dirty="0">
                <a:latin typeface="Calibri"/>
                <a:cs typeface="Calibri"/>
              </a:rPr>
              <a:t> </a:t>
            </a:r>
            <a:r>
              <a:rPr sz="2500" spc="-10" dirty="0">
                <a:latin typeface="Calibri"/>
                <a:cs typeface="Calibri"/>
              </a:rPr>
              <a:t>model</a:t>
            </a:r>
            <a:endParaRPr sz="2500">
              <a:latin typeface="Calibri"/>
              <a:cs typeface="Calibri"/>
            </a:endParaRPr>
          </a:p>
          <a:p>
            <a:pPr marL="756285" lvl="2" indent="-342900">
              <a:lnSpc>
                <a:spcPct val="100000"/>
              </a:lnSpc>
              <a:spcBef>
                <a:spcPts val="15"/>
              </a:spcBef>
              <a:buClr>
                <a:srgbClr val="2C7B9F"/>
              </a:buClr>
              <a:buSzPct val="88636"/>
              <a:buFont typeface="Arial MT"/>
              <a:buChar char="•"/>
              <a:tabLst>
                <a:tab pos="756285" algn="l"/>
              </a:tabLst>
            </a:pPr>
            <a:r>
              <a:rPr sz="2200" dirty="0">
                <a:latin typeface="Calibri"/>
                <a:cs typeface="Calibri"/>
              </a:rPr>
              <a:t>IaaS,</a:t>
            </a:r>
            <a:r>
              <a:rPr sz="2200" spc="-45" dirty="0">
                <a:latin typeface="Calibri"/>
                <a:cs typeface="Calibri"/>
              </a:rPr>
              <a:t> </a:t>
            </a:r>
            <a:r>
              <a:rPr sz="2200" dirty="0">
                <a:latin typeface="Calibri"/>
                <a:cs typeface="Calibri"/>
              </a:rPr>
              <a:t>Paas,</a:t>
            </a:r>
            <a:r>
              <a:rPr sz="2200" spc="-50" dirty="0">
                <a:latin typeface="Calibri"/>
                <a:cs typeface="Calibri"/>
              </a:rPr>
              <a:t> </a:t>
            </a:r>
            <a:r>
              <a:rPr sz="2200" spc="-20" dirty="0">
                <a:latin typeface="Calibri"/>
                <a:cs typeface="Calibri"/>
              </a:rPr>
              <a:t>*aaS</a:t>
            </a:r>
            <a:endParaRPr sz="2200">
              <a:latin typeface="Calibri"/>
              <a:cs typeface="Calibri"/>
            </a:endParaRPr>
          </a:p>
          <a:p>
            <a:pPr marL="756285" lvl="2" indent="-342900">
              <a:lnSpc>
                <a:spcPct val="100000"/>
              </a:lnSpc>
              <a:buClr>
                <a:srgbClr val="2C7B9F"/>
              </a:buClr>
              <a:buSzPct val="88636"/>
              <a:buFont typeface="Arial MT"/>
              <a:buChar char="•"/>
              <a:tabLst>
                <a:tab pos="756285" algn="l"/>
              </a:tabLst>
            </a:pPr>
            <a:r>
              <a:rPr sz="2200" i="1" dirty="0">
                <a:latin typeface="Calibri"/>
                <a:cs typeface="Calibri"/>
              </a:rPr>
              <a:t>Computing</a:t>
            </a:r>
            <a:r>
              <a:rPr sz="2200" i="1" spc="-55" dirty="0">
                <a:latin typeface="Calibri"/>
                <a:cs typeface="Calibri"/>
              </a:rPr>
              <a:t> </a:t>
            </a:r>
            <a:r>
              <a:rPr sz="2200" i="1" dirty="0">
                <a:latin typeface="Calibri"/>
                <a:cs typeface="Calibri"/>
              </a:rPr>
              <a:t>in</a:t>
            </a:r>
            <a:r>
              <a:rPr sz="2200" i="1" spc="-30" dirty="0">
                <a:latin typeface="Calibri"/>
                <a:cs typeface="Calibri"/>
              </a:rPr>
              <a:t> </a:t>
            </a:r>
            <a:r>
              <a:rPr sz="2200" i="1" dirty="0">
                <a:latin typeface="Calibri"/>
                <a:cs typeface="Calibri"/>
              </a:rPr>
              <a:t>the</a:t>
            </a:r>
            <a:r>
              <a:rPr sz="2200" i="1" spc="-20" dirty="0">
                <a:latin typeface="Calibri"/>
                <a:cs typeface="Calibri"/>
              </a:rPr>
              <a:t> </a:t>
            </a:r>
            <a:r>
              <a:rPr sz="2200" i="1" spc="-10" dirty="0">
                <a:latin typeface="Calibri"/>
                <a:cs typeface="Calibri"/>
              </a:rPr>
              <a:t>cloud</a:t>
            </a:r>
            <a:endParaRPr sz="2200">
              <a:latin typeface="Calibri"/>
              <a:cs typeface="Calibri"/>
            </a:endParaRPr>
          </a:p>
        </p:txBody>
      </p:sp>
      <p:sp>
        <p:nvSpPr>
          <p:cNvPr id="3" name="object 3"/>
          <p:cNvSpPr txBox="1"/>
          <p:nvPr/>
        </p:nvSpPr>
        <p:spPr>
          <a:xfrm>
            <a:off x="574040" y="3253232"/>
            <a:ext cx="4124960" cy="3136265"/>
          </a:xfrm>
          <a:prstGeom prst="rect">
            <a:avLst/>
          </a:prstGeom>
        </p:spPr>
        <p:txBody>
          <a:bodyPr vert="horz" wrap="square" lIns="0" tIns="12065" rIns="0" bIns="0" rtlCol="0">
            <a:spAutoFit/>
          </a:bodyPr>
          <a:lstStyle/>
          <a:p>
            <a:pPr marL="195580" indent="-182880">
              <a:lnSpc>
                <a:spcPct val="100000"/>
              </a:lnSpc>
              <a:spcBef>
                <a:spcPts val="95"/>
              </a:spcBef>
              <a:buClr>
                <a:srgbClr val="2C7B9F"/>
              </a:buClr>
              <a:buSzPct val="84000"/>
              <a:buFont typeface="Arial MT"/>
              <a:buChar char="•"/>
              <a:tabLst>
                <a:tab pos="195580" algn="l"/>
              </a:tabLst>
            </a:pPr>
            <a:r>
              <a:rPr sz="2500" spc="-10" dirty="0">
                <a:latin typeface="Calibri"/>
                <a:cs typeface="Calibri"/>
              </a:rPr>
              <a:t>Virtualisation</a:t>
            </a:r>
            <a:endParaRPr sz="2500">
              <a:latin typeface="Calibri"/>
              <a:cs typeface="Calibri"/>
            </a:endParaRPr>
          </a:p>
          <a:p>
            <a:pPr marL="469265" lvl="1" indent="-182245">
              <a:lnSpc>
                <a:spcPct val="100000"/>
              </a:lnSpc>
              <a:spcBef>
                <a:spcPts val="10"/>
              </a:spcBef>
              <a:buClr>
                <a:srgbClr val="2C7B9F"/>
              </a:buClr>
              <a:buSzPct val="84090"/>
              <a:buFont typeface="Arial MT"/>
              <a:buChar char="•"/>
              <a:tabLst>
                <a:tab pos="469265" algn="l"/>
              </a:tabLst>
            </a:pPr>
            <a:r>
              <a:rPr sz="2200" spc="-20" dirty="0">
                <a:latin typeface="Calibri"/>
                <a:cs typeface="Calibri"/>
              </a:rPr>
              <a:t>Elasticity,</a:t>
            </a:r>
            <a:r>
              <a:rPr sz="2200" spc="-35" dirty="0">
                <a:latin typeface="Calibri"/>
                <a:cs typeface="Calibri"/>
              </a:rPr>
              <a:t> </a:t>
            </a:r>
            <a:r>
              <a:rPr sz="2200" spc="-10" dirty="0">
                <a:latin typeface="Calibri"/>
                <a:cs typeface="Calibri"/>
              </a:rPr>
              <a:t>scalability</a:t>
            </a:r>
            <a:endParaRPr sz="2200">
              <a:latin typeface="Calibri"/>
              <a:cs typeface="Calibri"/>
            </a:endParaRPr>
          </a:p>
          <a:p>
            <a:pPr marL="469265" lvl="1" indent="-182245">
              <a:lnSpc>
                <a:spcPct val="100000"/>
              </a:lnSpc>
              <a:buClr>
                <a:srgbClr val="2C7B9F"/>
              </a:buClr>
              <a:buSzPct val="84090"/>
              <a:buFont typeface="Arial MT"/>
              <a:buChar char="•"/>
              <a:tabLst>
                <a:tab pos="469265" algn="l"/>
              </a:tabLst>
            </a:pPr>
            <a:r>
              <a:rPr sz="2200" spc="-10" dirty="0">
                <a:latin typeface="Calibri"/>
                <a:cs typeface="Calibri"/>
              </a:rPr>
              <a:t>Datacentre</a:t>
            </a:r>
            <a:r>
              <a:rPr sz="2200" spc="-50" dirty="0">
                <a:latin typeface="Calibri"/>
                <a:cs typeface="Calibri"/>
              </a:rPr>
              <a:t> </a:t>
            </a:r>
            <a:r>
              <a:rPr sz="2200" dirty="0">
                <a:latin typeface="Calibri"/>
                <a:cs typeface="Calibri"/>
              </a:rPr>
              <a:t>2.0,</a:t>
            </a:r>
            <a:r>
              <a:rPr sz="2200" spc="-40" dirty="0">
                <a:latin typeface="Calibri"/>
                <a:cs typeface="Calibri"/>
              </a:rPr>
              <a:t> </a:t>
            </a:r>
            <a:r>
              <a:rPr sz="2200" dirty="0">
                <a:latin typeface="Calibri"/>
                <a:cs typeface="Calibri"/>
              </a:rPr>
              <a:t>3.0:</a:t>
            </a:r>
            <a:r>
              <a:rPr sz="2200" spc="-55" dirty="0">
                <a:latin typeface="Calibri"/>
                <a:cs typeface="Calibri"/>
              </a:rPr>
              <a:t> </a:t>
            </a:r>
            <a:r>
              <a:rPr sz="2200" dirty="0">
                <a:latin typeface="Calibri"/>
                <a:cs typeface="Calibri"/>
              </a:rPr>
              <a:t>Custom</a:t>
            </a:r>
            <a:r>
              <a:rPr sz="2200" spc="-30" dirty="0">
                <a:latin typeface="Calibri"/>
                <a:cs typeface="Calibri"/>
              </a:rPr>
              <a:t> </a:t>
            </a:r>
            <a:r>
              <a:rPr sz="2200" spc="-25" dirty="0">
                <a:latin typeface="Calibri"/>
                <a:cs typeface="Calibri"/>
              </a:rPr>
              <a:t>HW</a:t>
            </a:r>
            <a:endParaRPr sz="2200">
              <a:latin typeface="Calibri"/>
              <a:cs typeface="Calibri"/>
            </a:endParaRPr>
          </a:p>
          <a:p>
            <a:pPr marL="469265" lvl="1" indent="-182245">
              <a:lnSpc>
                <a:spcPts val="2635"/>
              </a:lnSpc>
              <a:spcBef>
                <a:spcPts val="5"/>
              </a:spcBef>
              <a:buClr>
                <a:srgbClr val="2C7B9F"/>
              </a:buClr>
              <a:buSzPct val="84090"/>
              <a:buFont typeface="Arial MT"/>
              <a:buChar char="•"/>
              <a:tabLst>
                <a:tab pos="469265" algn="l"/>
              </a:tabLst>
            </a:pPr>
            <a:r>
              <a:rPr sz="2200" i="1" dirty="0">
                <a:latin typeface="Calibri"/>
                <a:cs typeface="Calibri"/>
              </a:rPr>
              <a:t>Cloud</a:t>
            </a:r>
            <a:r>
              <a:rPr sz="2200" i="1" spc="-60" dirty="0">
                <a:latin typeface="Calibri"/>
                <a:cs typeface="Calibri"/>
              </a:rPr>
              <a:t> </a:t>
            </a:r>
            <a:r>
              <a:rPr sz="2200" i="1" dirty="0">
                <a:latin typeface="Calibri"/>
                <a:cs typeface="Calibri"/>
              </a:rPr>
              <a:t>computing</a:t>
            </a:r>
            <a:r>
              <a:rPr sz="2200" i="1" spc="-50" dirty="0">
                <a:latin typeface="Calibri"/>
                <a:cs typeface="Calibri"/>
              </a:rPr>
              <a:t> </a:t>
            </a:r>
            <a:r>
              <a:rPr sz="2200" i="1" spc="-10" dirty="0">
                <a:latin typeface="Calibri"/>
                <a:cs typeface="Calibri"/>
              </a:rPr>
              <a:t>infrastructure</a:t>
            </a:r>
            <a:endParaRPr sz="2200">
              <a:latin typeface="Calibri"/>
              <a:cs typeface="Calibri"/>
            </a:endParaRPr>
          </a:p>
          <a:p>
            <a:pPr marL="195580" indent="-182880">
              <a:lnSpc>
                <a:spcPts val="2995"/>
              </a:lnSpc>
              <a:buClr>
                <a:srgbClr val="2C7B9F"/>
              </a:buClr>
              <a:buSzPct val="84000"/>
              <a:buFont typeface="Arial MT"/>
              <a:buChar char="•"/>
              <a:tabLst>
                <a:tab pos="195580" algn="l"/>
              </a:tabLst>
            </a:pPr>
            <a:r>
              <a:rPr sz="2500" spc="-10" dirty="0">
                <a:latin typeface="Calibri"/>
                <a:cs typeface="Calibri"/>
              </a:rPr>
              <a:t>Scale</a:t>
            </a:r>
            <a:endParaRPr sz="2500">
              <a:latin typeface="Calibri"/>
              <a:cs typeface="Calibri"/>
            </a:endParaRPr>
          </a:p>
          <a:p>
            <a:pPr marL="469265" lvl="1" indent="-182245">
              <a:lnSpc>
                <a:spcPct val="100000"/>
              </a:lnSpc>
              <a:spcBef>
                <a:spcPts val="10"/>
              </a:spcBef>
              <a:buClr>
                <a:srgbClr val="2C7B9F"/>
              </a:buClr>
              <a:buSzPct val="84090"/>
              <a:buFont typeface="Arial MT"/>
              <a:buChar char="•"/>
              <a:tabLst>
                <a:tab pos="469265" algn="l"/>
              </a:tabLst>
            </a:pPr>
            <a:r>
              <a:rPr sz="2200" dirty="0">
                <a:latin typeface="Calibri"/>
                <a:cs typeface="Calibri"/>
              </a:rPr>
              <a:t>Massively</a:t>
            </a:r>
            <a:r>
              <a:rPr sz="2200" spc="-75" dirty="0">
                <a:latin typeface="Calibri"/>
                <a:cs typeface="Calibri"/>
              </a:rPr>
              <a:t> </a:t>
            </a:r>
            <a:r>
              <a:rPr sz="2200" dirty="0">
                <a:latin typeface="Calibri"/>
                <a:cs typeface="Calibri"/>
              </a:rPr>
              <a:t>multi</a:t>
            </a:r>
            <a:r>
              <a:rPr sz="2200" spc="-70" dirty="0">
                <a:latin typeface="Calibri"/>
                <a:cs typeface="Calibri"/>
              </a:rPr>
              <a:t> </a:t>
            </a:r>
            <a:r>
              <a:rPr sz="2200" spc="-20" dirty="0">
                <a:latin typeface="Calibri"/>
                <a:cs typeface="Calibri"/>
              </a:rPr>
              <a:t>user</a:t>
            </a:r>
            <a:endParaRPr sz="2200">
              <a:latin typeface="Calibri"/>
              <a:cs typeface="Calibri"/>
            </a:endParaRPr>
          </a:p>
          <a:p>
            <a:pPr marL="469265" lvl="1" indent="-182245">
              <a:lnSpc>
                <a:spcPct val="100000"/>
              </a:lnSpc>
              <a:buClr>
                <a:srgbClr val="2C7B9F"/>
              </a:buClr>
              <a:buSzPct val="84090"/>
              <a:buFont typeface="Arial MT"/>
              <a:buChar char="•"/>
              <a:tabLst>
                <a:tab pos="469265" algn="l"/>
              </a:tabLst>
            </a:pPr>
            <a:r>
              <a:rPr sz="2200" dirty="0">
                <a:latin typeface="Calibri"/>
                <a:cs typeface="Calibri"/>
              </a:rPr>
              <a:t>Big</a:t>
            </a:r>
            <a:r>
              <a:rPr sz="2200" spc="-70" dirty="0">
                <a:latin typeface="Calibri"/>
                <a:cs typeface="Calibri"/>
              </a:rPr>
              <a:t> </a:t>
            </a:r>
            <a:r>
              <a:rPr sz="2200" dirty="0">
                <a:latin typeface="Calibri"/>
                <a:cs typeface="Calibri"/>
              </a:rPr>
              <a:t>data</a:t>
            </a:r>
            <a:r>
              <a:rPr sz="2200" spc="-65" dirty="0">
                <a:latin typeface="Calibri"/>
                <a:cs typeface="Calibri"/>
              </a:rPr>
              <a:t> </a:t>
            </a:r>
            <a:r>
              <a:rPr sz="2200" dirty="0">
                <a:latin typeface="Calibri"/>
                <a:cs typeface="Calibri"/>
              </a:rPr>
              <a:t>challenges,</a:t>
            </a:r>
            <a:r>
              <a:rPr sz="2200" spc="-65" dirty="0">
                <a:latin typeface="Calibri"/>
                <a:cs typeface="Calibri"/>
              </a:rPr>
              <a:t> </a:t>
            </a:r>
            <a:r>
              <a:rPr sz="2200" spc="-25" dirty="0">
                <a:latin typeface="Calibri"/>
                <a:cs typeface="Calibri"/>
              </a:rPr>
              <a:t>WSC</a:t>
            </a:r>
            <a:endParaRPr sz="2200">
              <a:latin typeface="Calibri"/>
              <a:cs typeface="Calibri"/>
            </a:endParaRPr>
          </a:p>
          <a:p>
            <a:pPr marL="469265" lvl="1" indent="-182245">
              <a:lnSpc>
                <a:spcPct val="100000"/>
              </a:lnSpc>
              <a:spcBef>
                <a:spcPts val="5"/>
              </a:spcBef>
              <a:buClr>
                <a:srgbClr val="2C7B9F"/>
              </a:buClr>
              <a:buSzPct val="84090"/>
              <a:buFont typeface="Arial MT"/>
              <a:buChar char="•"/>
              <a:tabLst>
                <a:tab pos="469265" algn="l"/>
              </a:tabLst>
            </a:pPr>
            <a:r>
              <a:rPr sz="2200" spc="-10" dirty="0">
                <a:latin typeface="Calibri"/>
                <a:cs typeface="Calibri"/>
              </a:rPr>
              <a:t>Scalability,</a:t>
            </a:r>
            <a:r>
              <a:rPr sz="2200" spc="-30" dirty="0">
                <a:latin typeface="Calibri"/>
                <a:cs typeface="Calibri"/>
              </a:rPr>
              <a:t> </a:t>
            </a:r>
            <a:r>
              <a:rPr sz="2200" spc="-20" dirty="0">
                <a:latin typeface="Calibri"/>
                <a:cs typeface="Calibri"/>
              </a:rPr>
              <a:t>reliability,</a:t>
            </a:r>
            <a:r>
              <a:rPr sz="2200" spc="-60" dirty="0">
                <a:latin typeface="Calibri"/>
                <a:cs typeface="Calibri"/>
              </a:rPr>
              <a:t> </a:t>
            </a:r>
            <a:r>
              <a:rPr sz="2200" spc="-10" dirty="0">
                <a:latin typeface="Calibri"/>
                <a:cs typeface="Calibri"/>
              </a:rPr>
              <a:t>resilience</a:t>
            </a:r>
            <a:endParaRPr sz="2200">
              <a:latin typeface="Calibri"/>
              <a:cs typeface="Calibri"/>
            </a:endParaRPr>
          </a:p>
          <a:p>
            <a:pPr marL="469265" lvl="1" indent="-182245">
              <a:lnSpc>
                <a:spcPct val="100000"/>
              </a:lnSpc>
              <a:buClr>
                <a:srgbClr val="2C7B9F"/>
              </a:buClr>
              <a:buSzPct val="84090"/>
              <a:buFont typeface="Arial MT"/>
              <a:buChar char="•"/>
              <a:tabLst>
                <a:tab pos="469265" algn="l"/>
              </a:tabLst>
            </a:pPr>
            <a:r>
              <a:rPr sz="2200" i="1" dirty="0">
                <a:latin typeface="Calibri"/>
                <a:cs typeface="Calibri"/>
              </a:rPr>
              <a:t>Cloud</a:t>
            </a:r>
            <a:r>
              <a:rPr sz="2200" i="1" spc="-35" dirty="0">
                <a:latin typeface="Calibri"/>
                <a:cs typeface="Calibri"/>
              </a:rPr>
              <a:t> </a:t>
            </a:r>
            <a:r>
              <a:rPr sz="2200" i="1" spc="-10" dirty="0">
                <a:latin typeface="Calibri"/>
                <a:cs typeface="Calibri"/>
              </a:rPr>
              <a:t>applications</a:t>
            </a:r>
            <a:endParaRPr sz="2200">
              <a:latin typeface="Calibri"/>
              <a:cs typeface="Calibri"/>
            </a:endParaRPr>
          </a:p>
        </p:txBody>
      </p:sp>
      <p:sp>
        <p:nvSpPr>
          <p:cNvPr id="4" name="object 4"/>
          <p:cNvSpPr txBox="1">
            <a:spLocks noGrp="1"/>
          </p:cNvSpPr>
          <p:nvPr>
            <p:ph type="title"/>
          </p:nvPr>
        </p:nvSpPr>
        <p:spPr>
          <a:xfrm>
            <a:off x="574040" y="679449"/>
            <a:ext cx="6496685" cy="635000"/>
          </a:xfrm>
          <a:prstGeom prst="rect">
            <a:avLst/>
          </a:prstGeom>
        </p:spPr>
        <p:txBody>
          <a:bodyPr vert="horz" wrap="square" lIns="0" tIns="12065" rIns="0" bIns="0" rtlCol="0">
            <a:spAutoFit/>
          </a:bodyPr>
          <a:lstStyle/>
          <a:p>
            <a:pPr marL="12700">
              <a:lnSpc>
                <a:spcPct val="100000"/>
              </a:lnSpc>
              <a:spcBef>
                <a:spcPts val="95"/>
              </a:spcBef>
              <a:tabLst>
                <a:tab pos="1682114" algn="l"/>
              </a:tabLst>
            </a:pPr>
            <a:r>
              <a:rPr spc="-100" dirty="0"/>
              <a:t>What</a:t>
            </a:r>
            <a:r>
              <a:rPr spc="-204" dirty="0"/>
              <a:t> </a:t>
            </a:r>
            <a:r>
              <a:rPr spc="-25" dirty="0"/>
              <a:t>is</a:t>
            </a:r>
            <a:r>
              <a:rPr dirty="0"/>
              <a:t>	</a:t>
            </a:r>
            <a:r>
              <a:rPr spc="-120" dirty="0"/>
              <a:t>NOW</a:t>
            </a:r>
            <a:r>
              <a:rPr spc="-175" dirty="0"/>
              <a:t> </a:t>
            </a:r>
            <a:r>
              <a:rPr spc="-95" dirty="0"/>
              <a:t>Cloud</a:t>
            </a:r>
            <a:r>
              <a:rPr spc="-190" dirty="0"/>
              <a:t> </a:t>
            </a:r>
            <a:r>
              <a:rPr spc="-70" dirty="0"/>
              <a:t>Computing?</a:t>
            </a:r>
          </a:p>
        </p:txBody>
      </p:sp>
      <p:sp>
        <p:nvSpPr>
          <p:cNvPr id="77" name="object 77"/>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61</a:t>
            </a:r>
          </a:p>
        </p:txBody>
      </p:sp>
      <p:grpSp>
        <p:nvGrpSpPr>
          <p:cNvPr id="5" name="object 5"/>
          <p:cNvGrpSpPr/>
          <p:nvPr/>
        </p:nvGrpSpPr>
        <p:grpSpPr>
          <a:xfrm>
            <a:off x="5099707" y="1168336"/>
            <a:ext cx="4553585" cy="5013960"/>
            <a:chOff x="5099707" y="1168336"/>
            <a:chExt cx="4553585" cy="5013960"/>
          </a:xfrm>
        </p:grpSpPr>
        <p:sp>
          <p:nvSpPr>
            <p:cNvPr id="6" name="object 6"/>
            <p:cNvSpPr/>
            <p:nvPr/>
          </p:nvSpPr>
          <p:spPr>
            <a:xfrm>
              <a:off x="5113042" y="2494213"/>
              <a:ext cx="4526915" cy="2933700"/>
            </a:xfrm>
            <a:custGeom>
              <a:avLst/>
              <a:gdLst/>
              <a:ahLst/>
              <a:cxnLst/>
              <a:rect l="l" t="t" r="r" b="b"/>
              <a:pathLst>
                <a:path w="4526915" h="2933700">
                  <a:moveTo>
                    <a:pt x="2779384" y="0"/>
                  </a:moveTo>
                  <a:lnTo>
                    <a:pt x="2732213" y="645"/>
                  </a:lnTo>
                  <a:lnTo>
                    <a:pt x="2685614" y="5551"/>
                  </a:lnTo>
                  <a:lnTo>
                    <a:pt x="2639961" y="14607"/>
                  </a:lnTo>
                  <a:lnTo>
                    <a:pt x="2595628" y="27702"/>
                  </a:lnTo>
                  <a:lnTo>
                    <a:pt x="2552989" y="44727"/>
                  </a:lnTo>
                  <a:lnTo>
                    <a:pt x="2512418" y="65570"/>
                  </a:lnTo>
                  <a:lnTo>
                    <a:pt x="2474289" y="90122"/>
                  </a:lnTo>
                  <a:lnTo>
                    <a:pt x="2438976" y="118272"/>
                  </a:lnTo>
                  <a:lnTo>
                    <a:pt x="2406852" y="149909"/>
                  </a:lnTo>
                  <a:lnTo>
                    <a:pt x="2378291" y="184924"/>
                  </a:lnTo>
                  <a:lnTo>
                    <a:pt x="2353668" y="223205"/>
                  </a:lnTo>
                  <a:lnTo>
                    <a:pt x="2323853" y="199121"/>
                  </a:lnTo>
                  <a:lnTo>
                    <a:pt x="2292216" y="177025"/>
                  </a:lnTo>
                  <a:lnTo>
                    <a:pt x="2258889" y="157001"/>
                  </a:lnTo>
                  <a:lnTo>
                    <a:pt x="2224001" y="139131"/>
                  </a:lnTo>
                  <a:lnTo>
                    <a:pt x="2178056" y="119835"/>
                  </a:lnTo>
                  <a:lnTo>
                    <a:pt x="2131162" y="104529"/>
                  </a:lnTo>
                  <a:lnTo>
                    <a:pt x="2083585" y="93140"/>
                  </a:lnTo>
                  <a:lnTo>
                    <a:pt x="2035592" y="85596"/>
                  </a:lnTo>
                  <a:lnTo>
                    <a:pt x="1987449" y="81825"/>
                  </a:lnTo>
                  <a:lnTo>
                    <a:pt x="1939422" y="81756"/>
                  </a:lnTo>
                  <a:lnTo>
                    <a:pt x="1891780" y="85315"/>
                  </a:lnTo>
                  <a:lnTo>
                    <a:pt x="1844787" y="92431"/>
                  </a:lnTo>
                  <a:lnTo>
                    <a:pt x="1798710" y="103032"/>
                  </a:lnTo>
                  <a:lnTo>
                    <a:pt x="1753816" y="117045"/>
                  </a:lnTo>
                  <a:lnTo>
                    <a:pt x="1710372" y="134398"/>
                  </a:lnTo>
                  <a:lnTo>
                    <a:pt x="1668644" y="155020"/>
                  </a:lnTo>
                  <a:lnTo>
                    <a:pt x="1628899" y="178839"/>
                  </a:lnTo>
                  <a:lnTo>
                    <a:pt x="1591403" y="205781"/>
                  </a:lnTo>
                  <a:lnTo>
                    <a:pt x="1556422" y="235775"/>
                  </a:lnTo>
                  <a:lnTo>
                    <a:pt x="1524224" y="268749"/>
                  </a:lnTo>
                  <a:lnTo>
                    <a:pt x="1495074" y="304630"/>
                  </a:lnTo>
                  <a:lnTo>
                    <a:pt x="1469240" y="343347"/>
                  </a:lnTo>
                  <a:lnTo>
                    <a:pt x="1422925" y="321392"/>
                  </a:lnTo>
                  <a:lnTo>
                    <a:pt x="1375133" y="302623"/>
                  </a:lnTo>
                  <a:lnTo>
                    <a:pt x="1326074" y="287077"/>
                  </a:lnTo>
                  <a:lnTo>
                    <a:pt x="1275954" y="274789"/>
                  </a:lnTo>
                  <a:lnTo>
                    <a:pt x="1224983" y="265795"/>
                  </a:lnTo>
                  <a:lnTo>
                    <a:pt x="1173368" y="260129"/>
                  </a:lnTo>
                  <a:lnTo>
                    <a:pt x="1121317" y="257829"/>
                  </a:lnTo>
                  <a:lnTo>
                    <a:pt x="1069038" y="258929"/>
                  </a:lnTo>
                  <a:lnTo>
                    <a:pt x="1016739" y="263464"/>
                  </a:lnTo>
                  <a:lnTo>
                    <a:pt x="966956" y="271011"/>
                  </a:lnTo>
                  <a:lnTo>
                    <a:pt x="918591" y="281480"/>
                  </a:lnTo>
                  <a:lnTo>
                    <a:pt x="871745" y="294751"/>
                  </a:lnTo>
                  <a:lnTo>
                    <a:pt x="826521" y="310707"/>
                  </a:lnTo>
                  <a:lnTo>
                    <a:pt x="783022" y="329227"/>
                  </a:lnTo>
                  <a:lnTo>
                    <a:pt x="741350" y="350193"/>
                  </a:lnTo>
                  <a:lnTo>
                    <a:pt x="701607" y="373486"/>
                  </a:lnTo>
                  <a:lnTo>
                    <a:pt x="663895" y="398986"/>
                  </a:lnTo>
                  <a:lnTo>
                    <a:pt x="628317" y="426576"/>
                  </a:lnTo>
                  <a:lnTo>
                    <a:pt x="594975" y="456135"/>
                  </a:lnTo>
                  <a:lnTo>
                    <a:pt x="563972" y="487545"/>
                  </a:lnTo>
                  <a:lnTo>
                    <a:pt x="535410" y="520687"/>
                  </a:lnTo>
                  <a:lnTo>
                    <a:pt x="509390" y="555442"/>
                  </a:lnTo>
                  <a:lnTo>
                    <a:pt x="486016" y="591691"/>
                  </a:lnTo>
                  <a:lnTo>
                    <a:pt x="465390" y="629315"/>
                  </a:lnTo>
                  <a:lnTo>
                    <a:pt x="447615" y="668194"/>
                  </a:lnTo>
                  <a:lnTo>
                    <a:pt x="432791" y="708211"/>
                  </a:lnTo>
                  <a:lnTo>
                    <a:pt x="421023" y="749245"/>
                  </a:lnTo>
                  <a:lnTo>
                    <a:pt x="412411" y="791178"/>
                  </a:lnTo>
                  <a:lnTo>
                    <a:pt x="407059" y="833891"/>
                  </a:lnTo>
                  <a:lnTo>
                    <a:pt x="405069" y="877265"/>
                  </a:lnTo>
                  <a:lnTo>
                    <a:pt x="406544" y="921181"/>
                  </a:lnTo>
                  <a:lnTo>
                    <a:pt x="411584" y="965520"/>
                  </a:lnTo>
                  <a:lnTo>
                    <a:pt x="407774" y="974664"/>
                  </a:lnTo>
                  <a:lnTo>
                    <a:pt x="354572" y="982395"/>
                  </a:lnTo>
                  <a:lnTo>
                    <a:pt x="303289" y="995502"/>
                  </a:lnTo>
                  <a:lnTo>
                    <a:pt x="254393" y="1013721"/>
                  </a:lnTo>
                  <a:lnTo>
                    <a:pt x="208352" y="1036783"/>
                  </a:lnTo>
                  <a:lnTo>
                    <a:pt x="165633" y="1064424"/>
                  </a:lnTo>
                  <a:lnTo>
                    <a:pt x="126703" y="1096376"/>
                  </a:lnTo>
                  <a:lnTo>
                    <a:pt x="92030" y="1132373"/>
                  </a:lnTo>
                  <a:lnTo>
                    <a:pt x="62080" y="1172149"/>
                  </a:lnTo>
                  <a:lnTo>
                    <a:pt x="37929" y="1214124"/>
                  </a:lnTo>
                  <a:lnTo>
                    <a:pt x="19767" y="1257368"/>
                  </a:lnTo>
                  <a:lnTo>
                    <a:pt x="7472" y="1301465"/>
                  </a:lnTo>
                  <a:lnTo>
                    <a:pt x="924" y="1346001"/>
                  </a:lnTo>
                  <a:lnTo>
                    <a:pt x="0" y="1390561"/>
                  </a:lnTo>
                  <a:lnTo>
                    <a:pt x="4577" y="1434729"/>
                  </a:lnTo>
                  <a:lnTo>
                    <a:pt x="14535" y="1478092"/>
                  </a:lnTo>
                  <a:lnTo>
                    <a:pt x="29750" y="1520234"/>
                  </a:lnTo>
                  <a:lnTo>
                    <a:pt x="50102" y="1560741"/>
                  </a:lnTo>
                  <a:lnTo>
                    <a:pt x="75469" y="1599197"/>
                  </a:lnTo>
                  <a:lnTo>
                    <a:pt x="105728" y="1635188"/>
                  </a:lnTo>
                  <a:lnTo>
                    <a:pt x="140757" y="1668298"/>
                  </a:lnTo>
                  <a:lnTo>
                    <a:pt x="180435" y="1698113"/>
                  </a:lnTo>
                  <a:lnTo>
                    <a:pt x="224640" y="1724218"/>
                  </a:lnTo>
                  <a:lnTo>
                    <a:pt x="188261" y="1763051"/>
                  </a:lnTo>
                  <a:lnTo>
                    <a:pt x="157960" y="1805158"/>
                  </a:lnTo>
                  <a:lnTo>
                    <a:pt x="133937" y="1849988"/>
                  </a:lnTo>
                  <a:lnTo>
                    <a:pt x="116392" y="1896992"/>
                  </a:lnTo>
                  <a:lnTo>
                    <a:pt x="105525" y="1945617"/>
                  </a:lnTo>
                  <a:lnTo>
                    <a:pt x="101536" y="1995313"/>
                  </a:lnTo>
                  <a:lnTo>
                    <a:pt x="104625" y="2045528"/>
                  </a:lnTo>
                  <a:lnTo>
                    <a:pt x="113073" y="2088725"/>
                  </a:lnTo>
                  <a:lnTo>
                    <a:pt x="126474" y="2130034"/>
                  </a:lnTo>
                  <a:lnTo>
                    <a:pt x="144521" y="2169242"/>
                  </a:lnTo>
                  <a:lnTo>
                    <a:pt x="166903" y="2206132"/>
                  </a:lnTo>
                  <a:lnTo>
                    <a:pt x="193314" y="2240492"/>
                  </a:lnTo>
                  <a:lnTo>
                    <a:pt x="223442" y="2272106"/>
                  </a:lnTo>
                  <a:lnTo>
                    <a:pt x="256981" y="2300761"/>
                  </a:lnTo>
                  <a:lnTo>
                    <a:pt x="293620" y="2326241"/>
                  </a:lnTo>
                  <a:lnTo>
                    <a:pt x="333052" y="2348332"/>
                  </a:lnTo>
                  <a:lnTo>
                    <a:pt x="374966" y="2366820"/>
                  </a:lnTo>
                  <a:lnTo>
                    <a:pt x="419055" y="2381489"/>
                  </a:lnTo>
                  <a:lnTo>
                    <a:pt x="465009" y="2392127"/>
                  </a:lnTo>
                  <a:lnTo>
                    <a:pt x="512519" y="2398517"/>
                  </a:lnTo>
                  <a:lnTo>
                    <a:pt x="561277" y="2400446"/>
                  </a:lnTo>
                  <a:lnTo>
                    <a:pt x="610974" y="2397699"/>
                  </a:lnTo>
                  <a:lnTo>
                    <a:pt x="619483" y="2410526"/>
                  </a:lnTo>
                  <a:lnTo>
                    <a:pt x="646115" y="2447214"/>
                  </a:lnTo>
                  <a:lnTo>
                    <a:pt x="674823" y="2481990"/>
                  </a:lnTo>
                  <a:lnTo>
                    <a:pt x="705491" y="2514829"/>
                  </a:lnTo>
                  <a:lnTo>
                    <a:pt x="738004" y="2545705"/>
                  </a:lnTo>
                  <a:lnTo>
                    <a:pt x="772244" y="2574593"/>
                  </a:lnTo>
                  <a:lnTo>
                    <a:pt x="808098" y="2601468"/>
                  </a:lnTo>
                  <a:lnTo>
                    <a:pt x="845448" y="2626303"/>
                  </a:lnTo>
                  <a:lnTo>
                    <a:pt x="884179" y="2649073"/>
                  </a:lnTo>
                  <a:lnTo>
                    <a:pt x="924175" y="2669752"/>
                  </a:lnTo>
                  <a:lnTo>
                    <a:pt x="965320" y="2688315"/>
                  </a:lnTo>
                  <a:lnTo>
                    <a:pt x="1007498" y="2704736"/>
                  </a:lnTo>
                  <a:lnTo>
                    <a:pt x="1050594" y="2718990"/>
                  </a:lnTo>
                  <a:lnTo>
                    <a:pt x="1094491" y="2731050"/>
                  </a:lnTo>
                  <a:lnTo>
                    <a:pt x="1139074" y="2740891"/>
                  </a:lnTo>
                  <a:lnTo>
                    <a:pt x="1184226" y="2748488"/>
                  </a:lnTo>
                  <a:lnTo>
                    <a:pt x="1229833" y="2753815"/>
                  </a:lnTo>
                  <a:lnTo>
                    <a:pt x="1275777" y="2756846"/>
                  </a:lnTo>
                  <a:lnTo>
                    <a:pt x="1321944" y="2757556"/>
                  </a:lnTo>
                  <a:lnTo>
                    <a:pt x="1368217" y="2755919"/>
                  </a:lnTo>
                  <a:lnTo>
                    <a:pt x="1414480" y="2751909"/>
                  </a:lnTo>
                  <a:lnTo>
                    <a:pt x="1460617" y="2745501"/>
                  </a:lnTo>
                  <a:lnTo>
                    <a:pt x="1506514" y="2736669"/>
                  </a:lnTo>
                  <a:lnTo>
                    <a:pt x="1552053" y="2725388"/>
                  </a:lnTo>
                  <a:lnTo>
                    <a:pt x="1597119" y="2711632"/>
                  </a:lnTo>
                  <a:lnTo>
                    <a:pt x="1641596" y="2695374"/>
                  </a:lnTo>
                  <a:lnTo>
                    <a:pt x="1685369" y="2676591"/>
                  </a:lnTo>
                  <a:lnTo>
                    <a:pt x="1728320" y="2655255"/>
                  </a:lnTo>
                  <a:lnTo>
                    <a:pt x="1760203" y="2694157"/>
                  </a:lnTo>
                  <a:lnTo>
                    <a:pt x="1795188" y="2730600"/>
                  </a:lnTo>
                  <a:lnTo>
                    <a:pt x="1833086" y="2764457"/>
                  </a:lnTo>
                  <a:lnTo>
                    <a:pt x="1873705" y="2795601"/>
                  </a:lnTo>
                  <a:lnTo>
                    <a:pt x="1916856" y="2823906"/>
                  </a:lnTo>
                  <a:lnTo>
                    <a:pt x="1962348" y="2849245"/>
                  </a:lnTo>
                  <a:lnTo>
                    <a:pt x="2009992" y="2871493"/>
                  </a:lnTo>
                  <a:lnTo>
                    <a:pt x="2059596" y="2890523"/>
                  </a:lnTo>
                  <a:lnTo>
                    <a:pt x="2110971" y="2906207"/>
                  </a:lnTo>
                  <a:lnTo>
                    <a:pt x="2159784" y="2917645"/>
                  </a:lnTo>
                  <a:lnTo>
                    <a:pt x="2208684" y="2925900"/>
                  </a:lnTo>
                  <a:lnTo>
                    <a:pt x="2257525" y="2931042"/>
                  </a:lnTo>
                  <a:lnTo>
                    <a:pt x="2306156" y="2933142"/>
                  </a:lnTo>
                  <a:lnTo>
                    <a:pt x="2354428" y="2932270"/>
                  </a:lnTo>
                  <a:lnTo>
                    <a:pt x="2402193" y="2928497"/>
                  </a:lnTo>
                  <a:lnTo>
                    <a:pt x="2449301" y="2921893"/>
                  </a:lnTo>
                  <a:lnTo>
                    <a:pt x="2495604" y="2912530"/>
                  </a:lnTo>
                  <a:lnTo>
                    <a:pt x="2540952" y="2900477"/>
                  </a:lnTo>
                  <a:lnTo>
                    <a:pt x="2585195" y="2885806"/>
                  </a:lnTo>
                  <a:lnTo>
                    <a:pt x="2628186" y="2868586"/>
                  </a:lnTo>
                  <a:lnTo>
                    <a:pt x="2669775" y="2848889"/>
                  </a:lnTo>
                  <a:lnTo>
                    <a:pt x="2709814" y="2826785"/>
                  </a:lnTo>
                  <a:lnTo>
                    <a:pt x="2748152" y="2802344"/>
                  </a:lnTo>
                  <a:lnTo>
                    <a:pt x="2784640" y="2775637"/>
                  </a:lnTo>
                  <a:lnTo>
                    <a:pt x="2819131" y="2746736"/>
                  </a:lnTo>
                  <a:lnTo>
                    <a:pt x="2851475" y="2715709"/>
                  </a:lnTo>
                  <a:lnTo>
                    <a:pt x="2881522" y="2682629"/>
                  </a:lnTo>
                  <a:lnTo>
                    <a:pt x="2909124" y="2647565"/>
                  </a:lnTo>
                  <a:lnTo>
                    <a:pt x="2934131" y="2610588"/>
                  </a:lnTo>
                  <a:lnTo>
                    <a:pt x="2956396" y="2571769"/>
                  </a:lnTo>
                  <a:lnTo>
                    <a:pt x="2975767" y="2531178"/>
                  </a:lnTo>
                  <a:lnTo>
                    <a:pt x="2992097" y="2488885"/>
                  </a:lnTo>
                  <a:lnTo>
                    <a:pt x="3033553" y="2509762"/>
                  </a:lnTo>
                  <a:lnTo>
                    <a:pt x="3076572" y="2527620"/>
                  </a:lnTo>
                  <a:lnTo>
                    <a:pt x="3120946" y="2542410"/>
                  </a:lnTo>
                  <a:lnTo>
                    <a:pt x="3166467" y="2554083"/>
                  </a:lnTo>
                  <a:lnTo>
                    <a:pt x="3212925" y="2562590"/>
                  </a:lnTo>
                  <a:lnTo>
                    <a:pt x="3260112" y="2567882"/>
                  </a:lnTo>
                  <a:lnTo>
                    <a:pt x="3307819" y="2569911"/>
                  </a:lnTo>
                  <a:lnTo>
                    <a:pt x="3357493" y="2568481"/>
                  </a:lnTo>
                  <a:lnTo>
                    <a:pt x="3406091" y="2563597"/>
                  </a:lnTo>
                  <a:lnTo>
                    <a:pt x="3453457" y="2555394"/>
                  </a:lnTo>
                  <a:lnTo>
                    <a:pt x="3499434" y="2544008"/>
                  </a:lnTo>
                  <a:lnTo>
                    <a:pt x="3543865" y="2529577"/>
                  </a:lnTo>
                  <a:lnTo>
                    <a:pt x="3586592" y="2512236"/>
                  </a:lnTo>
                  <a:lnTo>
                    <a:pt x="3627460" y="2492120"/>
                  </a:lnTo>
                  <a:lnTo>
                    <a:pt x="3666311" y="2469368"/>
                  </a:lnTo>
                  <a:lnTo>
                    <a:pt x="3702987" y="2444114"/>
                  </a:lnTo>
                  <a:lnTo>
                    <a:pt x="3737333" y="2416495"/>
                  </a:lnTo>
                  <a:lnTo>
                    <a:pt x="3769191" y="2386648"/>
                  </a:lnTo>
                  <a:lnTo>
                    <a:pt x="3798404" y="2354707"/>
                  </a:lnTo>
                  <a:lnTo>
                    <a:pt x="3824815" y="2320811"/>
                  </a:lnTo>
                  <a:lnTo>
                    <a:pt x="3848267" y="2285094"/>
                  </a:lnTo>
                  <a:lnTo>
                    <a:pt x="3868604" y="2247692"/>
                  </a:lnTo>
                  <a:lnTo>
                    <a:pt x="3885667" y="2208744"/>
                  </a:lnTo>
                  <a:lnTo>
                    <a:pt x="3899301" y="2168383"/>
                  </a:lnTo>
                  <a:lnTo>
                    <a:pt x="3909348" y="2126747"/>
                  </a:lnTo>
                  <a:lnTo>
                    <a:pt x="3915652" y="2083972"/>
                  </a:lnTo>
                  <a:lnTo>
                    <a:pt x="3918054" y="2040194"/>
                  </a:lnTo>
                  <a:lnTo>
                    <a:pt x="3969380" y="2032011"/>
                  </a:lnTo>
                  <a:lnTo>
                    <a:pt x="4019705" y="2020570"/>
                  </a:lnTo>
                  <a:lnTo>
                    <a:pt x="4068840" y="2005944"/>
                  </a:lnTo>
                  <a:lnTo>
                    <a:pt x="4116593" y="1988204"/>
                  </a:lnTo>
                  <a:lnTo>
                    <a:pt x="4162774" y="1967419"/>
                  </a:lnTo>
                  <a:lnTo>
                    <a:pt x="4207190" y="1943662"/>
                  </a:lnTo>
                  <a:lnTo>
                    <a:pt x="4249651" y="1917004"/>
                  </a:lnTo>
                  <a:lnTo>
                    <a:pt x="4290427" y="1887189"/>
                  </a:lnTo>
                  <a:lnTo>
                    <a:pt x="4328053" y="1855285"/>
                  </a:lnTo>
                  <a:lnTo>
                    <a:pt x="4362503" y="1821460"/>
                  </a:lnTo>
                  <a:lnTo>
                    <a:pt x="4393752" y="1785885"/>
                  </a:lnTo>
                  <a:lnTo>
                    <a:pt x="4421775" y="1748730"/>
                  </a:lnTo>
                  <a:lnTo>
                    <a:pt x="4446547" y="1710163"/>
                  </a:lnTo>
                  <a:lnTo>
                    <a:pt x="4468042" y="1670354"/>
                  </a:lnTo>
                  <a:lnTo>
                    <a:pt x="4486235" y="1629473"/>
                  </a:lnTo>
                  <a:lnTo>
                    <a:pt x="4501100" y="1587690"/>
                  </a:lnTo>
                  <a:lnTo>
                    <a:pt x="4512613" y="1545174"/>
                  </a:lnTo>
                  <a:lnTo>
                    <a:pt x="4520749" y="1502095"/>
                  </a:lnTo>
                  <a:lnTo>
                    <a:pt x="4525481" y="1458623"/>
                  </a:lnTo>
                  <a:lnTo>
                    <a:pt x="4526785" y="1414926"/>
                  </a:lnTo>
                  <a:lnTo>
                    <a:pt x="4524635" y="1371175"/>
                  </a:lnTo>
                  <a:lnTo>
                    <a:pt x="4519007" y="1327539"/>
                  </a:lnTo>
                  <a:lnTo>
                    <a:pt x="4509875" y="1284188"/>
                  </a:lnTo>
                  <a:lnTo>
                    <a:pt x="4497213" y="1241292"/>
                  </a:lnTo>
                  <a:lnTo>
                    <a:pt x="4480997" y="1199019"/>
                  </a:lnTo>
                  <a:lnTo>
                    <a:pt x="4461200" y="1157540"/>
                  </a:lnTo>
                  <a:lnTo>
                    <a:pt x="4437799" y="1117025"/>
                  </a:lnTo>
                  <a:lnTo>
                    <a:pt x="4410768" y="1077642"/>
                  </a:lnTo>
                  <a:lnTo>
                    <a:pt x="4380080" y="1039561"/>
                  </a:lnTo>
                  <a:lnTo>
                    <a:pt x="4387409" y="1023635"/>
                  </a:lnTo>
                  <a:lnTo>
                    <a:pt x="4405607" y="974664"/>
                  </a:lnTo>
                  <a:lnTo>
                    <a:pt x="4416759" y="930786"/>
                  </a:lnTo>
                  <a:lnTo>
                    <a:pt x="4423299" y="886967"/>
                  </a:lnTo>
                  <a:lnTo>
                    <a:pt x="4425365" y="843421"/>
                  </a:lnTo>
                  <a:lnTo>
                    <a:pt x="4423096" y="800362"/>
                  </a:lnTo>
                  <a:lnTo>
                    <a:pt x="4416630" y="758005"/>
                  </a:lnTo>
                  <a:lnTo>
                    <a:pt x="4406106" y="716563"/>
                  </a:lnTo>
                  <a:lnTo>
                    <a:pt x="4391662" y="676250"/>
                  </a:lnTo>
                  <a:lnTo>
                    <a:pt x="4373437" y="637282"/>
                  </a:lnTo>
                  <a:lnTo>
                    <a:pt x="4351569" y="599871"/>
                  </a:lnTo>
                  <a:lnTo>
                    <a:pt x="4326197" y="564233"/>
                  </a:lnTo>
                  <a:lnTo>
                    <a:pt x="4297459" y="530581"/>
                  </a:lnTo>
                  <a:lnTo>
                    <a:pt x="4265493" y="499129"/>
                  </a:lnTo>
                  <a:lnTo>
                    <a:pt x="4230439" y="470092"/>
                  </a:lnTo>
                  <a:lnTo>
                    <a:pt x="4192435" y="443684"/>
                  </a:lnTo>
                  <a:lnTo>
                    <a:pt x="4151619" y="420118"/>
                  </a:lnTo>
                  <a:lnTo>
                    <a:pt x="4108130" y="399610"/>
                  </a:lnTo>
                  <a:lnTo>
                    <a:pt x="4062106" y="382372"/>
                  </a:lnTo>
                  <a:lnTo>
                    <a:pt x="4013685" y="368620"/>
                  </a:lnTo>
                  <a:lnTo>
                    <a:pt x="3999997" y="318380"/>
                  </a:lnTo>
                  <a:lnTo>
                    <a:pt x="3979955" y="270186"/>
                  </a:lnTo>
                  <a:lnTo>
                    <a:pt x="3953852" y="224475"/>
                  </a:lnTo>
                  <a:lnTo>
                    <a:pt x="3921982" y="181686"/>
                  </a:lnTo>
                  <a:lnTo>
                    <a:pt x="3884636" y="142255"/>
                  </a:lnTo>
                  <a:lnTo>
                    <a:pt x="3842108" y="106619"/>
                  </a:lnTo>
                  <a:lnTo>
                    <a:pt x="3803265" y="80300"/>
                  </a:lnTo>
                  <a:lnTo>
                    <a:pt x="3762507" y="57762"/>
                  </a:lnTo>
                  <a:lnTo>
                    <a:pt x="3720135" y="38982"/>
                  </a:lnTo>
                  <a:lnTo>
                    <a:pt x="3676449" y="23939"/>
                  </a:lnTo>
                  <a:lnTo>
                    <a:pt x="3631751" y="12611"/>
                  </a:lnTo>
                  <a:lnTo>
                    <a:pt x="3586340" y="4977"/>
                  </a:lnTo>
                  <a:lnTo>
                    <a:pt x="3540516" y="1014"/>
                  </a:lnTo>
                  <a:lnTo>
                    <a:pt x="3494581" y="702"/>
                  </a:lnTo>
                  <a:lnTo>
                    <a:pt x="3448834" y="4018"/>
                  </a:lnTo>
                  <a:lnTo>
                    <a:pt x="3403576" y="10941"/>
                  </a:lnTo>
                  <a:lnTo>
                    <a:pt x="3359108" y="21448"/>
                  </a:lnTo>
                  <a:lnTo>
                    <a:pt x="3315730" y="35519"/>
                  </a:lnTo>
                  <a:lnTo>
                    <a:pt x="3273742" y="53132"/>
                  </a:lnTo>
                  <a:lnTo>
                    <a:pt x="3233445" y="74264"/>
                  </a:lnTo>
                  <a:lnTo>
                    <a:pt x="3195138" y="98894"/>
                  </a:lnTo>
                  <a:lnTo>
                    <a:pt x="3159124" y="127001"/>
                  </a:lnTo>
                  <a:lnTo>
                    <a:pt x="3125701" y="158562"/>
                  </a:lnTo>
                  <a:lnTo>
                    <a:pt x="3091743" y="123580"/>
                  </a:lnTo>
                  <a:lnTo>
                    <a:pt x="3053581" y="92348"/>
                  </a:lnTo>
                  <a:lnTo>
                    <a:pt x="3011633" y="65140"/>
                  </a:lnTo>
                  <a:lnTo>
                    <a:pt x="2966316" y="42230"/>
                  </a:lnTo>
                  <a:lnTo>
                    <a:pt x="2920594" y="24730"/>
                  </a:lnTo>
                  <a:lnTo>
                    <a:pt x="2873949" y="11932"/>
                  </a:lnTo>
                  <a:lnTo>
                    <a:pt x="2826754" y="3725"/>
                  </a:lnTo>
                  <a:lnTo>
                    <a:pt x="2779384" y="0"/>
                  </a:lnTo>
                  <a:close/>
                </a:path>
              </a:pathLst>
            </a:custGeom>
            <a:solidFill>
              <a:srgbClr val="2C7B9F"/>
            </a:solidFill>
          </p:spPr>
          <p:txBody>
            <a:bodyPr wrap="square" lIns="0" tIns="0" rIns="0" bIns="0" rtlCol="0"/>
            <a:lstStyle/>
            <a:p>
              <a:endParaRPr/>
            </a:p>
          </p:txBody>
        </p:sp>
        <p:sp>
          <p:nvSpPr>
            <p:cNvPr id="7" name="object 7"/>
            <p:cNvSpPr/>
            <p:nvPr/>
          </p:nvSpPr>
          <p:spPr>
            <a:xfrm>
              <a:off x="5113042" y="2494213"/>
              <a:ext cx="4526915" cy="2933700"/>
            </a:xfrm>
            <a:custGeom>
              <a:avLst/>
              <a:gdLst/>
              <a:ahLst/>
              <a:cxnLst/>
              <a:rect l="l" t="t" r="r" b="b"/>
              <a:pathLst>
                <a:path w="4526915" h="2933700">
                  <a:moveTo>
                    <a:pt x="411584" y="965520"/>
                  </a:moveTo>
                  <a:lnTo>
                    <a:pt x="406544" y="921181"/>
                  </a:lnTo>
                  <a:lnTo>
                    <a:pt x="405069" y="877265"/>
                  </a:lnTo>
                  <a:lnTo>
                    <a:pt x="407059" y="833891"/>
                  </a:lnTo>
                  <a:lnTo>
                    <a:pt x="412411" y="791178"/>
                  </a:lnTo>
                  <a:lnTo>
                    <a:pt x="421023" y="749245"/>
                  </a:lnTo>
                  <a:lnTo>
                    <a:pt x="432791" y="708211"/>
                  </a:lnTo>
                  <a:lnTo>
                    <a:pt x="447615" y="668194"/>
                  </a:lnTo>
                  <a:lnTo>
                    <a:pt x="465390" y="629315"/>
                  </a:lnTo>
                  <a:lnTo>
                    <a:pt x="486016" y="591691"/>
                  </a:lnTo>
                  <a:lnTo>
                    <a:pt x="509390" y="555442"/>
                  </a:lnTo>
                  <a:lnTo>
                    <a:pt x="535410" y="520687"/>
                  </a:lnTo>
                  <a:lnTo>
                    <a:pt x="563972" y="487545"/>
                  </a:lnTo>
                  <a:lnTo>
                    <a:pt x="594975" y="456135"/>
                  </a:lnTo>
                  <a:lnTo>
                    <a:pt x="628317" y="426576"/>
                  </a:lnTo>
                  <a:lnTo>
                    <a:pt x="663895" y="398986"/>
                  </a:lnTo>
                  <a:lnTo>
                    <a:pt x="701607" y="373486"/>
                  </a:lnTo>
                  <a:lnTo>
                    <a:pt x="741350" y="350193"/>
                  </a:lnTo>
                  <a:lnTo>
                    <a:pt x="783022" y="329227"/>
                  </a:lnTo>
                  <a:lnTo>
                    <a:pt x="826521" y="310707"/>
                  </a:lnTo>
                  <a:lnTo>
                    <a:pt x="871745" y="294751"/>
                  </a:lnTo>
                  <a:lnTo>
                    <a:pt x="918591" y="281480"/>
                  </a:lnTo>
                  <a:lnTo>
                    <a:pt x="966956" y="271011"/>
                  </a:lnTo>
                  <a:lnTo>
                    <a:pt x="1016739" y="263464"/>
                  </a:lnTo>
                  <a:lnTo>
                    <a:pt x="1069038" y="258929"/>
                  </a:lnTo>
                  <a:lnTo>
                    <a:pt x="1121317" y="257829"/>
                  </a:lnTo>
                  <a:lnTo>
                    <a:pt x="1173368" y="260129"/>
                  </a:lnTo>
                  <a:lnTo>
                    <a:pt x="1224983" y="265795"/>
                  </a:lnTo>
                  <a:lnTo>
                    <a:pt x="1275954" y="274789"/>
                  </a:lnTo>
                  <a:lnTo>
                    <a:pt x="1326074" y="287077"/>
                  </a:lnTo>
                  <a:lnTo>
                    <a:pt x="1375133" y="302623"/>
                  </a:lnTo>
                  <a:lnTo>
                    <a:pt x="1422925" y="321392"/>
                  </a:lnTo>
                  <a:lnTo>
                    <a:pt x="1469240" y="343347"/>
                  </a:lnTo>
                  <a:lnTo>
                    <a:pt x="1495074" y="304630"/>
                  </a:lnTo>
                  <a:lnTo>
                    <a:pt x="1524224" y="268749"/>
                  </a:lnTo>
                  <a:lnTo>
                    <a:pt x="1556422" y="235775"/>
                  </a:lnTo>
                  <a:lnTo>
                    <a:pt x="1591403" y="205781"/>
                  </a:lnTo>
                  <a:lnTo>
                    <a:pt x="1628899" y="178839"/>
                  </a:lnTo>
                  <a:lnTo>
                    <a:pt x="1668644" y="155020"/>
                  </a:lnTo>
                  <a:lnTo>
                    <a:pt x="1710372" y="134398"/>
                  </a:lnTo>
                  <a:lnTo>
                    <a:pt x="1753816" y="117045"/>
                  </a:lnTo>
                  <a:lnTo>
                    <a:pt x="1798710" y="103032"/>
                  </a:lnTo>
                  <a:lnTo>
                    <a:pt x="1844787" y="92431"/>
                  </a:lnTo>
                  <a:lnTo>
                    <a:pt x="1891780" y="85315"/>
                  </a:lnTo>
                  <a:lnTo>
                    <a:pt x="1939422" y="81756"/>
                  </a:lnTo>
                  <a:lnTo>
                    <a:pt x="1987449" y="81825"/>
                  </a:lnTo>
                  <a:lnTo>
                    <a:pt x="2035592" y="85596"/>
                  </a:lnTo>
                  <a:lnTo>
                    <a:pt x="2083585" y="93140"/>
                  </a:lnTo>
                  <a:lnTo>
                    <a:pt x="2131162" y="104529"/>
                  </a:lnTo>
                  <a:lnTo>
                    <a:pt x="2178056" y="119835"/>
                  </a:lnTo>
                  <a:lnTo>
                    <a:pt x="2224001" y="139131"/>
                  </a:lnTo>
                  <a:lnTo>
                    <a:pt x="2258889" y="157001"/>
                  </a:lnTo>
                  <a:lnTo>
                    <a:pt x="2292216" y="177025"/>
                  </a:lnTo>
                  <a:lnTo>
                    <a:pt x="2323853" y="199121"/>
                  </a:lnTo>
                  <a:lnTo>
                    <a:pt x="2353668" y="223205"/>
                  </a:lnTo>
                  <a:lnTo>
                    <a:pt x="2378291" y="184924"/>
                  </a:lnTo>
                  <a:lnTo>
                    <a:pt x="2406852" y="149909"/>
                  </a:lnTo>
                  <a:lnTo>
                    <a:pt x="2438976" y="118272"/>
                  </a:lnTo>
                  <a:lnTo>
                    <a:pt x="2474289" y="90122"/>
                  </a:lnTo>
                  <a:lnTo>
                    <a:pt x="2512418" y="65570"/>
                  </a:lnTo>
                  <a:lnTo>
                    <a:pt x="2552989" y="44727"/>
                  </a:lnTo>
                  <a:lnTo>
                    <a:pt x="2595628" y="27702"/>
                  </a:lnTo>
                  <a:lnTo>
                    <a:pt x="2639961" y="14607"/>
                  </a:lnTo>
                  <a:lnTo>
                    <a:pt x="2685614" y="5551"/>
                  </a:lnTo>
                  <a:lnTo>
                    <a:pt x="2732213" y="645"/>
                  </a:lnTo>
                  <a:lnTo>
                    <a:pt x="2779384" y="0"/>
                  </a:lnTo>
                  <a:lnTo>
                    <a:pt x="2826754" y="3725"/>
                  </a:lnTo>
                  <a:lnTo>
                    <a:pt x="2873949" y="11932"/>
                  </a:lnTo>
                  <a:lnTo>
                    <a:pt x="2920594" y="24730"/>
                  </a:lnTo>
                  <a:lnTo>
                    <a:pt x="2966316" y="42230"/>
                  </a:lnTo>
                  <a:lnTo>
                    <a:pt x="3011633" y="65140"/>
                  </a:lnTo>
                  <a:lnTo>
                    <a:pt x="3053581" y="92348"/>
                  </a:lnTo>
                  <a:lnTo>
                    <a:pt x="3091743" y="123580"/>
                  </a:lnTo>
                  <a:lnTo>
                    <a:pt x="3125701" y="158562"/>
                  </a:lnTo>
                  <a:lnTo>
                    <a:pt x="3159124" y="127001"/>
                  </a:lnTo>
                  <a:lnTo>
                    <a:pt x="3195138" y="98894"/>
                  </a:lnTo>
                  <a:lnTo>
                    <a:pt x="3233445" y="74264"/>
                  </a:lnTo>
                  <a:lnTo>
                    <a:pt x="3273742" y="53132"/>
                  </a:lnTo>
                  <a:lnTo>
                    <a:pt x="3315730" y="35519"/>
                  </a:lnTo>
                  <a:lnTo>
                    <a:pt x="3359108" y="21448"/>
                  </a:lnTo>
                  <a:lnTo>
                    <a:pt x="3403576" y="10941"/>
                  </a:lnTo>
                  <a:lnTo>
                    <a:pt x="3448834" y="4018"/>
                  </a:lnTo>
                  <a:lnTo>
                    <a:pt x="3494581" y="702"/>
                  </a:lnTo>
                  <a:lnTo>
                    <a:pt x="3540516" y="1014"/>
                  </a:lnTo>
                  <a:lnTo>
                    <a:pt x="3586340" y="4977"/>
                  </a:lnTo>
                  <a:lnTo>
                    <a:pt x="3631751" y="12611"/>
                  </a:lnTo>
                  <a:lnTo>
                    <a:pt x="3676449" y="23939"/>
                  </a:lnTo>
                  <a:lnTo>
                    <a:pt x="3720135" y="38982"/>
                  </a:lnTo>
                  <a:lnTo>
                    <a:pt x="3762507" y="57762"/>
                  </a:lnTo>
                  <a:lnTo>
                    <a:pt x="3803265" y="80300"/>
                  </a:lnTo>
                  <a:lnTo>
                    <a:pt x="3842108" y="106619"/>
                  </a:lnTo>
                  <a:lnTo>
                    <a:pt x="3884636" y="142255"/>
                  </a:lnTo>
                  <a:lnTo>
                    <a:pt x="3921982" y="181686"/>
                  </a:lnTo>
                  <a:lnTo>
                    <a:pt x="3953852" y="224475"/>
                  </a:lnTo>
                  <a:lnTo>
                    <a:pt x="3979955" y="270186"/>
                  </a:lnTo>
                  <a:lnTo>
                    <a:pt x="3999997" y="318380"/>
                  </a:lnTo>
                  <a:lnTo>
                    <a:pt x="4013685" y="368620"/>
                  </a:lnTo>
                  <a:lnTo>
                    <a:pt x="4062106" y="382372"/>
                  </a:lnTo>
                  <a:lnTo>
                    <a:pt x="4108130" y="399610"/>
                  </a:lnTo>
                  <a:lnTo>
                    <a:pt x="4151619" y="420118"/>
                  </a:lnTo>
                  <a:lnTo>
                    <a:pt x="4192435" y="443684"/>
                  </a:lnTo>
                  <a:lnTo>
                    <a:pt x="4230439" y="470092"/>
                  </a:lnTo>
                  <a:lnTo>
                    <a:pt x="4265493" y="499129"/>
                  </a:lnTo>
                  <a:lnTo>
                    <a:pt x="4297459" y="530581"/>
                  </a:lnTo>
                  <a:lnTo>
                    <a:pt x="4326197" y="564233"/>
                  </a:lnTo>
                  <a:lnTo>
                    <a:pt x="4351569" y="599871"/>
                  </a:lnTo>
                  <a:lnTo>
                    <a:pt x="4373437" y="637282"/>
                  </a:lnTo>
                  <a:lnTo>
                    <a:pt x="4391662" y="676250"/>
                  </a:lnTo>
                  <a:lnTo>
                    <a:pt x="4406106" y="716563"/>
                  </a:lnTo>
                  <a:lnTo>
                    <a:pt x="4416630" y="758005"/>
                  </a:lnTo>
                  <a:lnTo>
                    <a:pt x="4423096" y="800362"/>
                  </a:lnTo>
                  <a:lnTo>
                    <a:pt x="4425365" y="843421"/>
                  </a:lnTo>
                  <a:lnTo>
                    <a:pt x="4423299" y="886967"/>
                  </a:lnTo>
                  <a:lnTo>
                    <a:pt x="4416759" y="930786"/>
                  </a:lnTo>
                  <a:lnTo>
                    <a:pt x="4405607" y="974664"/>
                  </a:lnTo>
                  <a:lnTo>
                    <a:pt x="4387409" y="1023635"/>
                  </a:lnTo>
                  <a:lnTo>
                    <a:pt x="4380080" y="1039561"/>
                  </a:lnTo>
                  <a:lnTo>
                    <a:pt x="4410768" y="1077642"/>
                  </a:lnTo>
                  <a:lnTo>
                    <a:pt x="4437799" y="1117025"/>
                  </a:lnTo>
                  <a:lnTo>
                    <a:pt x="4461200" y="1157540"/>
                  </a:lnTo>
                  <a:lnTo>
                    <a:pt x="4480997" y="1199019"/>
                  </a:lnTo>
                  <a:lnTo>
                    <a:pt x="4497213" y="1241292"/>
                  </a:lnTo>
                  <a:lnTo>
                    <a:pt x="4509875" y="1284188"/>
                  </a:lnTo>
                  <a:lnTo>
                    <a:pt x="4519007" y="1327539"/>
                  </a:lnTo>
                  <a:lnTo>
                    <a:pt x="4524635" y="1371175"/>
                  </a:lnTo>
                  <a:lnTo>
                    <a:pt x="4526785" y="1414926"/>
                  </a:lnTo>
                  <a:lnTo>
                    <a:pt x="4525481" y="1458623"/>
                  </a:lnTo>
                  <a:lnTo>
                    <a:pt x="4520749" y="1502095"/>
                  </a:lnTo>
                  <a:lnTo>
                    <a:pt x="4512613" y="1545174"/>
                  </a:lnTo>
                  <a:lnTo>
                    <a:pt x="4501100" y="1587690"/>
                  </a:lnTo>
                  <a:lnTo>
                    <a:pt x="4486235" y="1629473"/>
                  </a:lnTo>
                  <a:lnTo>
                    <a:pt x="4468042" y="1670354"/>
                  </a:lnTo>
                  <a:lnTo>
                    <a:pt x="4446547" y="1710163"/>
                  </a:lnTo>
                  <a:lnTo>
                    <a:pt x="4421775" y="1748730"/>
                  </a:lnTo>
                  <a:lnTo>
                    <a:pt x="4393752" y="1785885"/>
                  </a:lnTo>
                  <a:lnTo>
                    <a:pt x="4362503" y="1821460"/>
                  </a:lnTo>
                  <a:lnTo>
                    <a:pt x="4328053" y="1855285"/>
                  </a:lnTo>
                  <a:lnTo>
                    <a:pt x="4290427" y="1887189"/>
                  </a:lnTo>
                  <a:lnTo>
                    <a:pt x="4249651" y="1917004"/>
                  </a:lnTo>
                  <a:lnTo>
                    <a:pt x="4207190" y="1943662"/>
                  </a:lnTo>
                  <a:lnTo>
                    <a:pt x="4162774" y="1967419"/>
                  </a:lnTo>
                  <a:lnTo>
                    <a:pt x="4116593" y="1988204"/>
                  </a:lnTo>
                  <a:lnTo>
                    <a:pt x="4068840" y="2005944"/>
                  </a:lnTo>
                  <a:lnTo>
                    <a:pt x="4019705" y="2020570"/>
                  </a:lnTo>
                  <a:lnTo>
                    <a:pt x="3969380" y="2032011"/>
                  </a:lnTo>
                  <a:lnTo>
                    <a:pt x="3918054" y="2040194"/>
                  </a:lnTo>
                  <a:lnTo>
                    <a:pt x="3915652" y="2083972"/>
                  </a:lnTo>
                  <a:lnTo>
                    <a:pt x="3909348" y="2126747"/>
                  </a:lnTo>
                  <a:lnTo>
                    <a:pt x="3899301" y="2168383"/>
                  </a:lnTo>
                  <a:lnTo>
                    <a:pt x="3885667" y="2208744"/>
                  </a:lnTo>
                  <a:lnTo>
                    <a:pt x="3868604" y="2247692"/>
                  </a:lnTo>
                  <a:lnTo>
                    <a:pt x="3848267" y="2285094"/>
                  </a:lnTo>
                  <a:lnTo>
                    <a:pt x="3824815" y="2320811"/>
                  </a:lnTo>
                  <a:lnTo>
                    <a:pt x="3798404" y="2354707"/>
                  </a:lnTo>
                  <a:lnTo>
                    <a:pt x="3769191" y="2386648"/>
                  </a:lnTo>
                  <a:lnTo>
                    <a:pt x="3737333" y="2416495"/>
                  </a:lnTo>
                  <a:lnTo>
                    <a:pt x="3702987" y="2444114"/>
                  </a:lnTo>
                  <a:lnTo>
                    <a:pt x="3666311" y="2469368"/>
                  </a:lnTo>
                  <a:lnTo>
                    <a:pt x="3627460" y="2492120"/>
                  </a:lnTo>
                  <a:lnTo>
                    <a:pt x="3586592" y="2512236"/>
                  </a:lnTo>
                  <a:lnTo>
                    <a:pt x="3543865" y="2529577"/>
                  </a:lnTo>
                  <a:lnTo>
                    <a:pt x="3499434" y="2544008"/>
                  </a:lnTo>
                  <a:lnTo>
                    <a:pt x="3453457" y="2555394"/>
                  </a:lnTo>
                  <a:lnTo>
                    <a:pt x="3406091" y="2563597"/>
                  </a:lnTo>
                  <a:lnTo>
                    <a:pt x="3357493" y="2568481"/>
                  </a:lnTo>
                  <a:lnTo>
                    <a:pt x="3307819" y="2569911"/>
                  </a:lnTo>
                  <a:lnTo>
                    <a:pt x="3260112" y="2567882"/>
                  </a:lnTo>
                  <a:lnTo>
                    <a:pt x="3212925" y="2562590"/>
                  </a:lnTo>
                  <a:lnTo>
                    <a:pt x="3166467" y="2554083"/>
                  </a:lnTo>
                  <a:lnTo>
                    <a:pt x="3120946" y="2542410"/>
                  </a:lnTo>
                  <a:lnTo>
                    <a:pt x="3076572" y="2527620"/>
                  </a:lnTo>
                  <a:lnTo>
                    <a:pt x="3033553" y="2509762"/>
                  </a:lnTo>
                  <a:lnTo>
                    <a:pt x="2992097" y="2488885"/>
                  </a:lnTo>
                  <a:lnTo>
                    <a:pt x="2975767" y="2531178"/>
                  </a:lnTo>
                  <a:lnTo>
                    <a:pt x="2956396" y="2571769"/>
                  </a:lnTo>
                  <a:lnTo>
                    <a:pt x="2934131" y="2610588"/>
                  </a:lnTo>
                  <a:lnTo>
                    <a:pt x="2909124" y="2647565"/>
                  </a:lnTo>
                  <a:lnTo>
                    <a:pt x="2881522" y="2682629"/>
                  </a:lnTo>
                  <a:lnTo>
                    <a:pt x="2851475" y="2715709"/>
                  </a:lnTo>
                  <a:lnTo>
                    <a:pt x="2819131" y="2746736"/>
                  </a:lnTo>
                  <a:lnTo>
                    <a:pt x="2784640" y="2775637"/>
                  </a:lnTo>
                  <a:lnTo>
                    <a:pt x="2748152" y="2802344"/>
                  </a:lnTo>
                  <a:lnTo>
                    <a:pt x="2709814" y="2826785"/>
                  </a:lnTo>
                  <a:lnTo>
                    <a:pt x="2669775" y="2848889"/>
                  </a:lnTo>
                  <a:lnTo>
                    <a:pt x="2628186" y="2868586"/>
                  </a:lnTo>
                  <a:lnTo>
                    <a:pt x="2585195" y="2885806"/>
                  </a:lnTo>
                  <a:lnTo>
                    <a:pt x="2540952" y="2900477"/>
                  </a:lnTo>
                  <a:lnTo>
                    <a:pt x="2495604" y="2912530"/>
                  </a:lnTo>
                  <a:lnTo>
                    <a:pt x="2449301" y="2921893"/>
                  </a:lnTo>
                  <a:lnTo>
                    <a:pt x="2402193" y="2928497"/>
                  </a:lnTo>
                  <a:lnTo>
                    <a:pt x="2354428" y="2932270"/>
                  </a:lnTo>
                  <a:lnTo>
                    <a:pt x="2306156" y="2933142"/>
                  </a:lnTo>
                  <a:lnTo>
                    <a:pt x="2257525" y="2931042"/>
                  </a:lnTo>
                  <a:lnTo>
                    <a:pt x="2208684" y="2925900"/>
                  </a:lnTo>
                  <a:lnTo>
                    <a:pt x="2159784" y="2917645"/>
                  </a:lnTo>
                  <a:lnTo>
                    <a:pt x="2110971" y="2906207"/>
                  </a:lnTo>
                  <a:lnTo>
                    <a:pt x="2059596" y="2890523"/>
                  </a:lnTo>
                  <a:lnTo>
                    <a:pt x="2009992" y="2871493"/>
                  </a:lnTo>
                  <a:lnTo>
                    <a:pt x="1962348" y="2849245"/>
                  </a:lnTo>
                  <a:lnTo>
                    <a:pt x="1916856" y="2823906"/>
                  </a:lnTo>
                  <a:lnTo>
                    <a:pt x="1873705" y="2795601"/>
                  </a:lnTo>
                  <a:lnTo>
                    <a:pt x="1833086" y="2764457"/>
                  </a:lnTo>
                  <a:lnTo>
                    <a:pt x="1795188" y="2730600"/>
                  </a:lnTo>
                  <a:lnTo>
                    <a:pt x="1760203" y="2694157"/>
                  </a:lnTo>
                  <a:lnTo>
                    <a:pt x="1728320" y="2655255"/>
                  </a:lnTo>
                  <a:lnTo>
                    <a:pt x="1685369" y="2676591"/>
                  </a:lnTo>
                  <a:lnTo>
                    <a:pt x="1641596" y="2695374"/>
                  </a:lnTo>
                  <a:lnTo>
                    <a:pt x="1597119" y="2711632"/>
                  </a:lnTo>
                  <a:lnTo>
                    <a:pt x="1552053" y="2725388"/>
                  </a:lnTo>
                  <a:lnTo>
                    <a:pt x="1506514" y="2736669"/>
                  </a:lnTo>
                  <a:lnTo>
                    <a:pt x="1460617" y="2745501"/>
                  </a:lnTo>
                  <a:lnTo>
                    <a:pt x="1414480" y="2751909"/>
                  </a:lnTo>
                  <a:lnTo>
                    <a:pt x="1368217" y="2755919"/>
                  </a:lnTo>
                  <a:lnTo>
                    <a:pt x="1321944" y="2757556"/>
                  </a:lnTo>
                  <a:lnTo>
                    <a:pt x="1275777" y="2756846"/>
                  </a:lnTo>
                  <a:lnTo>
                    <a:pt x="1229833" y="2753815"/>
                  </a:lnTo>
                  <a:lnTo>
                    <a:pt x="1184226" y="2748488"/>
                  </a:lnTo>
                  <a:lnTo>
                    <a:pt x="1139074" y="2740891"/>
                  </a:lnTo>
                  <a:lnTo>
                    <a:pt x="1094491" y="2731050"/>
                  </a:lnTo>
                  <a:lnTo>
                    <a:pt x="1050594" y="2718990"/>
                  </a:lnTo>
                  <a:lnTo>
                    <a:pt x="1007498" y="2704736"/>
                  </a:lnTo>
                  <a:lnTo>
                    <a:pt x="965320" y="2688315"/>
                  </a:lnTo>
                  <a:lnTo>
                    <a:pt x="924175" y="2669752"/>
                  </a:lnTo>
                  <a:lnTo>
                    <a:pt x="884179" y="2649073"/>
                  </a:lnTo>
                  <a:lnTo>
                    <a:pt x="845448" y="2626303"/>
                  </a:lnTo>
                  <a:lnTo>
                    <a:pt x="808098" y="2601468"/>
                  </a:lnTo>
                  <a:lnTo>
                    <a:pt x="772244" y="2574593"/>
                  </a:lnTo>
                  <a:lnTo>
                    <a:pt x="738004" y="2545705"/>
                  </a:lnTo>
                  <a:lnTo>
                    <a:pt x="705491" y="2514829"/>
                  </a:lnTo>
                  <a:lnTo>
                    <a:pt x="674823" y="2481990"/>
                  </a:lnTo>
                  <a:lnTo>
                    <a:pt x="646115" y="2447214"/>
                  </a:lnTo>
                  <a:lnTo>
                    <a:pt x="619483" y="2410526"/>
                  </a:lnTo>
                  <a:lnTo>
                    <a:pt x="616689" y="2406335"/>
                  </a:lnTo>
                  <a:lnTo>
                    <a:pt x="613768" y="2402017"/>
                  </a:lnTo>
                  <a:lnTo>
                    <a:pt x="610974" y="2397699"/>
                  </a:lnTo>
                  <a:lnTo>
                    <a:pt x="561277" y="2400446"/>
                  </a:lnTo>
                  <a:lnTo>
                    <a:pt x="512519" y="2398517"/>
                  </a:lnTo>
                  <a:lnTo>
                    <a:pt x="465009" y="2392127"/>
                  </a:lnTo>
                  <a:lnTo>
                    <a:pt x="419055" y="2381489"/>
                  </a:lnTo>
                  <a:lnTo>
                    <a:pt x="374966" y="2366820"/>
                  </a:lnTo>
                  <a:lnTo>
                    <a:pt x="333052" y="2348332"/>
                  </a:lnTo>
                  <a:lnTo>
                    <a:pt x="293620" y="2326241"/>
                  </a:lnTo>
                  <a:lnTo>
                    <a:pt x="256981" y="2300761"/>
                  </a:lnTo>
                  <a:lnTo>
                    <a:pt x="223442" y="2272106"/>
                  </a:lnTo>
                  <a:lnTo>
                    <a:pt x="193314" y="2240492"/>
                  </a:lnTo>
                  <a:lnTo>
                    <a:pt x="166903" y="2206132"/>
                  </a:lnTo>
                  <a:lnTo>
                    <a:pt x="144521" y="2169242"/>
                  </a:lnTo>
                  <a:lnTo>
                    <a:pt x="126474" y="2130034"/>
                  </a:lnTo>
                  <a:lnTo>
                    <a:pt x="113073" y="2088725"/>
                  </a:lnTo>
                  <a:lnTo>
                    <a:pt x="104625" y="2045528"/>
                  </a:lnTo>
                  <a:lnTo>
                    <a:pt x="101536" y="1995313"/>
                  </a:lnTo>
                  <a:lnTo>
                    <a:pt x="105525" y="1945617"/>
                  </a:lnTo>
                  <a:lnTo>
                    <a:pt x="116392" y="1896992"/>
                  </a:lnTo>
                  <a:lnTo>
                    <a:pt x="133937" y="1849988"/>
                  </a:lnTo>
                  <a:lnTo>
                    <a:pt x="157960" y="1805158"/>
                  </a:lnTo>
                  <a:lnTo>
                    <a:pt x="188261" y="1763051"/>
                  </a:lnTo>
                  <a:lnTo>
                    <a:pt x="224640" y="1724218"/>
                  </a:lnTo>
                  <a:lnTo>
                    <a:pt x="180435" y="1698113"/>
                  </a:lnTo>
                  <a:lnTo>
                    <a:pt x="140757" y="1668298"/>
                  </a:lnTo>
                  <a:lnTo>
                    <a:pt x="105728" y="1635188"/>
                  </a:lnTo>
                  <a:lnTo>
                    <a:pt x="75469" y="1599197"/>
                  </a:lnTo>
                  <a:lnTo>
                    <a:pt x="50102" y="1560741"/>
                  </a:lnTo>
                  <a:lnTo>
                    <a:pt x="29750" y="1520234"/>
                  </a:lnTo>
                  <a:lnTo>
                    <a:pt x="14535" y="1478092"/>
                  </a:lnTo>
                  <a:lnTo>
                    <a:pt x="4577" y="1434729"/>
                  </a:lnTo>
                  <a:lnTo>
                    <a:pt x="0" y="1390561"/>
                  </a:lnTo>
                  <a:lnTo>
                    <a:pt x="924" y="1346001"/>
                  </a:lnTo>
                  <a:lnTo>
                    <a:pt x="7472" y="1301465"/>
                  </a:lnTo>
                  <a:lnTo>
                    <a:pt x="19767" y="1257368"/>
                  </a:lnTo>
                  <a:lnTo>
                    <a:pt x="37929" y="1214124"/>
                  </a:lnTo>
                  <a:lnTo>
                    <a:pt x="62080" y="1172149"/>
                  </a:lnTo>
                  <a:lnTo>
                    <a:pt x="92030" y="1132373"/>
                  </a:lnTo>
                  <a:lnTo>
                    <a:pt x="126703" y="1096376"/>
                  </a:lnTo>
                  <a:lnTo>
                    <a:pt x="165633" y="1064424"/>
                  </a:lnTo>
                  <a:lnTo>
                    <a:pt x="208352" y="1036783"/>
                  </a:lnTo>
                  <a:lnTo>
                    <a:pt x="254393" y="1013721"/>
                  </a:lnTo>
                  <a:lnTo>
                    <a:pt x="303289" y="995502"/>
                  </a:lnTo>
                  <a:lnTo>
                    <a:pt x="354572" y="982395"/>
                  </a:lnTo>
                  <a:lnTo>
                    <a:pt x="407774" y="974664"/>
                  </a:lnTo>
                  <a:lnTo>
                    <a:pt x="411584" y="965520"/>
                  </a:lnTo>
                  <a:close/>
                </a:path>
                <a:path w="4526915" h="2933700">
                  <a:moveTo>
                    <a:pt x="494642" y="1766890"/>
                  </a:moveTo>
                  <a:lnTo>
                    <a:pt x="439205" y="1767750"/>
                  </a:lnTo>
                  <a:lnTo>
                    <a:pt x="384384" y="1762641"/>
                  </a:lnTo>
                  <a:lnTo>
                    <a:pt x="330763" y="1751693"/>
                  </a:lnTo>
                  <a:lnTo>
                    <a:pt x="278929" y="1735033"/>
                  </a:lnTo>
                  <a:lnTo>
                    <a:pt x="229466" y="1712788"/>
                  </a:lnTo>
                </a:path>
                <a:path w="4526915" h="2933700">
                  <a:moveTo>
                    <a:pt x="728576" y="2358964"/>
                  </a:moveTo>
                  <a:lnTo>
                    <a:pt x="700349" y="2367942"/>
                  </a:lnTo>
                  <a:lnTo>
                    <a:pt x="671537" y="2375252"/>
                  </a:lnTo>
                  <a:lnTo>
                    <a:pt x="642226" y="2380896"/>
                  </a:lnTo>
                  <a:lnTo>
                    <a:pt x="612498" y="2384872"/>
                  </a:lnTo>
                </a:path>
                <a:path w="4526915" h="2933700">
                  <a:moveTo>
                    <a:pt x="1728066" y="2643317"/>
                  </a:moveTo>
                  <a:lnTo>
                    <a:pt x="1707899" y="2615113"/>
                  </a:lnTo>
                  <a:lnTo>
                    <a:pt x="1689506" y="2585993"/>
                  </a:lnTo>
                  <a:lnTo>
                    <a:pt x="1672899" y="2556039"/>
                  </a:lnTo>
                  <a:lnTo>
                    <a:pt x="1658089" y="2525334"/>
                  </a:lnTo>
                </a:path>
                <a:path w="4526915" h="2933700">
                  <a:moveTo>
                    <a:pt x="3020418" y="2348931"/>
                  </a:moveTo>
                  <a:lnTo>
                    <a:pt x="3016374" y="2381781"/>
                  </a:lnTo>
                  <a:lnTo>
                    <a:pt x="3010353" y="2414368"/>
                  </a:lnTo>
                  <a:lnTo>
                    <a:pt x="3002380" y="2446622"/>
                  </a:lnTo>
                  <a:lnTo>
                    <a:pt x="2992478" y="2478471"/>
                  </a:lnTo>
                </a:path>
                <a:path w="4526915" h="2933700">
                  <a:moveTo>
                    <a:pt x="3575281" y="1548196"/>
                  </a:moveTo>
                  <a:lnTo>
                    <a:pt x="3622297" y="1570686"/>
                  </a:lnTo>
                  <a:lnTo>
                    <a:pt x="3666407" y="1596448"/>
                  </a:lnTo>
                  <a:lnTo>
                    <a:pt x="3707457" y="1625261"/>
                  </a:lnTo>
                  <a:lnTo>
                    <a:pt x="3745293" y="1656904"/>
                  </a:lnTo>
                  <a:lnTo>
                    <a:pt x="3779760" y="1691155"/>
                  </a:lnTo>
                  <a:lnTo>
                    <a:pt x="3810703" y="1727791"/>
                  </a:lnTo>
                  <a:lnTo>
                    <a:pt x="3837967" y="1766593"/>
                  </a:lnTo>
                  <a:lnTo>
                    <a:pt x="3861398" y="1807337"/>
                  </a:lnTo>
                  <a:lnTo>
                    <a:pt x="3880842" y="1849803"/>
                  </a:lnTo>
                  <a:lnTo>
                    <a:pt x="3896142" y="1893769"/>
                  </a:lnTo>
                  <a:lnTo>
                    <a:pt x="3907145" y="1939012"/>
                  </a:lnTo>
                  <a:lnTo>
                    <a:pt x="3913697" y="1985312"/>
                  </a:lnTo>
                  <a:lnTo>
                    <a:pt x="3915641" y="2032447"/>
                  </a:lnTo>
                </a:path>
                <a:path w="4526915" h="2933700">
                  <a:moveTo>
                    <a:pt x="4377921" y="1032322"/>
                  </a:moveTo>
                  <a:lnTo>
                    <a:pt x="4355446" y="1073387"/>
                  </a:lnTo>
                  <a:lnTo>
                    <a:pt x="4328850" y="1112306"/>
                  </a:lnTo>
                  <a:lnTo>
                    <a:pt x="4298341" y="1148853"/>
                  </a:lnTo>
                  <a:lnTo>
                    <a:pt x="4264125" y="1182804"/>
                  </a:lnTo>
                  <a:lnTo>
                    <a:pt x="4226410" y="1213932"/>
                  </a:lnTo>
                </a:path>
                <a:path w="4526915" h="2933700">
                  <a:moveTo>
                    <a:pt x="4014320" y="358460"/>
                  </a:moveTo>
                  <a:lnTo>
                    <a:pt x="4018106" y="379769"/>
                  </a:lnTo>
                  <a:lnTo>
                    <a:pt x="4020702" y="401196"/>
                  </a:lnTo>
                  <a:lnTo>
                    <a:pt x="4022107" y="422718"/>
                  </a:lnTo>
                  <a:lnTo>
                    <a:pt x="4022321" y="444312"/>
                  </a:lnTo>
                </a:path>
                <a:path w="4526915" h="2933700">
                  <a:moveTo>
                    <a:pt x="3046707" y="258511"/>
                  </a:moveTo>
                  <a:lnTo>
                    <a:pt x="3062672" y="229333"/>
                  </a:lnTo>
                  <a:lnTo>
                    <a:pt x="3080981" y="201298"/>
                  </a:lnTo>
                  <a:lnTo>
                    <a:pt x="3101553" y="174501"/>
                  </a:lnTo>
                  <a:lnTo>
                    <a:pt x="3124304" y="149037"/>
                  </a:lnTo>
                </a:path>
                <a:path w="4526915" h="2933700">
                  <a:moveTo>
                    <a:pt x="2320648" y="310581"/>
                  </a:moveTo>
                  <a:lnTo>
                    <a:pt x="2327576" y="286283"/>
                  </a:lnTo>
                  <a:lnTo>
                    <a:pt x="2336158" y="262401"/>
                  </a:lnTo>
                  <a:lnTo>
                    <a:pt x="2346384" y="239019"/>
                  </a:lnTo>
                  <a:lnTo>
                    <a:pt x="2358240" y="216220"/>
                  </a:lnTo>
                </a:path>
                <a:path w="4526915" h="2933700">
                  <a:moveTo>
                    <a:pt x="1468732" y="342585"/>
                  </a:moveTo>
                  <a:lnTo>
                    <a:pt x="1505005" y="362697"/>
                  </a:lnTo>
                  <a:lnTo>
                    <a:pt x="1539836" y="384702"/>
                  </a:lnTo>
                  <a:lnTo>
                    <a:pt x="1573120" y="408540"/>
                  </a:lnTo>
                  <a:lnTo>
                    <a:pt x="1604749" y="434152"/>
                  </a:lnTo>
                </a:path>
                <a:path w="4526915" h="2933700">
                  <a:moveTo>
                    <a:pt x="435333" y="1061913"/>
                  </a:moveTo>
                  <a:lnTo>
                    <a:pt x="427838" y="1038154"/>
                  </a:lnTo>
                  <a:lnTo>
                    <a:pt x="421379" y="1014145"/>
                  </a:lnTo>
                  <a:lnTo>
                    <a:pt x="415992" y="989922"/>
                  </a:lnTo>
                  <a:lnTo>
                    <a:pt x="411711" y="965520"/>
                  </a:lnTo>
                </a:path>
              </a:pathLst>
            </a:custGeom>
            <a:ln w="26424">
              <a:solidFill>
                <a:srgbClr val="1D5874"/>
              </a:solidFill>
            </a:ln>
          </p:spPr>
          <p:txBody>
            <a:bodyPr wrap="square" lIns="0" tIns="0" rIns="0" bIns="0" rtlCol="0"/>
            <a:lstStyle/>
            <a:p>
              <a:endParaRPr/>
            </a:p>
          </p:txBody>
        </p:sp>
        <p:pic>
          <p:nvPicPr>
            <p:cNvPr id="8" name="object 8"/>
            <p:cNvPicPr/>
            <p:nvPr/>
          </p:nvPicPr>
          <p:blipFill>
            <a:blip r:embed="rId2" cstate="print"/>
            <a:stretch>
              <a:fillRect/>
            </a:stretch>
          </p:blipFill>
          <p:spPr>
            <a:xfrm>
              <a:off x="5213350" y="1609725"/>
              <a:ext cx="765241" cy="517525"/>
            </a:xfrm>
            <a:prstGeom prst="rect">
              <a:avLst/>
            </a:prstGeom>
          </p:spPr>
        </p:pic>
        <p:pic>
          <p:nvPicPr>
            <p:cNvPr id="9" name="object 9"/>
            <p:cNvPicPr/>
            <p:nvPr/>
          </p:nvPicPr>
          <p:blipFill>
            <a:blip r:embed="rId3" cstate="print"/>
            <a:stretch>
              <a:fillRect/>
            </a:stretch>
          </p:blipFill>
          <p:spPr>
            <a:xfrm>
              <a:off x="8224774" y="1168336"/>
              <a:ext cx="1401699" cy="1014412"/>
            </a:xfrm>
            <a:prstGeom prst="rect">
              <a:avLst/>
            </a:prstGeom>
          </p:spPr>
        </p:pic>
        <p:pic>
          <p:nvPicPr>
            <p:cNvPr id="10" name="object 10"/>
            <p:cNvPicPr/>
            <p:nvPr/>
          </p:nvPicPr>
          <p:blipFill>
            <a:blip r:embed="rId4" cstate="print"/>
            <a:stretch>
              <a:fillRect/>
            </a:stretch>
          </p:blipFill>
          <p:spPr>
            <a:xfrm>
              <a:off x="6329299" y="1308100"/>
              <a:ext cx="1778000" cy="933450"/>
            </a:xfrm>
            <a:prstGeom prst="rect">
              <a:avLst/>
            </a:prstGeom>
          </p:spPr>
        </p:pic>
        <p:sp>
          <p:nvSpPr>
            <p:cNvPr id="11" name="object 11"/>
            <p:cNvSpPr/>
            <p:nvPr/>
          </p:nvSpPr>
          <p:spPr>
            <a:xfrm>
              <a:off x="5740146" y="2054225"/>
              <a:ext cx="419734" cy="574040"/>
            </a:xfrm>
            <a:custGeom>
              <a:avLst/>
              <a:gdLst/>
              <a:ahLst/>
              <a:cxnLst/>
              <a:rect l="l" t="t" r="r" b="b"/>
              <a:pathLst>
                <a:path w="419735" h="574039">
                  <a:moveTo>
                    <a:pt x="83819" y="0"/>
                  </a:moveTo>
                  <a:lnTo>
                    <a:pt x="68452" y="68452"/>
                  </a:lnTo>
                  <a:lnTo>
                    <a:pt x="0" y="53086"/>
                  </a:lnTo>
                  <a:lnTo>
                    <a:pt x="293750" y="516254"/>
                  </a:lnTo>
                  <a:lnTo>
                    <a:pt x="251840" y="542925"/>
                  </a:lnTo>
                  <a:lnTo>
                    <a:pt x="388746" y="573532"/>
                  </a:lnTo>
                  <a:lnTo>
                    <a:pt x="419480" y="436625"/>
                  </a:lnTo>
                  <a:lnTo>
                    <a:pt x="377570" y="463169"/>
                  </a:lnTo>
                  <a:lnTo>
                    <a:pt x="83819" y="0"/>
                  </a:lnTo>
                  <a:close/>
                </a:path>
              </a:pathLst>
            </a:custGeom>
            <a:solidFill>
              <a:srgbClr val="C00000"/>
            </a:solidFill>
          </p:spPr>
          <p:txBody>
            <a:bodyPr wrap="square" lIns="0" tIns="0" rIns="0" bIns="0" rtlCol="0"/>
            <a:lstStyle/>
            <a:p>
              <a:endParaRPr/>
            </a:p>
          </p:txBody>
        </p:sp>
        <p:sp>
          <p:nvSpPr>
            <p:cNvPr id="12" name="object 12"/>
            <p:cNvSpPr/>
            <p:nvPr/>
          </p:nvSpPr>
          <p:spPr>
            <a:xfrm>
              <a:off x="5740146" y="2054225"/>
              <a:ext cx="419734" cy="574040"/>
            </a:xfrm>
            <a:custGeom>
              <a:avLst/>
              <a:gdLst/>
              <a:ahLst/>
              <a:cxnLst/>
              <a:rect l="l" t="t" r="r" b="b"/>
              <a:pathLst>
                <a:path w="419735" h="574039">
                  <a:moveTo>
                    <a:pt x="83819" y="0"/>
                  </a:moveTo>
                  <a:lnTo>
                    <a:pt x="377570" y="463169"/>
                  </a:lnTo>
                  <a:lnTo>
                    <a:pt x="419480" y="436625"/>
                  </a:lnTo>
                  <a:lnTo>
                    <a:pt x="388746" y="573532"/>
                  </a:lnTo>
                  <a:lnTo>
                    <a:pt x="251840" y="542925"/>
                  </a:lnTo>
                  <a:lnTo>
                    <a:pt x="293750" y="516254"/>
                  </a:lnTo>
                  <a:lnTo>
                    <a:pt x="0" y="53086"/>
                  </a:lnTo>
                  <a:lnTo>
                    <a:pt x="68452" y="68452"/>
                  </a:lnTo>
                  <a:lnTo>
                    <a:pt x="83819" y="0"/>
                  </a:lnTo>
                  <a:close/>
                </a:path>
              </a:pathLst>
            </a:custGeom>
            <a:ln w="26424">
              <a:solidFill>
                <a:srgbClr val="8B0000"/>
              </a:solidFill>
            </a:ln>
          </p:spPr>
          <p:txBody>
            <a:bodyPr wrap="square" lIns="0" tIns="0" rIns="0" bIns="0" rtlCol="0"/>
            <a:lstStyle/>
            <a:p>
              <a:endParaRPr/>
            </a:p>
          </p:txBody>
        </p:sp>
        <p:sp>
          <p:nvSpPr>
            <p:cNvPr id="13" name="object 13"/>
            <p:cNvSpPr/>
            <p:nvPr/>
          </p:nvSpPr>
          <p:spPr>
            <a:xfrm>
              <a:off x="7056501" y="2222500"/>
              <a:ext cx="198755" cy="317500"/>
            </a:xfrm>
            <a:custGeom>
              <a:avLst/>
              <a:gdLst/>
              <a:ahLst/>
              <a:cxnLst/>
              <a:rect l="l" t="t" r="r" b="b"/>
              <a:pathLst>
                <a:path w="198754" h="317500">
                  <a:moveTo>
                    <a:pt x="148717" y="0"/>
                  </a:moveTo>
                  <a:lnTo>
                    <a:pt x="99187" y="49657"/>
                  </a:lnTo>
                  <a:lnTo>
                    <a:pt x="49529" y="0"/>
                  </a:lnTo>
                  <a:lnTo>
                    <a:pt x="49529" y="218312"/>
                  </a:lnTo>
                  <a:lnTo>
                    <a:pt x="0" y="218312"/>
                  </a:lnTo>
                  <a:lnTo>
                    <a:pt x="99187" y="317500"/>
                  </a:lnTo>
                  <a:lnTo>
                    <a:pt x="198374" y="218312"/>
                  </a:lnTo>
                  <a:lnTo>
                    <a:pt x="148717" y="218312"/>
                  </a:lnTo>
                  <a:lnTo>
                    <a:pt x="148717" y="0"/>
                  </a:lnTo>
                  <a:close/>
                </a:path>
              </a:pathLst>
            </a:custGeom>
            <a:solidFill>
              <a:srgbClr val="C00000"/>
            </a:solidFill>
          </p:spPr>
          <p:txBody>
            <a:bodyPr wrap="square" lIns="0" tIns="0" rIns="0" bIns="0" rtlCol="0"/>
            <a:lstStyle/>
            <a:p>
              <a:endParaRPr/>
            </a:p>
          </p:txBody>
        </p:sp>
        <p:sp>
          <p:nvSpPr>
            <p:cNvPr id="14" name="object 14"/>
            <p:cNvSpPr/>
            <p:nvPr/>
          </p:nvSpPr>
          <p:spPr>
            <a:xfrm>
              <a:off x="7056501" y="2222500"/>
              <a:ext cx="198755" cy="317500"/>
            </a:xfrm>
            <a:custGeom>
              <a:avLst/>
              <a:gdLst/>
              <a:ahLst/>
              <a:cxnLst/>
              <a:rect l="l" t="t" r="r" b="b"/>
              <a:pathLst>
                <a:path w="198754" h="317500">
                  <a:moveTo>
                    <a:pt x="148717" y="0"/>
                  </a:moveTo>
                  <a:lnTo>
                    <a:pt x="148717" y="218312"/>
                  </a:lnTo>
                  <a:lnTo>
                    <a:pt x="198374" y="218312"/>
                  </a:lnTo>
                  <a:lnTo>
                    <a:pt x="99187" y="317500"/>
                  </a:lnTo>
                  <a:lnTo>
                    <a:pt x="0" y="218312"/>
                  </a:lnTo>
                  <a:lnTo>
                    <a:pt x="49529" y="218312"/>
                  </a:lnTo>
                  <a:lnTo>
                    <a:pt x="49529" y="0"/>
                  </a:lnTo>
                  <a:lnTo>
                    <a:pt x="99187" y="49657"/>
                  </a:lnTo>
                  <a:lnTo>
                    <a:pt x="148717" y="0"/>
                  </a:lnTo>
                  <a:close/>
                </a:path>
              </a:pathLst>
            </a:custGeom>
            <a:ln w="26424">
              <a:solidFill>
                <a:srgbClr val="8B0000"/>
              </a:solidFill>
            </a:ln>
          </p:spPr>
          <p:txBody>
            <a:bodyPr wrap="square" lIns="0" tIns="0" rIns="0" bIns="0" rtlCol="0"/>
            <a:lstStyle/>
            <a:p>
              <a:endParaRPr/>
            </a:p>
          </p:txBody>
        </p:sp>
        <p:sp>
          <p:nvSpPr>
            <p:cNvPr id="15" name="object 15"/>
            <p:cNvSpPr/>
            <p:nvPr/>
          </p:nvSpPr>
          <p:spPr>
            <a:xfrm>
              <a:off x="8920607" y="2047494"/>
              <a:ext cx="235585" cy="466725"/>
            </a:xfrm>
            <a:custGeom>
              <a:avLst/>
              <a:gdLst/>
              <a:ahLst/>
              <a:cxnLst/>
              <a:rect l="l" t="t" r="r" b="b"/>
              <a:pathLst>
                <a:path w="235584" h="466725">
                  <a:moveTo>
                    <a:pt x="119888" y="0"/>
                  </a:moveTo>
                  <a:lnTo>
                    <a:pt x="57785" y="340359"/>
                  </a:lnTo>
                  <a:lnTo>
                    <a:pt x="0" y="329818"/>
                  </a:lnTo>
                  <a:lnTo>
                    <a:pt x="94488" y="466470"/>
                  </a:lnTo>
                  <a:lnTo>
                    <a:pt x="231140" y="371982"/>
                  </a:lnTo>
                  <a:lnTo>
                    <a:pt x="173354" y="361441"/>
                  </a:lnTo>
                  <a:lnTo>
                    <a:pt x="235458" y="21081"/>
                  </a:lnTo>
                  <a:lnTo>
                    <a:pt x="167132" y="68325"/>
                  </a:lnTo>
                  <a:lnTo>
                    <a:pt x="119888" y="0"/>
                  </a:lnTo>
                  <a:close/>
                </a:path>
              </a:pathLst>
            </a:custGeom>
            <a:solidFill>
              <a:srgbClr val="C00000"/>
            </a:solidFill>
          </p:spPr>
          <p:txBody>
            <a:bodyPr wrap="square" lIns="0" tIns="0" rIns="0" bIns="0" rtlCol="0"/>
            <a:lstStyle/>
            <a:p>
              <a:endParaRPr/>
            </a:p>
          </p:txBody>
        </p:sp>
        <p:sp>
          <p:nvSpPr>
            <p:cNvPr id="16" name="object 16"/>
            <p:cNvSpPr/>
            <p:nvPr/>
          </p:nvSpPr>
          <p:spPr>
            <a:xfrm>
              <a:off x="8920607" y="2047494"/>
              <a:ext cx="235585" cy="466725"/>
            </a:xfrm>
            <a:custGeom>
              <a:avLst/>
              <a:gdLst/>
              <a:ahLst/>
              <a:cxnLst/>
              <a:rect l="l" t="t" r="r" b="b"/>
              <a:pathLst>
                <a:path w="235584" h="466725">
                  <a:moveTo>
                    <a:pt x="235458" y="21081"/>
                  </a:moveTo>
                  <a:lnTo>
                    <a:pt x="173354" y="361441"/>
                  </a:lnTo>
                  <a:lnTo>
                    <a:pt x="231140" y="371982"/>
                  </a:lnTo>
                  <a:lnTo>
                    <a:pt x="94488" y="466470"/>
                  </a:lnTo>
                  <a:lnTo>
                    <a:pt x="0" y="329818"/>
                  </a:lnTo>
                  <a:lnTo>
                    <a:pt x="57785" y="340359"/>
                  </a:lnTo>
                  <a:lnTo>
                    <a:pt x="119888" y="0"/>
                  </a:lnTo>
                  <a:lnTo>
                    <a:pt x="167132" y="68325"/>
                  </a:lnTo>
                  <a:lnTo>
                    <a:pt x="235458" y="21081"/>
                  </a:lnTo>
                  <a:close/>
                </a:path>
              </a:pathLst>
            </a:custGeom>
            <a:ln w="26424">
              <a:solidFill>
                <a:srgbClr val="8B0000"/>
              </a:solidFill>
            </a:ln>
          </p:spPr>
          <p:txBody>
            <a:bodyPr wrap="square" lIns="0" tIns="0" rIns="0" bIns="0" rtlCol="0"/>
            <a:lstStyle/>
            <a:p>
              <a:endParaRPr/>
            </a:p>
          </p:txBody>
        </p:sp>
        <p:sp>
          <p:nvSpPr>
            <p:cNvPr id="17" name="object 17"/>
            <p:cNvSpPr/>
            <p:nvPr/>
          </p:nvSpPr>
          <p:spPr>
            <a:xfrm>
              <a:off x="6002136" y="4642103"/>
              <a:ext cx="483870" cy="1260475"/>
            </a:xfrm>
            <a:custGeom>
              <a:avLst/>
              <a:gdLst/>
              <a:ahLst/>
              <a:cxnLst/>
              <a:rect l="l" t="t" r="r" b="b"/>
              <a:pathLst>
                <a:path w="483870" h="1260475">
                  <a:moveTo>
                    <a:pt x="376565" y="0"/>
                  </a:moveTo>
                  <a:lnTo>
                    <a:pt x="373263" y="137287"/>
                  </a:lnTo>
                  <a:lnTo>
                    <a:pt x="332497" y="152510"/>
                  </a:lnTo>
                  <a:lnTo>
                    <a:pt x="293310" y="171748"/>
                  </a:lnTo>
                  <a:lnTo>
                    <a:pt x="255863" y="194783"/>
                  </a:lnTo>
                  <a:lnTo>
                    <a:pt x="220314" y="221402"/>
                  </a:lnTo>
                  <a:lnTo>
                    <a:pt x="186824" y="251387"/>
                  </a:lnTo>
                  <a:lnTo>
                    <a:pt x="155553" y="284524"/>
                  </a:lnTo>
                  <a:lnTo>
                    <a:pt x="126660" y="320595"/>
                  </a:lnTo>
                  <a:lnTo>
                    <a:pt x="100307" y="359386"/>
                  </a:lnTo>
                  <a:lnTo>
                    <a:pt x="76652" y="400681"/>
                  </a:lnTo>
                  <a:lnTo>
                    <a:pt x="55855" y="444264"/>
                  </a:lnTo>
                  <a:lnTo>
                    <a:pt x="38077" y="489919"/>
                  </a:lnTo>
                  <a:lnTo>
                    <a:pt x="23478" y="537430"/>
                  </a:lnTo>
                  <a:lnTo>
                    <a:pt x="12217" y="586582"/>
                  </a:lnTo>
                  <a:lnTo>
                    <a:pt x="4455" y="637159"/>
                  </a:lnTo>
                  <a:lnTo>
                    <a:pt x="295" y="689213"/>
                  </a:lnTo>
                  <a:lnTo>
                    <a:pt x="0" y="740386"/>
                  </a:lnTo>
                  <a:lnTo>
                    <a:pt x="3426" y="790458"/>
                  </a:lnTo>
                  <a:lnTo>
                    <a:pt x="10432" y="839210"/>
                  </a:lnTo>
                  <a:lnTo>
                    <a:pt x="20877" y="886420"/>
                  </a:lnTo>
                  <a:lnTo>
                    <a:pt x="34619" y="931870"/>
                  </a:lnTo>
                  <a:lnTo>
                    <a:pt x="51517" y="975340"/>
                  </a:lnTo>
                  <a:lnTo>
                    <a:pt x="71428" y="1016609"/>
                  </a:lnTo>
                  <a:lnTo>
                    <a:pt x="94212" y="1055458"/>
                  </a:lnTo>
                  <a:lnTo>
                    <a:pt x="119726" y="1091667"/>
                  </a:lnTo>
                  <a:lnTo>
                    <a:pt x="147829" y="1125016"/>
                  </a:lnTo>
                  <a:lnTo>
                    <a:pt x="178379" y="1155285"/>
                  </a:lnTo>
                  <a:lnTo>
                    <a:pt x="211234" y="1182253"/>
                  </a:lnTo>
                  <a:lnTo>
                    <a:pt x="246254" y="1205703"/>
                  </a:lnTo>
                  <a:lnTo>
                    <a:pt x="283296" y="1225412"/>
                  </a:lnTo>
                  <a:lnTo>
                    <a:pt x="322219" y="1241162"/>
                  </a:lnTo>
                  <a:lnTo>
                    <a:pt x="362880" y="1252732"/>
                  </a:lnTo>
                  <a:lnTo>
                    <a:pt x="405140" y="1259903"/>
                  </a:lnTo>
                  <a:lnTo>
                    <a:pt x="422920" y="1107732"/>
                  </a:lnTo>
                  <a:lnTo>
                    <a:pt x="379915" y="1098869"/>
                  </a:lnTo>
                  <a:lnTo>
                    <a:pt x="339223" y="1082471"/>
                  </a:lnTo>
                  <a:lnTo>
                    <a:pt x="301311" y="1059006"/>
                  </a:lnTo>
                  <a:lnTo>
                    <a:pt x="266646" y="1028941"/>
                  </a:lnTo>
                  <a:lnTo>
                    <a:pt x="235696" y="992744"/>
                  </a:lnTo>
                  <a:lnTo>
                    <a:pt x="208929" y="950883"/>
                  </a:lnTo>
                  <a:lnTo>
                    <a:pt x="186810" y="903827"/>
                  </a:lnTo>
                  <a:lnTo>
                    <a:pt x="169809" y="852043"/>
                  </a:lnTo>
                  <a:lnTo>
                    <a:pt x="159297" y="802321"/>
                  </a:lnTo>
                  <a:lnTo>
                    <a:pt x="153778" y="751973"/>
                  </a:lnTo>
                  <a:lnTo>
                    <a:pt x="153067" y="701513"/>
                  </a:lnTo>
                  <a:lnTo>
                    <a:pt x="156975" y="651455"/>
                  </a:lnTo>
                  <a:lnTo>
                    <a:pt x="165316" y="602314"/>
                  </a:lnTo>
                  <a:lnTo>
                    <a:pt x="177904" y="554604"/>
                  </a:lnTo>
                  <a:lnTo>
                    <a:pt x="194550" y="508840"/>
                  </a:lnTo>
                  <a:lnTo>
                    <a:pt x="215068" y="465535"/>
                  </a:lnTo>
                  <a:lnTo>
                    <a:pt x="239272" y="425205"/>
                  </a:lnTo>
                  <a:lnTo>
                    <a:pt x="266974" y="388362"/>
                  </a:lnTo>
                  <a:lnTo>
                    <a:pt x="297987" y="355523"/>
                  </a:lnTo>
                  <a:lnTo>
                    <a:pt x="332124" y="327201"/>
                  </a:lnTo>
                  <a:lnTo>
                    <a:pt x="369199" y="303911"/>
                  </a:lnTo>
                  <a:lnTo>
                    <a:pt x="365897" y="438023"/>
                  </a:lnTo>
                  <a:lnTo>
                    <a:pt x="483753" y="194945"/>
                  </a:lnTo>
                  <a:lnTo>
                    <a:pt x="376565" y="0"/>
                  </a:lnTo>
                  <a:close/>
                </a:path>
              </a:pathLst>
            </a:custGeom>
            <a:solidFill>
              <a:srgbClr val="E1751D"/>
            </a:solidFill>
          </p:spPr>
          <p:txBody>
            <a:bodyPr wrap="square" lIns="0" tIns="0" rIns="0" bIns="0" rtlCol="0"/>
            <a:lstStyle/>
            <a:p>
              <a:endParaRPr/>
            </a:p>
          </p:txBody>
        </p:sp>
        <p:sp>
          <p:nvSpPr>
            <p:cNvPr id="18" name="object 18"/>
            <p:cNvSpPr/>
            <p:nvPr/>
          </p:nvSpPr>
          <p:spPr>
            <a:xfrm>
              <a:off x="6002136" y="4642103"/>
              <a:ext cx="483870" cy="1260475"/>
            </a:xfrm>
            <a:custGeom>
              <a:avLst/>
              <a:gdLst/>
              <a:ahLst/>
              <a:cxnLst/>
              <a:rect l="l" t="t" r="r" b="b"/>
              <a:pathLst>
                <a:path w="483870" h="1260475">
                  <a:moveTo>
                    <a:pt x="405140" y="1259903"/>
                  </a:moveTo>
                  <a:lnTo>
                    <a:pt x="362880" y="1252732"/>
                  </a:lnTo>
                  <a:lnTo>
                    <a:pt x="322219" y="1241162"/>
                  </a:lnTo>
                  <a:lnTo>
                    <a:pt x="283296" y="1225412"/>
                  </a:lnTo>
                  <a:lnTo>
                    <a:pt x="246254" y="1205703"/>
                  </a:lnTo>
                  <a:lnTo>
                    <a:pt x="211234" y="1182253"/>
                  </a:lnTo>
                  <a:lnTo>
                    <a:pt x="178379" y="1155285"/>
                  </a:lnTo>
                  <a:lnTo>
                    <a:pt x="147829" y="1125016"/>
                  </a:lnTo>
                  <a:lnTo>
                    <a:pt x="119726" y="1091667"/>
                  </a:lnTo>
                  <a:lnTo>
                    <a:pt x="94212" y="1055458"/>
                  </a:lnTo>
                  <a:lnTo>
                    <a:pt x="71428" y="1016609"/>
                  </a:lnTo>
                  <a:lnTo>
                    <a:pt x="51517" y="975340"/>
                  </a:lnTo>
                  <a:lnTo>
                    <a:pt x="34619" y="931870"/>
                  </a:lnTo>
                  <a:lnTo>
                    <a:pt x="20877" y="886420"/>
                  </a:lnTo>
                  <a:lnTo>
                    <a:pt x="10432" y="839210"/>
                  </a:lnTo>
                  <a:lnTo>
                    <a:pt x="3426" y="790458"/>
                  </a:lnTo>
                  <a:lnTo>
                    <a:pt x="0" y="740386"/>
                  </a:lnTo>
                  <a:lnTo>
                    <a:pt x="295" y="689213"/>
                  </a:lnTo>
                  <a:lnTo>
                    <a:pt x="4455" y="637159"/>
                  </a:lnTo>
                  <a:lnTo>
                    <a:pt x="12217" y="586582"/>
                  </a:lnTo>
                  <a:lnTo>
                    <a:pt x="23478" y="537430"/>
                  </a:lnTo>
                  <a:lnTo>
                    <a:pt x="38077" y="489919"/>
                  </a:lnTo>
                  <a:lnTo>
                    <a:pt x="55855" y="444264"/>
                  </a:lnTo>
                  <a:lnTo>
                    <a:pt x="76652" y="400681"/>
                  </a:lnTo>
                  <a:lnTo>
                    <a:pt x="100307" y="359386"/>
                  </a:lnTo>
                  <a:lnTo>
                    <a:pt x="126660" y="320595"/>
                  </a:lnTo>
                  <a:lnTo>
                    <a:pt x="155553" y="284524"/>
                  </a:lnTo>
                  <a:lnTo>
                    <a:pt x="186824" y="251387"/>
                  </a:lnTo>
                  <a:lnTo>
                    <a:pt x="220314" y="221402"/>
                  </a:lnTo>
                  <a:lnTo>
                    <a:pt x="255863" y="194783"/>
                  </a:lnTo>
                  <a:lnTo>
                    <a:pt x="293310" y="171748"/>
                  </a:lnTo>
                  <a:lnTo>
                    <a:pt x="332497" y="152510"/>
                  </a:lnTo>
                  <a:lnTo>
                    <a:pt x="373263" y="137287"/>
                  </a:lnTo>
                  <a:lnTo>
                    <a:pt x="376565" y="0"/>
                  </a:lnTo>
                  <a:lnTo>
                    <a:pt x="483753" y="194945"/>
                  </a:lnTo>
                  <a:lnTo>
                    <a:pt x="365897" y="438023"/>
                  </a:lnTo>
                  <a:lnTo>
                    <a:pt x="369199" y="303911"/>
                  </a:lnTo>
                  <a:lnTo>
                    <a:pt x="332124" y="327201"/>
                  </a:lnTo>
                  <a:lnTo>
                    <a:pt x="297987" y="355523"/>
                  </a:lnTo>
                  <a:lnTo>
                    <a:pt x="266974" y="388362"/>
                  </a:lnTo>
                  <a:lnTo>
                    <a:pt x="239272" y="425205"/>
                  </a:lnTo>
                  <a:lnTo>
                    <a:pt x="215068" y="465535"/>
                  </a:lnTo>
                  <a:lnTo>
                    <a:pt x="194550" y="508840"/>
                  </a:lnTo>
                  <a:lnTo>
                    <a:pt x="177904" y="554604"/>
                  </a:lnTo>
                  <a:lnTo>
                    <a:pt x="165316" y="602314"/>
                  </a:lnTo>
                  <a:lnTo>
                    <a:pt x="156975" y="651455"/>
                  </a:lnTo>
                  <a:lnTo>
                    <a:pt x="153067" y="701513"/>
                  </a:lnTo>
                  <a:lnTo>
                    <a:pt x="153778" y="751973"/>
                  </a:lnTo>
                  <a:lnTo>
                    <a:pt x="159297" y="802321"/>
                  </a:lnTo>
                  <a:lnTo>
                    <a:pt x="169809" y="852043"/>
                  </a:lnTo>
                  <a:lnTo>
                    <a:pt x="186810" y="903827"/>
                  </a:lnTo>
                  <a:lnTo>
                    <a:pt x="208929" y="950883"/>
                  </a:lnTo>
                  <a:lnTo>
                    <a:pt x="235696" y="992744"/>
                  </a:lnTo>
                  <a:lnTo>
                    <a:pt x="266646" y="1028941"/>
                  </a:lnTo>
                  <a:lnTo>
                    <a:pt x="301311" y="1059006"/>
                  </a:lnTo>
                  <a:lnTo>
                    <a:pt x="339223" y="1082471"/>
                  </a:lnTo>
                  <a:lnTo>
                    <a:pt x="379915" y="1098869"/>
                  </a:lnTo>
                  <a:lnTo>
                    <a:pt x="422920" y="1107732"/>
                  </a:lnTo>
                  <a:lnTo>
                    <a:pt x="405140" y="1259903"/>
                  </a:lnTo>
                  <a:close/>
                </a:path>
              </a:pathLst>
            </a:custGeom>
            <a:ln w="26424">
              <a:solidFill>
                <a:srgbClr val="A65312"/>
              </a:solidFill>
            </a:ln>
          </p:spPr>
          <p:txBody>
            <a:bodyPr wrap="square" lIns="0" tIns="0" rIns="0" bIns="0" rtlCol="0"/>
            <a:lstStyle/>
            <a:p>
              <a:endParaRPr/>
            </a:p>
          </p:txBody>
        </p:sp>
        <p:sp>
          <p:nvSpPr>
            <p:cNvPr id="19" name="object 19"/>
            <p:cNvSpPr/>
            <p:nvPr/>
          </p:nvSpPr>
          <p:spPr>
            <a:xfrm>
              <a:off x="5786886" y="5723147"/>
              <a:ext cx="124460" cy="100330"/>
            </a:xfrm>
            <a:custGeom>
              <a:avLst/>
              <a:gdLst/>
              <a:ahLst/>
              <a:cxnLst/>
              <a:rect l="l" t="t" r="r" b="b"/>
              <a:pathLst>
                <a:path w="124460" h="100329">
                  <a:moveTo>
                    <a:pt x="101490" y="0"/>
                  </a:moveTo>
                  <a:lnTo>
                    <a:pt x="22553" y="0"/>
                  </a:lnTo>
                  <a:lnTo>
                    <a:pt x="0" y="29552"/>
                  </a:lnTo>
                  <a:lnTo>
                    <a:pt x="0" y="70193"/>
                  </a:lnTo>
                  <a:lnTo>
                    <a:pt x="101490" y="99746"/>
                  </a:lnTo>
                  <a:lnTo>
                    <a:pt x="110268" y="97424"/>
                  </a:lnTo>
                  <a:lnTo>
                    <a:pt x="117437" y="91090"/>
                  </a:lnTo>
                  <a:lnTo>
                    <a:pt x="122270" y="81697"/>
                  </a:lnTo>
                  <a:lnTo>
                    <a:pt x="124042" y="70193"/>
                  </a:lnTo>
                  <a:lnTo>
                    <a:pt x="124042" y="29552"/>
                  </a:lnTo>
                  <a:lnTo>
                    <a:pt x="122270" y="18049"/>
                  </a:lnTo>
                  <a:lnTo>
                    <a:pt x="117437" y="8655"/>
                  </a:lnTo>
                  <a:lnTo>
                    <a:pt x="110268" y="2322"/>
                  </a:lnTo>
                  <a:lnTo>
                    <a:pt x="101490" y="0"/>
                  </a:lnTo>
                  <a:close/>
                </a:path>
              </a:pathLst>
            </a:custGeom>
            <a:solidFill>
              <a:srgbClr val="36B496"/>
            </a:solidFill>
          </p:spPr>
          <p:txBody>
            <a:bodyPr wrap="square" lIns="0" tIns="0" rIns="0" bIns="0" rtlCol="0"/>
            <a:lstStyle/>
            <a:p>
              <a:endParaRPr/>
            </a:p>
          </p:txBody>
        </p:sp>
        <p:sp>
          <p:nvSpPr>
            <p:cNvPr id="20" name="object 20"/>
            <p:cNvSpPr/>
            <p:nvPr/>
          </p:nvSpPr>
          <p:spPr>
            <a:xfrm>
              <a:off x="5786886" y="5723147"/>
              <a:ext cx="124460" cy="100330"/>
            </a:xfrm>
            <a:custGeom>
              <a:avLst/>
              <a:gdLst/>
              <a:ahLst/>
              <a:cxnLst/>
              <a:rect l="l" t="t" r="r" b="b"/>
              <a:pathLst>
                <a:path w="124460" h="100329">
                  <a:moveTo>
                    <a:pt x="101490" y="99746"/>
                  </a:moveTo>
                  <a:lnTo>
                    <a:pt x="110268" y="97424"/>
                  </a:lnTo>
                  <a:lnTo>
                    <a:pt x="117437" y="91090"/>
                  </a:lnTo>
                  <a:lnTo>
                    <a:pt x="122270" y="81697"/>
                  </a:lnTo>
                  <a:lnTo>
                    <a:pt x="124042" y="70193"/>
                  </a:lnTo>
                  <a:lnTo>
                    <a:pt x="124042" y="29552"/>
                  </a:lnTo>
                  <a:lnTo>
                    <a:pt x="122270" y="18049"/>
                  </a:lnTo>
                  <a:lnTo>
                    <a:pt x="117437" y="8655"/>
                  </a:lnTo>
                  <a:lnTo>
                    <a:pt x="110268" y="2322"/>
                  </a:lnTo>
                  <a:lnTo>
                    <a:pt x="101490" y="0"/>
                  </a:lnTo>
                  <a:lnTo>
                    <a:pt x="22553" y="0"/>
                  </a:lnTo>
                  <a:lnTo>
                    <a:pt x="0" y="29552"/>
                  </a:lnTo>
                  <a:lnTo>
                    <a:pt x="0" y="70193"/>
                  </a:lnTo>
                  <a:lnTo>
                    <a:pt x="1772" y="81697"/>
                  </a:lnTo>
                  <a:lnTo>
                    <a:pt x="6605" y="91090"/>
                  </a:lnTo>
                  <a:lnTo>
                    <a:pt x="13774" y="97424"/>
                  </a:lnTo>
                  <a:lnTo>
                    <a:pt x="22553" y="99746"/>
                  </a:lnTo>
                  <a:lnTo>
                    <a:pt x="101490" y="99746"/>
                  </a:lnTo>
                  <a:close/>
                </a:path>
              </a:pathLst>
            </a:custGeom>
            <a:ln w="5673">
              <a:solidFill>
                <a:srgbClr val="000000"/>
              </a:solidFill>
            </a:ln>
          </p:spPr>
          <p:txBody>
            <a:bodyPr wrap="square" lIns="0" tIns="0" rIns="0" bIns="0" rtlCol="0"/>
            <a:lstStyle/>
            <a:p>
              <a:endParaRPr/>
            </a:p>
          </p:txBody>
        </p:sp>
        <p:sp>
          <p:nvSpPr>
            <p:cNvPr id="21" name="object 21"/>
            <p:cNvSpPr/>
            <p:nvPr/>
          </p:nvSpPr>
          <p:spPr>
            <a:xfrm>
              <a:off x="6119546" y="5604931"/>
              <a:ext cx="124460" cy="100330"/>
            </a:xfrm>
            <a:custGeom>
              <a:avLst/>
              <a:gdLst/>
              <a:ahLst/>
              <a:cxnLst/>
              <a:rect l="l" t="t" r="r" b="b"/>
              <a:pathLst>
                <a:path w="124460" h="100329">
                  <a:moveTo>
                    <a:pt x="101494" y="0"/>
                  </a:moveTo>
                  <a:lnTo>
                    <a:pt x="22552" y="0"/>
                  </a:lnTo>
                  <a:lnTo>
                    <a:pt x="0" y="29552"/>
                  </a:lnTo>
                  <a:lnTo>
                    <a:pt x="0" y="70193"/>
                  </a:lnTo>
                  <a:lnTo>
                    <a:pt x="101494" y="99746"/>
                  </a:lnTo>
                  <a:lnTo>
                    <a:pt x="110271" y="97424"/>
                  </a:lnTo>
                  <a:lnTo>
                    <a:pt x="117441" y="91090"/>
                  </a:lnTo>
                  <a:lnTo>
                    <a:pt x="122276" y="81697"/>
                  </a:lnTo>
                  <a:lnTo>
                    <a:pt x="124050" y="70193"/>
                  </a:lnTo>
                  <a:lnTo>
                    <a:pt x="124050" y="29552"/>
                  </a:lnTo>
                  <a:lnTo>
                    <a:pt x="122276" y="18049"/>
                  </a:lnTo>
                  <a:lnTo>
                    <a:pt x="117441" y="8655"/>
                  </a:lnTo>
                  <a:lnTo>
                    <a:pt x="110271" y="2322"/>
                  </a:lnTo>
                  <a:lnTo>
                    <a:pt x="101494" y="0"/>
                  </a:lnTo>
                  <a:close/>
                </a:path>
              </a:pathLst>
            </a:custGeom>
            <a:solidFill>
              <a:srgbClr val="36B496"/>
            </a:solidFill>
          </p:spPr>
          <p:txBody>
            <a:bodyPr wrap="square" lIns="0" tIns="0" rIns="0" bIns="0" rtlCol="0"/>
            <a:lstStyle/>
            <a:p>
              <a:endParaRPr/>
            </a:p>
          </p:txBody>
        </p:sp>
        <p:sp>
          <p:nvSpPr>
            <p:cNvPr id="22" name="object 22"/>
            <p:cNvSpPr/>
            <p:nvPr/>
          </p:nvSpPr>
          <p:spPr>
            <a:xfrm>
              <a:off x="6119546" y="5604931"/>
              <a:ext cx="124460" cy="100330"/>
            </a:xfrm>
            <a:custGeom>
              <a:avLst/>
              <a:gdLst/>
              <a:ahLst/>
              <a:cxnLst/>
              <a:rect l="l" t="t" r="r" b="b"/>
              <a:pathLst>
                <a:path w="124460" h="100329">
                  <a:moveTo>
                    <a:pt x="101494" y="99746"/>
                  </a:moveTo>
                  <a:lnTo>
                    <a:pt x="110271" y="97424"/>
                  </a:lnTo>
                  <a:lnTo>
                    <a:pt x="117441" y="91090"/>
                  </a:lnTo>
                  <a:lnTo>
                    <a:pt x="122276" y="81697"/>
                  </a:lnTo>
                  <a:lnTo>
                    <a:pt x="124050" y="70193"/>
                  </a:lnTo>
                  <a:lnTo>
                    <a:pt x="124050" y="29552"/>
                  </a:lnTo>
                  <a:lnTo>
                    <a:pt x="122276" y="18049"/>
                  </a:lnTo>
                  <a:lnTo>
                    <a:pt x="117441" y="8655"/>
                  </a:lnTo>
                  <a:lnTo>
                    <a:pt x="110271" y="2322"/>
                  </a:lnTo>
                  <a:lnTo>
                    <a:pt x="101494" y="0"/>
                  </a:lnTo>
                  <a:lnTo>
                    <a:pt x="22552" y="0"/>
                  </a:lnTo>
                  <a:lnTo>
                    <a:pt x="0" y="29552"/>
                  </a:lnTo>
                  <a:lnTo>
                    <a:pt x="0" y="70193"/>
                  </a:lnTo>
                  <a:lnTo>
                    <a:pt x="1772" y="81697"/>
                  </a:lnTo>
                  <a:lnTo>
                    <a:pt x="6605" y="91090"/>
                  </a:lnTo>
                  <a:lnTo>
                    <a:pt x="13773" y="97424"/>
                  </a:lnTo>
                  <a:lnTo>
                    <a:pt x="22552" y="99746"/>
                  </a:lnTo>
                  <a:lnTo>
                    <a:pt x="101494" y="99746"/>
                  </a:lnTo>
                  <a:close/>
                </a:path>
              </a:pathLst>
            </a:custGeom>
            <a:ln w="5673">
              <a:solidFill>
                <a:srgbClr val="000000"/>
              </a:solidFill>
            </a:ln>
          </p:spPr>
          <p:txBody>
            <a:bodyPr wrap="square" lIns="0" tIns="0" rIns="0" bIns="0" rtlCol="0"/>
            <a:lstStyle/>
            <a:p>
              <a:endParaRPr/>
            </a:p>
          </p:txBody>
        </p:sp>
        <p:sp>
          <p:nvSpPr>
            <p:cNvPr id="23" name="object 23"/>
            <p:cNvSpPr/>
            <p:nvPr/>
          </p:nvSpPr>
          <p:spPr>
            <a:xfrm>
              <a:off x="6040611" y="5835822"/>
              <a:ext cx="124460" cy="100330"/>
            </a:xfrm>
            <a:custGeom>
              <a:avLst/>
              <a:gdLst/>
              <a:ahLst/>
              <a:cxnLst/>
              <a:rect l="l" t="t" r="r" b="b"/>
              <a:pathLst>
                <a:path w="124460" h="100329">
                  <a:moveTo>
                    <a:pt x="101486" y="0"/>
                  </a:moveTo>
                  <a:lnTo>
                    <a:pt x="22552" y="0"/>
                  </a:lnTo>
                  <a:lnTo>
                    <a:pt x="0" y="29558"/>
                  </a:lnTo>
                  <a:lnTo>
                    <a:pt x="0" y="70193"/>
                  </a:lnTo>
                  <a:lnTo>
                    <a:pt x="101486" y="99746"/>
                  </a:lnTo>
                  <a:lnTo>
                    <a:pt x="110265" y="97424"/>
                  </a:lnTo>
                  <a:lnTo>
                    <a:pt x="117435" y="91090"/>
                  </a:lnTo>
                  <a:lnTo>
                    <a:pt x="122269" y="81697"/>
                  </a:lnTo>
                  <a:lnTo>
                    <a:pt x="124042" y="70193"/>
                  </a:lnTo>
                  <a:lnTo>
                    <a:pt x="124042" y="29558"/>
                  </a:lnTo>
                  <a:lnTo>
                    <a:pt x="122269" y="18053"/>
                  </a:lnTo>
                  <a:lnTo>
                    <a:pt x="117435" y="8658"/>
                  </a:lnTo>
                  <a:lnTo>
                    <a:pt x="110265" y="2323"/>
                  </a:lnTo>
                  <a:lnTo>
                    <a:pt x="101486" y="0"/>
                  </a:lnTo>
                  <a:close/>
                </a:path>
              </a:pathLst>
            </a:custGeom>
            <a:solidFill>
              <a:srgbClr val="36B496"/>
            </a:solidFill>
          </p:spPr>
          <p:txBody>
            <a:bodyPr wrap="square" lIns="0" tIns="0" rIns="0" bIns="0" rtlCol="0"/>
            <a:lstStyle/>
            <a:p>
              <a:endParaRPr/>
            </a:p>
          </p:txBody>
        </p:sp>
        <p:sp>
          <p:nvSpPr>
            <p:cNvPr id="24" name="object 24"/>
            <p:cNvSpPr/>
            <p:nvPr/>
          </p:nvSpPr>
          <p:spPr>
            <a:xfrm>
              <a:off x="6040611" y="5835822"/>
              <a:ext cx="124460" cy="100330"/>
            </a:xfrm>
            <a:custGeom>
              <a:avLst/>
              <a:gdLst/>
              <a:ahLst/>
              <a:cxnLst/>
              <a:rect l="l" t="t" r="r" b="b"/>
              <a:pathLst>
                <a:path w="124460" h="100329">
                  <a:moveTo>
                    <a:pt x="101486" y="99746"/>
                  </a:moveTo>
                  <a:lnTo>
                    <a:pt x="110265" y="97424"/>
                  </a:lnTo>
                  <a:lnTo>
                    <a:pt x="117435" y="91090"/>
                  </a:lnTo>
                  <a:lnTo>
                    <a:pt x="122269" y="81697"/>
                  </a:lnTo>
                  <a:lnTo>
                    <a:pt x="124042" y="70193"/>
                  </a:lnTo>
                  <a:lnTo>
                    <a:pt x="124042" y="29558"/>
                  </a:lnTo>
                  <a:lnTo>
                    <a:pt x="122269" y="18053"/>
                  </a:lnTo>
                  <a:lnTo>
                    <a:pt x="117435" y="8658"/>
                  </a:lnTo>
                  <a:lnTo>
                    <a:pt x="110265" y="2323"/>
                  </a:lnTo>
                  <a:lnTo>
                    <a:pt x="101486" y="0"/>
                  </a:lnTo>
                  <a:lnTo>
                    <a:pt x="22552" y="0"/>
                  </a:lnTo>
                  <a:lnTo>
                    <a:pt x="13773" y="2323"/>
                  </a:lnTo>
                  <a:lnTo>
                    <a:pt x="6605" y="8658"/>
                  </a:lnTo>
                  <a:lnTo>
                    <a:pt x="1772" y="18053"/>
                  </a:lnTo>
                  <a:lnTo>
                    <a:pt x="0" y="29558"/>
                  </a:lnTo>
                  <a:lnTo>
                    <a:pt x="0" y="70193"/>
                  </a:lnTo>
                  <a:lnTo>
                    <a:pt x="1772" y="81697"/>
                  </a:lnTo>
                  <a:lnTo>
                    <a:pt x="6605" y="91090"/>
                  </a:lnTo>
                  <a:lnTo>
                    <a:pt x="13773" y="97424"/>
                  </a:lnTo>
                  <a:lnTo>
                    <a:pt x="22552" y="99746"/>
                  </a:lnTo>
                  <a:lnTo>
                    <a:pt x="101486" y="99746"/>
                  </a:lnTo>
                  <a:close/>
                </a:path>
              </a:pathLst>
            </a:custGeom>
            <a:ln w="5673">
              <a:solidFill>
                <a:srgbClr val="000000"/>
              </a:solidFill>
            </a:ln>
          </p:spPr>
          <p:txBody>
            <a:bodyPr wrap="square" lIns="0" tIns="0" rIns="0" bIns="0" rtlCol="0"/>
            <a:lstStyle/>
            <a:p>
              <a:endParaRPr/>
            </a:p>
          </p:txBody>
        </p:sp>
        <p:sp>
          <p:nvSpPr>
            <p:cNvPr id="25" name="object 25"/>
            <p:cNvSpPr/>
            <p:nvPr/>
          </p:nvSpPr>
          <p:spPr>
            <a:xfrm>
              <a:off x="6316873" y="5708373"/>
              <a:ext cx="124460" cy="100330"/>
            </a:xfrm>
            <a:custGeom>
              <a:avLst/>
              <a:gdLst/>
              <a:ahLst/>
              <a:cxnLst/>
              <a:rect l="l" t="t" r="r" b="b"/>
              <a:pathLst>
                <a:path w="124460" h="100329">
                  <a:moveTo>
                    <a:pt x="101522" y="0"/>
                  </a:moveTo>
                  <a:lnTo>
                    <a:pt x="22556" y="0"/>
                  </a:lnTo>
                  <a:lnTo>
                    <a:pt x="0" y="29552"/>
                  </a:lnTo>
                  <a:lnTo>
                    <a:pt x="0" y="70188"/>
                  </a:lnTo>
                  <a:lnTo>
                    <a:pt x="101522" y="99741"/>
                  </a:lnTo>
                  <a:lnTo>
                    <a:pt x="110293" y="97418"/>
                  </a:lnTo>
                  <a:lnTo>
                    <a:pt x="117449" y="91085"/>
                  </a:lnTo>
                  <a:lnTo>
                    <a:pt x="122271" y="81692"/>
                  </a:lnTo>
                  <a:lnTo>
                    <a:pt x="124038" y="70188"/>
                  </a:lnTo>
                  <a:lnTo>
                    <a:pt x="124038" y="29552"/>
                  </a:lnTo>
                  <a:lnTo>
                    <a:pt x="122271" y="18049"/>
                  </a:lnTo>
                  <a:lnTo>
                    <a:pt x="117449" y="8655"/>
                  </a:lnTo>
                  <a:lnTo>
                    <a:pt x="110293" y="2322"/>
                  </a:lnTo>
                  <a:lnTo>
                    <a:pt x="101522" y="0"/>
                  </a:lnTo>
                  <a:close/>
                </a:path>
              </a:pathLst>
            </a:custGeom>
            <a:solidFill>
              <a:srgbClr val="36B496"/>
            </a:solidFill>
          </p:spPr>
          <p:txBody>
            <a:bodyPr wrap="square" lIns="0" tIns="0" rIns="0" bIns="0" rtlCol="0"/>
            <a:lstStyle/>
            <a:p>
              <a:endParaRPr/>
            </a:p>
          </p:txBody>
        </p:sp>
        <p:sp>
          <p:nvSpPr>
            <p:cNvPr id="26" name="object 26"/>
            <p:cNvSpPr/>
            <p:nvPr/>
          </p:nvSpPr>
          <p:spPr>
            <a:xfrm>
              <a:off x="6316873" y="5708373"/>
              <a:ext cx="124460" cy="100330"/>
            </a:xfrm>
            <a:custGeom>
              <a:avLst/>
              <a:gdLst/>
              <a:ahLst/>
              <a:cxnLst/>
              <a:rect l="l" t="t" r="r" b="b"/>
              <a:pathLst>
                <a:path w="124460" h="100329">
                  <a:moveTo>
                    <a:pt x="101522" y="99741"/>
                  </a:moveTo>
                  <a:lnTo>
                    <a:pt x="110293" y="97418"/>
                  </a:lnTo>
                  <a:lnTo>
                    <a:pt x="117449" y="91085"/>
                  </a:lnTo>
                  <a:lnTo>
                    <a:pt x="122271" y="81692"/>
                  </a:lnTo>
                  <a:lnTo>
                    <a:pt x="124038" y="70188"/>
                  </a:lnTo>
                  <a:lnTo>
                    <a:pt x="124038" y="29552"/>
                  </a:lnTo>
                  <a:lnTo>
                    <a:pt x="122271" y="18049"/>
                  </a:lnTo>
                  <a:lnTo>
                    <a:pt x="117449" y="8655"/>
                  </a:lnTo>
                  <a:lnTo>
                    <a:pt x="110293" y="2322"/>
                  </a:lnTo>
                  <a:lnTo>
                    <a:pt x="101522" y="0"/>
                  </a:lnTo>
                  <a:lnTo>
                    <a:pt x="22556" y="0"/>
                  </a:lnTo>
                  <a:lnTo>
                    <a:pt x="0" y="29552"/>
                  </a:lnTo>
                  <a:lnTo>
                    <a:pt x="0" y="70188"/>
                  </a:lnTo>
                  <a:lnTo>
                    <a:pt x="1773" y="81692"/>
                  </a:lnTo>
                  <a:lnTo>
                    <a:pt x="6608" y="91085"/>
                  </a:lnTo>
                  <a:lnTo>
                    <a:pt x="13778" y="97418"/>
                  </a:lnTo>
                  <a:lnTo>
                    <a:pt x="22556" y="99741"/>
                  </a:lnTo>
                  <a:lnTo>
                    <a:pt x="101522" y="99741"/>
                  </a:lnTo>
                  <a:close/>
                </a:path>
              </a:pathLst>
            </a:custGeom>
            <a:ln w="5673">
              <a:solidFill>
                <a:srgbClr val="000000"/>
              </a:solidFill>
            </a:ln>
          </p:spPr>
          <p:txBody>
            <a:bodyPr wrap="square" lIns="0" tIns="0" rIns="0" bIns="0" rtlCol="0"/>
            <a:lstStyle/>
            <a:p>
              <a:endParaRPr/>
            </a:p>
          </p:txBody>
        </p:sp>
        <p:sp>
          <p:nvSpPr>
            <p:cNvPr id="27" name="object 27"/>
            <p:cNvSpPr/>
            <p:nvPr/>
          </p:nvSpPr>
          <p:spPr>
            <a:xfrm>
              <a:off x="6316873" y="5959585"/>
              <a:ext cx="124460" cy="100330"/>
            </a:xfrm>
            <a:custGeom>
              <a:avLst/>
              <a:gdLst/>
              <a:ahLst/>
              <a:cxnLst/>
              <a:rect l="l" t="t" r="r" b="b"/>
              <a:pathLst>
                <a:path w="124460" h="100329">
                  <a:moveTo>
                    <a:pt x="101522" y="0"/>
                  </a:moveTo>
                  <a:lnTo>
                    <a:pt x="22556" y="0"/>
                  </a:lnTo>
                  <a:lnTo>
                    <a:pt x="0" y="29552"/>
                  </a:lnTo>
                  <a:lnTo>
                    <a:pt x="0" y="70189"/>
                  </a:lnTo>
                  <a:lnTo>
                    <a:pt x="101522" y="99743"/>
                  </a:lnTo>
                  <a:lnTo>
                    <a:pt x="110293" y="97420"/>
                  </a:lnTo>
                  <a:lnTo>
                    <a:pt x="117449" y="91087"/>
                  </a:lnTo>
                  <a:lnTo>
                    <a:pt x="122271" y="81693"/>
                  </a:lnTo>
                  <a:lnTo>
                    <a:pt x="124038" y="70189"/>
                  </a:lnTo>
                  <a:lnTo>
                    <a:pt x="124038" y="29552"/>
                  </a:lnTo>
                  <a:lnTo>
                    <a:pt x="122271" y="18049"/>
                  </a:lnTo>
                  <a:lnTo>
                    <a:pt x="117449" y="8655"/>
                  </a:lnTo>
                  <a:lnTo>
                    <a:pt x="110293" y="2322"/>
                  </a:lnTo>
                  <a:lnTo>
                    <a:pt x="101522" y="0"/>
                  </a:lnTo>
                  <a:close/>
                </a:path>
              </a:pathLst>
            </a:custGeom>
            <a:solidFill>
              <a:srgbClr val="36B496"/>
            </a:solidFill>
          </p:spPr>
          <p:txBody>
            <a:bodyPr wrap="square" lIns="0" tIns="0" rIns="0" bIns="0" rtlCol="0"/>
            <a:lstStyle/>
            <a:p>
              <a:endParaRPr/>
            </a:p>
          </p:txBody>
        </p:sp>
        <p:sp>
          <p:nvSpPr>
            <p:cNvPr id="28" name="object 28"/>
            <p:cNvSpPr/>
            <p:nvPr/>
          </p:nvSpPr>
          <p:spPr>
            <a:xfrm>
              <a:off x="6316873" y="5959585"/>
              <a:ext cx="124460" cy="100330"/>
            </a:xfrm>
            <a:custGeom>
              <a:avLst/>
              <a:gdLst/>
              <a:ahLst/>
              <a:cxnLst/>
              <a:rect l="l" t="t" r="r" b="b"/>
              <a:pathLst>
                <a:path w="124460" h="100329">
                  <a:moveTo>
                    <a:pt x="101522" y="99743"/>
                  </a:moveTo>
                  <a:lnTo>
                    <a:pt x="110293" y="97420"/>
                  </a:lnTo>
                  <a:lnTo>
                    <a:pt x="117449" y="91087"/>
                  </a:lnTo>
                  <a:lnTo>
                    <a:pt x="122271" y="81693"/>
                  </a:lnTo>
                  <a:lnTo>
                    <a:pt x="124038" y="70189"/>
                  </a:lnTo>
                  <a:lnTo>
                    <a:pt x="124038" y="29552"/>
                  </a:lnTo>
                  <a:lnTo>
                    <a:pt x="122271" y="18049"/>
                  </a:lnTo>
                  <a:lnTo>
                    <a:pt x="117449" y="8655"/>
                  </a:lnTo>
                  <a:lnTo>
                    <a:pt x="110293" y="2322"/>
                  </a:lnTo>
                  <a:lnTo>
                    <a:pt x="101522" y="0"/>
                  </a:lnTo>
                  <a:lnTo>
                    <a:pt x="22556" y="0"/>
                  </a:lnTo>
                  <a:lnTo>
                    <a:pt x="0" y="29552"/>
                  </a:lnTo>
                  <a:lnTo>
                    <a:pt x="0" y="70189"/>
                  </a:lnTo>
                  <a:lnTo>
                    <a:pt x="1773" y="81692"/>
                  </a:lnTo>
                  <a:lnTo>
                    <a:pt x="6608" y="91087"/>
                  </a:lnTo>
                  <a:lnTo>
                    <a:pt x="13778" y="97420"/>
                  </a:lnTo>
                  <a:lnTo>
                    <a:pt x="22556" y="99743"/>
                  </a:lnTo>
                  <a:lnTo>
                    <a:pt x="101522" y="99743"/>
                  </a:lnTo>
                  <a:close/>
                </a:path>
              </a:pathLst>
            </a:custGeom>
            <a:ln w="5673">
              <a:solidFill>
                <a:srgbClr val="000000"/>
              </a:solidFill>
            </a:ln>
          </p:spPr>
          <p:txBody>
            <a:bodyPr wrap="square" lIns="0" tIns="0" rIns="0" bIns="0" rtlCol="0"/>
            <a:lstStyle/>
            <a:p>
              <a:endParaRPr/>
            </a:p>
          </p:txBody>
        </p:sp>
        <p:sp>
          <p:nvSpPr>
            <p:cNvPr id="29" name="object 29"/>
            <p:cNvSpPr/>
            <p:nvPr/>
          </p:nvSpPr>
          <p:spPr>
            <a:xfrm>
              <a:off x="6621359" y="5647417"/>
              <a:ext cx="124460" cy="100330"/>
            </a:xfrm>
            <a:custGeom>
              <a:avLst/>
              <a:gdLst/>
              <a:ahLst/>
              <a:cxnLst/>
              <a:rect l="l" t="t" r="r" b="b"/>
              <a:pathLst>
                <a:path w="124459" h="100329">
                  <a:moveTo>
                    <a:pt x="101482" y="0"/>
                  </a:moveTo>
                  <a:lnTo>
                    <a:pt x="22556" y="0"/>
                  </a:lnTo>
                  <a:lnTo>
                    <a:pt x="0" y="29552"/>
                  </a:lnTo>
                  <a:lnTo>
                    <a:pt x="0" y="70188"/>
                  </a:lnTo>
                  <a:lnTo>
                    <a:pt x="101482" y="99746"/>
                  </a:lnTo>
                  <a:lnTo>
                    <a:pt x="110259" y="97421"/>
                  </a:lnTo>
                  <a:lnTo>
                    <a:pt x="117429" y="91086"/>
                  </a:lnTo>
                  <a:lnTo>
                    <a:pt x="122264" y="81692"/>
                  </a:lnTo>
                  <a:lnTo>
                    <a:pt x="124038" y="70188"/>
                  </a:lnTo>
                  <a:lnTo>
                    <a:pt x="124038" y="29552"/>
                  </a:lnTo>
                  <a:lnTo>
                    <a:pt x="122264" y="18049"/>
                  </a:lnTo>
                  <a:lnTo>
                    <a:pt x="117429" y="8655"/>
                  </a:lnTo>
                  <a:lnTo>
                    <a:pt x="110259" y="2322"/>
                  </a:lnTo>
                  <a:lnTo>
                    <a:pt x="101482" y="0"/>
                  </a:lnTo>
                  <a:close/>
                </a:path>
              </a:pathLst>
            </a:custGeom>
            <a:solidFill>
              <a:srgbClr val="36B496"/>
            </a:solidFill>
          </p:spPr>
          <p:txBody>
            <a:bodyPr wrap="square" lIns="0" tIns="0" rIns="0" bIns="0" rtlCol="0"/>
            <a:lstStyle/>
            <a:p>
              <a:endParaRPr/>
            </a:p>
          </p:txBody>
        </p:sp>
        <p:sp>
          <p:nvSpPr>
            <p:cNvPr id="30" name="object 30"/>
            <p:cNvSpPr/>
            <p:nvPr/>
          </p:nvSpPr>
          <p:spPr>
            <a:xfrm>
              <a:off x="6621359" y="5647417"/>
              <a:ext cx="124460" cy="100330"/>
            </a:xfrm>
            <a:custGeom>
              <a:avLst/>
              <a:gdLst/>
              <a:ahLst/>
              <a:cxnLst/>
              <a:rect l="l" t="t" r="r" b="b"/>
              <a:pathLst>
                <a:path w="124459" h="100329">
                  <a:moveTo>
                    <a:pt x="101482" y="99746"/>
                  </a:moveTo>
                  <a:lnTo>
                    <a:pt x="110259" y="97421"/>
                  </a:lnTo>
                  <a:lnTo>
                    <a:pt x="117429" y="91086"/>
                  </a:lnTo>
                  <a:lnTo>
                    <a:pt x="122264" y="81692"/>
                  </a:lnTo>
                  <a:lnTo>
                    <a:pt x="124038" y="70188"/>
                  </a:lnTo>
                  <a:lnTo>
                    <a:pt x="124038" y="29552"/>
                  </a:lnTo>
                  <a:lnTo>
                    <a:pt x="122264" y="18049"/>
                  </a:lnTo>
                  <a:lnTo>
                    <a:pt x="117429" y="8655"/>
                  </a:lnTo>
                  <a:lnTo>
                    <a:pt x="110259" y="2322"/>
                  </a:lnTo>
                  <a:lnTo>
                    <a:pt x="101482" y="0"/>
                  </a:lnTo>
                  <a:lnTo>
                    <a:pt x="22556" y="0"/>
                  </a:lnTo>
                  <a:lnTo>
                    <a:pt x="0" y="29552"/>
                  </a:lnTo>
                  <a:lnTo>
                    <a:pt x="0" y="70188"/>
                  </a:lnTo>
                  <a:lnTo>
                    <a:pt x="1773" y="81692"/>
                  </a:lnTo>
                  <a:lnTo>
                    <a:pt x="6608" y="91086"/>
                  </a:lnTo>
                  <a:lnTo>
                    <a:pt x="13778" y="97421"/>
                  </a:lnTo>
                  <a:lnTo>
                    <a:pt x="22556" y="99746"/>
                  </a:lnTo>
                  <a:lnTo>
                    <a:pt x="101482" y="99746"/>
                  </a:lnTo>
                  <a:close/>
                </a:path>
              </a:pathLst>
            </a:custGeom>
            <a:ln w="5673">
              <a:solidFill>
                <a:srgbClr val="000000"/>
              </a:solidFill>
            </a:ln>
          </p:spPr>
          <p:txBody>
            <a:bodyPr wrap="square" lIns="0" tIns="0" rIns="0" bIns="0" rtlCol="0"/>
            <a:lstStyle/>
            <a:p>
              <a:endParaRPr/>
            </a:p>
          </p:txBody>
        </p:sp>
        <p:sp>
          <p:nvSpPr>
            <p:cNvPr id="31" name="object 31"/>
            <p:cNvSpPr/>
            <p:nvPr/>
          </p:nvSpPr>
          <p:spPr>
            <a:xfrm>
              <a:off x="6790510" y="5920795"/>
              <a:ext cx="124460" cy="100330"/>
            </a:xfrm>
            <a:custGeom>
              <a:avLst/>
              <a:gdLst/>
              <a:ahLst/>
              <a:cxnLst/>
              <a:rect l="l" t="t" r="r" b="b"/>
              <a:pathLst>
                <a:path w="124459" h="100329">
                  <a:moveTo>
                    <a:pt x="101482" y="0"/>
                  </a:moveTo>
                  <a:lnTo>
                    <a:pt x="22556" y="0"/>
                  </a:lnTo>
                  <a:lnTo>
                    <a:pt x="0" y="29552"/>
                  </a:lnTo>
                  <a:lnTo>
                    <a:pt x="0" y="70188"/>
                  </a:lnTo>
                  <a:lnTo>
                    <a:pt x="101482" y="99743"/>
                  </a:lnTo>
                  <a:lnTo>
                    <a:pt x="110259" y="97420"/>
                  </a:lnTo>
                  <a:lnTo>
                    <a:pt x="117429" y="91086"/>
                  </a:lnTo>
                  <a:lnTo>
                    <a:pt x="122264" y="81692"/>
                  </a:lnTo>
                  <a:lnTo>
                    <a:pt x="124038" y="70188"/>
                  </a:lnTo>
                  <a:lnTo>
                    <a:pt x="124038" y="29552"/>
                  </a:lnTo>
                  <a:lnTo>
                    <a:pt x="122264" y="18049"/>
                  </a:lnTo>
                  <a:lnTo>
                    <a:pt x="117429" y="8655"/>
                  </a:lnTo>
                  <a:lnTo>
                    <a:pt x="110259" y="2322"/>
                  </a:lnTo>
                  <a:lnTo>
                    <a:pt x="101482" y="0"/>
                  </a:lnTo>
                  <a:close/>
                </a:path>
              </a:pathLst>
            </a:custGeom>
            <a:solidFill>
              <a:srgbClr val="36B496"/>
            </a:solidFill>
          </p:spPr>
          <p:txBody>
            <a:bodyPr wrap="square" lIns="0" tIns="0" rIns="0" bIns="0" rtlCol="0"/>
            <a:lstStyle/>
            <a:p>
              <a:endParaRPr/>
            </a:p>
          </p:txBody>
        </p:sp>
        <p:sp>
          <p:nvSpPr>
            <p:cNvPr id="32" name="object 32"/>
            <p:cNvSpPr/>
            <p:nvPr/>
          </p:nvSpPr>
          <p:spPr>
            <a:xfrm>
              <a:off x="6790510" y="5920795"/>
              <a:ext cx="124460" cy="100330"/>
            </a:xfrm>
            <a:custGeom>
              <a:avLst/>
              <a:gdLst/>
              <a:ahLst/>
              <a:cxnLst/>
              <a:rect l="l" t="t" r="r" b="b"/>
              <a:pathLst>
                <a:path w="124459" h="100329">
                  <a:moveTo>
                    <a:pt x="101482" y="99743"/>
                  </a:moveTo>
                  <a:lnTo>
                    <a:pt x="110259" y="97420"/>
                  </a:lnTo>
                  <a:lnTo>
                    <a:pt x="117429" y="91086"/>
                  </a:lnTo>
                  <a:lnTo>
                    <a:pt x="122264" y="81692"/>
                  </a:lnTo>
                  <a:lnTo>
                    <a:pt x="124038" y="70188"/>
                  </a:lnTo>
                  <a:lnTo>
                    <a:pt x="124038" y="29552"/>
                  </a:lnTo>
                  <a:lnTo>
                    <a:pt x="122264" y="18049"/>
                  </a:lnTo>
                  <a:lnTo>
                    <a:pt x="117429" y="8655"/>
                  </a:lnTo>
                  <a:lnTo>
                    <a:pt x="110259" y="2322"/>
                  </a:lnTo>
                  <a:lnTo>
                    <a:pt x="101482" y="0"/>
                  </a:lnTo>
                  <a:lnTo>
                    <a:pt x="22556" y="0"/>
                  </a:lnTo>
                  <a:lnTo>
                    <a:pt x="13778" y="2322"/>
                  </a:lnTo>
                  <a:lnTo>
                    <a:pt x="6608" y="8655"/>
                  </a:lnTo>
                  <a:lnTo>
                    <a:pt x="1773" y="18049"/>
                  </a:lnTo>
                  <a:lnTo>
                    <a:pt x="0" y="29552"/>
                  </a:lnTo>
                  <a:lnTo>
                    <a:pt x="0" y="70188"/>
                  </a:lnTo>
                  <a:lnTo>
                    <a:pt x="1773" y="81692"/>
                  </a:lnTo>
                  <a:lnTo>
                    <a:pt x="6608" y="91086"/>
                  </a:lnTo>
                  <a:lnTo>
                    <a:pt x="13778" y="97420"/>
                  </a:lnTo>
                  <a:lnTo>
                    <a:pt x="22556" y="99743"/>
                  </a:lnTo>
                  <a:lnTo>
                    <a:pt x="101482" y="99743"/>
                  </a:lnTo>
                  <a:close/>
                </a:path>
              </a:pathLst>
            </a:custGeom>
            <a:ln w="5673">
              <a:solidFill>
                <a:srgbClr val="000000"/>
              </a:solidFill>
            </a:ln>
          </p:spPr>
          <p:txBody>
            <a:bodyPr wrap="square" lIns="0" tIns="0" rIns="0" bIns="0" rtlCol="0"/>
            <a:lstStyle/>
            <a:p>
              <a:endParaRPr/>
            </a:p>
          </p:txBody>
        </p:sp>
        <p:sp>
          <p:nvSpPr>
            <p:cNvPr id="33" name="object 33"/>
            <p:cNvSpPr/>
            <p:nvPr/>
          </p:nvSpPr>
          <p:spPr>
            <a:xfrm>
              <a:off x="6632618" y="5920795"/>
              <a:ext cx="124460" cy="100330"/>
            </a:xfrm>
            <a:custGeom>
              <a:avLst/>
              <a:gdLst/>
              <a:ahLst/>
              <a:cxnLst/>
              <a:rect l="l" t="t" r="r" b="b"/>
              <a:pathLst>
                <a:path w="124459" h="100329">
                  <a:moveTo>
                    <a:pt x="101522" y="0"/>
                  </a:moveTo>
                  <a:lnTo>
                    <a:pt x="22556" y="0"/>
                  </a:lnTo>
                  <a:lnTo>
                    <a:pt x="0" y="29552"/>
                  </a:lnTo>
                  <a:lnTo>
                    <a:pt x="0" y="70188"/>
                  </a:lnTo>
                  <a:lnTo>
                    <a:pt x="101522" y="99743"/>
                  </a:lnTo>
                  <a:lnTo>
                    <a:pt x="110293" y="97420"/>
                  </a:lnTo>
                  <a:lnTo>
                    <a:pt x="117449" y="91086"/>
                  </a:lnTo>
                  <a:lnTo>
                    <a:pt x="122271" y="81692"/>
                  </a:lnTo>
                  <a:lnTo>
                    <a:pt x="124038" y="70188"/>
                  </a:lnTo>
                  <a:lnTo>
                    <a:pt x="124038" y="29552"/>
                  </a:lnTo>
                  <a:lnTo>
                    <a:pt x="122271" y="18049"/>
                  </a:lnTo>
                  <a:lnTo>
                    <a:pt x="117449" y="8655"/>
                  </a:lnTo>
                  <a:lnTo>
                    <a:pt x="110293" y="2322"/>
                  </a:lnTo>
                  <a:lnTo>
                    <a:pt x="101522" y="0"/>
                  </a:lnTo>
                  <a:close/>
                </a:path>
              </a:pathLst>
            </a:custGeom>
            <a:solidFill>
              <a:srgbClr val="36B496"/>
            </a:solidFill>
          </p:spPr>
          <p:txBody>
            <a:bodyPr wrap="square" lIns="0" tIns="0" rIns="0" bIns="0" rtlCol="0"/>
            <a:lstStyle/>
            <a:p>
              <a:endParaRPr/>
            </a:p>
          </p:txBody>
        </p:sp>
        <p:sp>
          <p:nvSpPr>
            <p:cNvPr id="34" name="object 34"/>
            <p:cNvSpPr/>
            <p:nvPr/>
          </p:nvSpPr>
          <p:spPr>
            <a:xfrm>
              <a:off x="6632618" y="5920795"/>
              <a:ext cx="124460" cy="100330"/>
            </a:xfrm>
            <a:custGeom>
              <a:avLst/>
              <a:gdLst/>
              <a:ahLst/>
              <a:cxnLst/>
              <a:rect l="l" t="t" r="r" b="b"/>
              <a:pathLst>
                <a:path w="124459" h="100329">
                  <a:moveTo>
                    <a:pt x="101522" y="99743"/>
                  </a:moveTo>
                  <a:lnTo>
                    <a:pt x="110293" y="97420"/>
                  </a:lnTo>
                  <a:lnTo>
                    <a:pt x="117449" y="91086"/>
                  </a:lnTo>
                  <a:lnTo>
                    <a:pt x="122271" y="81692"/>
                  </a:lnTo>
                  <a:lnTo>
                    <a:pt x="124038" y="70188"/>
                  </a:lnTo>
                  <a:lnTo>
                    <a:pt x="124038" y="29552"/>
                  </a:lnTo>
                  <a:lnTo>
                    <a:pt x="22556" y="0"/>
                  </a:lnTo>
                  <a:lnTo>
                    <a:pt x="13778" y="2322"/>
                  </a:lnTo>
                  <a:lnTo>
                    <a:pt x="6608" y="8655"/>
                  </a:lnTo>
                  <a:lnTo>
                    <a:pt x="1773" y="18049"/>
                  </a:lnTo>
                  <a:lnTo>
                    <a:pt x="0" y="29552"/>
                  </a:lnTo>
                  <a:lnTo>
                    <a:pt x="0" y="70188"/>
                  </a:lnTo>
                  <a:lnTo>
                    <a:pt x="1773" y="81692"/>
                  </a:lnTo>
                  <a:lnTo>
                    <a:pt x="6608" y="91086"/>
                  </a:lnTo>
                  <a:lnTo>
                    <a:pt x="13778" y="97420"/>
                  </a:lnTo>
                  <a:lnTo>
                    <a:pt x="22556" y="99743"/>
                  </a:lnTo>
                  <a:lnTo>
                    <a:pt x="101522" y="99743"/>
                  </a:lnTo>
                  <a:close/>
                </a:path>
              </a:pathLst>
            </a:custGeom>
            <a:ln w="5673">
              <a:solidFill>
                <a:srgbClr val="000000"/>
              </a:solidFill>
            </a:ln>
          </p:spPr>
          <p:txBody>
            <a:bodyPr wrap="square" lIns="0" tIns="0" rIns="0" bIns="0" rtlCol="0"/>
            <a:lstStyle/>
            <a:p>
              <a:endParaRPr/>
            </a:p>
          </p:txBody>
        </p:sp>
        <p:sp>
          <p:nvSpPr>
            <p:cNvPr id="35" name="object 35"/>
            <p:cNvSpPr/>
            <p:nvPr/>
          </p:nvSpPr>
          <p:spPr>
            <a:xfrm>
              <a:off x="6779212" y="5647417"/>
              <a:ext cx="124460" cy="100330"/>
            </a:xfrm>
            <a:custGeom>
              <a:avLst/>
              <a:gdLst/>
              <a:ahLst/>
              <a:cxnLst/>
              <a:rect l="l" t="t" r="r" b="b"/>
              <a:pathLst>
                <a:path w="124459" h="100329">
                  <a:moveTo>
                    <a:pt x="101522" y="0"/>
                  </a:moveTo>
                  <a:lnTo>
                    <a:pt x="22556" y="0"/>
                  </a:lnTo>
                  <a:lnTo>
                    <a:pt x="0" y="29552"/>
                  </a:lnTo>
                  <a:lnTo>
                    <a:pt x="0" y="70188"/>
                  </a:lnTo>
                  <a:lnTo>
                    <a:pt x="101522" y="99746"/>
                  </a:lnTo>
                  <a:lnTo>
                    <a:pt x="110293" y="97421"/>
                  </a:lnTo>
                  <a:lnTo>
                    <a:pt x="117449" y="91086"/>
                  </a:lnTo>
                  <a:lnTo>
                    <a:pt x="122271" y="81692"/>
                  </a:lnTo>
                  <a:lnTo>
                    <a:pt x="124038" y="70188"/>
                  </a:lnTo>
                  <a:lnTo>
                    <a:pt x="124038" y="29552"/>
                  </a:lnTo>
                  <a:lnTo>
                    <a:pt x="122271" y="18049"/>
                  </a:lnTo>
                  <a:lnTo>
                    <a:pt x="117449" y="8655"/>
                  </a:lnTo>
                  <a:lnTo>
                    <a:pt x="110293" y="2322"/>
                  </a:lnTo>
                  <a:lnTo>
                    <a:pt x="101522" y="0"/>
                  </a:lnTo>
                  <a:close/>
                </a:path>
              </a:pathLst>
            </a:custGeom>
            <a:solidFill>
              <a:srgbClr val="36B496"/>
            </a:solidFill>
          </p:spPr>
          <p:txBody>
            <a:bodyPr wrap="square" lIns="0" tIns="0" rIns="0" bIns="0" rtlCol="0"/>
            <a:lstStyle/>
            <a:p>
              <a:endParaRPr/>
            </a:p>
          </p:txBody>
        </p:sp>
        <p:sp>
          <p:nvSpPr>
            <p:cNvPr id="36" name="object 36"/>
            <p:cNvSpPr/>
            <p:nvPr/>
          </p:nvSpPr>
          <p:spPr>
            <a:xfrm>
              <a:off x="6779212" y="5647417"/>
              <a:ext cx="124460" cy="100330"/>
            </a:xfrm>
            <a:custGeom>
              <a:avLst/>
              <a:gdLst/>
              <a:ahLst/>
              <a:cxnLst/>
              <a:rect l="l" t="t" r="r" b="b"/>
              <a:pathLst>
                <a:path w="124459" h="100329">
                  <a:moveTo>
                    <a:pt x="101522" y="99746"/>
                  </a:moveTo>
                  <a:lnTo>
                    <a:pt x="110293" y="97421"/>
                  </a:lnTo>
                  <a:lnTo>
                    <a:pt x="117449" y="91086"/>
                  </a:lnTo>
                  <a:lnTo>
                    <a:pt x="122271" y="81692"/>
                  </a:lnTo>
                  <a:lnTo>
                    <a:pt x="124038" y="70188"/>
                  </a:lnTo>
                  <a:lnTo>
                    <a:pt x="124038" y="29552"/>
                  </a:lnTo>
                  <a:lnTo>
                    <a:pt x="122271" y="18049"/>
                  </a:lnTo>
                  <a:lnTo>
                    <a:pt x="117449" y="8655"/>
                  </a:lnTo>
                  <a:lnTo>
                    <a:pt x="110293" y="2322"/>
                  </a:lnTo>
                  <a:lnTo>
                    <a:pt x="101522" y="0"/>
                  </a:lnTo>
                  <a:lnTo>
                    <a:pt x="22556" y="0"/>
                  </a:lnTo>
                  <a:lnTo>
                    <a:pt x="0" y="29552"/>
                  </a:lnTo>
                  <a:lnTo>
                    <a:pt x="0" y="70188"/>
                  </a:lnTo>
                  <a:lnTo>
                    <a:pt x="1773" y="81692"/>
                  </a:lnTo>
                  <a:lnTo>
                    <a:pt x="6608" y="91086"/>
                  </a:lnTo>
                  <a:lnTo>
                    <a:pt x="13778" y="97421"/>
                  </a:lnTo>
                  <a:lnTo>
                    <a:pt x="22556" y="99746"/>
                  </a:lnTo>
                  <a:lnTo>
                    <a:pt x="101522" y="99746"/>
                  </a:lnTo>
                  <a:close/>
                </a:path>
              </a:pathLst>
            </a:custGeom>
            <a:ln w="5673">
              <a:solidFill>
                <a:srgbClr val="000000"/>
              </a:solidFill>
            </a:ln>
          </p:spPr>
          <p:txBody>
            <a:bodyPr wrap="square" lIns="0" tIns="0" rIns="0" bIns="0" rtlCol="0"/>
            <a:lstStyle/>
            <a:p>
              <a:endParaRPr/>
            </a:p>
          </p:txBody>
        </p:sp>
        <p:sp>
          <p:nvSpPr>
            <p:cNvPr id="37" name="object 37"/>
            <p:cNvSpPr/>
            <p:nvPr/>
          </p:nvSpPr>
          <p:spPr>
            <a:xfrm>
              <a:off x="5964108" y="5726588"/>
              <a:ext cx="71120" cy="93345"/>
            </a:xfrm>
            <a:custGeom>
              <a:avLst/>
              <a:gdLst/>
              <a:ahLst/>
              <a:cxnLst/>
              <a:rect l="l" t="t" r="r" b="b"/>
              <a:pathLst>
                <a:path w="71120" h="93345">
                  <a:moveTo>
                    <a:pt x="35429" y="0"/>
                  </a:moveTo>
                  <a:lnTo>
                    <a:pt x="0" y="46432"/>
                  </a:lnTo>
                  <a:lnTo>
                    <a:pt x="35429" y="92865"/>
                  </a:lnTo>
                  <a:lnTo>
                    <a:pt x="70862" y="46432"/>
                  </a:lnTo>
                  <a:lnTo>
                    <a:pt x="35429" y="0"/>
                  </a:lnTo>
                  <a:close/>
                </a:path>
              </a:pathLst>
            </a:custGeom>
            <a:solidFill>
              <a:srgbClr val="36B496"/>
            </a:solidFill>
          </p:spPr>
          <p:txBody>
            <a:bodyPr wrap="square" lIns="0" tIns="0" rIns="0" bIns="0" rtlCol="0"/>
            <a:lstStyle/>
            <a:p>
              <a:endParaRPr/>
            </a:p>
          </p:txBody>
        </p:sp>
        <p:sp>
          <p:nvSpPr>
            <p:cNvPr id="38" name="object 38"/>
            <p:cNvSpPr/>
            <p:nvPr/>
          </p:nvSpPr>
          <p:spPr>
            <a:xfrm>
              <a:off x="5964108" y="5726588"/>
              <a:ext cx="71120" cy="93345"/>
            </a:xfrm>
            <a:custGeom>
              <a:avLst/>
              <a:gdLst/>
              <a:ahLst/>
              <a:cxnLst/>
              <a:rect l="l" t="t" r="r" b="b"/>
              <a:pathLst>
                <a:path w="71120" h="93345">
                  <a:moveTo>
                    <a:pt x="0" y="46432"/>
                  </a:moveTo>
                  <a:lnTo>
                    <a:pt x="35429" y="92865"/>
                  </a:lnTo>
                  <a:lnTo>
                    <a:pt x="70862" y="46432"/>
                  </a:lnTo>
                  <a:lnTo>
                    <a:pt x="35429" y="0"/>
                  </a:lnTo>
                  <a:lnTo>
                    <a:pt x="0" y="46432"/>
                  </a:lnTo>
                  <a:close/>
                </a:path>
              </a:pathLst>
            </a:custGeom>
            <a:ln w="5319">
              <a:solidFill>
                <a:srgbClr val="000000"/>
              </a:solidFill>
            </a:ln>
          </p:spPr>
          <p:txBody>
            <a:bodyPr wrap="square" lIns="0" tIns="0" rIns="0" bIns="0" rtlCol="0"/>
            <a:lstStyle/>
            <a:p>
              <a:endParaRPr/>
            </a:p>
          </p:txBody>
        </p:sp>
        <p:sp>
          <p:nvSpPr>
            <p:cNvPr id="39" name="object 39"/>
            <p:cNvSpPr/>
            <p:nvPr/>
          </p:nvSpPr>
          <p:spPr>
            <a:xfrm>
              <a:off x="6213799" y="5839263"/>
              <a:ext cx="71120" cy="93345"/>
            </a:xfrm>
            <a:custGeom>
              <a:avLst/>
              <a:gdLst/>
              <a:ahLst/>
              <a:cxnLst/>
              <a:rect l="l" t="t" r="r" b="b"/>
              <a:pathLst>
                <a:path w="71120" h="93345">
                  <a:moveTo>
                    <a:pt x="35445" y="0"/>
                  </a:moveTo>
                  <a:lnTo>
                    <a:pt x="0" y="46432"/>
                  </a:lnTo>
                  <a:lnTo>
                    <a:pt x="35445" y="92865"/>
                  </a:lnTo>
                  <a:lnTo>
                    <a:pt x="70850" y="46432"/>
                  </a:lnTo>
                  <a:lnTo>
                    <a:pt x="35445" y="0"/>
                  </a:lnTo>
                  <a:close/>
                </a:path>
              </a:pathLst>
            </a:custGeom>
            <a:solidFill>
              <a:srgbClr val="36B496"/>
            </a:solidFill>
          </p:spPr>
          <p:txBody>
            <a:bodyPr wrap="square" lIns="0" tIns="0" rIns="0" bIns="0" rtlCol="0"/>
            <a:lstStyle/>
            <a:p>
              <a:endParaRPr/>
            </a:p>
          </p:txBody>
        </p:sp>
        <p:sp>
          <p:nvSpPr>
            <p:cNvPr id="40" name="object 40"/>
            <p:cNvSpPr/>
            <p:nvPr/>
          </p:nvSpPr>
          <p:spPr>
            <a:xfrm>
              <a:off x="6213799" y="5839263"/>
              <a:ext cx="71120" cy="93345"/>
            </a:xfrm>
            <a:custGeom>
              <a:avLst/>
              <a:gdLst/>
              <a:ahLst/>
              <a:cxnLst/>
              <a:rect l="l" t="t" r="r" b="b"/>
              <a:pathLst>
                <a:path w="71120" h="93345">
                  <a:moveTo>
                    <a:pt x="0" y="46432"/>
                  </a:moveTo>
                  <a:lnTo>
                    <a:pt x="35445" y="92865"/>
                  </a:lnTo>
                  <a:lnTo>
                    <a:pt x="70850" y="46432"/>
                  </a:lnTo>
                  <a:lnTo>
                    <a:pt x="35445" y="0"/>
                  </a:lnTo>
                  <a:lnTo>
                    <a:pt x="0" y="46432"/>
                  </a:lnTo>
                  <a:close/>
                </a:path>
              </a:pathLst>
            </a:custGeom>
            <a:ln w="5318">
              <a:solidFill>
                <a:srgbClr val="000000"/>
              </a:solidFill>
            </a:ln>
          </p:spPr>
          <p:txBody>
            <a:bodyPr wrap="square" lIns="0" tIns="0" rIns="0" bIns="0" rtlCol="0"/>
            <a:lstStyle/>
            <a:p>
              <a:endParaRPr/>
            </a:p>
          </p:txBody>
        </p:sp>
        <p:sp>
          <p:nvSpPr>
            <p:cNvPr id="41" name="object 41"/>
            <p:cNvSpPr/>
            <p:nvPr/>
          </p:nvSpPr>
          <p:spPr>
            <a:xfrm>
              <a:off x="6542433" y="5846905"/>
              <a:ext cx="71120" cy="93345"/>
            </a:xfrm>
            <a:custGeom>
              <a:avLst/>
              <a:gdLst/>
              <a:ahLst/>
              <a:cxnLst/>
              <a:rect l="l" t="t" r="r" b="b"/>
              <a:pathLst>
                <a:path w="71120" h="93345">
                  <a:moveTo>
                    <a:pt x="35405" y="0"/>
                  </a:moveTo>
                  <a:lnTo>
                    <a:pt x="0" y="46432"/>
                  </a:lnTo>
                  <a:lnTo>
                    <a:pt x="35405" y="92865"/>
                  </a:lnTo>
                  <a:lnTo>
                    <a:pt x="70850" y="46432"/>
                  </a:lnTo>
                  <a:lnTo>
                    <a:pt x="35405" y="0"/>
                  </a:lnTo>
                  <a:close/>
                </a:path>
              </a:pathLst>
            </a:custGeom>
            <a:solidFill>
              <a:srgbClr val="36B496"/>
            </a:solidFill>
          </p:spPr>
          <p:txBody>
            <a:bodyPr wrap="square" lIns="0" tIns="0" rIns="0" bIns="0" rtlCol="0"/>
            <a:lstStyle/>
            <a:p>
              <a:endParaRPr/>
            </a:p>
          </p:txBody>
        </p:sp>
        <p:sp>
          <p:nvSpPr>
            <p:cNvPr id="42" name="object 42"/>
            <p:cNvSpPr/>
            <p:nvPr/>
          </p:nvSpPr>
          <p:spPr>
            <a:xfrm>
              <a:off x="5910928" y="5654804"/>
              <a:ext cx="1054735" cy="354965"/>
            </a:xfrm>
            <a:custGeom>
              <a:avLst/>
              <a:gdLst/>
              <a:ahLst/>
              <a:cxnLst/>
              <a:rect l="l" t="t" r="r" b="b"/>
              <a:pathLst>
                <a:path w="1054734" h="354964">
                  <a:moveTo>
                    <a:pt x="631505" y="238533"/>
                  </a:moveTo>
                  <a:lnTo>
                    <a:pt x="666910" y="284966"/>
                  </a:lnTo>
                  <a:lnTo>
                    <a:pt x="702355" y="238533"/>
                  </a:lnTo>
                  <a:lnTo>
                    <a:pt x="666910" y="192101"/>
                  </a:lnTo>
                  <a:lnTo>
                    <a:pt x="631505" y="238533"/>
                  </a:lnTo>
                  <a:close/>
                </a:path>
                <a:path w="1054734" h="354964">
                  <a:moveTo>
                    <a:pt x="0" y="118216"/>
                  </a:moveTo>
                  <a:lnTo>
                    <a:pt x="53179" y="118216"/>
                  </a:lnTo>
                </a:path>
                <a:path w="1054734" h="354964">
                  <a:moveTo>
                    <a:pt x="88608" y="71783"/>
                  </a:moveTo>
                  <a:lnTo>
                    <a:pt x="88608" y="0"/>
                  </a:lnTo>
                  <a:lnTo>
                    <a:pt x="208617" y="0"/>
                  </a:lnTo>
                </a:path>
                <a:path w="1054734" h="354964">
                  <a:moveTo>
                    <a:pt x="88608" y="164649"/>
                  </a:moveTo>
                  <a:lnTo>
                    <a:pt x="88608" y="230891"/>
                  </a:lnTo>
                  <a:lnTo>
                    <a:pt x="129683" y="230891"/>
                  </a:lnTo>
                </a:path>
                <a:path w="1054734" h="354964">
                  <a:moveTo>
                    <a:pt x="332667" y="0"/>
                  </a:moveTo>
                  <a:lnTo>
                    <a:pt x="467964" y="0"/>
                  </a:lnTo>
                  <a:lnTo>
                    <a:pt x="467964" y="53569"/>
                  </a:lnTo>
                </a:path>
                <a:path w="1054734" h="354964">
                  <a:moveTo>
                    <a:pt x="338316" y="184458"/>
                  </a:moveTo>
                  <a:lnTo>
                    <a:pt x="338316" y="103437"/>
                  </a:lnTo>
                  <a:lnTo>
                    <a:pt x="405944" y="103437"/>
                  </a:lnTo>
                </a:path>
                <a:path w="1054734" h="354964">
                  <a:moveTo>
                    <a:pt x="338316" y="277323"/>
                  </a:moveTo>
                  <a:lnTo>
                    <a:pt x="338316" y="354649"/>
                  </a:lnTo>
                  <a:lnTo>
                    <a:pt x="405944" y="354649"/>
                  </a:lnTo>
                </a:path>
                <a:path w="1054734" h="354964">
                  <a:moveTo>
                    <a:pt x="529983" y="103437"/>
                  </a:moveTo>
                  <a:lnTo>
                    <a:pt x="566104" y="103437"/>
                  </a:lnTo>
                  <a:lnTo>
                    <a:pt x="566104" y="238533"/>
                  </a:lnTo>
                  <a:lnTo>
                    <a:pt x="631505" y="238533"/>
                  </a:lnTo>
                </a:path>
                <a:path w="1054734" h="354964">
                  <a:moveTo>
                    <a:pt x="666910" y="192101"/>
                  </a:moveTo>
                  <a:lnTo>
                    <a:pt x="666910" y="42486"/>
                  </a:lnTo>
                  <a:lnTo>
                    <a:pt x="710431" y="42486"/>
                  </a:lnTo>
                </a:path>
                <a:path w="1054734" h="354964">
                  <a:moveTo>
                    <a:pt x="666910" y="284966"/>
                  </a:moveTo>
                  <a:lnTo>
                    <a:pt x="666910" y="315864"/>
                  </a:lnTo>
                  <a:lnTo>
                    <a:pt x="721689" y="315864"/>
                  </a:lnTo>
                </a:path>
                <a:path w="1054734" h="354964">
                  <a:moveTo>
                    <a:pt x="1003620" y="315864"/>
                  </a:moveTo>
                  <a:lnTo>
                    <a:pt x="1027289" y="315864"/>
                  </a:lnTo>
                  <a:lnTo>
                    <a:pt x="1027289" y="175476"/>
                  </a:lnTo>
                  <a:lnTo>
                    <a:pt x="1054381" y="175476"/>
                  </a:lnTo>
                </a:path>
                <a:path w="1054734" h="354964">
                  <a:moveTo>
                    <a:pt x="834469" y="42486"/>
                  </a:moveTo>
                  <a:lnTo>
                    <a:pt x="868283" y="42486"/>
                  </a:lnTo>
                </a:path>
                <a:path w="1054734" h="354964">
                  <a:moveTo>
                    <a:pt x="845727" y="315864"/>
                  </a:moveTo>
                  <a:lnTo>
                    <a:pt x="879581" y="315864"/>
                  </a:lnTo>
                </a:path>
                <a:path w="1054734" h="354964">
                  <a:moveTo>
                    <a:pt x="529983" y="354649"/>
                  </a:moveTo>
                  <a:lnTo>
                    <a:pt x="565507" y="354649"/>
                  </a:lnTo>
                  <a:lnTo>
                    <a:pt x="565507" y="238533"/>
                  </a:lnTo>
                  <a:lnTo>
                    <a:pt x="631505" y="238533"/>
                  </a:lnTo>
                </a:path>
              </a:pathLst>
            </a:custGeom>
            <a:ln w="5514">
              <a:solidFill>
                <a:srgbClr val="000000"/>
              </a:solidFill>
            </a:ln>
          </p:spPr>
          <p:txBody>
            <a:bodyPr wrap="square" lIns="0" tIns="0" rIns="0" bIns="0" rtlCol="0"/>
            <a:lstStyle/>
            <a:p>
              <a:endParaRPr/>
            </a:p>
          </p:txBody>
        </p:sp>
        <p:sp>
          <p:nvSpPr>
            <p:cNvPr id="43" name="object 43"/>
            <p:cNvSpPr/>
            <p:nvPr/>
          </p:nvSpPr>
          <p:spPr>
            <a:xfrm>
              <a:off x="6965309" y="5780407"/>
              <a:ext cx="124460" cy="100330"/>
            </a:xfrm>
            <a:custGeom>
              <a:avLst/>
              <a:gdLst/>
              <a:ahLst/>
              <a:cxnLst/>
              <a:rect l="l" t="t" r="r" b="b"/>
              <a:pathLst>
                <a:path w="124459" h="100329">
                  <a:moveTo>
                    <a:pt x="101482" y="0"/>
                  </a:moveTo>
                  <a:lnTo>
                    <a:pt x="22516" y="0"/>
                  </a:lnTo>
                  <a:lnTo>
                    <a:pt x="0" y="29558"/>
                  </a:lnTo>
                  <a:lnTo>
                    <a:pt x="0" y="70193"/>
                  </a:lnTo>
                  <a:lnTo>
                    <a:pt x="101482" y="99746"/>
                  </a:lnTo>
                  <a:lnTo>
                    <a:pt x="110259" y="97424"/>
                  </a:lnTo>
                  <a:lnTo>
                    <a:pt x="117429" y="91090"/>
                  </a:lnTo>
                  <a:lnTo>
                    <a:pt x="122264" y="81697"/>
                  </a:lnTo>
                  <a:lnTo>
                    <a:pt x="124038" y="70193"/>
                  </a:lnTo>
                  <a:lnTo>
                    <a:pt x="124038" y="29558"/>
                  </a:lnTo>
                  <a:lnTo>
                    <a:pt x="122264" y="18053"/>
                  </a:lnTo>
                  <a:lnTo>
                    <a:pt x="117429" y="8658"/>
                  </a:lnTo>
                  <a:lnTo>
                    <a:pt x="110259" y="2323"/>
                  </a:lnTo>
                  <a:lnTo>
                    <a:pt x="101482" y="0"/>
                  </a:lnTo>
                  <a:close/>
                </a:path>
              </a:pathLst>
            </a:custGeom>
            <a:solidFill>
              <a:srgbClr val="36B496"/>
            </a:solidFill>
          </p:spPr>
          <p:txBody>
            <a:bodyPr wrap="square" lIns="0" tIns="0" rIns="0" bIns="0" rtlCol="0"/>
            <a:lstStyle/>
            <a:p>
              <a:endParaRPr/>
            </a:p>
          </p:txBody>
        </p:sp>
        <p:sp>
          <p:nvSpPr>
            <p:cNvPr id="44" name="object 44"/>
            <p:cNvSpPr/>
            <p:nvPr/>
          </p:nvSpPr>
          <p:spPr>
            <a:xfrm>
              <a:off x="6164654" y="5697291"/>
              <a:ext cx="925194" cy="188595"/>
            </a:xfrm>
            <a:custGeom>
              <a:avLst/>
              <a:gdLst/>
              <a:ahLst/>
              <a:cxnLst/>
              <a:rect l="l" t="t" r="r" b="b"/>
              <a:pathLst>
                <a:path w="925195" h="188595">
                  <a:moveTo>
                    <a:pt x="902137" y="182863"/>
                  </a:moveTo>
                  <a:lnTo>
                    <a:pt x="910915" y="180541"/>
                  </a:lnTo>
                  <a:lnTo>
                    <a:pt x="918085" y="174207"/>
                  </a:lnTo>
                  <a:lnTo>
                    <a:pt x="922920" y="164814"/>
                  </a:lnTo>
                  <a:lnTo>
                    <a:pt x="924693" y="153310"/>
                  </a:lnTo>
                  <a:lnTo>
                    <a:pt x="924693" y="112674"/>
                  </a:lnTo>
                  <a:lnTo>
                    <a:pt x="922920" y="101170"/>
                  </a:lnTo>
                  <a:lnTo>
                    <a:pt x="918085" y="91775"/>
                  </a:lnTo>
                  <a:lnTo>
                    <a:pt x="910915" y="85440"/>
                  </a:lnTo>
                  <a:lnTo>
                    <a:pt x="902137" y="83116"/>
                  </a:lnTo>
                  <a:lnTo>
                    <a:pt x="823171" y="83116"/>
                  </a:lnTo>
                  <a:lnTo>
                    <a:pt x="800655" y="112674"/>
                  </a:lnTo>
                  <a:lnTo>
                    <a:pt x="800655" y="153310"/>
                  </a:lnTo>
                  <a:lnTo>
                    <a:pt x="802422" y="164814"/>
                  </a:lnTo>
                  <a:lnTo>
                    <a:pt x="807244" y="174207"/>
                  </a:lnTo>
                  <a:lnTo>
                    <a:pt x="814400" y="180541"/>
                  </a:lnTo>
                  <a:lnTo>
                    <a:pt x="823171" y="182863"/>
                  </a:lnTo>
                  <a:lnTo>
                    <a:pt x="902137" y="182863"/>
                  </a:lnTo>
                  <a:close/>
                </a:path>
                <a:path w="925195" h="188595">
                  <a:moveTo>
                    <a:pt x="800655" y="132990"/>
                  </a:moveTo>
                  <a:lnTo>
                    <a:pt x="774399" y="132990"/>
                  </a:lnTo>
                  <a:lnTo>
                    <a:pt x="774399" y="0"/>
                  </a:lnTo>
                  <a:lnTo>
                    <a:pt x="738596" y="0"/>
                  </a:lnTo>
                </a:path>
                <a:path w="925195" h="188595">
                  <a:moveTo>
                    <a:pt x="0" y="188404"/>
                  </a:moveTo>
                  <a:lnTo>
                    <a:pt x="49145" y="188404"/>
                  </a:lnTo>
                </a:path>
              </a:pathLst>
            </a:custGeom>
            <a:ln w="5514">
              <a:solidFill>
                <a:srgbClr val="000000"/>
              </a:solidFill>
            </a:ln>
          </p:spPr>
          <p:txBody>
            <a:bodyPr wrap="square" lIns="0" tIns="0" rIns="0" bIns="0" rtlCol="0"/>
            <a:lstStyle/>
            <a:p>
              <a:endParaRPr/>
            </a:p>
          </p:txBody>
        </p:sp>
        <p:sp>
          <p:nvSpPr>
            <p:cNvPr id="45" name="object 45"/>
            <p:cNvSpPr/>
            <p:nvPr/>
          </p:nvSpPr>
          <p:spPr>
            <a:xfrm>
              <a:off x="7823327" y="4765166"/>
              <a:ext cx="603885" cy="1135380"/>
            </a:xfrm>
            <a:custGeom>
              <a:avLst/>
              <a:gdLst/>
              <a:ahLst/>
              <a:cxnLst/>
              <a:rect l="l" t="t" r="r" b="b"/>
              <a:pathLst>
                <a:path w="603884" h="1135379">
                  <a:moveTo>
                    <a:pt x="317119" y="0"/>
                  </a:moveTo>
                  <a:lnTo>
                    <a:pt x="0" y="112394"/>
                  </a:lnTo>
                  <a:lnTo>
                    <a:pt x="242062" y="346201"/>
                  </a:lnTo>
                  <a:lnTo>
                    <a:pt x="268731" y="223265"/>
                  </a:lnTo>
                  <a:lnTo>
                    <a:pt x="291083" y="228218"/>
                  </a:lnTo>
                  <a:lnTo>
                    <a:pt x="336920" y="242534"/>
                  </a:lnTo>
                  <a:lnTo>
                    <a:pt x="378288" y="264141"/>
                  </a:lnTo>
                  <a:lnTo>
                    <a:pt x="414617" y="292147"/>
                  </a:lnTo>
                  <a:lnTo>
                    <a:pt x="445332" y="325659"/>
                  </a:lnTo>
                  <a:lnTo>
                    <a:pt x="469862" y="363785"/>
                  </a:lnTo>
                  <a:lnTo>
                    <a:pt x="487632" y="405633"/>
                  </a:lnTo>
                  <a:lnTo>
                    <a:pt x="498072" y="450309"/>
                  </a:lnTo>
                  <a:lnTo>
                    <a:pt x="500607" y="496921"/>
                  </a:lnTo>
                  <a:lnTo>
                    <a:pt x="494665" y="544575"/>
                  </a:lnTo>
                  <a:lnTo>
                    <a:pt x="371348" y="1113078"/>
                  </a:lnTo>
                  <a:lnTo>
                    <a:pt x="471804" y="1134871"/>
                  </a:lnTo>
                  <a:lnTo>
                    <a:pt x="595122" y="566292"/>
                  </a:lnTo>
                  <a:lnTo>
                    <a:pt x="602121" y="520481"/>
                  </a:lnTo>
                  <a:lnTo>
                    <a:pt x="603365" y="475171"/>
                  </a:lnTo>
                  <a:lnTo>
                    <a:pt x="599119" y="430775"/>
                  </a:lnTo>
                  <a:lnTo>
                    <a:pt x="589648" y="387705"/>
                  </a:lnTo>
                  <a:lnTo>
                    <a:pt x="575216" y="346371"/>
                  </a:lnTo>
                  <a:lnTo>
                    <a:pt x="556088" y="307186"/>
                  </a:lnTo>
                  <a:lnTo>
                    <a:pt x="532528" y="270561"/>
                  </a:lnTo>
                  <a:lnTo>
                    <a:pt x="504802" y="236908"/>
                  </a:lnTo>
                  <a:lnTo>
                    <a:pt x="473173" y="206639"/>
                  </a:lnTo>
                  <a:lnTo>
                    <a:pt x="437906" y="180166"/>
                  </a:lnTo>
                  <a:lnTo>
                    <a:pt x="399267" y="157899"/>
                  </a:lnTo>
                  <a:lnTo>
                    <a:pt x="357519" y="140252"/>
                  </a:lnTo>
                  <a:lnTo>
                    <a:pt x="312927" y="127634"/>
                  </a:lnTo>
                  <a:lnTo>
                    <a:pt x="290449" y="122808"/>
                  </a:lnTo>
                  <a:lnTo>
                    <a:pt x="317119" y="0"/>
                  </a:lnTo>
                  <a:close/>
                </a:path>
              </a:pathLst>
            </a:custGeom>
            <a:solidFill>
              <a:srgbClr val="E1751D"/>
            </a:solidFill>
          </p:spPr>
          <p:txBody>
            <a:bodyPr wrap="square" lIns="0" tIns="0" rIns="0" bIns="0" rtlCol="0"/>
            <a:lstStyle/>
            <a:p>
              <a:endParaRPr/>
            </a:p>
          </p:txBody>
        </p:sp>
        <p:sp>
          <p:nvSpPr>
            <p:cNvPr id="46" name="object 46"/>
            <p:cNvSpPr/>
            <p:nvPr/>
          </p:nvSpPr>
          <p:spPr>
            <a:xfrm>
              <a:off x="7823327" y="4765166"/>
              <a:ext cx="603885" cy="1135380"/>
            </a:xfrm>
            <a:custGeom>
              <a:avLst/>
              <a:gdLst/>
              <a:ahLst/>
              <a:cxnLst/>
              <a:rect l="l" t="t" r="r" b="b"/>
              <a:pathLst>
                <a:path w="603884" h="1135379">
                  <a:moveTo>
                    <a:pt x="471804" y="1134871"/>
                  </a:moveTo>
                  <a:lnTo>
                    <a:pt x="595122" y="566292"/>
                  </a:lnTo>
                  <a:lnTo>
                    <a:pt x="602121" y="520481"/>
                  </a:lnTo>
                  <a:lnTo>
                    <a:pt x="603365" y="475171"/>
                  </a:lnTo>
                  <a:lnTo>
                    <a:pt x="599119" y="430775"/>
                  </a:lnTo>
                  <a:lnTo>
                    <a:pt x="589648" y="387705"/>
                  </a:lnTo>
                  <a:lnTo>
                    <a:pt x="575216" y="346371"/>
                  </a:lnTo>
                  <a:lnTo>
                    <a:pt x="556088" y="307186"/>
                  </a:lnTo>
                  <a:lnTo>
                    <a:pt x="532528" y="270561"/>
                  </a:lnTo>
                  <a:lnTo>
                    <a:pt x="504802" y="236908"/>
                  </a:lnTo>
                  <a:lnTo>
                    <a:pt x="473173" y="206639"/>
                  </a:lnTo>
                  <a:lnTo>
                    <a:pt x="437906" y="180166"/>
                  </a:lnTo>
                  <a:lnTo>
                    <a:pt x="399267" y="157899"/>
                  </a:lnTo>
                  <a:lnTo>
                    <a:pt x="357519" y="140252"/>
                  </a:lnTo>
                  <a:lnTo>
                    <a:pt x="312927" y="127634"/>
                  </a:lnTo>
                  <a:lnTo>
                    <a:pt x="290449" y="122808"/>
                  </a:lnTo>
                  <a:lnTo>
                    <a:pt x="317119" y="0"/>
                  </a:lnTo>
                  <a:lnTo>
                    <a:pt x="0" y="112394"/>
                  </a:lnTo>
                  <a:lnTo>
                    <a:pt x="242062" y="346201"/>
                  </a:lnTo>
                  <a:lnTo>
                    <a:pt x="268731" y="223265"/>
                  </a:lnTo>
                  <a:lnTo>
                    <a:pt x="291083" y="228218"/>
                  </a:lnTo>
                  <a:lnTo>
                    <a:pt x="336920" y="242534"/>
                  </a:lnTo>
                  <a:lnTo>
                    <a:pt x="378288" y="264141"/>
                  </a:lnTo>
                  <a:lnTo>
                    <a:pt x="414617" y="292147"/>
                  </a:lnTo>
                  <a:lnTo>
                    <a:pt x="445332" y="325659"/>
                  </a:lnTo>
                  <a:lnTo>
                    <a:pt x="469862" y="363785"/>
                  </a:lnTo>
                  <a:lnTo>
                    <a:pt x="487632" y="405633"/>
                  </a:lnTo>
                  <a:lnTo>
                    <a:pt x="498072" y="450309"/>
                  </a:lnTo>
                  <a:lnTo>
                    <a:pt x="500607" y="496921"/>
                  </a:lnTo>
                  <a:lnTo>
                    <a:pt x="494665" y="544575"/>
                  </a:lnTo>
                  <a:lnTo>
                    <a:pt x="371348" y="1113078"/>
                  </a:lnTo>
                  <a:lnTo>
                    <a:pt x="471804" y="1134871"/>
                  </a:lnTo>
                  <a:close/>
                </a:path>
              </a:pathLst>
            </a:custGeom>
            <a:ln w="26424">
              <a:solidFill>
                <a:srgbClr val="A65312"/>
              </a:solidFill>
            </a:ln>
          </p:spPr>
          <p:txBody>
            <a:bodyPr wrap="square" lIns="0" tIns="0" rIns="0" bIns="0" rtlCol="0"/>
            <a:lstStyle/>
            <a:p>
              <a:endParaRPr/>
            </a:p>
          </p:txBody>
        </p:sp>
        <p:pic>
          <p:nvPicPr>
            <p:cNvPr id="47" name="object 47"/>
            <p:cNvPicPr/>
            <p:nvPr/>
          </p:nvPicPr>
          <p:blipFill>
            <a:blip r:embed="rId5" cstate="print"/>
            <a:stretch>
              <a:fillRect/>
            </a:stretch>
          </p:blipFill>
          <p:spPr>
            <a:xfrm>
              <a:off x="7624979" y="5560372"/>
              <a:ext cx="966570" cy="621352"/>
            </a:xfrm>
            <a:prstGeom prst="rect">
              <a:avLst/>
            </a:prstGeom>
          </p:spPr>
        </p:pic>
        <p:pic>
          <p:nvPicPr>
            <p:cNvPr id="48" name="object 48"/>
            <p:cNvPicPr/>
            <p:nvPr/>
          </p:nvPicPr>
          <p:blipFill>
            <a:blip r:embed="rId6" cstate="print"/>
            <a:stretch>
              <a:fillRect/>
            </a:stretch>
          </p:blipFill>
          <p:spPr>
            <a:xfrm>
              <a:off x="7953301" y="5710205"/>
              <a:ext cx="510650" cy="449870"/>
            </a:xfrm>
            <a:prstGeom prst="rect">
              <a:avLst/>
            </a:prstGeom>
          </p:spPr>
        </p:pic>
        <p:pic>
          <p:nvPicPr>
            <p:cNvPr id="49" name="object 49"/>
            <p:cNvPicPr/>
            <p:nvPr/>
          </p:nvPicPr>
          <p:blipFill>
            <a:blip r:embed="rId7" cstate="print"/>
            <a:stretch>
              <a:fillRect/>
            </a:stretch>
          </p:blipFill>
          <p:spPr>
            <a:xfrm>
              <a:off x="7683042" y="5811489"/>
              <a:ext cx="360816" cy="224894"/>
            </a:xfrm>
            <a:prstGeom prst="rect">
              <a:avLst/>
            </a:prstGeom>
          </p:spPr>
        </p:pic>
        <p:sp>
          <p:nvSpPr>
            <p:cNvPr id="50" name="object 50"/>
            <p:cNvSpPr/>
            <p:nvPr/>
          </p:nvSpPr>
          <p:spPr>
            <a:xfrm>
              <a:off x="7669707" y="5586501"/>
              <a:ext cx="883285" cy="542925"/>
            </a:xfrm>
            <a:custGeom>
              <a:avLst/>
              <a:gdLst/>
              <a:ahLst/>
              <a:cxnLst/>
              <a:rect l="l" t="t" r="r" b="b"/>
              <a:pathLst>
                <a:path w="883284" h="542925">
                  <a:moveTo>
                    <a:pt x="785995" y="0"/>
                  </a:moveTo>
                  <a:lnTo>
                    <a:pt x="0" y="0"/>
                  </a:lnTo>
                  <a:lnTo>
                    <a:pt x="0" y="542356"/>
                  </a:lnTo>
                  <a:lnTo>
                    <a:pt x="785995" y="542356"/>
                  </a:lnTo>
                  <a:lnTo>
                    <a:pt x="883269" y="271038"/>
                  </a:lnTo>
                  <a:lnTo>
                    <a:pt x="785995" y="0"/>
                  </a:lnTo>
                  <a:close/>
                </a:path>
              </a:pathLst>
            </a:custGeom>
            <a:solidFill>
              <a:srgbClr val="C1D4F0"/>
            </a:solidFill>
          </p:spPr>
          <p:txBody>
            <a:bodyPr wrap="square" lIns="0" tIns="0" rIns="0" bIns="0" rtlCol="0"/>
            <a:lstStyle/>
            <a:p>
              <a:endParaRPr/>
            </a:p>
          </p:txBody>
        </p:sp>
        <p:sp>
          <p:nvSpPr>
            <p:cNvPr id="51" name="object 51"/>
            <p:cNvSpPr/>
            <p:nvPr/>
          </p:nvSpPr>
          <p:spPr>
            <a:xfrm>
              <a:off x="7669707" y="5586501"/>
              <a:ext cx="883285" cy="542925"/>
            </a:xfrm>
            <a:custGeom>
              <a:avLst/>
              <a:gdLst/>
              <a:ahLst/>
              <a:cxnLst/>
              <a:rect l="l" t="t" r="r" b="b"/>
              <a:pathLst>
                <a:path w="883284" h="542925">
                  <a:moveTo>
                    <a:pt x="0" y="542356"/>
                  </a:moveTo>
                  <a:lnTo>
                    <a:pt x="0" y="0"/>
                  </a:lnTo>
                  <a:lnTo>
                    <a:pt x="785995" y="0"/>
                  </a:lnTo>
                  <a:lnTo>
                    <a:pt x="883269" y="271038"/>
                  </a:lnTo>
                  <a:lnTo>
                    <a:pt x="785995" y="542356"/>
                  </a:lnTo>
                  <a:lnTo>
                    <a:pt x="0" y="542356"/>
                  </a:lnTo>
                  <a:close/>
                </a:path>
              </a:pathLst>
            </a:custGeom>
            <a:ln w="3175">
              <a:solidFill>
                <a:srgbClr val="000000"/>
              </a:solidFill>
            </a:ln>
          </p:spPr>
          <p:txBody>
            <a:bodyPr wrap="square" lIns="0" tIns="0" rIns="0" bIns="0" rtlCol="0"/>
            <a:lstStyle/>
            <a:p>
              <a:endParaRPr/>
            </a:p>
          </p:txBody>
        </p:sp>
        <p:sp>
          <p:nvSpPr>
            <p:cNvPr id="52" name="object 52"/>
            <p:cNvSpPr/>
            <p:nvPr/>
          </p:nvSpPr>
          <p:spPr>
            <a:xfrm>
              <a:off x="7668804" y="6128024"/>
              <a:ext cx="1905" cy="1905"/>
            </a:xfrm>
            <a:custGeom>
              <a:avLst/>
              <a:gdLst/>
              <a:ahLst/>
              <a:cxnLst/>
              <a:rect l="l" t="t" r="r" b="b"/>
              <a:pathLst>
                <a:path w="1904" h="1904">
                  <a:moveTo>
                    <a:pt x="0" y="833"/>
                  </a:moveTo>
                  <a:lnTo>
                    <a:pt x="264" y="244"/>
                  </a:lnTo>
                  <a:lnTo>
                    <a:pt x="902" y="0"/>
                  </a:lnTo>
                  <a:lnTo>
                    <a:pt x="1540" y="244"/>
                  </a:lnTo>
                  <a:lnTo>
                    <a:pt x="1805" y="833"/>
                  </a:lnTo>
                  <a:lnTo>
                    <a:pt x="1540" y="1423"/>
                  </a:lnTo>
                  <a:lnTo>
                    <a:pt x="902" y="1667"/>
                  </a:lnTo>
                  <a:lnTo>
                    <a:pt x="264" y="1423"/>
                  </a:lnTo>
                  <a:lnTo>
                    <a:pt x="0" y="833"/>
                  </a:lnTo>
                  <a:close/>
                </a:path>
              </a:pathLst>
            </a:custGeom>
            <a:solidFill>
              <a:srgbClr val="000000"/>
            </a:solidFill>
          </p:spPr>
          <p:txBody>
            <a:bodyPr wrap="square" lIns="0" tIns="0" rIns="0" bIns="0" rtlCol="0"/>
            <a:lstStyle/>
            <a:p>
              <a:endParaRPr/>
            </a:p>
          </p:txBody>
        </p:sp>
        <p:sp>
          <p:nvSpPr>
            <p:cNvPr id="53" name="object 53"/>
            <p:cNvSpPr/>
            <p:nvPr/>
          </p:nvSpPr>
          <p:spPr>
            <a:xfrm>
              <a:off x="8419830" y="5631817"/>
              <a:ext cx="20320" cy="13970"/>
            </a:xfrm>
            <a:custGeom>
              <a:avLst/>
              <a:gdLst/>
              <a:ahLst/>
              <a:cxnLst/>
              <a:rect l="l" t="t" r="r" b="b"/>
              <a:pathLst>
                <a:path w="20320" h="13970">
                  <a:moveTo>
                    <a:pt x="20036" y="13699"/>
                  </a:moveTo>
                  <a:lnTo>
                    <a:pt x="6705" y="13699"/>
                  </a:lnTo>
                  <a:lnTo>
                    <a:pt x="0" y="7054"/>
                  </a:lnTo>
                  <a:lnTo>
                    <a:pt x="6705" y="0"/>
                  </a:lnTo>
                  <a:lnTo>
                    <a:pt x="20036" y="0"/>
                  </a:lnTo>
                  <a:lnTo>
                    <a:pt x="20036" y="13699"/>
                  </a:lnTo>
                  <a:close/>
                </a:path>
              </a:pathLst>
            </a:custGeom>
            <a:ln w="3175">
              <a:solidFill>
                <a:srgbClr val="000000"/>
              </a:solidFill>
            </a:ln>
          </p:spPr>
          <p:txBody>
            <a:bodyPr wrap="square" lIns="0" tIns="0" rIns="0" bIns="0" rtlCol="0"/>
            <a:lstStyle/>
            <a:p>
              <a:endParaRPr/>
            </a:p>
          </p:txBody>
        </p:sp>
        <p:sp>
          <p:nvSpPr>
            <p:cNvPr id="54" name="object 54"/>
            <p:cNvSpPr/>
            <p:nvPr/>
          </p:nvSpPr>
          <p:spPr>
            <a:xfrm>
              <a:off x="8438964" y="5644682"/>
              <a:ext cx="1905" cy="1905"/>
            </a:xfrm>
            <a:custGeom>
              <a:avLst/>
              <a:gdLst/>
              <a:ahLst/>
              <a:cxnLst/>
              <a:rect l="l" t="t" r="r" b="b"/>
              <a:pathLst>
                <a:path w="1904" h="1904">
                  <a:moveTo>
                    <a:pt x="0" y="833"/>
                  </a:moveTo>
                  <a:lnTo>
                    <a:pt x="264" y="244"/>
                  </a:lnTo>
                  <a:lnTo>
                    <a:pt x="902" y="0"/>
                  </a:lnTo>
                  <a:lnTo>
                    <a:pt x="1540" y="244"/>
                  </a:lnTo>
                  <a:lnTo>
                    <a:pt x="1805" y="833"/>
                  </a:lnTo>
                  <a:lnTo>
                    <a:pt x="1540" y="1423"/>
                  </a:lnTo>
                  <a:lnTo>
                    <a:pt x="902" y="1667"/>
                  </a:lnTo>
                  <a:lnTo>
                    <a:pt x="264" y="1423"/>
                  </a:lnTo>
                  <a:lnTo>
                    <a:pt x="0" y="833"/>
                  </a:lnTo>
                  <a:close/>
                </a:path>
              </a:pathLst>
            </a:custGeom>
            <a:solidFill>
              <a:srgbClr val="000000"/>
            </a:solidFill>
          </p:spPr>
          <p:txBody>
            <a:bodyPr wrap="square" lIns="0" tIns="0" rIns="0" bIns="0" rtlCol="0"/>
            <a:lstStyle/>
            <a:p>
              <a:endParaRPr/>
            </a:p>
          </p:txBody>
        </p:sp>
        <p:sp>
          <p:nvSpPr>
            <p:cNvPr id="55" name="object 55"/>
            <p:cNvSpPr/>
            <p:nvPr/>
          </p:nvSpPr>
          <p:spPr>
            <a:xfrm>
              <a:off x="8401248" y="5650331"/>
              <a:ext cx="15240" cy="19050"/>
            </a:xfrm>
            <a:custGeom>
              <a:avLst/>
              <a:gdLst/>
              <a:ahLst/>
              <a:cxnLst/>
              <a:rect l="l" t="t" r="r" b="b"/>
              <a:pathLst>
                <a:path w="15240" h="19050">
                  <a:moveTo>
                    <a:pt x="0" y="18551"/>
                  </a:moveTo>
                  <a:lnTo>
                    <a:pt x="0" y="6233"/>
                  </a:lnTo>
                  <a:lnTo>
                    <a:pt x="7634" y="0"/>
                  </a:lnTo>
                  <a:lnTo>
                    <a:pt x="14946" y="6233"/>
                  </a:lnTo>
                  <a:lnTo>
                    <a:pt x="14946" y="18551"/>
                  </a:lnTo>
                  <a:lnTo>
                    <a:pt x="0" y="18551"/>
                  </a:lnTo>
                  <a:close/>
                </a:path>
              </a:pathLst>
            </a:custGeom>
            <a:ln w="3175">
              <a:solidFill>
                <a:srgbClr val="000000"/>
              </a:solidFill>
            </a:ln>
          </p:spPr>
          <p:txBody>
            <a:bodyPr wrap="square" lIns="0" tIns="0" rIns="0" bIns="0" rtlCol="0"/>
            <a:lstStyle/>
            <a:p>
              <a:endParaRPr/>
            </a:p>
          </p:txBody>
        </p:sp>
        <p:sp>
          <p:nvSpPr>
            <p:cNvPr id="56" name="object 56"/>
            <p:cNvSpPr/>
            <p:nvPr/>
          </p:nvSpPr>
          <p:spPr>
            <a:xfrm>
              <a:off x="8400345" y="5668049"/>
              <a:ext cx="1905" cy="1905"/>
            </a:xfrm>
            <a:custGeom>
              <a:avLst/>
              <a:gdLst/>
              <a:ahLst/>
              <a:cxnLst/>
              <a:rect l="l" t="t" r="r" b="b"/>
              <a:pathLst>
                <a:path w="1904" h="1904">
                  <a:moveTo>
                    <a:pt x="0" y="833"/>
                  </a:moveTo>
                  <a:lnTo>
                    <a:pt x="264" y="244"/>
                  </a:lnTo>
                  <a:lnTo>
                    <a:pt x="902" y="0"/>
                  </a:lnTo>
                  <a:lnTo>
                    <a:pt x="1540" y="244"/>
                  </a:lnTo>
                  <a:lnTo>
                    <a:pt x="1805" y="833"/>
                  </a:lnTo>
                  <a:lnTo>
                    <a:pt x="1540" y="1423"/>
                  </a:lnTo>
                  <a:lnTo>
                    <a:pt x="902" y="1667"/>
                  </a:lnTo>
                  <a:lnTo>
                    <a:pt x="264" y="1423"/>
                  </a:lnTo>
                  <a:lnTo>
                    <a:pt x="0" y="833"/>
                  </a:lnTo>
                  <a:close/>
                </a:path>
              </a:pathLst>
            </a:custGeom>
            <a:solidFill>
              <a:srgbClr val="000000"/>
            </a:solidFill>
          </p:spPr>
          <p:txBody>
            <a:bodyPr wrap="square" lIns="0" tIns="0" rIns="0" bIns="0" rtlCol="0"/>
            <a:lstStyle/>
            <a:p>
              <a:endParaRPr/>
            </a:p>
          </p:txBody>
        </p:sp>
        <p:sp>
          <p:nvSpPr>
            <p:cNvPr id="57" name="object 57"/>
            <p:cNvSpPr/>
            <p:nvPr/>
          </p:nvSpPr>
          <p:spPr>
            <a:xfrm>
              <a:off x="8401248" y="5609010"/>
              <a:ext cx="15240" cy="19050"/>
            </a:xfrm>
            <a:custGeom>
              <a:avLst/>
              <a:gdLst/>
              <a:ahLst/>
              <a:cxnLst/>
              <a:rect l="l" t="t" r="r" b="b"/>
              <a:pathLst>
                <a:path w="15240" h="19050">
                  <a:moveTo>
                    <a:pt x="14946" y="0"/>
                  </a:moveTo>
                  <a:lnTo>
                    <a:pt x="14946" y="12430"/>
                  </a:lnTo>
                  <a:lnTo>
                    <a:pt x="7634" y="18551"/>
                  </a:lnTo>
                  <a:lnTo>
                    <a:pt x="0" y="12430"/>
                  </a:lnTo>
                  <a:lnTo>
                    <a:pt x="0" y="0"/>
                  </a:lnTo>
                  <a:lnTo>
                    <a:pt x="14946" y="0"/>
                  </a:lnTo>
                  <a:close/>
                </a:path>
              </a:pathLst>
            </a:custGeom>
            <a:ln w="3175">
              <a:solidFill>
                <a:srgbClr val="000000"/>
              </a:solidFill>
            </a:ln>
          </p:spPr>
          <p:txBody>
            <a:bodyPr wrap="square" lIns="0" tIns="0" rIns="0" bIns="0" rtlCol="0"/>
            <a:lstStyle/>
            <a:p>
              <a:endParaRPr/>
            </a:p>
          </p:txBody>
        </p:sp>
        <p:sp>
          <p:nvSpPr>
            <p:cNvPr id="58" name="object 58"/>
            <p:cNvSpPr/>
            <p:nvPr/>
          </p:nvSpPr>
          <p:spPr>
            <a:xfrm>
              <a:off x="8415292" y="5608176"/>
              <a:ext cx="1905" cy="1905"/>
            </a:xfrm>
            <a:custGeom>
              <a:avLst/>
              <a:gdLst/>
              <a:ahLst/>
              <a:cxnLst/>
              <a:rect l="l" t="t" r="r" b="b"/>
              <a:pathLst>
                <a:path w="1904" h="1904">
                  <a:moveTo>
                    <a:pt x="0" y="833"/>
                  </a:moveTo>
                  <a:lnTo>
                    <a:pt x="264" y="244"/>
                  </a:lnTo>
                  <a:lnTo>
                    <a:pt x="902" y="0"/>
                  </a:lnTo>
                  <a:lnTo>
                    <a:pt x="1540" y="244"/>
                  </a:lnTo>
                  <a:lnTo>
                    <a:pt x="1805" y="833"/>
                  </a:lnTo>
                  <a:lnTo>
                    <a:pt x="1540" y="1423"/>
                  </a:lnTo>
                  <a:lnTo>
                    <a:pt x="902" y="1667"/>
                  </a:lnTo>
                  <a:lnTo>
                    <a:pt x="264" y="1423"/>
                  </a:lnTo>
                  <a:lnTo>
                    <a:pt x="0" y="833"/>
                  </a:lnTo>
                  <a:close/>
                </a:path>
              </a:pathLst>
            </a:custGeom>
            <a:solidFill>
              <a:srgbClr val="000000"/>
            </a:solidFill>
          </p:spPr>
          <p:txBody>
            <a:bodyPr wrap="square" lIns="0" tIns="0" rIns="0" bIns="0" rtlCol="0"/>
            <a:lstStyle/>
            <a:p>
              <a:endParaRPr/>
            </a:p>
          </p:txBody>
        </p:sp>
        <p:sp>
          <p:nvSpPr>
            <p:cNvPr id="59" name="object 59"/>
            <p:cNvSpPr/>
            <p:nvPr/>
          </p:nvSpPr>
          <p:spPr>
            <a:xfrm>
              <a:off x="8404075" y="5634318"/>
              <a:ext cx="9525" cy="8890"/>
            </a:xfrm>
            <a:custGeom>
              <a:avLst/>
              <a:gdLst/>
              <a:ahLst/>
              <a:cxnLst/>
              <a:rect l="l" t="t" r="r" b="b"/>
              <a:pathLst>
                <a:path w="9525" h="8889">
                  <a:moveTo>
                    <a:pt x="1817" y="1679"/>
                  </a:moveTo>
                  <a:lnTo>
                    <a:pt x="3312" y="0"/>
                  </a:lnTo>
                  <a:lnTo>
                    <a:pt x="6019" y="0"/>
                  </a:lnTo>
                  <a:lnTo>
                    <a:pt x="7513" y="1679"/>
                  </a:lnTo>
                  <a:lnTo>
                    <a:pt x="9412" y="3060"/>
                  </a:lnTo>
                  <a:lnTo>
                    <a:pt x="9412" y="5636"/>
                  </a:lnTo>
                  <a:lnTo>
                    <a:pt x="7513" y="7054"/>
                  </a:lnTo>
                  <a:lnTo>
                    <a:pt x="6019" y="8697"/>
                  </a:lnTo>
                  <a:lnTo>
                    <a:pt x="3312" y="8697"/>
                  </a:lnTo>
                  <a:lnTo>
                    <a:pt x="1817" y="7054"/>
                  </a:lnTo>
                  <a:lnTo>
                    <a:pt x="0" y="5636"/>
                  </a:lnTo>
                  <a:lnTo>
                    <a:pt x="0" y="3060"/>
                  </a:lnTo>
                  <a:lnTo>
                    <a:pt x="1817" y="1679"/>
                  </a:lnTo>
                  <a:close/>
                </a:path>
              </a:pathLst>
            </a:custGeom>
            <a:ln w="3175">
              <a:solidFill>
                <a:srgbClr val="000000"/>
              </a:solidFill>
            </a:ln>
          </p:spPr>
          <p:txBody>
            <a:bodyPr wrap="square" lIns="0" tIns="0" rIns="0" bIns="0" rtlCol="0"/>
            <a:lstStyle/>
            <a:p>
              <a:endParaRPr/>
            </a:p>
          </p:txBody>
        </p:sp>
        <p:sp>
          <p:nvSpPr>
            <p:cNvPr id="60" name="object 60"/>
            <p:cNvSpPr/>
            <p:nvPr/>
          </p:nvSpPr>
          <p:spPr>
            <a:xfrm>
              <a:off x="8408882" y="5627562"/>
              <a:ext cx="11430" cy="22860"/>
            </a:xfrm>
            <a:custGeom>
              <a:avLst/>
              <a:gdLst/>
              <a:ahLst/>
              <a:cxnLst/>
              <a:rect l="l" t="t" r="r" b="b"/>
              <a:pathLst>
                <a:path w="11429" h="22860">
                  <a:moveTo>
                    <a:pt x="0" y="0"/>
                  </a:moveTo>
                  <a:lnTo>
                    <a:pt x="0" y="0"/>
                  </a:lnTo>
                  <a:lnTo>
                    <a:pt x="0" y="7017"/>
                  </a:lnTo>
                </a:path>
                <a:path w="11429" h="22860">
                  <a:moveTo>
                    <a:pt x="10947" y="11310"/>
                  </a:moveTo>
                  <a:lnTo>
                    <a:pt x="6423" y="15192"/>
                  </a:lnTo>
                  <a:lnTo>
                    <a:pt x="4605" y="11832"/>
                  </a:lnTo>
                </a:path>
                <a:path w="11429" h="22860">
                  <a:moveTo>
                    <a:pt x="0" y="22769"/>
                  </a:moveTo>
                  <a:lnTo>
                    <a:pt x="0" y="22769"/>
                  </a:lnTo>
                  <a:lnTo>
                    <a:pt x="0" y="15192"/>
                  </a:lnTo>
                </a:path>
              </a:pathLst>
            </a:custGeom>
            <a:ln w="3762">
              <a:solidFill>
                <a:srgbClr val="000000"/>
              </a:solidFill>
            </a:ln>
          </p:spPr>
          <p:txBody>
            <a:bodyPr wrap="square" lIns="0" tIns="0" rIns="0" bIns="0" rtlCol="0"/>
            <a:lstStyle/>
            <a:p>
              <a:endParaRPr/>
            </a:p>
          </p:txBody>
        </p:sp>
        <p:sp>
          <p:nvSpPr>
            <p:cNvPr id="61" name="object 61"/>
            <p:cNvSpPr/>
            <p:nvPr/>
          </p:nvSpPr>
          <p:spPr>
            <a:xfrm>
              <a:off x="7669706" y="5533944"/>
              <a:ext cx="482600" cy="52705"/>
            </a:xfrm>
            <a:custGeom>
              <a:avLst/>
              <a:gdLst/>
              <a:ahLst/>
              <a:cxnLst/>
              <a:rect l="l" t="t" r="r" b="b"/>
              <a:pathLst>
                <a:path w="482600" h="52704">
                  <a:moveTo>
                    <a:pt x="0" y="0"/>
                  </a:moveTo>
                  <a:lnTo>
                    <a:pt x="482053" y="0"/>
                  </a:lnTo>
                  <a:lnTo>
                    <a:pt x="482053" y="52557"/>
                  </a:lnTo>
                  <a:lnTo>
                    <a:pt x="0" y="52557"/>
                  </a:lnTo>
                  <a:lnTo>
                    <a:pt x="0" y="0"/>
                  </a:lnTo>
                  <a:close/>
                </a:path>
              </a:pathLst>
            </a:custGeom>
            <a:ln w="3175">
              <a:solidFill>
                <a:srgbClr val="000000"/>
              </a:solidFill>
            </a:ln>
          </p:spPr>
          <p:txBody>
            <a:bodyPr wrap="square" lIns="0" tIns="0" rIns="0" bIns="0" rtlCol="0"/>
            <a:lstStyle/>
            <a:p>
              <a:endParaRPr/>
            </a:p>
          </p:txBody>
        </p:sp>
        <p:sp>
          <p:nvSpPr>
            <p:cNvPr id="62" name="object 62"/>
            <p:cNvSpPr/>
            <p:nvPr/>
          </p:nvSpPr>
          <p:spPr>
            <a:xfrm>
              <a:off x="7669255" y="5533527"/>
              <a:ext cx="1270" cy="1270"/>
            </a:xfrm>
            <a:custGeom>
              <a:avLst/>
              <a:gdLst/>
              <a:ahLst/>
              <a:cxnLst/>
              <a:rect l="l" t="t" r="r" b="b"/>
              <a:pathLst>
                <a:path w="1270" h="1270">
                  <a:moveTo>
                    <a:pt x="0" y="416"/>
                  </a:moveTo>
                  <a:lnTo>
                    <a:pt x="132" y="122"/>
                  </a:lnTo>
                  <a:lnTo>
                    <a:pt x="451" y="0"/>
                  </a:lnTo>
                  <a:lnTo>
                    <a:pt x="770" y="122"/>
                  </a:lnTo>
                  <a:lnTo>
                    <a:pt x="902" y="416"/>
                  </a:lnTo>
                  <a:lnTo>
                    <a:pt x="770" y="711"/>
                  </a:lnTo>
                  <a:lnTo>
                    <a:pt x="451" y="833"/>
                  </a:lnTo>
                  <a:lnTo>
                    <a:pt x="132" y="711"/>
                  </a:lnTo>
                  <a:lnTo>
                    <a:pt x="0" y="416"/>
                  </a:lnTo>
                  <a:close/>
                </a:path>
              </a:pathLst>
            </a:custGeom>
            <a:solidFill>
              <a:srgbClr val="000000"/>
            </a:solidFill>
          </p:spPr>
          <p:txBody>
            <a:bodyPr wrap="square" lIns="0" tIns="0" rIns="0" bIns="0" rtlCol="0"/>
            <a:lstStyle/>
            <a:p>
              <a:endParaRPr/>
            </a:p>
          </p:txBody>
        </p:sp>
      </p:grpSp>
      <p:sp>
        <p:nvSpPr>
          <p:cNvPr id="63" name="object 63"/>
          <p:cNvSpPr txBox="1"/>
          <p:nvPr/>
        </p:nvSpPr>
        <p:spPr>
          <a:xfrm>
            <a:off x="7675257" y="5517101"/>
            <a:ext cx="466725" cy="79375"/>
          </a:xfrm>
          <a:prstGeom prst="rect">
            <a:avLst/>
          </a:prstGeom>
        </p:spPr>
        <p:txBody>
          <a:bodyPr vert="horz" wrap="square" lIns="0" tIns="12700" rIns="0" bIns="0" rtlCol="0">
            <a:spAutoFit/>
          </a:bodyPr>
          <a:lstStyle/>
          <a:p>
            <a:pPr marL="12700">
              <a:lnSpc>
                <a:spcPct val="100000"/>
              </a:lnSpc>
              <a:spcBef>
                <a:spcPts val="100"/>
              </a:spcBef>
            </a:pPr>
            <a:r>
              <a:rPr sz="350" dirty="0">
                <a:latin typeface="Arial MT"/>
                <a:cs typeface="Arial MT"/>
              </a:rPr>
              <a:t>Process</a:t>
            </a:r>
            <a:r>
              <a:rPr sz="350" spc="85" dirty="0">
                <a:latin typeface="Arial MT"/>
                <a:cs typeface="Arial MT"/>
              </a:rPr>
              <a:t> </a:t>
            </a:r>
            <a:r>
              <a:rPr sz="350" spc="-10" dirty="0">
                <a:latin typeface="Arial MT"/>
                <a:cs typeface="Arial MT"/>
              </a:rPr>
              <a:t>Component</a:t>
            </a:r>
            <a:endParaRPr sz="350">
              <a:latin typeface="Arial MT"/>
              <a:cs typeface="Arial MT"/>
            </a:endParaRPr>
          </a:p>
        </p:txBody>
      </p:sp>
      <p:grpSp>
        <p:nvGrpSpPr>
          <p:cNvPr id="64" name="object 64"/>
          <p:cNvGrpSpPr/>
          <p:nvPr/>
        </p:nvGrpSpPr>
        <p:grpSpPr>
          <a:xfrm>
            <a:off x="7995971" y="5734429"/>
            <a:ext cx="424180" cy="371475"/>
            <a:chOff x="7995971" y="5734429"/>
            <a:chExt cx="424180" cy="371475"/>
          </a:xfrm>
        </p:grpSpPr>
        <p:sp>
          <p:nvSpPr>
            <p:cNvPr id="65" name="object 65"/>
            <p:cNvSpPr/>
            <p:nvPr/>
          </p:nvSpPr>
          <p:spPr>
            <a:xfrm>
              <a:off x="7997927" y="5736334"/>
              <a:ext cx="420370" cy="367665"/>
            </a:xfrm>
            <a:custGeom>
              <a:avLst/>
              <a:gdLst/>
              <a:ahLst/>
              <a:cxnLst/>
              <a:rect l="l" t="t" r="r" b="b"/>
              <a:pathLst>
                <a:path w="420370" h="367664">
                  <a:moveTo>
                    <a:pt x="0" y="0"/>
                  </a:moveTo>
                  <a:lnTo>
                    <a:pt x="420085" y="0"/>
                  </a:lnTo>
                  <a:lnTo>
                    <a:pt x="420085" y="367507"/>
                  </a:lnTo>
                  <a:lnTo>
                    <a:pt x="0" y="367507"/>
                  </a:lnTo>
                  <a:lnTo>
                    <a:pt x="0" y="0"/>
                  </a:lnTo>
                  <a:close/>
                </a:path>
              </a:pathLst>
            </a:custGeom>
            <a:solidFill>
              <a:srgbClr val="89ACE3"/>
            </a:solidFill>
          </p:spPr>
          <p:txBody>
            <a:bodyPr wrap="square" lIns="0" tIns="0" rIns="0" bIns="0" rtlCol="0"/>
            <a:lstStyle/>
            <a:p>
              <a:endParaRPr/>
            </a:p>
          </p:txBody>
        </p:sp>
        <p:sp>
          <p:nvSpPr>
            <p:cNvPr id="66" name="object 66"/>
            <p:cNvSpPr/>
            <p:nvPr/>
          </p:nvSpPr>
          <p:spPr>
            <a:xfrm>
              <a:off x="7997927" y="5736334"/>
              <a:ext cx="420370" cy="367665"/>
            </a:xfrm>
            <a:custGeom>
              <a:avLst/>
              <a:gdLst/>
              <a:ahLst/>
              <a:cxnLst/>
              <a:rect l="l" t="t" r="r" b="b"/>
              <a:pathLst>
                <a:path w="420370" h="367664">
                  <a:moveTo>
                    <a:pt x="0" y="0"/>
                  </a:moveTo>
                  <a:lnTo>
                    <a:pt x="420085" y="0"/>
                  </a:lnTo>
                  <a:lnTo>
                    <a:pt x="420085" y="367507"/>
                  </a:lnTo>
                  <a:lnTo>
                    <a:pt x="0" y="367507"/>
                  </a:lnTo>
                  <a:lnTo>
                    <a:pt x="0" y="0"/>
                  </a:lnTo>
                  <a:close/>
                </a:path>
              </a:pathLst>
            </a:custGeom>
            <a:ln w="3742">
              <a:solidFill>
                <a:srgbClr val="CDE0FF"/>
              </a:solidFill>
            </a:ln>
          </p:spPr>
          <p:txBody>
            <a:bodyPr wrap="square" lIns="0" tIns="0" rIns="0" bIns="0" rtlCol="0"/>
            <a:lstStyle/>
            <a:p>
              <a:endParaRPr/>
            </a:p>
          </p:txBody>
        </p:sp>
        <p:sp>
          <p:nvSpPr>
            <p:cNvPr id="67" name="object 67"/>
            <p:cNvSpPr/>
            <p:nvPr/>
          </p:nvSpPr>
          <p:spPr>
            <a:xfrm>
              <a:off x="7995971" y="5734527"/>
              <a:ext cx="4445" cy="3810"/>
            </a:xfrm>
            <a:custGeom>
              <a:avLst/>
              <a:gdLst/>
              <a:ahLst/>
              <a:cxnLst/>
              <a:rect l="l" t="t" r="r" b="b"/>
              <a:pathLst>
                <a:path w="4445" h="3810">
                  <a:moveTo>
                    <a:pt x="0" y="1806"/>
                  </a:moveTo>
                  <a:lnTo>
                    <a:pt x="572" y="529"/>
                  </a:lnTo>
                  <a:lnTo>
                    <a:pt x="1955" y="0"/>
                  </a:lnTo>
                  <a:lnTo>
                    <a:pt x="3338" y="529"/>
                  </a:lnTo>
                  <a:lnTo>
                    <a:pt x="3910" y="1806"/>
                  </a:lnTo>
                  <a:lnTo>
                    <a:pt x="3338" y="3084"/>
                  </a:lnTo>
                  <a:lnTo>
                    <a:pt x="1955" y="3613"/>
                  </a:lnTo>
                  <a:lnTo>
                    <a:pt x="572" y="3084"/>
                  </a:lnTo>
                  <a:lnTo>
                    <a:pt x="0" y="1806"/>
                  </a:lnTo>
                  <a:close/>
                </a:path>
              </a:pathLst>
            </a:custGeom>
            <a:solidFill>
              <a:srgbClr val="CDE0FF"/>
            </a:solidFill>
          </p:spPr>
          <p:txBody>
            <a:bodyPr wrap="square" lIns="0" tIns="0" rIns="0" bIns="0" rtlCol="0"/>
            <a:lstStyle/>
            <a:p>
              <a:endParaRPr/>
            </a:p>
          </p:txBody>
        </p:sp>
      </p:grpSp>
      <p:sp>
        <p:nvSpPr>
          <p:cNvPr id="68" name="object 68"/>
          <p:cNvSpPr txBox="1"/>
          <p:nvPr/>
        </p:nvSpPr>
        <p:spPr>
          <a:xfrm>
            <a:off x="8003478" y="5738378"/>
            <a:ext cx="389890" cy="79375"/>
          </a:xfrm>
          <a:prstGeom prst="rect">
            <a:avLst/>
          </a:prstGeom>
        </p:spPr>
        <p:txBody>
          <a:bodyPr vert="horz" wrap="square" lIns="0" tIns="12700" rIns="0" bIns="0" rtlCol="0">
            <a:spAutoFit/>
          </a:bodyPr>
          <a:lstStyle/>
          <a:p>
            <a:pPr marL="12700">
              <a:lnSpc>
                <a:spcPct val="100000"/>
              </a:lnSpc>
              <a:spcBef>
                <a:spcPts val="100"/>
              </a:spcBef>
            </a:pPr>
            <a:r>
              <a:rPr sz="350" dirty="0">
                <a:latin typeface="Arial MT"/>
                <a:cs typeface="Arial MT"/>
              </a:rPr>
              <a:t>Service</a:t>
            </a:r>
            <a:r>
              <a:rPr sz="350" spc="90" dirty="0">
                <a:latin typeface="Arial MT"/>
                <a:cs typeface="Arial MT"/>
              </a:rPr>
              <a:t> </a:t>
            </a:r>
            <a:r>
              <a:rPr sz="350" spc="-10" dirty="0">
                <a:latin typeface="Arial MT"/>
                <a:cs typeface="Arial MT"/>
              </a:rPr>
              <a:t>Interface</a:t>
            </a:r>
            <a:endParaRPr sz="350">
              <a:latin typeface="Arial MT"/>
              <a:cs typeface="Arial MT"/>
            </a:endParaRPr>
          </a:p>
        </p:txBody>
      </p:sp>
      <p:grpSp>
        <p:nvGrpSpPr>
          <p:cNvPr id="69" name="object 69"/>
          <p:cNvGrpSpPr/>
          <p:nvPr/>
        </p:nvGrpSpPr>
        <p:grpSpPr>
          <a:xfrm>
            <a:off x="7725812" y="5835713"/>
            <a:ext cx="274320" cy="146685"/>
            <a:chOff x="7725812" y="5835713"/>
            <a:chExt cx="274320" cy="146685"/>
          </a:xfrm>
        </p:grpSpPr>
        <p:sp>
          <p:nvSpPr>
            <p:cNvPr id="70" name="object 70"/>
            <p:cNvSpPr/>
            <p:nvPr/>
          </p:nvSpPr>
          <p:spPr>
            <a:xfrm>
              <a:off x="7727768" y="5837618"/>
              <a:ext cx="270510" cy="142875"/>
            </a:xfrm>
            <a:custGeom>
              <a:avLst/>
              <a:gdLst/>
              <a:ahLst/>
              <a:cxnLst/>
              <a:rect l="l" t="t" r="r" b="b"/>
              <a:pathLst>
                <a:path w="270509" h="142875">
                  <a:moveTo>
                    <a:pt x="0" y="0"/>
                  </a:moveTo>
                  <a:lnTo>
                    <a:pt x="270158" y="0"/>
                  </a:lnTo>
                  <a:lnTo>
                    <a:pt x="270158" y="142516"/>
                  </a:lnTo>
                  <a:lnTo>
                    <a:pt x="0" y="142516"/>
                  </a:lnTo>
                  <a:lnTo>
                    <a:pt x="0" y="0"/>
                  </a:lnTo>
                  <a:close/>
                </a:path>
              </a:pathLst>
            </a:custGeom>
            <a:solidFill>
              <a:srgbClr val="C6ACBC"/>
            </a:solidFill>
          </p:spPr>
          <p:txBody>
            <a:bodyPr wrap="square" lIns="0" tIns="0" rIns="0" bIns="0" rtlCol="0"/>
            <a:lstStyle/>
            <a:p>
              <a:endParaRPr/>
            </a:p>
          </p:txBody>
        </p:sp>
        <p:sp>
          <p:nvSpPr>
            <p:cNvPr id="71" name="object 71"/>
            <p:cNvSpPr/>
            <p:nvPr/>
          </p:nvSpPr>
          <p:spPr>
            <a:xfrm>
              <a:off x="7727768" y="5837618"/>
              <a:ext cx="270510" cy="142875"/>
            </a:xfrm>
            <a:custGeom>
              <a:avLst/>
              <a:gdLst/>
              <a:ahLst/>
              <a:cxnLst/>
              <a:rect l="l" t="t" r="r" b="b"/>
              <a:pathLst>
                <a:path w="270509" h="142875">
                  <a:moveTo>
                    <a:pt x="0" y="0"/>
                  </a:moveTo>
                  <a:lnTo>
                    <a:pt x="270158" y="0"/>
                  </a:lnTo>
                  <a:lnTo>
                    <a:pt x="270158" y="142516"/>
                  </a:lnTo>
                  <a:lnTo>
                    <a:pt x="0" y="142516"/>
                  </a:lnTo>
                  <a:lnTo>
                    <a:pt x="0" y="0"/>
                  </a:lnTo>
                  <a:close/>
                </a:path>
              </a:pathLst>
            </a:custGeom>
            <a:ln w="3678">
              <a:solidFill>
                <a:srgbClr val="CDE0FF"/>
              </a:solidFill>
            </a:ln>
          </p:spPr>
          <p:txBody>
            <a:bodyPr wrap="square" lIns="0" tIns="0" rIns="0" bIns="0" rtlCol="0"/>
            <a:lstStyle/>
            <a:p>
              <a:endParaRPr/>
            </a:p>
          </p:txBody>
        </p:sp>
        <p:sp>
          <p:nvSpPr>
            <p:cNvPr id="72" name="object 72"/>
            <p:cNvSpPr/>
            <p:nvPr/>
          </p:nvSpPr>
          <p:spPr>
            <a:xfrm>
              <a:off x="7725812" y="5835811"/>
              <a:ext cx="4445" cy="3810"/>
            </a:xfrm>
            <a:custGeom>
              <a:avLst/>
              <a:gdLst/>
              <a:ahLst/>
              <a:cxnLst/>
              <a:rect l="l" t="t" r="r" b="b"/>
              <a:pathLst>
                <a:path w="4445" h="3810">
                  <a:moveTo>
                    <a:pt x="0" y="1806"/>
                  </a:moveTo>
                  <a:lnTo>
                    <a:pt x="572" y="529"/>
                  </a:lnTo>
                  <a:lnTo>
                    <a:pt x="1955" y="0"/>
                  </a:lnTo>
                  <a:lnTo>
                    <a:pt x="3338" y="529"/>
                  </a:lnTo>
                  <a:lnTo>
                    <a:pt x="3910" y="1806"/>
                  </a:lnTo>
                  <a:lnTo>
                    <a:pt x="3338" y="3084"/>
                  </a:lnTo>
                  <a:lnTo>
                    <a:pt x="1955" y="3613"/>
                  </a:lnTo>
                  <a:lnTo>
                    <a:pt x="572" y="3084"/>
                  </a:lnTo>
                  <a:lnTo>
                    <a:pt x="0" y="1806"/>
                  </a:lnTo>
                  <a:close/>
                </a:path>
              </a:pathLst>
            </a:custGeom>
            <a:solidFill>
              <a:srgbClr val="CDE0FF"/>
            </a:solidFill>
          </p:spPr>
          <p:txBody>
            <a:bodyPr wrap="square" lIns="0" tIns="0" rIns="0" bIns="0" rtlCol="0"/>
            <a:lstStyle/>
            <a:p>
              <a:endParaRPr/>
            </a:p>
          </p:txBody>
        </p:sp>
      </p:grpSp>
      <p:sp>
        <p:nvSpPr>
          <p:cNvPr id="73" name="object 73"/>
          <p:cNvSpPr txBox="1"/>
          <p:nvPr/>
        </p:nvSpPr>
        <p:spPr>
          <a:xfrm>
            <a:off x="7733320" y="5839558"/>
            <a:ext cx="222250" cy="132080"/>
          </a:xfrm>
          <a:prstGeom prst="rect">
            <a:avLst/>
          </a:prstGeom>
        </p:spPr>
        <p:txBody>
          <a:bodyPr vert="horz" wrap="square" lIns="0" tIns="12700" rIns="0" bIns="0" rtlCol="0">
            <a:spAutoFit/>
          </a:bodyPr>
          <a:lstStyle/>
          <a:p>
            <a:pPr marL="12700" marR="5080">
              <a:lnSpc>
                <a:spcPct val="100000"/>
              </a:lnSpc>
              <a:spcBef>
                <a:spcPts val="100"/>
              </a:spcBef>
            </a:pPr>
            <a:r>
              <a:rPr sz="350" spc="-10" dirty="0">
                <a:latin typeface="Arial MT"/>
                <a:cs typeface="Arial MT"/>
              </a:rPr>
              <a:t>Business</a:t>
            </a:r>
            <a:r>
              <a:rPr sz="350" spc="500" dirty="0">
                <a:latin typeface="Arial MT"/>
                <a:cs typeface="Arial MT"/>
              </a:rPr>
              <a:t> </a:t>
            </a:r>
            <a:r>
              <a:rPr sz="350" spc="-10" dirty="0">
                <a:latin typeface="Arial MT"/>
                <a:cs typeface="Arial MT"/>
              </a:rPr>
              <a:t>Object</a:t>
            </a:r>
            <a:endParaRPr sz="350">
              <a:latin typeface="Arial MT"/>
              <a:cs typeface="Arial MT"/>
            </a:endParaRPr>
          </a:p>
        </p:txBody>
      </p:sp>
      <p:grpSp>
        <p:nvGrpSpPr>
          <p:cNvPr id="74" name="object 74"/>
          <p:cNvGrpSpPr/>
          <p:nvPr/>
        </p:nvGrpSpPr>
        <p:grpSpPr>
          <a:xfrm>
            <a:off x="6478651" y="3306698"/>
            <a:ext cx="2192655" cy="1003300"/>
            <a:chOff x="6478651" y="3306698"/>
            <a:chExt cx="2192655" cy="1003300"/>
          </a:xfrm>
        </p:grpSpPr>
        <p:pic>
          <p:nvPicPr>
            <p:cNvPr id="75" name="object 75"/>
            <p:cNvPicPr/>
            <p:nvPr/>
          </p:nvPicPr>
          <p:blipFill>
            <a:blip r:embed="rId8" cstate="print"/>
            <a:stretch>
              <a:fillRect/>
            </a:stretch>
          </p:blipFill>
          <p:spPr>
            <a:xfrm>
              <a:off x="6478651" y="3689286"/>
              <a:ext cx="698373" cy="620712"/>
            </a:xfrm>
            <a:prstGeom prst="rect">
              <a:avLst/>
            </a:prstGeom>
          </p:spPr>
        </p:pic>
        <p:pic>
          <p:nvPicPr>
            <p:cNvPr id="76" name="object 76"/>
            <p:cNvPicPr/>
            <p:nvPr/>
          </p:nvPicPr>
          <p:blipFill>
            <a:blip r:embed="rId8" cstate="print"/>
            <a:stretch>
              <a:fillRect/>
            </a:stretch>
          </p:blipFill>
          <p:spPr>
            <a:xfrm>
              <a:off x="7542276" y="3306698"/>
              <a:ext cx="1128712" cy="1003300"/>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34566" y="2267966"/>
            <a:ext cx="1699895" cy="1064895"/>
            <a:chOff x="1734566" y="2267966"/>
            <a:chExt cx="1699895" cy="1064895"/>
          </a:xfrm>
        </p:grpSpPr>
        <p:sp>
          <p:nvSpPr>
            <p:cNvPr id="3" name="object 3"/>
            <p:cNvSpPr/>
            <p:nvPr/>
          </p:nvSpPr>
          <p:spPr>
            <a:xfrm>
              <a:off x="1747901" y="2281301"/>
              <a:ext cx="1673225" cy="1038225"/>
            </a:xfrm>
            <a:custGeom>
              <a:avLst/>
              <a:gdLst/>
              <a:ahLst/>
              <a:cxnLst/>
              <a:rect l="l" t="t" r="r" b="b"/>
              <a:pathLst>
                <a:path w="1673225" h="1038225">
                  <a:moveTo>
                    <a:pt x="1500124" y="0"/>
                  </a:moveTo>
                  <a:lnTo>
                    <a:pt x="172974" y="0"/>
                  </a:lnTo>
                  <a:lnTo>
                    <a:pt x="127000" y="6180"/>
                  </a:lnTo>
                  <a:lnTo>
                    <a:pt x="85682" y="23622"/>
                  </a:lnTo>
                  <a:lnTo>
                    <a:pt x="50673" y="50673"/>
                  </a:lnTo>
                  <a:lnTo>
                    <a:pt x="23622" y="85682"/>
                  </a:lnTo>
                  <a:lnTo>
                    <a:pt x="6180" y="127000"/>
                  </a:lnTo>
                  <a:lnTo>
                    <a:pt x="0" y="172974"/>
                  </a:lnTo>
                  <a:lnTo>
                    <a:pt x="0" y="865124"/>
                  </a:lnTo>
                  <a:lnTo>
                    <a:pt x="6180" y="911107"/>
                  </a:lnTo>
                  <a:lnTo>
                    <a:pt x="23622" y="952448"/>
                  </a:lnTo>
                  <a:lnTo>
                    <a:pt x="50673" y="987488"/>
                  </a:lnTo>
                  <a:lnTo>
                    <a:pt x="85682" y="1014570"/>
                  </a:lnTo>
                  <a:lnTo>
                    <a:pt x="127000" y="1032034"/>
                  </a:lnTo>
                  <a:lnTo>
                    <a:pt x="172974" y="1038225"/>
                  </a:lnTo>
                  <a:lnTo>
                    <a:pt x="1500124" y="1038225"/>
                  </a:lnTo>
                  <a:lnTo>
                    <a:pt x="1546107" y="1032034"/>
                  </a:lnTo>
                  <a:lnTo>
                    <a:pt x="1587448" y="1014570"/>
                  </a:lnTo>
                  <a:lnTo>
                    <a:pt x="1622488" y="987488"/>
                  </a:lnTo>
                  <a:lnTo>
                    <a:pt x="1649570" y="952448"/>
                  </a:lnTo>
                  <a:lnTo>
                    <a:pt x="1667034" y="911107"/>
                  </a:lnTo>
                  <a:lnTo>
                    <a:pt x="1673225" y="865124"/>
                  </a:lnTo>
                  <a:lnTo>
                    <a:pt x="1673225" y="172974"/>
                  </a:lnTo>
                  <a:lnTo>
                    <a:pt x="1667034" y="127000"/>
                  </a:lnTo>
                  <a:lnTo>
                    <a:pt x="1649570" y="85682"/>
                  </a:lnTo>
                  <a:lnTo>
                    <a:pt x="1622488" y="50673"/>
                  </a:lnTo>
                  <a:lnTo>
                    <a:pt x="1587448" y="23622"/>
                  </a:lnTo>
                  <a:lnTo>
                    <a:pt x="1546107" y="6180"/>
                  </a:lnTo>
                  <a:lnTo>
                    <a:pt x="1500124" y="0"/>
                  </a:lnTo>
                  <a:close/>
                </a:path>
              </a:pathLst>
            </a:custGeom>
            <a:solidFill>
              <a:srgbClr val="2C7B9F"/>
            </a:solidFill>
          </p:spPr>
          <p:txBody>
            <a:bodyPr wrap="square" lIns="0" tIns="0" rIns="0" bIns="0" rtlCol="0"/>
            <a:lstStyle/>
            <a:p>
              <a:endParaRPr/>
            </a:p>
          </p:txBody>
        </p:sp>
        <p:sp>
          <p:nvSpPr>
            <p:cNvPr id="4" name="object 4"/>
            <p:cNvSpPr/>
            <p:nvPr/>
          </p:nvSpPr>
          <p:spPr>
            <a:xfrm>
              <a:off x="1747901" y="2281301"/>
              <a:ext cx="1673225" cy="1038225"/>
            </a:xfrm>
            <a:custGeom>
              <a:avLst/>
              <a:gdLst/>
              <a:ahLst/>
              <a:cxnLst/>
              <a:rect l="l" t="t" r="r" b="b"/>
              <a:pathLst>
                <a:path w="1673225" h="1038225">
                  <a:moveTo>
                    <a:pt x="0" y="172974"/>
                  </a:moveTo>
                  <a:lnTo>
                    <a:pt x="6180" y="127000"/>
                  </a:lnTo>
                  <a:lnTo>
                    <a:pt x="23622" y="85682"/>
                  </a:lnTo>
                  <a:lnTo>
                    <a:pt x="50673" y="50673"/>
                  </a:lnTo>
                  <a:lnTo>
                    <a:pt x="85682" y="23622"/>
                  </a:lnTo>
                  <a:lnTo>
                    <a:pt x="127000" y="6180"/>
                  </a:lnTo>
                  <a:lnTo>
                    <a:pt x="172974" y="0"/>
                  </a:lnTo>
                  <a:lnTo>
                    <a:pt x="1500124" y="0"/>
                  </a:lnTo>
                  <a:lnTo>
                    <a:pt x="1546107" y="6180"/>
                  </a:lnTo>
                  <a:lnTo>
                    <a:pt x="1587448" y="23622"/>
                  </a:lnTo>
                  <a:lnTo>
                    <a:pt x="1622488" y="50673"/>
                  </a:lnTo>
                  <a:lnTo>
                    <a:pt x="1649570" y="85682"/>
                  </a:lnTo>
                  <a:lnTo>
                    <a:pt x="1667034" y="127000"/>
                  </a:lnTo>
                  <a:lnTo>
                    <a:pt x="1673225" y="172974"/>
                  </a:lnTo>
                  <a:lnTo>
                    <a:pt x="1673225" y="865124"/>
                  </a:lnTo>
                  <a:lnTo>
                    <a:pt x="1667034" y="911107"/>
                  </a:lnTo>
                  <a:lnTo>
                    <a:pt x="1649570" y="952448"/>
                  </a:lnTo>
                  <a:lnTo>
                    <a:pt x="1622488" y="987488"/>
                  </a:lnTo>
                  <a:lnTo>
                    <a:pt x="1587448" y="1014570"/>
                  </a:lnTo>
                  <a:lnTo>
                    <a:pt x="1546107" y="1032034"/>
                  </a:lnTo>
                  <a:lnTo>
                    <a:pt x="1500124" y="1038225"/>
                  </a:lnTo>
                  <a:lnTo>
                    <a:pt x="172974" y="1038225"/>
                  </a:lnTo>
                  <a:lnTo>
                    <a:pt x="127000" y="1032034"/>
                  </a:lnTo>
                  <a:lnTo>
                    <a:pt x="85682" y="1014570"/>
                  </a:lnTo>
                  <a:lnTo>
                    <a:pt x="50673" y="987488"/>
                  </a:lnTo>
                  <a:lnTo>
                    <a:pt x="23622" y="952448"/>
                  </a:lnTo>
                  <a:lnTo>
                    <a:pt x="6180" y="911107"/>
                  </a:lnTo>
                  <a:lnTo>
                    <a:pt x="0" y="865124"/>
                  </a:lnTo>
                  <a:lnTo>
                    <a:pt x="0" y="172974"/>
                  </a:lnTo>
                  <a:close/>
                </a:path>
              </a:pathLst>
            </a:custGeom>
            <a:ln w="26424">
              <a:solidFill>
                <a:srgbClr val="1D5874"/>
              </a:solidFill>
            </a:ln>
          </p:spPr>
          <p:txBody>
            <a:bodyPr wrap="square" lIns="0" tIns="0" rIns="0" bIns="0" rtlCol="0"/>
            <a:lstStyle/>
            <a:p>
              <a:endParaRPr/>
            </a:p>
          </p:txBody>
        </p:sp>
      </p:grpSp>
      <p:sp>
        <p:nvSpPr>
          <p:cNvPr id="5" name="object 5"/>
          <p:cNvSpPr txBox="1"/>
          <p:nvPr/>
        </p:nvSpPr>
        <p:spPr>
          <a:xfrm>
            <a:off x="1956054" y="2654299"/>
            <a:ext cx="1256665"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FFFFFF"/>
                </a:solidFill>
                <a:latin typeface="Calibri"/>
                <a:cs typeface="Calibri"/>
              </a:rPr>
              <a:t>REST</a:t>
            </a:r>
            <a:r>
              <a:rPr sz="1600" b="1" spc="-60" dirty="0">
                <a:solidFill>
                  <a:srgbClr val="FFFFFF"/>
                </a:solidFill>
                <a:latin typeface="Calibri"/>
                <a:cs typeface="Calibri"/>
              </a:rPr>
              <a:t> </a:t>
            </a:r>
            <a:r>
              <a:rPr sz="1600" b="1" spc="-10" dirty="0">
                <a:solidFill>
                  <a:srgbClr val="FFFFFF"/>
                </a:solidFill>
                <a:latin typeface="Calibri"/>
                <a:cs typeface="Calibri"/>
              </a:rPr>
              <a:t>SERVICES</a:t>
            </a:r>
            <a:endParaRPr sz="1600">
              <a:latin typeface="Calibri"/>
              <a:cs typeface="Calibri"/>
            </a:endParaRPr>
          </a:p>
        </p:txBody>
      </p:sp>
      <p:grpSp>
        <p:nvGrpSpPr>
          <p:cNvPr id="6" name="object 6"/>
          <p:cNvGrpSpPr/>
          <p:nvPr/>
        </p:nvGrpSpPr>
        <p:grpSpPr>
          <a:xfrm>
            <a:off x="6319305" y="1693862"/>
            <a:ext cx="3426460" cy="2233295"/>
            <a:chOff x="6319305" y="1693862"/>
            <a:chExt cx="3426460" cy="2233295"/>
          </a:xfrm>
        </p:grpSpPr>
        <p:sp>
          <p:nvSpPr>
            <p:cNvPr id="7" name="object 7"/>
            <p:cNvSpPr/>
            <p:nvPr/>
          </p:nvSpPr>
          <p:spPr>
            <a:xfrm>
              <a:off x="6332517" y="2415042"/>
              <a:ext cx="2560320" cy="1498600"/>
            </a:xfrm>
            <a:custGeom>
              <a:avLst/>
              <a:gdLst/>
              <a:ahLst/>
              <a:cxnLst/>
              <a:rect l="l" t="t" r="r" b="b"/>
              <a:pathLst>
                <a:path w="2560320" h="1498600">
                  <a:moveTo>
                    <a:pt x="1987981" y="0"/>
                  </a:moveTo>
                  <a:lnTo>
                    <a:pt x="1939133" y="3214"/>
                  </a:lnTo>
                  <a:lnTo>
                    <a:pt x="1891546" y="12985"/>
                  </a:lnTo>
                  <a:lnTo>
                    <a:pt x="1846363" y="29238"/>
                  </a:lnTo>
                  <a:lnTo>
                    <a:pt x="1804731" y="51897"/>
                  </a:lnTo>
                  <a:lnTo>
                    <a:pt x="1767796" y="80888"/>
                  </a:lnTo>
                  <a:lnTo>
                    <a:pt x="1748545" y="62955"/>
                  </a:lnTo>
                  <a:lnTo>
                    <a:pt x="1703234" y="33042"/>
                  </a:lnTo>
                  <a:lnTo>
                    <a:pt x="1628662" y="6534"/>
                  </a:lnTo>
                  <a:lnTo>
                    <a:pt x="1578520" y="16"/>
                  </a:lnTo>
                  <a:lnTo>
                    <a:pt x="1528596" y="1398"/>
                  </a:lnTo>
                  <a:lnTo>
                    <a:pt x="1480284" y="10307"/>
                  </a:lnTo>
                  <a:lnTo>
                    <a:pt x="1434978" y="26372"/>
                  </a:lnTo>
                  <a:lnTo>
                    <a:pt x="1394073" y="49221"/>
                  </a:lnTo>
                  <a:lnTo>
                    <a:pt x="1358963" y="78481"/>
                  </a:lnTo>
                  <a:lnTo>
                    <a:pt x="1331043" y="113781"/>
                  </a:lnTo>
                  <a:lnTo>
                    <a:pt x="1314197" y="101501"/>
                  </a:lnTo>
                  <a:lnTo>
                    <a:pt x="1277411" y="79991"/>
                  </a:lnTo>
                  <a:lnTo>
                    <a:pt x="1210486" y="54596"/>
                  </a:lnTo>
                  <a:lnTo>
                    <a:pt x="1161976" y="44843"/>
                  </a:lnTo>
                  <a:lnTo>
                    <a:pt x="1112988" y="41381"/>
                  </a:lnTo>
                  <a:lnTo>
                    <a:pt x="1064402" y="43996"/>
                  </a:lnTo>
                  <a:lnTo>
                    <a:pt x="1017099" y="52471"/>
                  </a:lnTo>
                  <a:lnTo>
                    <a:pt x="971960" y="66593"/>
                  </a:lnTo>
                  <a:lnTo>
                    <a:pt x="929866" y="86147"/>
                  </a:lnTo>
                  <a:lnTo>
                    <a:pt x="891698" y="110917"/>
                  </a:lnTo>
                  <a:lnTo>
                    <a:pt x="858337" y="140690"/>
                  </a:lnTo>
                  <a:lnTo>
                    <a:pt x="830663" y="175249"/>
                  </a:lnTo>
                  <a:lnTo>
                    <a:pt x="782957" y="156231"/>
                  </a:lnTo>
                  <a:lnTo>
                    <a:pt x="732812" y="142529"/>
                  </a:lnTo>
                  <a:lnTo>
                    <a:pt x="680930" y="134247"/>
                  </a:lnTo>
                  <a:lnTo>
                    <a:pt x="628011" y="131487"/>
                  </a:lnTo>
                  <a:lnTo>
                    <a:pt x="574758" y="134355"/>
                  </a:lnTo>
                  <a:lnTo>
                    <a:pt x="521488" y="143073"/>
                  </a:lnTo>
                  <a:lnTo>
                    <a:pt x="471362" y="157068"/>
                  </a:lnTo>
                  <a:lnTo>
                    <a:pt x="424785" y="175913"/>
                  </a:lnTo>
                  <a:lnTo>
                    <a:pt x="382165" y="199181"/>
                  </a:lnTo>
                  <a:lnTo>
                    <a:pt x="343909" y="226444"/>
                  </a:lnTo>
                  <a:lnTo>
                    <a:pt x="310423" y="257275"/>
                  </a:lnTo>
                  <a:lnTo>
                    <a:pt x="282116" y="291246"/>
                  </a:lnTo>
                  <a:lnTo>
                    <a:pt x="259393" y="327931"/>
                  </a:lnTo>
                  <a:lnTo>
                    <a:pt x="242663" y="366901"/>
                  </a:lnTo>
                  <a:lnTo>
                    <a:pt x="232331" y="407731"/>
                  </a:lnTo>
                  <a:lnTo>
                    <a:pt x="228806" y="449992"/>
                  </a:lnTo>
                  <a:lnTo>
                    <a:pt x="232493" y="493257"/>
                  </a:lnTo>
                  <a:lnTo>
                    <a:pt x="230334" y="497956"/>
                  </a:lnTo>
                  <a:lnTo>
                    <a:pt x="182659" y="505591"/>
                  </a:lnTo>
                  <a:lnTo>
                    <a:pt x="138191" y="520054"/>
                  </a:lnTo>
                  <a:lnTo>
                    <a:pt x="98002" y="540795"/>
                  </a:lnTo>
                  <a:lnTo>
                    <a:pt x="63165" y="567267"/>
                  </a:lnTo>
                  <a:lnTo>
                    <a:pt x="34754" y="598921"/>
                  </a:lnTo>
                  <a:lnTo>
                    <a:pt x="13077" y="636867"/>
                  </a:lnTo>
                  <a:lnTo>
                    <a:pt x="1615" y="676319"/>
                  </a:lnTo>
                  <a:lnTo>
                    <a:pt x="0" y="716141"/>
                  </a:lnTo>
                  <a:lnTo>
                    <a:pt x="7862" y="755194"/>
                  </a:lnTo>
                  <a:lnTo>
                    <a:pt x="24832" y="792343"/>
                  </a:lnTo>
                  <a:lnTo>
                    <a:pt x="50542" y="826449"/>
                  </a:lnTo>
                  <a:lnTo>
                    <a:pt x="84621" y="856376"/>
                  </a:lnTo>
                  <a:lnTo>
                    <a:pt x="126702" y="880988"/>
                  </a:lnTo>
                  <a:lnTo>
                    <a:pt x="92940" y="916863"/>
                  </a:lnTo>
                  <a:lnTo>
                    <a:pt x="69965" y="957203"/>
                  </a:lnTo>
                  <a:lnTo>
                    <a:pt x="58372" y="1000520"/>
                  </a:lnTo>
                  <a:lnTo>
                    <a:pt x="58757" y="1045326"/>
                  </a:lnTo>
                  <a:lnTo>
                    <a:pt x="70037" y="1085906"/>
                  </a:lnTo>
                  <a:lnTo>
                    <a:pt x="90630" y="1122772"/>
                  </a:lnTo>
                  <a:lnTo>
                    <a:pt x="119385" y="1155196"/>
                  </a:lnTo>
                  <a:lnTo>
                    <a:pt x="155150" y="1182454"/>
                  </a:lnTo>
                  <a:lnTo>
                    <a:pt x="196773" y="1203818"/>
                  </a:lnTo>
                  <a:lnTo>
                    <a:pt x="243101" y="1218561"/>
                  </a:lnTo>
                  <a:lnTo>
                    <a:pt x="292984" y="1225959"/>
                  </a:lnTo>
                  <a:lnTo>
                    <a:pt x="345269" y="1225285"/>
                  </a:lnTo>
                  <a:lnTo>
                    <a:pt x="346793" y="1227444"/>
                  </a:lnTo>
                  <a:lnTo>
                    <a:pt x="378051" y="1264830"/>
                  </a:lnTo>
                  <a:lnTo>
                    <a:pt x="409644" y="1294693"/>
                  </a:lnTo>
                  <a:lnTo>
                    <a:pt x="444491" y="1321276"/>
                  </a:lnTo>
                  <a:lnTo>
                    <a:pt x="482211" y="1344503"/>
                  </a:lnTo>
                  <a:lnTo>
                    <a:pt x="522420" y="1364298"/>
                  </a:lnTo>
                  <a:lnTo>
                    <a:pt x="564735" y="1380585"/>
                  </a:lnTo>
                  <a:lnTo>
                    <a:pt x="608774" y="1393290"/>
                  </a:lnTo>
                  <a:lnTo>
                    <a:pt x="654154" y="1402335"/>
                  </a:lnTo>
                  <a:lnTo>
                    <a:pt x="700493" y="1407646"/>
                  </a:lnTo>
                  <a:lnTo>
                    <a:pt x="747407" y="1409148"/>
                  </a:lnTo>
                  <a:lnTo>
                    <a:pt x="794515" y="1406763"/>
                  </a:lnTo>
                  <a:lnTo>
                    <a:pt x="841432" y="1400418"/>
                  </a:lnTo>
                  <a:lnTo>
                    <a:pt x="887778" y="1390035"/>
                  </a:lnTo>
                  <a:lnTo>
                    <a:pt x="933168" y="1375540"/>
                  </a:lnTo>
                  <a:lnTo>
                    <a:pt x="977221" y="1356857"/>
                  </a:lnTo>
                  <a:lnTo>
                    <a:pt x="1010994" y="1391740"/>
                  </a:lnTo>
                  <a:lnTo>
                    <a:pt x="1050168" y="1422380"/>
                  </a:lnTo>
                  <a:lnTo>
                    <a:pt x="1094109" y="1448406"/>
                  </a:lnTo>
                  <a:lnTo>
                    <a:pt x="1142183" y="1469446"/>
                  </a:lnTo>
                  <a:lnTo>
                    <a:pt x="1193756" y="1485127"/>
                  </a:lnTo>
                  <a:lnTo>
                    <a:pt x="1242656" y="1494367"/>
                  </a:lnTo>
                  <a:lnTo>
                    <a:pt x="1291508" y="1498599"/>
                  </a:lnTo>
                  <a:lnTo>
                    <a:pt x="1339844" y="1498024"/>
                  </a:lnTo>
                  <a:lnTo>
                    <a:pt x="1387199" y="1492839"/>
                  </a:lnTo>
                  <a:lnTo>
                    <a:pt x="1433104" y="1483247"/>
                  </a:lnTo>
                  <a:lnTo>
                    <a:pt x="1477093" y="1469445"/>
                  </a:lnTo>
                  <a:lnTo>
                    <a:pt x="1518698" y="1451634"/>
                  </a:lnTo>
                  <a:lnTo>
                    <a:pt x="1557451" y="1430014"/>
                  </a:lnTo>
                  <a:lnTo>
                    <a:pt x="1592887" y="1404785"/>
                  </a:lnTo>
                  <a:lnTo>
                    <a:pt x="1624537" y="1376145"/>
                  </a:lnTo>
                  <a:lnTo>
                    <a:pt x="1651935" y="1344296"/>
                  </a:lnTo>
                  <a:lnTo>
                    <a:pt x="1674613" y="1309436"/>
                  </a:lnTo>
                  <a:lnTo>
                    <a:pt x="1692104" y="1271767"/>
                  </a:lnTo>
                  <a:lnTo>
                    <a:pt x="1733740" y="1289433"/>
                  </a:lnTo>
                  <a:lnTo>
                    <a:pt x="1777829" y="1302326"/>
                  </a:lnTo>
                  <a:lnTo>
                    <a:pt x="1823727" y="1310289"/>
                  </a:lnTo>
                  <a:lnTo>
                    <a:pt x="1870793" y="1313169"/>
                  </a:lnTo>
                  <a:lnTo>
                    <a:pt x="1921421" y="1310549"/>
                  </a:lnTo>
                  <a:lnTo>
                    <a:pt x="1969802" y="1302278"/>
                  </a:lnTo>
                  <a:lnTo>
                    <a:pt x="2015402" y="1288772"/>
                  </a:lnTo>
                  <a:lnTo>
                    <a:pt x="2057686" y="1270451"/>
                  </a:lnTo>
                  <a:lnTo>
                    <a:pt x="2096121" y="1247734"/>
                  </a:lnTo>
                  <a:lnTo>
                    <a:pt x="2130172" y="1221038"/>
                  </a:lnTo>
                  <a:lnTo>
                    <a:pt x="2159306" y="1190782"/>
                  </a:lnTo>
                  <a:lnTo>
                    <a:pt x="2182987" y="1157385"/>
                  </a:lnTo>
                  <a:lnTo>
                    <a:pt x="2200683" y="1121266"/>
                  </a:lnTo>
                  <a:lnTo>
                    <a:pt x="2211858" y="1082841"/>
                  </a:lnTo>
                  <a:lnTo>
                    <a:pt x="2215979" y="1042532"/>
                  </a:lnTo>
                  <a:lnTo>
                    <a:pt x="2266362" y="1034136"/>
                  </a:lnTo>
                  <a:lnTo>
                    <a:pt x="2314817" y="1020703"/>
                  </a:lnTo>
                  <a:lnTo>
                    <a:pt x="2360747" y="1002437"/>
                  </a:lnTo>
                  <a:lnTo>
                    <a:pt x="2403558" y="979540"/>
                  </a:lnTo>
                  <a:lnTo>
                    <a:pt x="2444482" y="950794"/>
                  </a:lnTo>
                  <a:lnTo>
                    <a:pt x="2479376" y="918699"/>
                  </a:lnTo>
                  <a:lnTo>
                    <a:pt x="2508150" y="883789"/>
                  </a:lnTo>
                  <a:lnTo>
                    <a:pt x="2530718" y="846599"/>
                  </a:lnTo>
                  <a:lnTo>
                    <a:pt x="2546990" y="807662"/>
                  </a:lnTo>
                  <a:lnTo>
                    <a:pt x="2556879" y="767513"/>
                  </a:lnTo>
                  <a:lnTo>
                    <a:pt x="2560296" y="726687"/>
                  </a:lnTo>
                  <a:lnTo>
                    <a:pt x="2557153" y="685718"/>
                  </a:lnTo>
                  <a:lnTo>
                    <a:pt x="2547362" y="645141"/>
                  </a:lnTo>
                  <a:lnTo>
                    <a:pt x="2530834" y="605489"/>
                  </a:lnTo>
                  <a:lnTo>
                    <a:pt x="2507482" y="567298"/>
                  </a:lnTo>
                  <a:lnTo>
                    <a:pt x="2477218" y="531103"/>
                  </a:lnTo>
                  <a:lnTo>
                    <a:pt x="2481409" y="522959"/>
                  </a:lnTo>
                  <a:lnTo>
                    <a:pt x="2501175" y="457588"/>
                  </a:lnTo>
                  <a:lnTo>
                    <a:pt x="2502408" y="417607"/>
                  </a:lnTo>
                  <a:lnTo>
                    <a:pt x="2495850" y="378650"/>
                  </a:lnTo>
                  <a:lnTo>
                    <a:pt x="2481956" y="341355"/>
                  </a:lnTo>
                  <a:lnTo>
                    <a:pt x="2461184" y="306360"/>
                  </a:lnTo>
                  <a:lnTo>
                    <a:pt x="2433988" y="274302"/>
                  </a:lnTo>
                  <a:lnTo>
                    <a:pt x="2400824" y="245820"/>
                  </a:lnTo>
                  <a:lnTo>
                    <a:pt x="2362148" y="221551"/>
                  </a:lnTo>
                  <a:lnTo>
                    <a:pt x="2318415" y="202132"/>
                  </a:lnTo>
                  <a:lnTo>
                    <a:pt x="2270081" y="188203"/>
                  </a:lnTo>
                  <a:lnTo>
                    <a:pt x="2257081" y="150087"/>
                  </a:lnTo>
                  <a:lnTo>
                    <a:pt x="2236188" y="114543"/>
                  </a:lnTo>
                  <a:lnTo>
                    <a:pt x="2207984" y="82332"/>
                  </a:lnTo>
                  <a:lnTo>
                    <a:pt x="2173053" y="54218"/>
                  </a:lnTo>
                  <a:lnTo>
                    <a:pt x="2130624" y="30451"/>
                  </a:lnTo>
                  <a:lnTo>
                    <a:pt x="2084871" y="13543"/>
                  </a:lnTo>
                  <a:lnTo>
                    <a:pt x="2036942" y="3418"/>
                  </a:lnTo>
                  <a:lnTo>
                    <a:pt x="1987981" y="0"/>
                  </a:lnTo>
                  <a:close/>
                </a:path>
              </a:pathLst>
            </a:custGeom>
            <a:solidFill>
              <a:srgbClr val="2C7B9F"/>
            </a:solidFill>
          </p:spPr>
          <p:txBody>
            <a:bodyPr wrap="square" lIns="0" tIns="0" rIns="0" bIns="0" rtlCol="0"/>
            <a:lstStyle/>
            <a:p>
              <a:endParaRPr/>
            </a:p>
          </p:txBody>
        </p:sp>
        <p:sp>
          <p:nvSpPr>
            <p:cNvPr id="8" name="object 8"/>
            <p:cNvSpPr/>
            <p:nvPr/>
          </p:nvSpPr>
          <p:spPr>
            <a:xfrm>
              <a:off x="6332517" y="2415042"/>
              <a:ext cx="2560320" cy="1498600"/>
            </a:xfrm>
            <a:custGeom>
              <a:avLst/>
              <a:gdLst/>
              <a:ahLst/>
              <a:cxnLst/>
              <a:rect l="l" t="t" r="r" b="b"/>
              <a:pathLst>
                <a:path w="2560320" h="1498600">
                  <a:moveTo>
                    <a:pt x="232493" y="493257"/>
                  </a:moveTo>
                  <a:lnTo>
                    <a:pt x="228806" y="449992"/>
                  </a:lnTo>
                  <a:lnTo>
                    <a:pt x="232331" y="407731"/>
                  </a:lnTo>
                  <a:lnTo>
                    <a:pt x="242663" y="366901"/>
                  </a:lnTo>
                  <a:lnTo>
                    <a:pt x="259393" y="327931"/>
                  </a:lnTo>
                  <a:lnTo>
                    <a:pt x="282116" y="291246"/>
                  </a:lnTo>
                  <a:lnTo>
                    <a:pt x="310423" y="257275"/>
                  </a:lnTo>
                  <a:lnTo>
                    <a:pt x="343909" y="226444"/>
                  </a:lnTo>
                  <a:lnTo>
                    <a:pt x="382165" y="199181"/>
                  </a:lnTo>
                  <a:lnTo>
                    <a:pt x="424785" y="175913"/>
                  </a:lnTo>
                  <a:lnTo>
                    <a:pt x="471362" y="157068"/>
                  </a:lnTo>
                  <a:lnTo>
                    <a:pt x="521488" y="143073"/>
                  </a:lnTo>
                  <a:lnTo>
                    <a:pt x="574758" y="134355"/>
                  </a:lnTo>
                  <a:lnTo>
                    <a:pt x="628011" y="131487"/>
                  </a:lnTo>
                  <a:lnTo>
                    <a:pt x="680930" y="134247"/>
                  </a:lnTo>
                  <a:lnTo>
                    <a:pt x="732812" y="142529"/>
                  </a:lnTo>
                  <a:lnTo>
                    <a:pt x="782957" y="156231"/>
                  </a:lnTo>
                  <a:lnTo>
                    <a:pt x="830663" y="175249"/>
                  </a:lnTo>
                  <a:lnTo>
                    <a:pt x="858337" y="140690"/>
                  </a:lnTo>
                  <a:lnTo>
                    <a:pt x="891698" y="110917"/>
                  </a:lnTo>
                  <a:lnTo>
                    <a:pt x="929866" y="86147"/>
                  </a:lnTo>
                  <a:lnTo>
                    <a:pt x="971960" y="66593"/>
                  </a:lnTo>
                  <a:lnTo>
                    <a:pt x="1017099" y="52471"/>
                  </a:lnTo>
                  <a:lnTo>
                    <a:pt x="1064402" y="43996"/>
                  </a:lnTo>
                  <a:lnTo>
                    <a:pt x="1112988" y="41381"/>
                  </a:lnTo>
                  <a:lnTo>
                    <a:pt x="1161976" y="44843"/>
                  </a:lnTo>
                  <a:lnTo>
                    <a:pt x="1210486" y="54596"/>
                  </a:lnTo>
                  <a:lnTo>
                    <a:pt x="1257637" y="70855"/>
                  </a:lnTo>
                  <a:lnTo>
                    <a:pt x="1296292" y="90222"/>
                  </a:lnTo>
                  <a:lnTo>
                    <a:pt x="1331043" y="113781"/>
                  </a:lnTo>
                  <a:lnTo>
                    <a:pt x="1358963" y="78481"/>
                  </a:lnTo>
                  <a:lnTo>
                    <a:pt x="1394073" y="49221"/>
                  </a:lnTo>
                  <a:lnTo>
                    <a:pt x="1434978" y="26372"/>
                  </a:lnTo>
                  <a:lnTo>
                    <a:pt x="1480284" y="10307"/>
                  </a:lnTo>
                  <a:lnTo>
                    <a:pt x="1528596" y="1398"/>
                  </a:lnTo>
                  <a:lnTo>
                    <a:pt x="1578520" y="16"/>
                  </a:lnTo>
                  <a:lnTo>
                    <a:pt x="1628662" y="6534"/>
                  </a:lnTo>
                  <a:lnTo>
                    <a:pt x="1677626" y="21325"/>
                  </a:lnTo>
                  <a:lnTo>
                    <a:pt x="1726949" y="46963"/>
                  </a:lnTo>
                  <a:lnTo>
                    <a:pt x="1767796" y="80888"/>
                  </a:lnTo>
                  <a:lnTo>
                    <a:pt x="1804731" y="51897"/>
                  </a:lnTo>
                  <a:lnTo>
                    <a:pt x="1846363" y="29238"/>
                  </a:lnTo>
                  <a:lnTo>
                    <a:pt x="1891546" y="12985"/>
                  </a:lnTo>
                  <a:lnTo>
                    <a:pt x="1939133" y="3214"/>
                  </a:lnTo>
                  <a:lnTo>
                    <a:pt x="1987981" y="0"/>
                  </a:lnTo>
                  <a:lnTo>
                    <a:pt x="2036942" y="3418"/>
                  </a:lnTo>
                  <a:lnTo>
                    <a:pt x="2084871" y="13543"/>
                  </a:lnTo>
                  <a:lnTo>
                    <a:pt x="2130624" y="30451"/>
                  </a:lnTo>
                  <a:lnTo>
                    <a:pt x="2173053" y="54218"/>
                  </a:lnTo>
                  <a:lnTo>
                    <a:pt x="2207984" y="82332"/>
                  </a:lnTo>
                  <a:lnTo>
                    <a:pt x="2236188" y="114543"/>
                  </a:lnTo>
                  <a:lnTo>
                    <a:pt x="2257081" y="150087"/>
                  </a:lnTo>
                  <a:lnTo>
                    <a:pt x="2270081" y="188203"/>
                  </a:lnTo>
                  <a:lnTo>
                    <a:pt x="2318415" y="202132"/>
                  </a:lnTo>
                  <a:lnTo>
                    <a:pt x="2362148" y="221551"/>
                  </a:lnTo>
                  <a:lnTo>
                    <a:pt x="2400824" y="245820"/>
                  </a:lnTo>
                  <a:lnTo>
                    <a:pt x="2433988" y="274302"/>
                  </a:lnTo>
                  <a:lnTo>
                    <a:pt x="2461184" y="306360"/>
                  </a:lnTo>
                  <a:lnTo>
                    <a:pt x="2481956" y="341355"/>
                  </a:lnTo>
                  <a:lnTo>
                    <a:pt x="2495850" y="378650"/>
                  </a:lnTo>
                  <a:lnTo>
                    <a:pt x="2502408" y="417607"/>
                  </a:lnTo>
                  <a:lnTo>
                    <a:pt x="2501175" y="457588"/>
                  </a:lnTo>
                  <a:lnTo>
                    <a:pt x="2491696" y="497956"/>
                  </a:lnTo>
                  <a:lnTo>
                    <a:pt x="2477218" y="531103"/>
                  </a:lnTo>
                  <a:lnTo>
                    <a:pt x="2507482" y="567298"/>
                  </a:lnTo>
                  <a:lnTo>
                    <a:pt x="2530834" y="605489"/>
                  </a:lnTo>
                  <a:lnTo>
                    <a:pt x="2547362" y="645141"/>
                  </a:lnTo>
                  <a:lnTo>
                    <a:pt x="2557153" y="685718"/>
                  </a:lnTo>
                  <a:lnTo>
                    <a:pt x="2560296" y="726687"/>
                  </a:lnTo>
                  <a:lnTo>
                    <a:pt x="2556879" y="767513"/>
                  </a:lnTo>
                  <a:lnTo>
                    <a:pt x="2546990" y="807662"/>
                  </a:lnTo>
                  <a:lnTo>
                    <a:pt x="2530718" y="846599"/>
                  </a:lnTo>
                  <a:lnTo>
                    <a:pt x="2508150" y="883789"/>
                  </a:lnTo>
                  <a:lnTo>
                    <a:pt x="2479376" y="918699"/>
                  </a:lnTo>
                  <a:lnTo>
                    <a:pt x="2444482" y="950794"/>
                  </a:lnTo>
                  <a:lnTo>
                    <a:pt x="2403558" y="979540"/>
                  </a:lnTo>
                  <a:lnTo>
                    <a:pt x="2360747" y="1002437"/>
                  </a:lnTo>
                  <a:lnTo>
                    <a:pt x="2314817" y="1020703"/>
                  </a:lnTo>
                  <a:lnTo>
                    <a:pt x="2266362" y="1034136"/>
                  </a:lnTo>
                  <a:lnTo>
                    <a:pt x="2215979" y="1042532"/>
                  </a:lnTo>
                  <a:lnTo>
                    <a:pt x="2211858" y="1082841"/>
                  </a:lnTo>
                  <a:lnTo>
                    <a:pt x="2200683" y="1121266"/>
                  </a:lnTo>
                  <a:lnTo>
                    <a:pt x="2182987" y="1157385"/>
                  </a:lnTo>
                  <a:lnTo>
                    <a:pt x="2159306" y="1190782"/>
                  </a:lnTo>
                  <a:lnTo>
                    <a:pt x="2130172" y="1221038"/>
                  </a:lnTo>
                  <a:lnTo>
                    <a:pt x="2096121" y="1247734"/>
                  </a:lnTo>
                  <a:lnTo>
                    <a:pt x="2057686" y="1270451"/>
                  </a:lnTo>
                  <a:lnTo>
                    <a:pt x="2015402" y="1288772"/>
                  </a:lnTo>
                  <a:lnTo>
                    <a:pt x="1969802" y="1302278"/>
                  </a:lnTo>
                  <a:lnTo>
                    <a:pt x="1921421" y="1310549"/>
                  </a:lnTo>
                  <a:lnTo>
                    <a:pt x="1870793" y="1313169"/>
                  </a:lnTo>
                  <a:lnTo>
                    <a:pt x="1823727" y="1310289"/>
                  </a:lnTo>
                  <a:lnTo>
                    <a:pt x="1777829" y="1302326"/>
                  </a:lnTo>
                  <a:lnTo>
                    <a:pt x="1733740" y="1289433"/>
                  </a:lnTo>
                  <a:lnTo>
                    <a:pt x="1692104" y="1271767"/>
                  </a:lnTo>
                  <a:lnTo>
                    <a:pt x="1674613" y="1309436"/>
                  </a:lnTo>
                  <a:lnTo>
                    <a:pt x="1651935" y="1344296"/>
                  </a:lnTo>
                  <a:lnTo>
                    <a:pt x="1624537" y="1376145"/>
                  </a:lnTo>
                  <a:lnTo>
                    <a:pt x="1592887" y="1404785"/>
                  </a:lnTo>
                  <a:lnTo>
                    <a:pt x="1557451" y="1430014"/>
                  </a:lnTo>
                  <a:lnTo>
                    <a:pt x="1518698" y="1451634"/>
                  </a:lnTo>
                  <a:lnTo>
                    <a:pt x="1477093" y="1469445"/>
                  </a:lnTo>
                  <a:lnTo>
                    <a:pt x="1433104" y="1483247"/>
                  </a:lnTo>
                  <a:lnTo>
                    <a:pt x="1387199" y="1492839"/>
                  </a:lnTo>
                  <a:lnTo>
                    <a:pt x="1339844" y="1498024"/>
                  </a:lnTo>
                  <a:lnTo>
                    <a:pt x="1291508" y="1498599"/>
                  </a:lnTo>
                  <a:lnTo>
                    <a:pt x="1242656" y="1494367"/>
                  </a:lnTo>
                  <a:lnTo>
                    <a:pt x="1193756" y="1485127"/>
                  </a:lnTo>
                  <a:lnTo>
                    <a:pt x="1142183" y="1469446"/>
                  </a:lnTo>
                  <a:lnTo>
                    <a:pt x="1094109" y="1448406"/>
                  </a:lnTo>
                  <a:lnTo>
                    <a:pt x="1050168" y="1422380"/>
                  </a:lnTo>
                  <a:lnTo>
                    <a:pt x="1010994" y="1391740"/>
                  </a:lnTo>
                  <a:lnTo>
                    <a:pt x="977221" y="1356857"/>
                  </a:lnTo>
                  <a:lnTo>
                    <a:pt x="933168" y="1375540"/>
                  </a:lnTo>
                  <a:lnTo>
                    <a:pt x="887778" y="1390035"/>
                  </a:lnTo>
                  <a:lnTo>
                    <a:pt x="841432" y="1400418"/>
                  </a:lnTo>
                  <a:lnTo>
                    <a:pt x="794515" y="1406763"/>
                  </a:lnTo>
                  <a:lnTo>
                    <a:pt x="747407" y="1409148"/>
                  </a:lnTo>
                  <a:lnTo>
                    <a:pt x="700493" y="1407646"/>
                  </a:lnTo>
                  <a:lnTo>
                    <a:pt x="654154" y="1402335"/>
                  </a:lnTo>
                  <a:lnTo>
                    <a:pt x="608774" y="1393290"/>
                  </a:lnTo>
                  <a:lnTo>
                    <a:pt x="564735" y="1380585"/>
                  </a:lnTo>
                  <a:lnTo>
                    <a:pt x="522420" y="1364298"/>
                  </a:lnTo>
                  <a:lnTo>
                    <a:pt x="482211" y="1344503"/>
                  </a:lnTo>
                  <a:lnTo>
                    <a:pt x="444491" y="1321276"/>
                  </a:lnTo>
                  <a:lnTo>
                    <a:pt x="409644" y="1294693"/>
                  </a:lnTo>
                  <a:lnTo>
                    <a:pt x="378051" y="1264830"/>
                  </a:lnTo>
                  <a:lnTo>
                    <a:pt x="350095" y="1231762"/>
                  </a:lnTo>
                  <a:lnTo>
                    <a:pt x="345269" y="1225285"/>
                  </a:lnTo>
                  <a:lnTo>
                    <a:pt x="292984" y="1225959"/>
                  </a:lnTo>
                  <a:lnTo>
                    <a:pt x="243101" y="1218561"/>
                  </a:lnTo>
                  <a:lnTo>
                    <a:pt x="196773" y="1203818"/>
                  </a:lnTo>
                  <a:lnTo>
                    <a:pt x="155150" y="1182454"/>
                  </a:lnTo>
                  <a:lnTo>
                    <a:pt x="119385" y="1155196"/>
                  </a:lnTo>
                  <a:lnTo>
                    <a:pt x="90630" y="1122772"/>
                  </a:lnTo>
                  <a:lnTo>
                    <a:pt x="70037" y="1085906"/>
                  </a:lnTo>
                  <a:lnTo>
                    <a:pt x="58757" y="1045326"/>
                  </a:lnTo>
                  <a:lnTo>
                    <a:pt x="58372" y="1000520"/>
                  </a:lnTo>
                  <a:lnTo>
                    <a:pt x="69965" y="957203"/>
                  </a:lnTo>
                  <a:lnTo>
                    <a:pt x="92940" y="916863"/>
                  </a:lnTo>
                  <a:lnTo>
                    <a:pt x="126702" y="880988"/>
                  </a:lnTo>
                  <a:lnTo>
                    <a:pt x="84621" y="856376"/>
                  </a:lnTo>
                  <a:lnTo>
                    <a:pt x="50542" y="826449"/>
                  </a:lnTo>
                  <a:lnTo>
                    <a:pt x="24832" y="792343"/>
                  </a:lnTo>
                  <a:lnTo>
                    <a:pt x="7862" y="755194"/>
                  </a:lnTo>
                  <a:lnTo>
                    <a:pt x="0" y="716141"/>
                  </a:lnTo>
                  <a:lnTo>
                    <a:pt x="1615" y="676319"/>
                  </a:lnTo>
                  <a:lnTo>
                    <a:pt x="13077" y="636867"/>
                  </a:lnTo>
                  <a:lnTo>
                    <a:pt x="34754" y="598921"/>
                  </a:lnTo>
                  <a:lnTo>
                    <a:pt x="63165" y="567267"/>
                  </a:lnTo>
                  <a:lnTo>
                    <a:pt x="98002" y="540795"/>
                  </a:lnTo>
                  <a:lnTo>
                    <a:pt x="138191" y="520054"/>
                  </a:lnTo>
                  <a:lnTo>
                    <a:pt x="182659" y="505591"/>
                  </a:lnTo>
                  <a:lnTo>
                    <a:pt x="230334" y="497956"/>
                  </a:lnTo>
                  <a:lnTo>
                    <a:pt x="232493" y="493257"/>
                  </a:lnTo>
                  <a:close/>
                </a:path>
                <a:path w="2560320" h="1498600">
                  <a:moveTo>
                    <a:pt x="279483" y="902832"/>
                  </a:moveTo>
                  <a:lnTo>
                    <a:pt x="240331" y="902899"/>
                  </a:lnTo>
                  <a:lnTo>
                    <a:pt x="201822" y="898228"/>
                  </a:lnTo>
                  <a:lnTo>
                    <a:pt x="164647" y="888937"/>
                  </a:lnTo>
                  <a:lnTo>
                    <a:pt x="129496" y="875146"/>
                  </a:lnTo>
                </a:path>
                <a:path w="2560320" h="1498600">
                  <a:moveTo>
                    <a:pt x="411690" y="1205473"/>
                  </a:moveTo>
                  <a:lnTo>
                    <a:pt x="395771" y="1210019"/>
                  </a:lnTo>
                  <a:lnTo>
                    <a:pt x="379495" y="1213743"/>
                  </a:lnTo>
                  <a:lnTo>
                    <a:pt x="362934" y="1216635"/>
                  </a:lnTo>
                  <a:lnTo>
                    <a:pt x="346158" y="1218681"/>
                  </a:lnTo>
                </a:path>
                <a:path w="2560320" h="1498600">
                  <a:moveTo>
                    <a:pt x="977094" y="1350761"/>
                  </a:moveTo>
                  <a:lnTo>
                    <a:pt x="965743" y="1336334"/>
                  </a:lnTo>
                  <a:lnTo>
                    <a:pt x="955345" y="1321455"/>
                  </a:lnTo>
                  <a:lnTo>
                    <a:pt x="945947" y="1306148"/>
                  </a:lnTo>
                  <a:lnTo>
                    <a:pt x="937597" y="1290436"/>
                  </a:lnTo>
                </a:path>
                <a:path w="2560320" h="1498600">
                  <a:moveTo>
                    <a:pt x="1708233" y="1200266"/>
                  </a:moveTo>
                  <a:lnTo>
                    <a:pt x="1705895" y="1217071"/>
                  </a:lnTo>
                  <a:lnTo>
                    <a:pt x="1702486" y="1233746"/>
                  </a:lnTo>
                  <a:lnTo>
                    <a:pt x="1697982" y="1250254"/>
                  </a:lnTo>
                  <a:lnTo>
                    <a:pt x="1692358" y="1266560"/>
                  </a:lnTo>
                </a:path>
                <a:path w="2560320" h="1498600">
                  <a:moveTo>
                    <a:pt x="2022050" y="791072"/>
                  </a:moveTo>
                  <a:lnTo>
                    <a:pt x="2070117" y="813780"/>
                  </a:lnTo>
                  <a:lnTo>
                    <a:pt x="2112271" y="841909"/>
                  </a:lnTo>
                  <a:lnTo>
                    <a:pt x="2147946" y="874737"/>
                  </a:lnTo>
                  <a:lnTo>
                    <a:pt x="2176580" y="911542"/>
                  </a:lnTo>
                  <a:lnTo>
                    <a:pt x="2197606" y="951601"/>
                  </a:lnTo>
                  <a:lnTo>
                    <a:pt x="2210462" y="994192"/>
                  </a:lnTo>
                  <a:lnTo>
                    <a:pt x="2214582" y="1038595"/>
                  </a:lnTo>
                </a:path>
                <a:path w="2560320" h="1498600">
                  <a:moveTo>
                    <a:pt x="2476075" y="527420"/>
                  </a:moveTo>
                  <a:lnTo>
                    <a:pt x="2459823" y="553480"/>
                  </a:lnTo>
                  <a:lnTo>
                    <a:pt x="2439975" y="577791"/>
                  </a:lnTo>
                  <a:lnTo>
                    <a:pt x="2416746" y="600125"/>
                  </a:lnTo>
                  <a:lnTo>
                    <a:pt x="2390350" y="620257"/>
                  </a:lnTo>
                </a:path>
                <a:path w="2560320" h="1498600">
                  <a:moveTo>
                    <a:pt x="2270462" y="182996"/>
                  </a:moveTo>
                  <a:lnTo>
                    <a:pt x="2272532" y="193896"/>
                  </a:lnTo>
                  <a:lnTo>
                    <a:pt x="2273970" y="204855"/>
                  </a:lnTo>
                  <a:lnTo>
                    <a:pt x="2274766" y="215839"/>
                  </a:lnTo>
                  <a:lnTo>
                    <a:pt x="2274907" y="226811"/>
                  </a:lnTo>
                </a:path>
                <a:path w="2560320" h="1498600">
                  <a:moveTo>
                    <a:pt x="1723092" y="131815"/>
                  </a:moveTo>
                  <a:lnTo>
                    <a:pt x="1732135" y="116940"/>
                  </a:lnTo>
                  <a:lnTo>
                    <a:pt x="1742475" y="102636"/>
                  </a:lnTo>
                  <a:lnTo>
                    <a:pt x="1754078" y="88952"/>
                  </a:lnTo>
                  <a:lnTo>
                    <a:pt x="1766907" y="75935"/>
                  </a:lnTo>
                </a:path>
                <a:path w="2560320" h="1498600">
                  <a:moveTo>
                    <a:pt x="1312374" y="158485"/>
                  </a:moveTo>
                  <a:lnTo>
                    <a:pt x="1316277" y="146088"/>
                  </a:lnTo>
                  <a:lnTo>
                    <a:pt x="1321121" y="133894"/>
                  </a:lnTo>
                  <a:lnTo>
                    <a:pt x="1326894" y="121962"/>
                  </a:lnTo>
                  <a:lnTo>
                    <a:pt x="1333583" y="110352"/>
                  </a:lnTo>
                </a:path>
                <a:path w="2560320" h="1498600">
                  <a:moveTo>
                    <a:pt x="830409" y="174868"/>
                  </a:moveTo>
                  <a:lnTo>
                    <a:pt x="850953" y="185170"/>
                  </a:lnTo>
                  <a:lnTo>
                    <a:pt x="870652" y="196426"/>
                  </a:lnTo>
                  <a:lnTo>
                    <a:pt x="889470" y="208586"/>
                  </a:lnTo>
                  <a:lnTo>
                    <a:pt x="907371" y="221604"/>
                  </a:lnTo>
                </a:path>
                <a:path w="2560320" h="1498600">
                  <a:moveTo>
                    <a:pt x="245955" y="542533"/>
                  </a:moveTo>
                  <a:lnTo>
                    <a:pt x="241673" y="530368"/>
                  </a:lnTo>
                  <a:lnTo>
                    <a:pt x="237986" y="518085"/>
                  </a:lnTo>
                  <a:lnTo>
                    <a:pt x="234918" y="505706"/>
                  </a:lnTo>
                  <a:lnTo>
                    <a:pt x="232493" y="493257"/>
                  </a:lnTo>
                </a:path>
              </a:pathLst>
            </a:custGeom>
            <a:ln w="26424">
              <a:solidFill>
                <a:srgbClr val="1D5874"/>
              </a:solidFill>
            </a:ln>
          </p:spPr>
          <p:txBody>
            <a:bodyPr wrap="square" lIns="0" tIns="0" rIns="0" bIns="0" rtlCol="0"/>
            <a:lstStyle/>
            <a:p>
              <a:endParaRPr/>
            </a:p>
          </p:txBody>
        </p:sp>
        <p:sp>
          <p:nvSpPr>
            <p:cNvPr id="9" name="object 9"/>
            <p:cNvSpPr/>
            <p:nvPr/>
          </p:nvSpPr>
          <p:spPr>
            <a:xfrm>
              <a:off x="7223125" y="2599689"/>
              <a:ext cx="516255" cy="480059"/>
            </a:xfrm>
            <a:custGeom>
              <a:avLst/>
              <a:gdLst/>
              <a:ahLst/>
              <a:cxnLst/>
              <a:rect l="l" t="t" r="r" b="b"/>
              <a:pathLst>
                <a:path w="516254" h="480060">
                  <a:moveTo>
                    <a:pt x="516000" y="0"/>
                  </a:moveTo>
                  <a:lnTo>
                    <a:pt x="480760" y="32587"/>
                  </a:lnTo>
                  <a:lnTo>
                    <a:pt x="440404" y="45640"/>
                  </a:lnTo>
                  <a:lnTo>
                    <a:pt x="388173" y="55720"/>
                  </a:lnTo>
                  <a:lnTo>
                    <a:pt x="326529" y="62215"/>
                  </a:lnTo>
                  <a:lnTo>
                    <a:pt x="257936" y="64515"/>
                  </a:lnTo>
                  <a:lnTo>
                    <a:pt x="189353" y="62215"/>
                  </a:lnTo>
                  <a:lnTo>
                    <a:pt x="127733" y="55720"/>
                  </a:lnTo>
                  <a:lnTo>
                    <a:pt x="75533" y="45640"/>
                  </a:lnTo>
                  <a:lnTo>
                    <a:pt x="35207" y="32587"/>
                  </a:lnTo>
                  <a:lnTo>
                    <a:pt x="0" y="0"/>
                  </a:lnTo>
                  <a:lnTo>
                    <a:pt x="0" y="415544"/>
                  </a:lnTo>
                  <a:lnTo>
                    <a:pt x="35207" y="448131"/>
                  </a:lnTo>
                  <a:lnTo>
                    <a:pt x="75533" y="461184"/>
                  </a:lnTo>
                  <a:lnTo>
                    <a:pt x="127733" y="471264"/>
                  </a:lnTo>
                  <a:lnTo>
                    <a:pt x="189353" y="477759"/>
                  </a:lnTo>
                  <a:lnTo>
                    <a:pt x="257936" y="480060"/>
                  </a:lnTo>
                  <a:lnTo>
                    <a:pt x="326529" y="477759"/>
                  </a:lnTo>
                  <a:lnTo>
                    <a:pt x="388173" y="471264"/>
                  </a:lnTo>
                  <a:lnTo>
                    <a:pt x="440404" y="461184"/>
                  </a:lnTo>
                  <a:lnTo>
                    <a:pt x="480760" y="448131"/>
                  </a:lnTo>
                  <a:lnTo>
                    <a:pt x="516000" y="415544"/>
                  </a:lnTo>
                  <a:lnTo>
                    <a:pt x="516000" y="0"/>
                  </a:lnTo>
                  <a:close/>
                </a:path>
              </a:pathLst>
            </a:custGeom>
            <a:solidFill>
              <a:srgbClr val="234957"/>
            </a:solidFill>
          </p:spPr>
          <p:txBody>
            <a:bodyPr wrap="square" lIns="0" tIns="0" rIns="0" bIns="0" rtlCol="0"/>
            <a:lstStyle/>
            <a:p>
              <a:endParaRPr/>
            </a:p>
          </p:txBody>
        </p:sp>
        <p:sp>
          <p:nvSpPr>
            <p:cNvPr id="10" name="object 10"/>
            <p:cNvSpPr/>
            <p:nvPr/>
          </p:nvSpPr>
          <p:spPr>
            <a:xfrm>
              <a:off x="7223125" y="2535300"/>
              <a:ext cx="516255" cy="128905"/>
            </a:xfrm>
            <a:custGeom>
              <a:avLst/>
              <a:gdLst/>
              <a:ahLst/>
              <a:cxnLst/>
              <a:rect l="l" t="t" r="r" b="b"/>
              <a:pathLst>
                <a:path w="516254" h="128905">
                  <a:moveTo>
                    <a:pt x="257936" y="0"/>
                  </a:moveTo>
                  <a:lnTo>
                    <a:pt x="189353" y="2300"/>
                  </a:lnTo>
                  <a:lnTo>
                    <a:pt x="127733" y="8791"/>
                  </a:lnTo>
                  <a:lnTo>
                    <a:pt x="75533" y="18859"/>
                  </a:lnTo>
                  <a:lnTo>
                    <a:pt x="35207" y="31891"/>
                  </a:lnTo>
                  <a:lnTo>
                    <a:pt x="0" y="64388"/>
                  </a:lnTo>
                  <a:lnTo>
                    <a:pt x="9211" y="81559"/>
                  </a:lnTo>
                  <a:lnTo>
                    <a:pt x="75533" y="110029"/>
                  </a:lnTo>
                  <a:lnTo>
                    <a:pt x="127733" y="120109"/>
                  </a:lnTo>
                  <a:lnTo>
                    <a:pt x="189353" y="126604"/>
                  </a:lnTo>
                  <a:lnTo>
                    <a:pt x="257936" y="128904"/>
                  </a:lnTo>
                  <a:lnTo>
                    <a:pt x="326529" y="126604"/>
                  </a:lnTo>
                  <a:lnTo>
                    <a:pt x="388173" y="120109"/>
                  </a:lnTo>
                  <a:lnTo>
                    <a:pt x="440404" y="110029"/>
                  </a:lnTo>
                  <a:lnTo>
                    <a:pt x="480760" y="96976"/>
                  </a:lnTo>
                  <a:lnTo>
                    <a:pt x="516000" y="64388"/>
                  </a:lnTo>
                  <a:lnTo>
                    <a:pt x="506780" y="47272"/>
                  </a:lnTo>
                  <a:lnTo>
                    <a:pt x="440404" y="18859"/>
                  </a:lnTo>
                  <a:lnTo>
                    <a:pt x="388173" y="8791"/>
                  </a:lnTo>
                  <a:lnTo>
                    <a:pt x="326529" y="2300"/>
                  </a:lnTo>
                  <a:lnTo>
                    <a:pt x="257936" y="0"/>
                  </a:lnTo>
                  <a:close/>
                </a:path>
              </a:pathLst>
            </a:custGeom>
            <a:solidFill>
              <a:srgbClr val="7B929B"/>
            </a:solidFill>
          </p:spPr>
          <p:txBody>
            <a:bodyPr wrap="square" lIns="0" tIns="0" rIns="0" bIns="0" rtlCol="0"/>
            <a:lstStyle/>
            <a:p>
              <a:endParaRPr/>
            </a:p>
          </p:txBody>
        </p:sp>
        <p:sp>
          <p:nvSpPr>
            <p:cNvPr id="11" name="object 11"/>
            <p:cNvSpPr/>
            <p:nvPr/>
          </p:nvSpPr>
          <p:spPr>
            <a:xfrm>
              <a:off x="7223125" y="2535300"/>
              <a:ext cx="516255" cy="544830"/>
            </a:xfrm>
            <a:custGeom>
              <a:avLst/>
              <a:gdLst/>
              <a:ahLst/>
              <a:cxnLst/>
              <a:rect l="l" t="t" r="r" b="b"/>
              <a:pathLst>
                <a:path w="516254" h="544830">
                  <a:moveTo>
                    <a:pt x="516000" y="64388"/>
                  </a:moveTo>
                  <a:lnTo>
                    <a:pt x="480760" y="96976"/>
                  </a:lnTo>
                  <a:lnTo>
                    <a:pt x="440404" y="110029"/>
                  </a:lnTo>
                  <a:lnTo>
                    <a:pt x="388173" y="120109"/>
                  </a:lnTo>
                  <a:lnTo>
                    <a:pt x="326529" y="126604"/>
                  </a:lnTo>
                  <a:lnTo>
                    <a:pt x="257936" y="128904"/>
                  </a:lnTo>
                  <a:lnTo>
                    <a:pt x="189353" y="126604"/>
                  </a:lnTo>
                  <a:lnTo>
                    <a:pt x="127733" y="120109"/>
                  </a:lnTo>
                  <a:lnTo>
                    <a:pt x="75533" y="110029"/>
                  </a:lnTo>
                  <a:lnTo>
                    <a:pt x="35207" y="96976"/>
                  </a:lnTo>
                  <a:lnTo>
                    <a:pt x="0" y="64388"/>
                  </a:lnTo>
                  <a:lnTo>
                    <a:pt x="9211" y="47272"/>
                  </a:lnTo>
                  <a:lnTo>
                    <a:pt x="75533" y="18859"/>
                  </a:lnTo>
                  <a:lnTo>
                    <a:pt x="127733" y="8791"/>
                  </a:lnTo>
                  <a:lnTo>
                    <a:pt x="189353" y="2300"/>
                  </a:lnTo>
                  <a:lnTo>
                    <a:pt x="257936" y="0"/>
                  </a:lnTo>
                  <a:lnTo>
                    <a:pt x="326529" y="2300"/>
                  </a:lnTo>
                  <a:lnTo>
                    <a:pt x="388173" y="8791"/>
                  </a:lnTo>
                  <a:lnTo>
                    <a:pt x="440404" y="18859"/>
                  </a:lnTo>
                  <a:lnTo>
                    <a:pt x="480760" y="31891"/>
                  </a:lnTo>
                  <a:lnTo>
                    <a:pt x="516000" y="64388"/>
                  </a:lnTo>
                  <a:lnTo>
                    <a:pt x="516000" y="479933"/>
                  </a:lnTo>
                  <a:lnTo>
                    <a:pt x="480760" y="512520"/>
                  </a:lnTo>
                  <a:lnTo>
                    <a:pt x="440404" y="525573"/>
                  </a:lnTo>
                  <a:lnTo>
                    <a:pt x="388173" y="535653"/>
                  </a:lnTo>
                  <a:lnTo>
                    <a:pt x="326529" y="542148"/>
                  </a:lnTo>
                  <a:lnTo>
                    <a:pt x="257936" y="544449"/>
                  </a:lnTo>
                  <a:lnTo>
                    <a:pt x="189353" y="542148"/>
                  </a:lnTo>
                  <a:lnTo>
                    <a:pt x="127733" y="535653"/>
                  </a:lnTo>
                  <a:lnTo>
                    <a:pt x="75533" y="525573"/>
                  </a:lnTo>
                  <a:lnTo>
                    <a:pt x="35207" y="512520"/>
                  </a:lnTo>
                  <a:lnTo>
                    <a:pt x="0" y="479933"/>
                  </a:lnTo>
                  <a:lnTo>
                    <a:pt x="0" y="64388"/>
                  </a:lnTo>
                </a:path>
              </a:pathLst>
            </a:custGeom>
            <a:ln w="26424">
              <a:solidFill>
                <a:srgbClr val="17343D"/>
              </a:solidFill>
            </a:ln>
          </p:spPr>
          <p:txBody>
            <a:bodyPr wrap="square" lIns="0" tIns="0" rIns="0" bIns="0" rtlCol="0"/>
            <a:lstStyle/>
            <a:p>
              <a:endParaRPr/>
            </a:p>
          </p:txBody>
        </p:sp>
        <p:sp>
          <p:nvSpPr>
            <p:cNvPr id="12" name="object 12"/>
            <p:cNvSpPr/>
            <p:nvPr/>
          </p:nvSpPr>
          <p:spPr>
            <a:xfrm>
              <a:off x="7853426" y="3033141"/>
              <a:ext cx="516255" cy="481965"/>
            </a:xfrm>
            <a:custGeom>
              <a:avLst/>
              <a:gdLst/>
              <a:ahLst/>
              <a:cxnLst/>
              <a:rect l="l" t="t" r="r" b="b"/>
              <a:pathLst>
                <a:path w="516254" h="481964">
                  <a:moveTo>
                    <a:pt x="515874" y="0"/>
                  </a:moveTo>
                  <a:lnTo>
                    <a:pt x="480666" y="32530"/>
                  </a:lnTo>
                  <a:lnTo>
                    <a:pt x="440340" y="45593"/>
                  </a:lnTo>
                  <a:lnTo>
                    <a:pt x="388140" y="55691"/>
                  </a:lnTo>
                  <a:lnTo>
                    <a:pt x="326520" y="62206"/>
                  </a:lnTo>
                  <a:lnTo>
                    <a:pt x="257937" y="64516"/>
                  </a:lnTo>
                  <a:lnTo>
                    <a:pt x="189353" y="62206"/>
                  </a:lnTo>
                  <a:lnTo>
                    <a:pt x="127733" y="55691"/>
                  </a:lnTo>
                  <a:lnTo>
                    <a:pt x="75533" y="45593"/>
                  </a:lnTo>
                  <a:lnTo>
                    <a:pt x="35207" y="32530"/>
                  </a:lnTo>
                  <a:lnTo>
                    <a:pt x="0" y="0"/>
                  </a:lnTo>
                  <a:lnTo>
                    <a:pt x="0" y="417068"/>
                  </a:lnTo>
                  <a:lnTo>
                    <a:pt x="35207" y="449655"/>
                  </a:lnTo>
                  <a:lnTo>
                    <a:pt x="75533" y="462708"/>
                  </a:lnTo>
                  <a:lnTo>
                    <a:pt x="127733" y="472788"/>
                  </a:lnTo>
                  <a:lnTo>
                    <a:pt x="189353" y="479283"/>
                  </a:lnTo>
                  <a:lnTo>
                    <a:pt x="257937" y="481584"/>
                  </a:lnTo>
                  <a:lnTo>
                    <a:pt x="326520" y="479283"/>
                  </a:lnTo>
                  <a:lnTo>
                    <a:pt x="388140" y="472788"/>
                  </a:lnTo>
                  <a:lnTo>
                    <a:pt x="440340" y="462708"/>
                  </a:lnTo>
                  <a:lnTo>
                    <a:pt x="480666" y="449655"/>
                  </a:lnTo>
                  <a:lnTo>
                    <a:pt x="515874" y="417068"/>
                  </a:lnTo>
                  <a:lnTo>
                    <a:pt x="515874" y="0"/>
                  </a:lnTo>
                  <a:close/>
                </a:path>
              </a:pathLst>
            </a:custGeom>
            <a:solidFill>
              <a:srgbClr val="234957"/>
            </a:solidFill>
          </p:spPr>
          <p:txBody>
            <a:bodyPr wrap="square" lIns="0" tIns="0" rIns="0" bIns="0" rtlCol="0"/>
            <a:lstStyle/>
            <a:p>
              <a:endParaRPr/>
            </a:p>
          </p:txBody>
        </p:sp>
        <p:sp>
          <p:nvSpPr>
            <p:cNvPr id="13" name="object 13"/>
            <p:cNvSpPr/>
            <p:nvPr/>
          </p:nvSpPr>
          <p:spPr>
            <a:xfrm>
              <a:off x="7853426" y="2968625"/>
              <a:ext cx="516255" cy="129539"/>
            </a:xfrm>
            <a:custGeom>
              <a:avLst/>
              <a:gdLst/>
              <a:ahLst/>
              <a:cxnLst/>
              <a:rect l="l" t="t" r="r" b="b"/>
              <a:pathLst>
                <a:path w="516254" h="129539">
                  <a:moveTo>
                    <a:pt x="257937" y="0"/>
                  </a:moveTo>
                  <a:lnTo>
                    <a:pt x="189353" y="2300"/>
                  </a:lnTo>
                  <a:lnTo>
                    <a:pt x="127733" y="8795"/>
                  </a:lnTo>
                  <a:lnTo>
                    <a:pt x="75533" y="18875"/>
                  </a:lnTo>
                  <a:lnTo>
                    <a:pt x="35207" y="31928"/>
                  </a:lnTo>
                  <a:lnTo>
                    <a:pt x="0" y="64515"/>
                  </a:lnTo>
                  <a:lnTo>
                    <a:pt x="9211" y="81642"/>
                  </a:lnTo>
                  <a:lnTo>
                    <a:pt x="75533" y="110109"/>
                  </a:lnTo>
                  <a:lnTo>
                    <a:pt x="127733" y="120207"/>
                  </a:lnTo>
                  <a:lnTo>
                    <a:pt x="189353" y="126722"/>
                  </a:lnTo>
                  <a:lnTo>
                    <a:pt x="257937" y="129032"/>
                  </a:lnTo>
                  <a:lnTo>
                    <a:pt x="326520" y="126722"/>
                  </a:lnTo>
                  <a:lnTo>
                    <a:pt x="388140" y="120207"/>
                  </a:lnTo>
                  <a:lnTo>
                    <a:pt x="440340" y="110109"/>
                  </a:lnTo>
                  <a:lnTo>
                    <a:pt x="480666" y="97046"/>
                  </a:lnTo>
                  <a:lnTo>
                    <a:pt x="515874" y="64515"/>
                  </a:lnTo>
                  <a:lnTo>
                    <a:pt x="506662" y="47345"/>
                  </a:lnTo>
                  <a:lnTo>
                    <a:pt x="440340" y="18875"/>
                  </a:lnTo>
                  <a:lnTo>
                    <a:pt x="388140" y="8795"/>
                  </a:lnTo>
                  <a:lnTo>
                    <a:pt x="326520" y="2300"/>
                  </a:lnTo>
                  <a:lnTo>
                    <a:pt x="257937" y="0"/>
                  </a:lnTo>
                  <a:close/>
                </a:path>
              </a:pathLst>
            </a:custGeom>
            <a:solidFill>
              <a:srgbClr val="7B929B"/>
            </a:solidFill>
          </p:spPr>
          <p:txBody>
            <a:bodyPr wrap="square" lIns="0" tIns="0" rIns="0" bIns="0" rtlCol="0"/>
            <a:lstStyle/>
            <a:p>
              <a:endParaRPr/>
            </a:p>
          </p:txBody>
        </p:sp>
        <p:sp>
          <p:nvSpPr>
            <p:cNvPr id="14" name="object 14"/>
            <p:cNvSpPr/>
            <p:nvPr/>
          </p:nvSpPr>
          <p:spPr>
            <a:xfrm>
              <a:off x="7853426" y="2968625"/>
              <a:ext cx="516255" cy="546100"/>
            </a:xfrm>
            <a:custGeom>
              <a:avLst/>
              <a:gdLst/>
              <a:ahLst/>
              <a:cxnLst/>
              <a:rect l="l" t="t" r="r" b="b"/>
              <a:pathLst>
                <a:path w="516254" h="546100">
                  <a:moveTo>
                    <a:pt x="515874" y="64515"/>
                  </a:moveTo>
                  <a:lnTo>
                    <a:pt x="480666" y="97046"/>
                  </a:lnTo>
                  <a:lnTo>
                    <a:pt x="440340" y="110109"/>
                  </a:lnTo>
                  <a:lnTo>
                    <a:pt x="388140" y="120207"/>
                  </a:lnTo>
                  <a:lnTo>
                    <a:pt x="326520" y="126722"/>
                  </a:lnTo>
                  <a:lnTo>
                    <a:pt x="257937" y="129032"/>
                  </a:lnTo>
                  <a:lnTo>
                    <a:pt x="189353" y="126722"/>
                  </a:lnTo>
                  <a:lnTo>
                    <a:pt x="127733" y="120207"/>
                  </a:lnTo>
                  <a:lnTo>
                    <a:pt x="75533" y="110109"/>
                  </a:lnTo>
                  <a:lnTo>
                    <a:pt x="35207" y="97046"/>
                  </a:lnTo>
                  <a:lnTo>
                    <a:pt x="0" y="64515"/>
                  </a:lnTo>
                  <a:lnTo>
                    <a:pt x="9211" y="47345"/>
                  </a:lnTo>
                  <a:lnTo>
                    <a:pt x="75533" y="18875"/>
                  </a:lnTo>
                  <a:lnTo>
                    <a:pt x="127733" y="8795"/>
                  </a:lnTo>
                  <a:lnTo>
                    <a:pt x="189353" y="2300"/>
                  </a:lnTo>
                  <a:lnTo>
                    <a:pt x="257937" y="0"/>
                  </a:lnTo>
                  <a:lnTo>
                    <a:pt x="326520" y="2300"/>
                  </a:lnTo>
                  <a:lnTo>
                    <a:pt x="388140" y="8795"/>
                  </a:lnTo>
                  <a:lnTo>
                    <a:pt x="440340" y="18875"/>
                  </a:lnTo>
                  <a:lnTo>
                    <a:pt x="480666" y="31928"/>
                  </a:lnTo>
                  <a:lnTo>
                    <a:pt x="515874" y="64515"/>
                  </a:lnTo>
                  <a:lnTo>
                    <a:pt x="515874" y="481584"/>
                  </a:lnTo>
                  <a:lnTo>
                    <a:pt x="480666" y="514171"/>
                  </a:lnTo>
                  <a:lnTo>
                    <a:pt x="440340" y="527224"/>
                  </a:lnTo>
                  <a:lnTo>
                    <a:pt x="388140" y="537304"/>
                  </a:lnTo>
                  <a:lnTo>
                    <a:pt x="326520" y="543799"/>
                  </a:lnTo>
                  <a:lnTo>
                    <a:pt x="257937" y="546100"/>
                  </a:lnTo>
                  <a:lnTo>
                    <a:pt x="189353" y="543799"/>
                  </a:lnTo>
                  <a:lnTo>
                    <a:pt x="127733" y="537304"/>
                  </a:lnTo>
                  <a:lnTo>
                    <a:pt x="75533" y="527224"/>
                  </a:lnTo>
                  <a:lnTo>
                    <a:pt x="35207" y="514171"/>
                  </a:lnTo>
                  <a:lnTo>
                    <a:pt x="0" y="481584"/>
                  </a:lnTo>
                  <a:lnTo>
                    <a:pt x="0" y="64515"/>
                  </a:lnTo>
                </a:path>
              </a:pathLst>
            </a:custGeom>
            <a:ln w="26424">
              <a:solidFill>
                <a:srgbClr val="17343D"/>
              </a:solidFill>
            </a:ln>
          </p:spPr>
          <p:txBody>
            <a:bodyPr wrap="square" lIns="0" tIns="0" rIns="0" bIns="0" rtlCol="0"/>
            <a:lstStyle/>
            <a:p>
              <a:endParaRPr/>
            </a:p>
          </p:txBody>
        </p:sp>
        <p:sp>
          <p:nvSpPr>
            <p:cNvPr id="15" name="object 15"/>
            <p:cNvSpPr/>
            <p:nvPr/>
          </p:nvSpPr>
          <p:spPr>
            <a:xfrm>
              <a:off x="6948551" y="3207766"/>
              <a:ext cx="516255" cy="481965"/>
            </a:xfrm>
            <a:custGeom>
              <a:avLst/>
              <a:gdLst/>
              <a:ahLst/>
              <a:cxnLst/>
              <a:rect l="l" t="t" r="r" b="b"/>
              <a:pathLst>
                <a:path w="516254" h="481964">
                  <a:moveTo>
                    <a:pt x="515874" y="0"/>
                  </a:moveTo>
                  <a:lnTo>
                    <a:pt x="480666" y="32530"/>
                  </a:lnTo>
                  <a:lnTo>
                    <a:pt x="440340" y="45593"/>
                  </a:lnTo>
                  <a:lnTo>
                    <a:pt x="388140" y="55691"/>
                  </a:lnTo>
                  <a:lnTo>
                    <a:pt x="326520" y="62206"/>
                  </a:lnTo>
                  <a:lnTo>
                    <a:pt x="257937" y="64516"/>
                  </a:lnTo>
                  <a:lnTo>
                    <a:pt x="189353" y="62206"/>
                  </a:lnTo>
                  <a:lnTo>
                    <a:pt x="127733" y="55691"/>
                  </a:lnTo>
                  <a:lnTo>
                    <a:pt x="75533" y="45593"/>
                  </a:lnTo>
                  <a:lnTo>
                    <a:pt x="35207" y="32530"/>
                  </a:lnTo>
                  <a:lnTo>
                    <a:pt x="0" y="0"/>
                  </a:lnTo>
                  <a:lnTo>
                    <a:pt x="0" y="417068"/>
                  </a:lnTo>
                  <a:lnTo>
                    <a:pt x="35207" y="449655"/>
                  </a:lnTo>
                  <a:lnTo>
                    <a:pt x="75533" y="462708"/>
                  </a:lnTo>
                  <a:lnTo>
                    <a:pt x="127733" y="472788"/>
                  </a:lnTo>
                  <a:lnTo>
                    <a:pt x="189353" y="479283"/>
                  </a:lnTo>
                  <a:lnTo>
                    <a:pt x="257937" y="481584"/>
                  </a:lnTo>
                  <a:lnTo>
                    <a:pt x="326520" y="479283"/>
                  </a:lnTo>
                  <a:lnTo>
                    <a:pt x="388140" y="472788"/>
                  </a:lnTo>
                  <a:lnTo>
                    <a:pt x="440340" y="462708"/>
                  </a:lnTo>
                  <a:lnTo>
                    <a:pt x="480666" y="449655"/>
                  </a:lnTo>
                  <a:lnTo>
                    <a:pt x="515874" y="417068"/>
                  </a:lnTo>
                  <a:lnTo>
                    <a:pt x="515874" y="0"/>
                  </a:lnTo>
                  <a:close/>
                </a:path>
              </a:pathLst>
            </a:custGeom>
            <a:solidFill>
              <a:srgbClr val="234957"/>
            </a:solidFill>
          </p:spPr>
          <p:txBody>
            <a:bodyPr wrap="square" lIns="0" tIns="0" rIns="0" bIns="0" rtlCol="0"/>
            <a:lstStyle/>
            <a:p>
              <a:endParaRPr/>
            </a:p>
          </p:txBody>
        </p:sp>
        <p:sp>
          <p:nvSpPr>
            <p:cNvPr id="16" name="object 16"/>
            <p:cNvSpPr/>
            <p:nvPr/>
          </p:nvSpPr>
          <p:spPr>
            <a:xfrm>
              <a:off x="6948551" y="3143250"/>
              <a:ext cx="516255" cy="129539"/>
            </a:xfrm>
            <a:custGeom>
              <a:avLst/>
              <a:gdLst/>
              <a:ahLst/>
              <a:cxnLst/>
              <a:rect l="l" t="t" r="r" b="b"/>
              <a:pathLst>
                <a:path w="516254" h="129539">
                  <a:moveTo>
                    <a:pt x="257937" y="0"/>
                  </a:moveTo>
                  <a:lnTo>
                    <a:pt x="189353" y="2300"/>
                  </a:lnTo>
                  <a:lnTo>
                    <a:pt x="127733" y="8795"/>
                  </a:lnTo>
                  <a:lnTo>
                    <a:pt x="75533" y="18875"/>
                  </a:lnTo>
                  <a:lnTo>
                    <a:pt x="35207" y="31928"/>
                  </a:lnTo>
                  <a:lnTo>
                    <a:pt x="0" y="64515"/>
                  </a:lnTo>
                  <a:lnTo>
                    <a:pt x="9211" y="81642"/>
                  </a:lnTo>
                  <a:lnTo>
                    <a:pt x="75533" y="110109"/>
                  </a:lnTo>
                  <a:lnTo>
                    <a:pt x="127733" y="120207"/>
                  </a:lnTo>
                  <a:lnTo>
                    <a:pt x="189353" y="126722"/>
                  </a:lnTo>
                  <a:lnTo>
                    <a:pt x="257937" y="129032"/>
                  </a:lnTo>
                  <a:lnTo>
                    <a:pt x="326520" y="126722"/>
                  </a:lnTo>
                  <a:lnTo>
                    <a:pt x="388140" y="120207"/>
                  </a:lnTo>
                  <a:lnTo>
                    <a:pt x="440340" y="110109"/>
                  </a:lnTo>
                  <a:lnTo>
                    <a:pt x="480666" y="97046"/>
                  </a:lnTo>
                  <a:lnTo>
                    <a:pt x="515874" y="64515"/>
                  </a:lnTo>
                  <a:lnTo>
                    <a:pt x="506662" y="47345"/>
                  </a:lnTo>
                  <a:lnTo>
                    <a:pt x="440340" y="18875"/>
                  </a:lnTo>
                  <a:lnTo>
                    <a:pt x="388140" y="8795"/>
                  </a:lnTo>
                  <a:lnTo>
                    <a:pt x="326520" y="2300"/>
                  </a:lnTo>
                  <a:lnTo>
                    <a:pt x="257937" y="0"/>
                  </a:lnTo>
                  <a:close/>
                </a:path>
              </a:pathLst>
            </a:custGeom>
            <a:solidFill>
              <a:srgbClr val="7B929B"/>
            </a:solidFill>
          </p:spPr>
          <p:txBody>
            <a:bodyPr wrap="square" lIns="0" tIns="0" rIns="0" bIns="0" rtlCol="0"/>
            <a:lstStyle/>
            <a:p>
              <a:endParaRPr/>
            </a:p>
          </p:txBody>
        </p:sp>
        <p:sp>
          <p:nvSpPr>
            <p:cNvPr id="17" name="object 17"/>
            <p:cNvSpPr/>
            <p:nvPr/>
          </p:nvSpPr>
          <p:spPr>
            <a:xfrm>
              <a:off x="6948551" y="3143250"/>
              <a:ext cx="516255" cy="546100"/>
            </a:xfrm>
            <a:custGeom>
              <a:avLst/>
              <a:gdLst/>
              <a:ahLst/>
              <a:cxnLst/>
              <a:rect l="l" t="t" r="r" b="b"/>
              <a:pathLst>
                <a:path w="516254" h="546100">
                  <a:moveTo>
                    <a:pt x="515874" y="64515"/>
                  </a:moveTo>
                  <a:lnTo>
                    <a:pt x="480666" y="97046"/>
                  </a:lnTo>
                  <a:lnTo>
                    <a:pt x="440340" y="110109"/>
                  </a:lnTo>
                  <a:lnTo>
                    <a:pt x="388140" y="120207"/>
                  </a:lnTo>
                  <a:lnTo>
                    <a:pt x="326520" y="126722"/>
                  </a:lnTo>
                  <a:lnTo>
                    <a:pt x="257937" y="129032"/>
                  </a:lnTo>
                  <a:lnTo>
                    <a:pt x="189353" y="126722"/>
                  </a:lnTo>
                  <a:lnTo>
                    <a:pt x="127733" y="120207"/>
                  </a:lnTo>
                  <a:lnTo>
                    <a:pt x="75533" y="110109"/>
                  </a:lnTo>
                  <a:lnTo>
                    <a:pt x="35207" y="97046"/>
                  </a:lnTo>
                  <a:lnTo>
                    <a:pt x="0" y="64515"/>
                  </a:lnTo>
                  <a:lnTo>
                    <a:pt x="9211" y="47345"/>
                  </a:lnTo>
                  <a:lnTo>
                    <a:pt x="75533" y="18875"/>
                  </a:lnTo>
                  <a:lnTo>
                    <a:pt x="127733" y="8795"/>
                  </a:lnTo>
                  <a:lnTo>
                    <a:pt x="189353" y="2300"/>
                  </a:lnTo>
                  <a:lnTo>
                    <a:pt x="257937" y="0"/>
                  </a:lnTo>
                  <a:lnTo>
                    <a:pt x="326520" y="2300"/>
                  </a:lnTo>
                  <a:lnTo>
                    <a:pt x="388140" y="8795"/>
                  </a:lnTo>
                  <a:lnTo>
                    <a:pt x="440340" y="18875"/>
                  </a:lnTo>
                  <a:lnTo>
                    <a:pt x="480666" y="31928"/>
                  </a:lnTo>
                  <a:lnTo>
                    <a:pt x="515874" y="64515"/>
                  </a:lnTo>
                  <a:lnTo>
                    <a:pt x="515874" y="481583"/>
                  </a:lnTo>
                  <a:lnTo>
                    <a:pt x="480666" y="514171"/>
                  </a:lnTo>
                  <a:lnTo>
                    <a:pt x="440340" y="527224"/>
                  </a:lnTo>
                  <a:lnTo>
                    <a:pt x="388140" y="537304"/>
                  </a:lnTo>
                  <a:lnTo>
                    <a:pt x="326520" y="543799"/>
                  </a:lnTo>
                  <a:lnTo>
                    <a:pt x="257937" y="546100"/>
                  </a:lnTo>
                  <a:lnTo>
                    <a:pt x="189353" y="543799"/>
                  </a:lnTo>
                  <a:lnTo>
                    <a:pt x="127733" y="537304"/>
                  </a:lnTo>
                  <a:lnTo>
                    <a:pt x="75533" y="527224"/>
                  </a:lnTo>
                  <a:lnTo>
                    <a:pt x="35207" y="514171"/>
                  </a:lnTo>
                  <a:lnTo>
                    <a:pt x="0" y="481583"/>
                  </a:lnTo>
                  <a:lnTo>
                    <a:pt x="0" y="64515"/>
                  </a:lnTo>
                </a:path>
              </a:pathLst>
            </a:custGeom>
            <a:ln w="26424">
              <a:solidFill>
                <a:srgbClr val="17343D"/>
              </a:solidFill>
            </a:ln>
          </p:spPr>
          <p:txBody>
            <a:bodyPr wrap="square" lIns="0" tIns="0" rIns="0" bIns="0" rtlCol="0"/>
            <a:lstStyle/>
            <a:p>
              <a:endParaRPr/>
            </a:p>
          </p:txBody>
        </p:sp>
        <p:pic>
          <p:nvPicPr>
            <p:cNvPr id="18" name="object 18"/>
            <p:cNvPicPr/>
            <p:nvPr/>
          </p:nvPicPr>
          <p:blipFill>
            <a:blip r:embed="rId2" cstate="print"/>
            <a:stretch>
              <a:fillRect/>
            </a:stretch>
          </p:blipFill>
          <p:spPr>
            <a:xfrm>
              <a:off x="6705600" y="1693862"/>
              <a:ext cx="1993759" cy="668337"/>
            </a:xfrm>
            <a:prstGeom prst="rect">
              <a:avLst/>
            </a:prstGeom>
          </p:spPr>
        </p:pic>
        <p:pic>
          <p:nvPicPr>
            <p:cNvPr id="19" name="object 19"/>
            <p:cNvPicPr/>
            <p:nvPr/>
          </p:nvPicPr>
          <p:blipFill>
            <a:blip r:embed="rId3" cstate="print"/>
            <a:stretch>
              <a:fillRect/>
            </a:stretch>
          </p:blipFill>
          <p:spPr>
            <a:xfrm>
              <a:off x="8950325" y="2692336"/>
              <a:ext cx="795337" cy="515937"/>
            </a:xfrm>
            <a:prstGeom prst="rect">
              <a:avLst/>
            </a:prstGeom>
          </p:spPr>
        </p:pic>
      </p:grpSp>
      <p:sp>
        <p:nvSpPr>
          <p:cNvPr id="20" name="object 20"/>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Cloud-</a:t>
            </a:r>
            <a:r>
              <a:rPr spc="-95" dirty="0"/>
              <a:t>based</a:t>
            </a:r>
            <a:r>
              <a:rPr spc="-165" dirty="0"/>
              <a:t> </a:t>
            </a:r>
            <a:r>
              <a:rPr spc="-85" dirty="0"/>
              <a:t>applications</a:t>
            </a:r>
          </a:p>
        </p:txBody>
      </p:sp>
      <p:sp>
        <p:nvSpPr>
          <p:cNvPr id="79" name="object 79"/>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62</a:t>
            </a:r>
          </a:p>
        </p:txBody>
      </p:sp>
      <p:grpSp>
        <p:nvGrpSpPr>
          <p:cNvPr id="21" name="object 21"/>
          <p:cNvGrpSpPr/>
          <p:nvPr/>
        </p:nvGrpSpPr>
        <p:grpSpPr>
          <a:xfrm>
            <a:off x="1836288" y="2455413"/>
            <a:ext cx="1784350" cy="1233170"/>
            <a:chOff x="1836288" y="2455413"/>
            <a:chExt cx="1784350" cy="1233170"/>
          </a:xfrm>
        </p:grpSpPr>
        <p:sp>
          <p:nvSpPr>
            <p:cNvPr id="22" name="object 22"/>
            <p:cNvSpPr/>
            <p:nvPr/>
          </p:nvSpPr>
          <p:spPr>
            <a:xfrm>
              <a:off x="1849500" y="2468625"/>
              <a:ext cx="1673225" cy="1036955"/>
            </a:xfrm>
            <a:custGeom>
              <a:avLst/>
              <a:gdLst/>
              <a:ahLst/>
              <a:cxnLst/>
              <a:rect l="l" t="t" r="r" b="b"/>
              <a:pathLst>
                <a:path w="1673225" h="1036954">
                  <a:moveTo>
                    <a:pt x="1500377" y="0"/>
                  </a:moveTo>
                  <a:lnTo>
                    <a:pt x="172719" y="0"/>
                  </a:lnTo>
                  <a:lnTo>
                    <a:pt x="126808" y="6170"/>
                  </a:lnTo>
                  <a:lnTo>
                    <a:pt x="85550" y="23584"/>
                  </a:lnTo>
                  <a:lnTo>
                    <a:pt x="50593" y="50593"/>
                  </a:lnTo>
                  <a:lnTo>
                    <a:pt x="23584" y="85550"/>
                  </a:lnTo>
                  <a:lnTo>
                    <a:pt x="6170" y="126808"/>
                  </a:lnTo>
                  <a:lnTo>
                    <a:pt x="0" y="172720"/>
                  </a:lnTo>
                  <a:lnTo>
                    <a:pt x="0" y="863853"/>
                  </a:lnTo>
                  <a:lnTo>
                    <a:pt x="6170" y="909765"/>
                  </a:lnTo>
                  <a:lnTo>
                    <a:pt x="23584" y="951023"/>
                  </a:lnTo>
                  <a:lnTo>
                    <a:pt x="50593" y="985980"/>
                  </a:lnTo>
                  <a:lnTo>
                    <a:pt x="85550" y="1012989"/>
                  </a:lnTo>
                  <a:lnTo>
                    <a:pt x="126808" y="1030403"/>
                  </a:lnTo>
                  <a:lnTo>
                    <a:pt x="172719" y="1036574"/>
                  </a:lnTo>
                  <a:lnTo>
                    <a:pt x="1500377" y="1036574"/>
                  </a:lnTo>
                  <a:lnTo>
                    <a:pt x="1546298" y="1030403"/>
                  </a:lnTo>
                  <a:lnTo>
                    <a:pt x="1587579" y="1012989"/>
                  </a:lnTo>
                  <a:lnTo>
                    <a:pt x="1622567" y="985980"/>
                  </a:lnTo>
                  <a:lnTo>
                    <a:pt x="1649607" y="951023"/>
                  </a:lnTo>
                  <a:lnTo>
                    <a:pt x="1667044" y="909765"/>
                  </a:lnTo>
                  <a:lnTo>
                    <a:pt x="1673225" y="863853"/>
                  </a:lnTo>
                  <a:lnTo>
                    <a:pt x="1673225" y="172720"/>
                  </a:lnTo>
                  <a:lnTo>
                    <a:pt x="1667044" y="126808"/>
                  </a:lnTo>
                  <a:lnTo>
                    <a:pt x="1649607" y="85550"/>
                  </a:lnTo>
                  <a:lnTo>
                    <a:pt x="1622567" y="50593"/>
                  </a:lnTo>
                  <a:lnTo>
                    <a:pt x="1587579" y="23584"/>
                  </a:lnTo>
                  <a:lnTo>
                    <a:pt x="1546298" y="6170"/>
                  </a:lnTo>
                  <a:lnTo>
                    <a:pt x="1500377" y="0"/>
                  </a:lnTo>
                  <a:close/>
                </a:path>
              </a:pathLst>
            </a:custGeom>
            <a:solidFill>
              <a:srgbClr val="2C7B9F"/>
            </a:solidFill>
          </p:spPr>
          <p:txBody>
            <a:bodyPr wrap="square" lIns="0" tIns="0" rIns="0" bIns="0" rtlCol="0"/>
            <a:lstStyle/>
            <a:p>
              <a:endParaRPr/>
            </a:p>
          </p:txBody>
        </p:sp>
        <p:sp>
          <p:nvSpPr>
            <p:cNvPr id="23" name="object 23"/>
            <p:cNvSpPr/>
            <p:nvPr/>
          </p:nvSpPr>
          <p:spPr>
            <a:xfrm>
              <a:off x="1849500" y="2468625"/>
              <a:ext cx="1673225" cy="1036955"/>
            </a:xfrm>
            <a:custGeom>
              <a:avLst/>
              <a:gdLst/>
              <a:ahLst/>
              <a:cxnLst/>
              <a:rect l="l" t="t" r="r" b="b"/>
              <a:pathLst>
                <a:path w="1673225" h="1036954">
                  <a:moveTo>
                    <a:pt x="0" y="172720"/>
                  </a:moveTo>
                  <a:lnTo>
                    <a:pt x="6170" y="126808"/>
                  </a:lnTo>
                  <a:lnTo>
                    <a:pt x="23584" y="85550"/>
                  </a:lnTo>
                  <a:lnTo>
                    <a:pt x="50593" y="50593"/>
                  </a:lnTo>
                  <a:lnTo>
                    <a:pt x="85550" y="23584"/>
                  </a:lnTo>
                  <a:lnTo>
                    <a:pt x="126808" y="6170"/>
                  </a:lnTo>
                  <a:lnTo>
                    <a:pt x="172719" y="0"/>
                  </a:lnTo>
                  <a:lnTo>
                    <a:pt x="1500377" y="0"/>
                  </a:lnTo>
                  <a:lnTo>
                    <a:pt x="1546298" y="6170"/>
                  </a:lnTo>
                  <a:lnTo>
                    <a:pt x="1587579" y="23584"/>
                  </a:lnTo>
                  <a:lnTo>
                    <a:pt x="1622567" y="50593"/>
                  </a:lnTo>
                  <a:lnTo>
                    <a:pt x="1649607" y="85550"/>
                  </a:lnTo>
                  <a:lnTo>
                    <a:pt x="1667044" y="126808"/>
                  </a:lnTo>
                  <a:lnTo>
                    <a:pt x="1673225" y="172720"/>
                  </a:lnTo>
                  <a:lnTo>
                    <a:pt x="1673225" y="863853"/>
                  </a:lnTo>
                  <a:lnTo>
                    <a:pt x="1667044" y="909765"/>
                  </a:lnTo>
                  <a:lnTo>
                    <a:pt x="1649607" y="951023"/>
                  </a:lnTo>
                  <a:lnTo>
                    <a:pt x="1622567" y="985980"/>
                  </a:lnTo>
                  <a:lnTo>
                    <a:pt x="1587579" y="1012989"/>
                  </a:lnTo>
                  <a:lnTo>
                    <a:pt x="1546298" y="1030403"/>
                  </a:lnTo>
                  <a:lnTo>
                    <a:pt x="1500377" y="1036574"/>
                  </a:lnTo>
                  <a:lnTo>
                    <a:pt x="172719" y="1036574"/>
                  </a:lnTo>
                  <a:lnTo>
                    <a:pt x="126808" y="1030403"/>
                  </a:lnTo>
                  <a:lnTo>
                    <a:pt x="85550" y="1012989"/>
                  </a:lnTo>
                  <a:lnTo>
                    <a:pt x="50593" y="985980"/>
                  </a:lnTo>
                  <a:lnTo>
                    <a:pt x="23584" y="951023"/>
                  </a:lnTo>
                  <a:lnTo>
                    <a:pt x="6170" y="909765"/>
                  </a:lnTo>
                  <a:lnTo>
                    <a:pt x="0" y="863853"/>
                  </a:lnTo>
                  <a:lnTo>
                    <a:pt x="0" y="172720"/>
                  </a:lnTo>
                  <a:close/>
                </a:path>
              </a:pathLst>
            </a:custGeom>
            <a:ln w="26424">
              <a:solidFill>
                <a:srgbClr val="1D5874"/>
              </a:solidFill>
            </a:ln>
          </p:spPr>
          <p:txBody>
            <a:bodyPr wrap="square" lIns="0" tIns="0" rIns="0" bIns="0" rtlCol="0"/>
            <a:lstStyle/>
            <a:p>
              <a:endParaRPr/>
            </a:p>
          </p:txBody>
        </p:sp>
        <p:sp>
          <p:nvSpPr>
            <p:cNvPr id="24" name="object 24"/>
            <p:cNvSpPr/>
            <p:nvPr/>
          </p:nvSpPr>
          <p:spPr>
            <a:xfrm>
              <a:off x="1933574" y="2636773"/>
              <a:ext cx="1673225" cy="1038225"/>
            </a:xfrm>
            <a:custGeom>
              <a:avLst/>
              <a:gdLst/>
              <a:ahLst/>
              <a:cxnLst/>
              <a:rect l="l" t="t" r="r" b="b"/>
              <a:pathLst>
                <a:path w="1673225" h="1038225">
                  <a:moveTo>
                    <a:pt x="1500124" y="0"/>
                  </a:moveTo>
                  <a:lnTo>
                    <a:pt x="173100" y="0"/>
                  </a:lnTo>
                  <a:lnTo>
                    <a:pt x="127073" y="6190"/>
                  </a:lnTo>
                  <a:lnTo>
                    <a:pt x="85720" y="23654"/>
                  </a:lnTo>
                  <a:lnTo>
                    <a:pt x="50688" y="50736"/>
                  </a:lnTo>
                  <a:lnTo>
                    <a:pt x="23626" y="85776"/>
                  </a:lnTo>
                  <a:lnTo>
                    <a:pt x="6181" y="127117"/>
                  </a:lnTo>
                  <a:lnTo>
                    <a:pt x="0" y="173100"/>
                  </a:lnTo>
                  <a:lnTo>
                    <a:pt x="0" y="865251"/>
                  </a:lnTo>
                  <a:lnTo>
                    <a:pt x="6181" y="911225"/>
                  </a:lnTo>
                  <a:lnTo>
                    <a:pt x="23626" y="952542"/>
                  </a:lnTo>
                  <a:lnTo>
                    <a:pt x="50688" y="987551"/>
                  </a:lnTo>
                  <a:lnTo>
                    <a:pt x="85720" y="1014602"/>
                  </a:lnTo>
                  <a:lnTo>
                    <a:pt x="127073" y="1032044"/>
                  </a:lnTo>
                  <a:lnTo>
                    <a:pt x="173100" y="1038225"/>
                  </a:lnTo>
                  <a:lnTo>
                    <a:pt x="1500124" y="1038225"/>
                  </a:lnTo>
                  <a:lnTo>
                    <a:pt x="1546151" y="1032044"/>
                  </a:lnTo>
                  <a:lnTo>
                    <a:pt x="1587504" y="1014602"/>
                  </a:lnTo>
                  <a:lnTo>
                    <a:pt x="1622536" y="987551"/>
                  </a:lnTo>
                  <a:lnTo>
                    <a:pt x="1649598" y="952542"/>
                  </a:lnTo>
                  <a:lnTo>
                    <a:pt x="1667043" y="911225"/>
                  </a:lnTo>
                  <a:lnTo>
                    <a:pt x="1673225" y="865251"/>
                  </a:lnTo>
                  <a:lnTo>
                    <a:pt x="1673225" y="173100"/>
                  </a:lnTo>
                  <a:lnTo>
                    <a:pt x="1667043" y="127117"/>
                  </a:lnTo>
                  <a:lnTo>
                    <a:pt x="1649598" y="85776"/>
                  </a:lnTo>
                  <a:lnTo>
                    <a:pt x="1622536" y="50736"/>
                  </a:lnTo>
                  <a:lnTo>
                    <a:pt x="1587504" y="23654"/>
                  </a:lnTo>
                  <a:lnTo>
                    <a:pt x="1546151" y="6190"/>
                  </a:lnTo>
                  <a:lnTo>
                    <a:pt x="1500124" y="0"/>
                  </a:lnTo>
                  <a:close/>
                </a:path>
              </a:pathLst>
            </a:custGeom>
            <a:solidFill>
              <a:srgbClr val="2C7B9F"/>
            </a:solidFill>
          </p:spPr>
          <p:txBody>
            <a:bodyPr wrap="square" lIns="0" tIns="0" rIns="0" bIns="0" rtlCol="0"/>
            <a:lstStyle/>
            <a:p>
              <a:endParaRPr/>
            </a:p>
          </p:txBody>
        </p:sp>
        <p:sp>
          <p:nvSpPr>
            <p:cNvPr id="25" name="object 25"/>
            <p:cNvSpPr/>
            <p:nvPr/>
          </p:nvSpPr>
          <p:spPr>
            <a:xfrm>
              <a:off x="1933574" y="2636773"/>
              <a:ext cx="1673225" cy="1038225"/>
            </a:xfrm>
            <a:custGeom>
              <a:avLst/>
              <a:gdLst/>
              <a:ahLst/>
              <a:cxnLst/>
              <a:rect l="l" t="t" r="r" b="b"/>
              <a:pathLst>
                <a:path w="1673225" h="1038225">
                  <a:moveTo>
                    <a:pt x="0" y="173100"/>
                  </a:moveTo>
                  <a:lnTo>
                    <a:pt x="6181" y="127117"/>
                  </a:lnTo>
                  <a:lnTo>
                    <a:pt x="23626" y="85776"/>
                  </a:lnTo>
                  <a:lnTo>
                    <a:pt x="50688" y="50736"/>
                  </a:lnTo>
                  <a:lnTo>
                    <a:pt x="85720" y="23654"/>
                  </a:lnTo>
                  <a:lnTo>
                    <a:pt x="127073" y="6190"/>
                  </a:lnTo>
                  <a:lnTo>
                    <a:pt x="173100" y="0"/>
                  </a:lnTo>
                  <a:lnTo>
                    <a:pt x="1500124" y="0"/>
                  </a:lnTo>
                  <a:lnTo>
                    <a:pt x="1546151" y="6190"/>
                  </a:lnTo>
                  <a:lnTo>
                    <a:pt x="1587504" y="23654"/>
                  </a:lnTo>
                  <a:lnTo>
                    <a:pt x="1622536" y="50736"/>
                  </a:lnTo>
                  <a:lnTo>
                    <a:pt x="1649598" y="85776"/>
                  </a:lnTo>
                  <a:lnTo>
                    <a:pt x="1667043" y="127117"/>
                  </a:lnTo>
                  <a:lnTo>
                    <a:pt x="1673225" y="173100"/>
                  </a:lnTo>
                  <a:lnTo>
                    <a:pt x="1673225" y="865251"/>
                  </a:lnTo>
                  <a:lnTo>
                    <a:pt x="1667043" y="911225"/>
                  </a:lnTo>
                  <a:lnTo>
                    <a:pt x="1649598" y="952542"/>
                  </a:lnTo>
                  <a:lnTo>
                    <a:pt x="1622536" y="987551"/>
                  </a:lnTo>
                  <a:lnTo>
                    <a:pt x="1587504" y="1014602"/>
                  </a:lnTo>
                  <a:lnTo>
                    <a:pt x="1546151" y="1032044"/>
                  </a:lnTo>
                  <a:lnTo>
                    <a:pt x="1500124" y="1038225"/>
                  </a:lnTo>
                  <a:lnTo>
                    <a:pt x="173100" y="1038225"/>
                  </a:lnTo>
                  <a:lnTo>
                    <a:pt x="127073" y="1032044"/>
                  </a:lnTo>
                  <a:lnTo>
                    <a:pt x="85720" y="1014602"/>
                  </a:lnTo>
                  <a:lnTo>
                    <a:pt x="50688" y="987551"/>
                  </a:lnTo>
                  <a:lnTo>
                    <a:pt x="23626" y="952542"/>
                  </a:lnTo>
                  <a:lnTo>
                    <a:pt x="6181" y="911225"/>
                  </a:lnTo>
                  <a:lnTo>
                    <a:pt x="0" y="865251"/>
                  </a:lnTo>
                  <a:lnTo>
                    <a:pt x="0" y="173100"/>
                  </a:lnTo>
                  <a:close/>
                </a:path>
              </a:pathLst>
            </a:custGeom>
            <a:ln w="26424">
              <a:solidFill>
                <a:srgbClr val="1D5874"/>
              </a:solidFill>
            </a:ln>
          </p:spPr>
          <p:txBody>
            <a:bodyPr wrap="square" lIns="0" tIns="0" rIns="0" bIns="0" rtlCol="0"/>
            <a:lstStyle/>
            <a:p>
              <a:endParaRPr/>
            </a:p>
          </p:txBody>
        </p:sp>
      </p:grpSp>
      <p:sp>
        <p:nvSpPr>
          <p:cNvPr id="26" name="object 26"/>
          <p:cNvSpPr txBox="1"/>
          <p:nvPr/>
        </p:nvSpPr>
        <p:spPr>
          <a:xfrm>
            <a:off x="2056892" y="2718679"/>
            <a:ext cx="1256665" cy="796925"/>
          </a:xfrm>
          <a:prstGeom prst="rect">
            <a:avLst/>
          </a:prstGeom>
        </p:spPr>
        <p:txBody>
          <a:bodyPr vert="horz" wrap="square" lIns="0" tIns="32384" rIns="0" bIns="0" rtlCol="0">
            <a:spAutoFit/>
          </a:bodyPr>
          <a:lstStyle/>
          <a:p>
            <a:pPr marL="12700">
              <a:lnSpc>
                <a:spcPct val="100000"/>
              </a:lnSpc>
              <a:spcBef>
                <a:spcPts val="254"/>
              </a:spcBef>
            </a:pPr>
            <a:r>
              <a:rPr sz="1600" b="1" spc="-15" dirty="0">
                <a:solidFill>
                  <a:srgbClr val="FFFFFF"/>
                </a:solidFill>
                <a:latin typeface="Calibri"/>
                <a:cs typeface="Calibri"/>
              </a:rPr>
              <a:t>R</a:t>
            </a:r>
            <a:r>
              <a:rPr sz="1600" b="1" spc="-25" dirty="0">
                <a:solidFill>
                  <a:srgbClr val="FFFFFF"/>
                </a:solidFill>
                <a:latin typeface="Calibri"/>
                <a:cs typeface="Calibri"/>
              </a:rPr>
              <a:t>E</a:t>
            </a:r>
            <a:r>
              <a:rPr sz="1600" b="1" spc="-35" dirty="0">
                <a:solidFill>
                  <a:srgbClr val="FFFFFF"/>
                </a:solidFill>
                <a:latin typeface="Calibri"/>
                <a:cs typeface="Calibri"/>
              </a:rPr>
              <a:t>S</a:t>
            </a:r>
            <a:r>
              <a:rPr sz="1600" b="1" spc="-114" dirty="0">
                <a:solidFill>
                  <a:srgbClr val="FFFFFF"/>
                </a:solidFill>
                <a:latin typeface="Calibri"/>
                <a:cs typeface="Calibri"/>
              </a:rPr>
              <a:t>T</a:t>
            </a:r>
            <a:r>
              <a:rPr sz="3600" b="1" spc="-1387" baseline="-3472" dirty="0">
                <a:solidFill>
                  <a:srgbClr val="FFFFFF"/>
                </a:solidFill>
                <a:latin typeface="Calibri"/>
                <a:cs typeface="Calibri"/>
              </a:rPr>
              <a:t>R</a:t>
            </a:r>
            <a:r>
              <a:rPr sz="1600" b="1" spc="-15" dirty="0">
                <a:solidFill>
                  <a:srgbClr val="FFFFFF"/>
                </a:solidFill>
                <a:latin typeface="Calibri"/>
                <a:cs typeface="Calibri"/>
              </a:rPr>
              <a:t>S</a:t>
            </a:r>
            <a:r>
              <a:rPr sz="1600" b="1" spc="-645" dirty="0">
                <a:solidFill>
                  <a:srgbClr val="FFFFFF"/>
                </a:solidFill>
                <a:latin typeface="Calibri"/>
                <a:cs typeface="Calibri"/>
              </a:rPr>
              <a:t>E</a:t>
            </a:r>
            <a:r>
              <a:rPr sz="3600" b="1" spc="-862" baseline="-3472" dirty="0">
                <a:solidFill>
                  <a:srgbClr val="FFFFFF"/>
                </a:solidFill>
                <a:latin typeface="Calibri"/>
                <a:cs typeface="Calibri"/>
              </a:rPr>
              <a:t>E</a:t>
            </a:r>
            <a:r>
              <a:rPr sz="1600" b="1" spc="-390" dirty="0">
                <a:solidFill>
                  <a:srgbClr val="FFFFFF"/>
                </a:solidFill>
                <a:latin typeface="Calibri"/>
                <a:cs typeface="Calibri"/>
              </a:rPr>
              <a:t>R</a:t>
            </a:r>
            <a:r>
              <a:rPr sz="3600" b="1" spc="-1222" baseline="-3472" dirty="0">
                <a:solidFill>
                  <a:srgbClr val="FFFFFF"/>
                </a:solidFill>
                <a:latin typeface="Calibri"/>
                <a:cs typeface="Calibri"/>
              </a:rPr>
              <a:t>S</a:t>
            </a:r>
            <a:r>
              <a:rPr sz="1600" b="1" spc="-195" dirty="0">
                <a:solidFill>
                  <a:srgbClr val="FFFFFF"/>
                </a:solidFill>
                <a:latin typeface="Calibri"/>
                <a:cs typeface="Calibri"/>
              </a:rPr>
              <a:t>V</a:t>
            </a:r>
            <a:r>
              <a:rPr sz="3600" b="1" spc="-1552" baseline="-3472" dirty="0">
                <a:solidFill>
                  <a:srgbClr val="FFFFFF"/>
                </a:solidFill>
                <a:latin typeface="Calibri"/>
                <a:cs typeface="Calibri"/>
              </a:rPr>
              <a:t>T</a:t>
            </a:r>
            <a:r>
              <a:rPr sz="1600" b="1" spc="-20" dirty="0">
                <a:solidFill>
                  <a:srgbClr val="FFFFFF"/>
                </a:solidFill>
                <a:latin typeface="Calibri"/>
                <a:cs typeface="Calibri"/>
              </a:rPr>
              <a:t>I</a:t>
            </a:r>
            <a:r>
              <a:rPr sz="1600" b="1" spc="-30" dirty="0">
                <a:solidFill>
                  <a:srgbClr val="FFFFFF"/>
                </a:solidFill>
                <a:latin typeface="Calibri"/>
                <a:cs typeface="Calibri"/>
              </a:rPr>
              <a:t>CE</a:t>
            </a:r>
            <a:r>
              <a:rPr sz="1600" b="1" spc="-15" dirty="0">
                <a:solidFill>
                  <a:srgbClr val="FFFFFF"/>
                </a:solidFill>
                <a:latin typeface="Calibri"/>
                <a:cs typeface="Calibri"/>
              </a:rPr>
              <a:t>S</a:t>
            </a:r>
            <a:endParaRPr sz="1600">
              <a:latin typeface="Calibri"/>
              <a:cs typeface="Calibri"/>
            </a:endParaRPr>
          </a:p>
          <a:p>
            <a:pPr marL="196850">
              <a:lnSpc>
                <a:spcPct val="100000"/>
              </a:lnSpc>
              <a:spcBef>
                <a:spcPts val="160"/>
              </a:spcBef>
            </a:pPr>
            <a:r>
              <a:rPr sz="2400" b="1" spc="-10" dirty="0">
                <a:solidFill>
                  <a:srgbClr val="FFFFFF"/>
                </a:solidFill>
                <a:latin typeface="Calibri"/>
                <a:cs typeface="Calibri"/>
              </a:rPr>
              <a:t>Services</a:t>
            </a:r>
            <a:endParaRPr sz="2400">
              <a:latin typeface="Calibri"/>
              <a:cs typeface="Calibri"/>
            </a:endParaRPr>
          </a:p>
        </p:txBody>
      </p:sp>
      <p:grpSp>
        <p:nvGrpSpPr>
          <p:cNvPr id="27" name="object 27"/>
          <p:cNvGrpSpPr/>
          <p:nvPr/>
        </p:nvGrpSpPr>
        <p:grpSpPr>
          <a:xfrm>
            <a:off x="554736" y="2372514"/>
            <a:ext cx="891540" cy="1127125"/>
            <a:chOff x="554736" y="2372514"/>
            <a:chExt cx="891540" cy="1127125"/>
          </a:xfrm>
        </p:grpSpPr>
        <p:pic>
          <p:nvPicPr>
            <p:cNvPr id="28" name="object 28"/>
            <p:cNvPicPr/>
            <p:nvPr/>
          </p:nvPicPr>
          <p:blipFill>
            <a:blip r:embed="rId4" cstate="print"/>
            <a:stretch>
              <a:fillRect/>
            </a:stretch>
          </p:blipFill>
          <p:spPr>
            <a:xfrm>
              <a:off x="563848" y="2372514"/>
              <a:ext cx="865651" cy="296337"/>
            </a:xfrm>
            <a:prstGeom prst="rect">
              <a:avLst/>
            </a:prstGeom>
          </p:spPr>
        </p:pic>
        <p:sp>
          <p:nvSpPr>
            <p:cNvPr id="29" name="object 29"/>
            <p:cNvSpPr/>
            <p:nvPr/>
          </p:nvSpPr>
          <p:spPr>
            <a:xfrm>
              <a:off x="582612" y="2387600"/>
              <a:ext cx="789305" cy="234950"/>
            </a:xfrm>
            <a:custGeom>
              <a:avLst/>
              <a:gdLst/>
              <a:ahLst/>
              <a:cxnLst/>
              <a:rect l="l" t="t" r="r" b="b"/>
              <a:pathLst>
                <a:path w="789305" h="234950">
                  <a:moveTo>
                    <a:pt x="117475" y="0"/>
                  </a:moveTo>
                  <a:lnTo>
                    <a:pt x="0" y="117475"/>
                  </a:lnTo>
                  <a:lnTo>
                    <a:pt x="117475" y="234950"/>
                  </a:lnTo>
                  <a:lnTo>
                    <a:pt x="117475" y="176149"/>
                  </a:lnTo>
                  <a:lnTo>
                    <a:pt x="788987" y="176149"/>
                  </a:lnTo>
                  <a:lnTo>
                    <a:pt x="788987" y="58674"/>
                  </a:lnTo>
                  <a:lnTo>
                    <a:pt x="117475" y="58674"/>
                  </a:lnTo>
                  <a:lnTo>
                    <a:pt x="117475" y="0"/>
                  </a:lnTo>
                  <a:close/>
                </a:path>
              </a:pathLst>
            </a:custGeom>
            <a:solidFill>
              <a:srgbClr val="C00000"/>
            </a:solidFill>
          </p:spPr>
          <p:txBody>
            <a:bodyPr wrap="square" lIns="0" tIns="0" rIns="0" bIns="0" rtlCol="0"/>
            <a:lstStyle/>
            <a:p>
              <a:endParaRPr/>
            </a:p>
          </p:txBody>
        </p:sp>
        <p:sp>
          <p:nvSpPr>
            <p:cNvPr id="30" name="object 30"/>
            <p:cNvSpPr/>
            <p:nvPr/>
          </p:nvSpPr>
          <p:spPr>
            <a:xfrm>
              <a:off x="582612" y="2387600"/>
              <a:ext cx="789305" cy="234950"/>
            </a:xfrm>
            <a:custGeom>
              <a:avLst/>
              <a:gdLst/>
              <a:ahLst/>
              <a:cxnLst/>
              <a:rect l="l" t="t" r="r" b="b"/>
              <a:pathLst>
                <a:path w="789305" h="234950">
                  <a:moveTo>
                    <a:pt x="0" y="117475"/>
                  </a:moveTo>
                  <a:lnTo>
                    <a:pt x="117475" y="0"/>
                  </a:lnTo>
                  <a:lnTo>
                    <a:pt x="117475" y="58674"/>
                  </a:lnTo>
                  <a:lnTo>
                    <a:pt x="788987" y="58674"/>
                  </a:lnTo>
                  <a:lnTo>
                    <a:pt x="788987" y="176149"/>
                  </a:lnTo>
                  <a:lnTo>
                    <a:pt x="117475" y="176149"/>
                  </a:lnTo>
                  <a:lnTo>
                    <a:pt x="117475" y="234950"/>
                  </a:lnTo>
                  <a:lnTo>
                    <a:pt x="0" y="117475"/>
                  </a:lnTo>
                  <a:close/>
                </a:path>
              </a:pathLst>
            </a:custGeom>
            <a:ln w="9525">
              <a:solidFill>
                <a:srgbClr val="5F0000"/>
              </a:solidFill>
            </a:ln>
          </p:spPr>
          <p:txBody>
            <a:bodyPr wrap="square" lIns="0" tIns="0" rIns="0" bIns="0" rtlCol="0"/>
            <a:lstStyle/>
            <a:p>
              <a:endParaRPr/>
            </a:p>
          </p:txBody>
        </p:sp>
        <p:pic>
          <p:nvPicPr>
            <p:cNvPr id="31" name="object 31"/>
            <p:cNvPicPr/>
            <p:nvPr/>
          </p:nvPicPr>
          <p:blipFill>
            <a:blip r:embed="rId5" cstate="print"/>
            <a:stretch>
              <a:fillRect/>
            </a:stretch>
          </p:blipFill>
          <p:spPr>
            <a:xfrm>
              <a:off x="554736" y="2625826"/>
              <a:ext cx="874763" cy="332257"/>
            </a:xfrm>
            <a:prstGeom prst="rect">
              <a:avLst/>
            </a:prstGeom>
          </p:spPr>
        </p:pic>
        <p:sp>
          <p:nvSpPr>
            <p:cNvPr id="32" name="object 32"/>
            <p:cNvSpPr/>
            <p:nvPr/>
          </p:nvSpPr>
          <p:spPr>
            <a:xfrm>
              <a:off x="582612" y="2659126"/>
              <a:ext cx="789305" cy="234950"/>
            </a:xfrm>
            <a:custGeom>
              <a:avLst/>
              <a:gdLst/>
              <a:ahLst/>
              <a:cxnLst/>
              <a:rect l="l" t="t" r="r" b="b"/>
              <a:pathLst>
                <a:path w="789305" h="234950">
                  <a:moveTo>
                    <a:pt x="117475" y="0"/>
                  </a:moveTo>
                  <a:lnTo>
                    <a:pt x="0" y="117475"/>
                  </a:lnTo>
                  <a:lnTo>
                    <a:pt x="117475" y="234950"/>
                  </a:lnTo>
                  <a:lnTo>
                    <a:pt x="117475" y="176149"/>
                  </a:lnTo>
                  <a:lnTo>
                    <a:pt x="788987" y="176149"/>
                  </a:lnTo>
                  <a:lnTo>
                    <a:pt x="788987" y="58674"/>
                  </a:lnTo>
                  <a:lnTo>
                    <a:pt x="117475" y="58674"/>
                  </a:lnTo>
                  <a:lnTo>
                    <a:pt x="117475" y="0"/>
                  </a:lnTo>
                  <a:close/>
                </a:path>
              </a:pathLst>
            </a:custGeom>
            <a:solidFill>
              <a:srgbClr val="C00000"/>
            </a:solidFill>
          </p:spPr>
          <p:txBody>
            <a:bodyPr wrap="square" lIns="0" tIns="0" rIns="0" bIns="0" rtlCol="0"/>
            <a:lstStyle/>
            <a:p>
              <a:endParaRPr/>
            </a:p>
          </p:txBody>
        </p:sp>
        <p:sp>
          <p:nvSpPr>
            <p:cNvPr id="33" name="object 33"/>
            <p:cNvSpPr/>
            <p:nvPr/>
          </p:nvSpPr>
          <p:spPr>
            <a:xfrm>
              <a:off x="582612" y="2659126"/>
              <a:ext cx="789305" cy="234950"/>
            </a:xfrm>
            <a:custGeom>
              <a:avLst/>
              <a:gdLst/>
              <a:ahLst/>
              <a:cxnLst/>
              <a:rect l="l" t="t" r="r" b="b"/>
              <a:pathLst>
                <a:path w="789305" h="234950">
                  <a:moveTo>
                    <a:pt x="0" y="117475"/>
                  </a:moveTo>
                  <a:lnTo>
                    <a:pt x="117475" y="0"/>
                  </a:lnTo>
                  <a:lnTo>
                    <a:pt x="117475" y="58674"/>
                  </a:lnTo>
                  <a:lnTo>
                    <a:pt x="788987" y="58674"/>
                  </a:lnTo>
                  <a:lnTo>
                    <a:pt x="788987" y="176149"/>
                  </a:lnTo>
                  <a:lnTo>
                    <a:pt x="117475" y="176149"/>
                  </a:lnTo>
                  <a:lnTo>
                    <a:pt x="117475" y="234950"/>
                  </a:lnTo>
                  <a:lnTo>
                    <a:pt x="0" y="117475"/>
                  </a:lnTo>
                  <a:close/>
                </a:path>
              </a:pathLst>
            </a:custGeom>
            <a:ln w="9525">
              <a:solidFill>
                <a:srgbClr val="5F0000"/>
              </a:solidFill>
            </a:ln>
          </p:spPr>
          <p:txBody>
            <a:bodyPr wrap="square" lIns="0" tIns="0" rIns="0" bIns="0" rtlCol="0"/>
            <a:lstStyle/>
            <a:p>
              <a:endParaRPr/>
            </a:p>
          </p:txBody>
        </p:sp>
        <p:pic>
          <p:nvPicPr>
            <p:cNvPr id="34" name="object 34"/>
            <p:cNvPicPr/>
            <p:nvPr/>
          </p:nvPicPr>
          <p:blipFill>
            <a:blip r:embed="rId6" cstate="print"/>
            <a:stretch>
              <a:fillRect/>
            </a:stretch>
          </p:blipFill>
          <p:spPr>
            <a:xfrm>
              <a:off x="554736" y="2895574"/>
              <a:ext cx="874763" cy="332257"/>
            </a:xfrm>
            <a:prstGeom prst="rect">
              <a:avLst/>
            </a:prstGeom>
          </p:spPr>
        </p:pic>
        <p:sp>
          <p:nvSpPr>
            <p:cNvPr id="35" name="object 35"/>
            <p:cNvSpPr/>
            <p:nvPr/>
          </p:nvSpPr>
          <p:spPr>
            <a:xfrm>
              <a:off x="582612" y="2929001"/>
              <a:ext cx="789305" cy="234950"/>
            </a:xfrm>
            <a:custGeom>
              <a:avLst/>
              <a:gdLst/>
              <a:ahLst/>
              <a:cxnLst/>
              <a:rect l="l" t="t" r="r" b="b"/>
              <a:pathLst>
                <a:path w="789305" h="234950">
                  <a:moveTo>
                    <a:pt x="117475" y="0"/>
                  </a:moveTo>
                  <a:lnTo>
                    <a:pt x="0" y="117475"/>
                  </a:lnTo>
                  <a:lnTo>
                    <a:pt x="117475" y="234950"/>
                  </a:lnTo>
                  <a:lnTo>
                    <a:pt x="117475" y="176149"/>
                  </a:lnTo>
                  <a:lnTo>
                    <a:pt x="788987" y="176149"/>
                  </a:lnTo>
                  <a:lnTo>
                    <a:pt x="788987" y="58674"/>
                  </a:lnTo>
                  <a:lnTo>
                    <a:pt x="117475" y="58674"/>
                  </a:lnTo>
                  <a:lnTo>
                    <a:pt x="117475" y="0"/>
                  </a:lnTo>
                  <a:close/>
                </a:path>
              </a:pathLst>
            </a:custGeom>
            <a:solidFill>
              <a:srgbClr val="C00000"/>
            </a:solidFill>
          </p:spPr>
          <p:txBody>
            <a:bodyPr wrap="square" lIns="0" tIns="0" rIns="0" bIns="0" rtlCol="0"/>
            <a:lstStyle/>
            <a:p>
              <a:endParaRPr/>
            </a:p>
          </p:txBody>
        </p:sp>
        <p:sp>
          <p:nvSpPr>
            <p:cNvPr id="36" name="object 36"/>
            <p:cNvSpPr/>
            <p:nvPr/>
          </p:nvSpPr>
          <p:spPr>
            <a:xfrm>
              <a:off x="582612" y="2929001"/>
              <a:ext cx="789305" cy="234950"/>
            </a:xfrm>
            <a:custGeom>
              <a:avLst/>
              <a:gdLst/>
              <a:ahLst/>
              <a:cxnLst/>
              <a:rect l="l" t="t" r="r" b="b"/>
              <a:pathLst>
                <a:path w="789305" h="234950">
                  <a:moveTo>
                    <a:pt x="0" y="117475"/>
                  </a:moveTo>
                  <a:lnTo>
                    <a:pt x="117475" y="0"/>
                  </a:lnTo>
                  <a:lnTo>
                    <a:pt x="117475" y="58674"/>
                  </a:lnTo>
                  <a:lnTo>
                    <a:pt x="788987" y="58674"/>
                  </a:lnTo>
                  <a:lnTo>
                    <a:pt x="788987" y="176149"/>
                  </a:lnTo>
                  <a:lnTo>
                    <a:pt x="117475" y="176149"/>
                  </a:lnTo>
                  <a:lnTo>
                    <a:pt x="117475" y="234950"/>
                  </a:lnTo>
                  <a:lnTo>
                    <a:pt x="0" y="117475"/>
                  </a:lnTo>
                  <a:close/>
                </a:path>
              </a:pathLst>
            </a:custGeom>
            <a:ln w="9525">
              <a:solidFill>
                <a:srgbClr val="5F0000"/>
              </a:solidFill>
            </a:ln>
          </p:spPr>
          <p:txBody>
            <a:bodyPr wrap="square" lIns="0" tIns="0" rIns="0" bIns="0" rtlCol="0"/>
            <a:lstStyle/>
            <a:p>
              <a:endParaRPr/>
            </a:p>
          </p:txBody>
        </p:sp>
        <p:pic>
          <p:nvPicPr>
            <p:cNvPr id="37" name="object 37"/>
            <p:cNvPicPr/>
            <p:nvPr/>
          </p:nvPicPr>
          <p:blipFill>
            <a:blip r:embed="rId7" cstate="print"/>
            <a:stretch>
              <a:fillRect/>
            </a:stretch>
          </p:blipFill>
          <p:spPr>
            <a:xfrm>
              <a:off x="571500" y="3166846"/>
              <a:ext cx="874763" cy="332257"/>
            </a:xfrm>
            <a:prstGeom prst="rect">
              <a:avLst/>
            </a:prstGeom>
          </p:spPr>
        </p:pic>
        <p:sp>
          <p:nvSpPr>
            <p:cNvPr id="38" name="object 38"/>
            <p:cNvSpPr/>
            <p:nvPr/>
          </p:nvSpPr>
          <p:spPr>
            <a:xfrm>
              <a:off x="600075" y="3200400"/>
              <a:ext cx="789305" cy="234950"/>
            </a:xfrm>
            <a:custGeom>
              <a:avLst/>
              <a:gdLst/>
              <a:ahLst/>
              <a:cxnLst/>
              <a:rect l="l" t="t" r="r" b="b"/>
              <a:pathLst>
                <a:path w="789305" h="234950">
                  <a:moveTo>
                    <a:pt x="117475" y="0"/>
                  </a:moveTo>
                  <a:lnTo>
                    <a:pt x="0" y="117475"/>
                  </a:lnTo>
                  <a:lnTo>
                    <a:pt x="117475" y="234950"/>
                  </a:lnTo>
                  <a:lnTo>
                    <a:pt x="117475" y="176149"/>
                  </a:lnTo>
                  <a:lnTo>
                    <a:pt x="789051" y="176149"/>
                  </a:lnTo>
                  <a:lnTo>
                    <a:pt x="789051" y="58674"/>
                  </a:lnTo>
                  <a:lnTo>
                    <a:pt x="117475" y="58674"/>
                  </a:lnTo>
                  <a:lnTo>
                    <a:pt x="117475" y="0"/>
                  </a:lnTo>
                  <a:close/>
                </a:path>
              </a:pathLst>
            </a:custGeom>
            <a:solidFill>
              <a:srgbClr val="C00000"/>
            </a:solidFill>
          </p:spPr>
          <p:txBody>
            <a:bodyPr wrap="square" lIns="0" tIns="0" rIns="0" bIns="0" rtlCol="0"/>
            <a:lstStyle/>
            <a:p>
              <a:endParaRPr/>
            </a:p>
          </p:txBody>
        </p:sp>
        <p:sp>
          <p:nvSpPr>
            <p:cNvPr id="39" name="object 39"/>
            <p:cNvSpPr/>
            <p:nvPr/>
          </p:nvSpPr>
          <p:spPr>
            <a:xfrm>
              <a:off x="600075" y="3200400"/>
              <a:ext cx="789305" cy="234950"/>
            </a:xfrm>
            <a:custGeom>
              <a:avLst/>
              <a:gdLst/>
              <a:ahLst/>
              <a:cxnLst/>
              <a:rect l="l" t="t" r="r" b="b"/>
              <a:pathLst>
                <a:path w="789305" h="234950">
                  <a:moveTo>
                    <a:pt x="0" y="117475"/>
                  </a:moveTo>
                  <a:lnTo>
                    <a:pt x="117475" y="0"/>
                  </a:lnTo>
                  <a:lnTo>
                    <a:pt x="117475" y="58674"/>
                  </a:lnTo>
                  <a:lnTo>
                    <a:pt x="789051" y="58674"/>
                  </a:lnTo>
                  <a:lnTo>
                    <a:pt x="789051" y="176149"/>
                  </a:lnTo>
                  <a:lnTo>
                    <a:pt x="117475" y="176149"/>
                  </a:lnTo>
                  <a:lnTo>
                    <a:pt x="117475" y="234950"/>
                  </a:lnTo>
                  <a:lnTo>
                    <a:pt x="0" y="117475"/>
                  </a:lnTo>
                  <a:close/>
                </a:path>
              </a:pathLst>
            </a:custGeom>
            <a:ln w="9525">
              <a:solidFill>
                <a:srgbClr val="5F0000"/>
              </a:solidFill>
            </a:ln>
          </p:spPr>
          <p:txBody>
            <a:bodyPr wrap="square" lIns="0" tIns="0" rIns="0" bIns="0" rtlCol="0"/>
            <a:lstStyle/>
            <a:p>
              <a:endParaRPr/>
            </a:p>
          </p:txBody>
        </p:sp>
      </p:grpSp>
      <p:grpSp>
        <p:nvGrpSpPr>
          <p:cNvPr id="40" name="object 40"/>
          <p:cNvGrpSpPr/>
          <p:nvPr/>
        </p:nvGrpSpPr>
        <p:grpSpPr>
          <a:xfrm>
            <a:off x="4208902" y="3375020"/>
            <a:ext cx="1623695" cy="1602105"/>
            <a:chOff x="4208902" y="3375020"/>
            <a:chExt cx="1623695" cy="1602105"/>
          </a:xfrm>
        </p:grpSpPr>
        <p:sp>
          <p:nvSpPr>
            <p:cNvPr id="41" name="object 41"/>
            <p:cNvSpPr/>
            <p:nvPr/>
          </p:nvSpPr>
          <p:spPr>
            <a:xfrm>
              <a:off x="4222114" y="3388233"/>
              <a:ext cx="1597025" cy="1575435"/>
            </a:xfrm>
            <a:custGeom>
              <a:avLst/>
              <a:gdLst/>
              <a:ahLst/>
              <a:cxnLst/>
              <a:rect l="l" t="t" r="r" b="b"/>
              <a:pathLst>
                <a:path w="1597025" h="1575435">
                  <a:moveTo>
                    <a:pt x="0" y="0"/>
                  </a:moveTo>
                  <a:lnTo>
                    <a:pt x="70231" y="418972"/>
                  </a:lnTo>
                  <a:lnTo>
                    <a:pt x="177926" y="309879"/>
                  </a:lnTo>
                  <a:lnTo>
                    <a:pt x="663194" y="788542"/>
                  </a:lnTo>
                  <a:lnTo>
                    <a:pt x="204470" y="1253489"/>
                  </a:lnTo>
                  <a:lnTo>
                    <a:pt x="95376" y="1145793"/>
                  </a:lnTo>
                  <a:lnTo>
                    <a:pt x="30734" y="1565783"/>
                  </a:lnTo>
                  <a:lnTo>
                    <a:pt x="449707" y="1495424"/>
                  </a:lnTo>
                  <a:lnTo>
                    <a:pt x="340613" y="1387728"/>
                  </a:lnTo>
                  <a:lnTo>
                    <a:pt x="799211" y="922781"/>
                  </a:lnTo>
                  <a:lnTo>
                    <a:pt x="1284477" y="1401571"/>
                  </a:lnTo>
                  <a:lnTo>
                    <a:pt x="1176782" y="1510791"/>
                  </a:lnTo>
                  <a:lnTo>
                    <a:pt x="1596771" y="1575434"/>
                  </a:lnTo>
                  <a:lnTo>
                    <a:pt x="1526413" y="1156334"/>
                  </a:lnTo>
                  <a:lnTo>
                    <a:pt x="1418717" y="1265554"/>
                  </a:lnTo>
                  <a:lnTo>
                    <a:pt x="933450" y="786764"/>
                  </a:lnTo>
                  <a:lnTo>
                    <a:pt x="1392174" y="321817"/>
                  </a:lnTo>
                  <a:lnTo>
                    <a:pt x="1501394" y="429640"/>
                  </a:lnTo>
                  <a:lnTo>
                    <a:pt x="1566037" y="9651"/>
                  </a:lnTo>
                  <a:lnTo>
                    <a:pt x="1146937" y="79882"/>
                  </a:lnTo>
                  <a:lnTo>
                    <a:pt x="1256157" y="187705"/>
                  </a:lnTo>
                  <a:lnTo>
                    <a:pt x="797433" y="652525"/>
                  </a:lnTo>
                  <a:lnTo>
                    <a:pt x="312165" y="173736"/>
                  </a:lnTo>
                  <a:lnTo>
                    <a:pt x="419988" y="64642"/>
                  </a:lnTo>
                  <a:lnTo>
                    <a:pt x="0" y="0"/>
                  </a:lnTo>
                  <a:close/>
                </a:path>
              </a:pathLst>
            </a:custGeom>
            <a:solidFill>
              <a:srgbClr val="FFB400"/>
            </a:solidFill>
          </p:spPr>
          <p:txBody>
            <a:bodyPr wrap="square" lIns="0" tIns="0" rIns="0" bIns="0" rtlCol="0"/>
            <a:lstStyle/>
            <a:p>
              <a:endParaRPr/>
            </a:p>
          </p:txBody>
        </p:sp>
        <p:sp>
          <p:nvSpPr>
            <p:cNvPr id="42" name="object 42"/>
            <p:cNvSpPr/>
            <p:nvPr/>
          </p:nvSpPr>
          <p:spPr>
            <a:xfrm>
              <a:off x="4222114" y="3388233"/>
              <a:ext cx="1597025" cy="1575435"/>
            </a:xfrm>
            <a:custGeom>
              <a:avLst/>
              <a:gdLst/>
              <a:ahLst/>
              <a:cxnLst/>
              <a:rect l="l" t="t" r="r" b="b"/>
              <a:pathLst>
                <a:path w="1597025" h="1575435">
                  <a:moveTo>
                    <a:pt x="0" y="0"/>
                  </a:moveTo>
                  <a:lnTo>
                    <a:pt x="419988" y="64642"/>
                  </a:lnTo>
                  <a:lnTo>
                    <a:pt x="312165" y="173736"/>
                  </a:lnTo>
                  <a:lnTo>
                    <a:pt x="797433" y="652525"/>
                  </a:lnTo>
                  <a:lnTo>
                    <a:pt x="1256157" y="187705"/>
                  </a:lnTo>
                  <a:lnTo>
                    <a:pt x="1146937" y="79882"/>
                  </a:lnTo>
                  <a:lnTo>
                    <a:pt x="1566037" y="9651"/>
                  </a:lnTo>
                  <a:lnTo>
                    <a:pt x="1501394" y="429640"/>
                  </a:lnTo>
                  <a:lnTo>
                    <a:pt x="1392174" y="321817"/>
                  </a:lnTo>
                  <a:lnTo>
                    <a:pt x="933450" y="786764"/>
                  </a:lnTo>
                  <a:lnTo>
                    <a:pt x="1418717" y="1265554"/>
                  </a:lnTo>
                  <a:lnTo>
                    <a:pt x="1526413" y="1156334"/>
                  </a:lnTo>
                  <a:lnTo>
                    <a:pt x="1596771" y="1575434"/>
                  </a:lnTo>
                  <a:lnTo>
                    <a:pt x="1176782" y="1510791"/>
                  </a:lnTo>
                  <a:lnTo>
                    <a:pt x="1284477" y="1401571"/>
                  </a:lnTo>
                  <a:lnTo>
                    <a:pt x="799211" y="922781"/>
                  </a:lnTo>
                  <a:lnTo>
                    <a:pt x="340613" y="1387728"/>
                  </a:lnTo>
                  <a:lnTo>
                    <a:pt x="449707" y="1495424"/>
                  </a:lnTo>
                  <a:lnTo>
                    <a:pt x="30734" y="1565783"/>
                  </a:lnTo>
                  <a:lnTo>
                    <a:pt x="95376" y="1145793"/>
                  </a:lnTo>
                  <a:lnTo>
                    <a:pt x="204470" y="1253489"/>
                  </a:lnTo>
                  <a:lnTo>
                    <a:pt x="663194" y="788542"/>
                  </a:lnTo>
                  <a:lnTo>
                    <a:pt x="177926" y="309879"/>
                  </a:lnTo>
                  <a:lnTo>
                    <a:pt x="70231" y="418972"/>
                  </a:lnTo>
                  <a:lnTo>
                    <a:pt x="0" y="0"/>
                  </a:lnTo>
                  <a:close/>
                </a:path>
              </a:pathLst>
            </a:custGeom>
            <a:ln w="26424">
              <a:solidFill>
                <a:srgbClr val="BB8300"/>
              </a:solidFill>
            </a:ln>
          </p:spPr>
          <p:txBody>
            <a:bodyPr wrap="square" lIns="0" tIns="0" rIns="0" bIns="0" rtlCol="0"/>
            <a:lstStyle/>
            <a:p>
              <a:endParaRPr/>
            </a:p>
          </p:txBody>
        </p:sp>
      </p:grpSp>
      <p:grpSp>
        <p:nvGrpSpPr>
          <p:cNvPr id="43" name="object 43"/>
          <p:cNvGrpSpPr/>
          <p:nvPr/>
        </p:nvGrpSpPr>
        <p:grpSpPr>
          <a:xfrm>
            <a:off x="438912" y="4715255"/>
            <a:ext cx="884555" cy="1083945"/>
            <a:chOff x="438912" y="4715255"/>
            <a:chExt cx="884555" cy="1083945"/>
          </a:xfrm>
        </p:grpSpPr>
        <p:pic>
          <p:nvPicPr>
            <p:cNvPr id="44" name="object 44"/>
            <p:cNvPicPr/>
            <p:nvPr/>
          </p:nvPicPr>
          <p:blipFill>
            <a:blip r:embed="rId8" cstate="print"/>
            <a:stretch>
              <a:fillRect/>
            </a:stretch>
          </p:blipFill>
          <p:spPr>
            <a:xfrm>
              <a:off x="438912" y="5504221"/>
              <a:ext cx="656839" cy="196031"/>
            </a:xfrm>
            <a:prstGeom prst="rect">
              <a:avLst/>
            </a:prstGeom>
          </p:spPr>
        </p:pic>
        <p:sp>
          <p:nvSpPr>
            <p:cNvPr id="45" name="object 45"/>
            <p:cNvSpPr/>
            <p:nvPr/>
          </p:nvSpPr>
          <p:spPr>
            <a:xfrm>
              <a:off x="465137" y="5519800"/>
              <a:ext cx="579755" cy="133350"/>
            </a:xfrm>
            <a:custGeom>
              <a:avLst/>
              <a:gdLst/>
              <a:ahLst/>
              <a:cxnLst/>
              <a:rect l="l" t="t" r="r" b="b"/>
              <a:pathLst>
                <a:path w="579755" h="133350">
                  <a:moveTo>
                    <a:pt x="512775" y="0"/>
                  </a:moveTo>
                  <a:lnTo>
                    <a:pt x="512775" y="33274"/>
                  </a:lnTo>
                  <a:lnTo>
                    <a:pt x="0" y="33274"/>
                  </a:lnTo>
                  <a:lnTo>
                    <a:pt x="0" y="99949"/>
                  </a:lnTo>
                  <a:lnTo>
                    <a:pt x="512775" y="99949"/>
                  </a:lnTo>
                  <a:lnTo>
                    <a:pt x="512775" y="133286"/>
                  </a:lnTo>
                  <a:lnTo>
                    <a:pt x="579437" y="66548"/>
                  </a:lnTo>
                  <a:lnTo>
                    <a:pt x="512775" y="0"/>
                  </a:lnTo>
                  <a:close/>
                </a:path>
              </a:pathLst>
            </a:custGeom>
            <a:solidFill>
              <a:srgbClr val="7DB605"/>
            </a:solidFill>
          </p:spPr>
          <p:txBody>
            <a:bodyPr wrap="square" lIns="0" tIns="0" rIns="0" bIns="0" rtlCol="0"/>
            <a:lstStyle/>
            <a:p>
              <a:endParaRPr/>
            </a:p>
          </p:txBody>
        </p:sp>
        <p:sp>
          <p:nvSpPr>
            <p:cNvPr id="46" name="object 46"/>
            <p:cNvSpPr/>
            <p:nvPr/>
          </p:nvSpPr>
          <p:spPr>
            <a:xfrm>
              <a:off x="465137" y="5519800"/>
              <a:ext cx="579755" cy="133350"/>
            </a:xfrm>
            <a:custGeom>
              <a:avLst/>
              <a:gdLst/>
              <a:ahLst/>
              <a:cxnLst/>
              <a:rect l="l" t="t" r="r" b="b"/>
              <a:pathLst>
                <a:path w="579755" h="133350">
                  <a:moveTo>
                    <a:pt x="579437" y="66548"/>
                  </a:moveTo>
                  <a:lnTo>
                    <a:pt x="512775" y="133286"/>
                  </a:lnTo>
                  <a:lnTo>
                    <a:pt x="512775" y="99949"/>
                  </a:lnTo>
                  <a:lnTo>
                    <a:pt x="0" y="99949"/>
                  </a:lnTo>
                  <a:lnTo>
                    <a:pt x="0" y="33274"/>
                  </a:lnTo>
                  <a:lnTo>
                    <a:pt x="512775" y="33274"/>
                  </a:lnTo>
                  <a:lnTo>
                    <a:pt x="512775" y="0"/>
                  </a:lnTo>
                  <a:lnTo>
                    <a:pt x="579437" y="66548"/>
                  </a:lnTo>
                  <a:close/>
                </a:path>
              </a:pathLst>
            </a:custGeom>
            <a:ln w="9524">
              <a:solidFill>
                <a:srgbClr val="3E5B03"/>
              </a:solidFill>
            </a:ln>
          </p:spPr>
          <p:txBody>
            <a:bodyPr wrap="square" lIns="0" tIns="0" rIns="0" bIns="0" rtlCol="0"/>
            <a:lstStyle/>
            <a:p>
              <a:endParaRPr/>
            </a:p>
          </p:txBody>
        </p:sp>
        <p:pic>
          <p:nvPicPr>
            <p:cNvPr id="47" name="object 47"/>
            <p:cNvPicPr/>
            <p:nvPr/>
          </p:nvPicPr>
          <p:blipFill>
            <a:blip r:embed="rId9" cstate="print"/>
            <a:stretch>
              <a:fillRect/>
            </a:stretch>
          </p:blipFill>
          <p:spPr>
            <a:xfrm>
              <a:off x="438912" y="5333974"/>
              <a:ext cx="665962" cy="231673"/>
            </a:xfrm>
            <a:prstGeom prst="rect">
              <a:avLst/>
            </a:prstGeom>
          </p:spPr>
        </p:pic>
        <p:sp>
          <p:nvSpPr>
            <p:cNvPr id="48" name="object 48"/>
            <p:cNvSpPr/>
            <p:nvPr/>
          </p:nvSpPr>
          <p:spPr>
            <a:xfrm>
              <a:off x="465137" y="5367400"/>
              <a:ext cx="579755" cy="133350"/>
            </a:xfrm>
            <a:custGeom>
              <a:avLst/>
              <a:gdLst/>
              <a:ahLst/>
              <a:cxnLst/>
              <a:rect l="l" t="t" r="r" b="b"/>
              <a:pathLst>
                <a:path w="579755" h="133350">
                  <a:moveTo>
                    <a:pt x="512775" y="0"/>
                  </a:moveTo>
                  <a:lnTo>
                    <a:pt x="512775" y="33274"/>
                  </a:lnTo>
                  <a:lnTo>
                    <a:pt x="0" y="33274"/>
                  </a:lnTo>
                  <a:lnTo>
                    <a:pt x="0" y="99949"/>
                  </a:lnTo>
                  <a:lnTo>
                    <a:pt x="512775" y="99949"/>
                  </a:lnTo>
                  <a:lnTo>
                    <a:pt x="512775" y="133350"/>
                  </a:lnTo>
                  <a:lnTo>
                    <a:pt x="579437" y="66548"/>
                  </a:lnTo>
                  <a:lnTo>
                    <a:pt x="512775" y="0"/>
                  </a:lnTo>
                  <a:close/>
                </a:path>
              </a:pathLst>
            </a:custGeom>
            <a:solidFill>
              <a:srgbClr val="7DB605"/>
            </a:solidFill>
          </p:spPr>
          <p:txBody>
            <a:bodyPr wrap="square" lIns="0" tIns="0" rIns="0" bIns="0" rtlCol="0"/>
            <a:lstStyle/>
            <a:p>
              <a:endParaRPr/>
            </a:p>
          </p:txBody>
        </p:sp>
        <p:sp>
          <p:nvSpPr>
            <p:cNvPr id="49" name="object 49"/>
            <p:cNvSpPr/>
            <p:nvPr/>
          </p:nvSpPr>
          <p:spPr>
            <a:xfrm>
              <a:off x="465137" y="5367400"/>
              <a:ext cx="579755" cy="133350"/>
            </a:xfrm>
            <a:custGeom>
              <a:avLst/>
              <a:gdLst/>
              <a:ahLst/>
              <a:cxnLst/>
              <a:rect l="l" t="t" r="r" b="b"/>
              <a:pathLst>
                <a:path w="579755" h="133350">
                  <a:moveTo>
                    <a:pt x="579437" y="66548"/>
                  </a:moveTo>
                  <a:lnTo>
                    <a:pt x="512775" y="133350"/>
                  </a:lnTo>
                  <a:lnTo>
                    <a:pt x="512775" y="99949"/>
                  </a:lnTo>
                  <a:lnTo>
                    <a:pt x="0" y="99949"/>
                  </a:lnTo>
                  <a:lnTo>
                    <a:pt x="0" y="33274"/>
                  </a:lnTo>
                  <a:lnTo>
                    <a:pt x="512775" y="33274"/>
                  </a:lnTo>
                  <a:lnTo>
                    <a:pt x="512775" y="0"/>
                  </a:lnTo>
                  <a:lnTo>
                    <a:pt x="579437" y="66548"/>
                  </a:lnTo>
                  <a:close/>
                </a:path>
              </a:pathLst>
            </a:custGeom>
            <a:ln w="9525">
              <a:solidFill>
                <a:srgbClr val="3E5B03"/>
              </a:solidFill>
            </a:ln>
          </p:spPr>
          <p:txBody>
            <a:bodyPr wrap="square" lIns="0" tIns="0" rIns="0" bIns="0" rtlCol="0"/>
            <a:lstStyle/>
            <a:p>
              <a:endParaRPr/>
            </a:p>
          </p:txBody>
        </p:sp>
        <p:pic>
          <p:nvPicPr>
            <p:cNvPr id="50" name="object 50"/>
            <p:cNvPicPr/>
            <p:nvPr/>
          </p:nvPicPr>
          <p:blipFill>
            <a:blip r:embed="rId9" cstate="print"/>
            <a:stretch>
              <a:fillRect/>
            </a:stretch>
          </p:blipFill>
          <p:spPr>
            <a:xfrm>
              <a:off x="438912" y="5181574"/>
              <a:ext cx="665962" cy="231673"/>
            </a:xfrm>
            <a:prstGeom prst="rect">
              <a:avLst/>
            </a:prstGeom>
          </p:spPr>
        </p:pic>
        <p:sp>
          <p:nvSpPr>
            <p:cNvPr id="51" name="object 51"/>
            <p:cNvSpPr/>
            <p:nvPr/>
          </p:nvSpPr>
          <p:spPr>
            <a:xfrm>
              <a:off x="465137" y="5214873"/>
              <a:ext cx="579755" cy="133985"/>
            </a:xfrm>
            <a:custGeom>
              <a:avLst/>
              <a:gdLst/>
              <a:ahLst/>
              <a:cxnLst/>
              <a:rect l="l" t="t" r="r" b="b"/>
              <a:pathLst>
                <a:path w="579755" h="133985">
                  <a:moveTo>
                    <a:pt x="512775" y="0"/>
                  </a:moveTo>
                  <a:lnTo>
                    <a:pt x="512775" y="33400"/>
                  </a:lnTo>
                  <a:lnTo>
                    <a:pt x="0" y="33400"/>
                  </a:lnTo>
                  <a:lnTo>
                    <a:pt x="0" y="100075"/>
                  </a:lnTo>
                  <a:lnTo>
                    <a:pt x="512775" y="100075"/>
                  </a:lnTo>
                  <a:lnTo>
                    <a:pt x="512775" y="133476"/>
                  </a:lnTo>
                  <a:lnTo>
                    <a:pt x="579437" y="66675"/>
                  </a:lnTo>
                  <a:lnTo>
                    <a:pt x="512775" y="0"/>
                  </a:lnTo>
                  <a:close/>
                </a:path>
              </a:pathLst>
            </a:custGeom>
            <a:solidFill>
              <a:srgbClr val="7DB605"/>
            </a:solidFill>
          </p:spPr>
          <p:txBody>
            <a:bodyPr wrap="square" lIns="0" tIns="0" rIns="0" bIns="0" rtlCol="0"/>
            <a:lstStyle/>
            <a:p>
              <a:endParaRPr/>
            </a:p>
          </p:txBody>
        </p:sp>
        <p:sp>
          <p:nvSpPr>
            <p:cNvPr id="52" name="object 52"/>
            <p:cNvSpPr/>
            <p:nvPr/>
          </p:nvSpPr>
          <p:spPr>
            <a:xfrm>
              <a:off x="465137" y="5214873"/>
              <a:ext cx="579755" cy="133985"/>
            </a:xfrm>
            <a:custGeom>
              <a:avLst/>
              <a:gdLst/>
              <a:ahLst/>
              <a:cxnLst/>
              <a:rect l="l" t="t" r="r" b="b"/>
              <a:pathLst>
                <a:path w="579755" h="133985">
                  <a:moveTo>
                    <a:pt x="579437" y="66675"/>
                  </a:moveTo>
                  <a:lnTo>
                    <a:pt x="512775" y="133476"/>
                  </a:lnTo>
                  <a:lnTo>
                    <a:pt x="512775" y="100075"/>
                  </a:lnTo>
                  <a:lnTo>
                    <a:pt x="0" y="100075"/>
                  </a:lnTo>
                  <a:lnTo>
                    <a:pt x="0" y="33400"/>
                  </a:lnTo>
                  <a:lnTo>
                    <a:pt x="512775" y="33400"/>
                  </a:lnTo>
                  <a:lnTo>
                    <a:pt x="512775" y="0"/>
                  </a:lnTo>
                  <a:lnTo>
                    <a:pt x="579437" y="66675"/>
                  </a:lnTo>
                  <a:close/>
                </a:path>
              </a:pathLst>
            </a:custGeom>
            <a:ln w="9525">
              <a:solidFill>
                <a:srgbClr val="3E5B03"/>
              </a:solidFill>
            </a:ln>
          </p:spPr>
          <p:txBody>
            <a:bodyPr wrap="square" lIns="0" tIns="0" rIns="0" bIns="0" rtlCol="0"/>
            <a:lstStyle/>
            <a:p>
              <a:endParaRPr/>
            </a:p>
          </p:txBody>
        </p:sp>
        <p:pic>
          <p:nvPicPr>
            <p:cNvPr id="53" name="object 53"/>
            <p:cNvPicPr/>
            <p:nvPr/>
          </p:nvPicPr>
          <p:blipFill>
            <a:blip r:embed="rId10" cstate="print"/>
            <a:stretch>
              <a:fillRect/>
            </a:stretch>
          </p:blipFill>
          <p:spPr>
            <a:xfrm>
              <a:off x="438912" y="5047424"/>
              <a:ext cx="665962" cy="230187"/>
            </a:xfrm>
            <a:prstGeom prst="rect">
              <a:avLst/>
            </a:prstGeom>
          </p:spPr>
        </p:pic>
        <p:sp>
          <p:nvSpPr>
            <p:cNvPr id="54" name="object 54"/>
            <p:cNvSpPr/>
            <p:nvPr/>
          </p:nvSpPr>
          <p:spPr>
            <a:xfrm>
              <a:off x="465137" y="5079999"/>
              <a:ext cx="579755" cy="133350"/>
            </a:xfrm>
            <a:custGeom>
              <a:avLst/>
              <a:gdLst/>
              <a:ahLst/>
              <a:cxnLst/>
              <a:rect l="l" t="t" r="r" b="b"/>
              <a:pathLst>
                <a:path w="579755" h="133350">
                  <a:moveTo>
                    <a:pt x="512775" y="0"/>
                  </a:moveTo>
                  <a:lnTo>
                    <a:pt x="512775" y="33274"/>
                  </a:lnTo>
                  <a:lnTo>
                    <a:pt x="0" y="33274"/>
                  </a:lnTo>
                  <a:lnTo>
                    <a:pt x="0" y="99949"/>
                  </a:lnTo>
                  <a:lnTo>
                    <a:pt x="512775" y="99949"/>
                  </a:lnTo>
                  <a:lnTo>
                    <a:pt x="512775" y="133350"/>
                  </a:lnTo>
                  <a:lnTo>
                    <a:pt x="579437" y="66675"/>
                  </a:lnTo>
                  <a:lnTo>
                    <a:pt x="512775" y="0"/>
                  </a:lnTo>
                  <a:close/>
                </a:path>
              </a:pathLst>
            </a:custGeom>
            <a:solidFill>
              <a:srgbClr val="7DB605"/>
            </a:solidFill>
          </p:spPr>
          <p:txBody>
            <a:bodyPr wrap="square" lIns="0" tIns="0" rIns="0" bIns="0" rtlCol="0"/>
            <a:lstStyle/>
            <a:p>
              <a:endParaRPr/>
            </a:p>
          </p:txBody>
        </p:sp>
        <p:sp>
          <p:nvSpPr>
            <p:cNvPr id="55" name="object 55"/>
            <p:cNvSpPr/>
            <p:nvPr/>
          </p:nvSpPr>
          <p:spPr>
            <a:xfrm>
              <a:off x="465137" y="5079999"/>
              <a:ext cx="579755" cy="133350"/>
            </a:xfrm>
            <a:custGeom>
              <a:avLst/>
              <a:gdLst/>
              <a:ahLst/>
              <a:cxnLst/>
              <a:rect l="l" t="t" r="r" b="b"/>
              <a:pathLst>
                <a:path w="579755" h="133350">
                  <a:moveTo>
                    <a:pt x="579437" y="66675"/>
                  </a:moveTo>
                  <a:lnTo>
                    <a:pt x="512775" y="133350"/>
                  </a:lnTo>
                  <a:lnTo>
                    <a:pt x="512775" y="99949"/>
                  </a:lnTo>
                  <a:lnTo>
                    <a:pt x="0" y="99949"/>
                  </a:lnTo>
                  <a:lnTo>
                    <a:pt x="0" y="33274"/>
                  </a:lnTo>
                  <a:lnTo>
                    <a:pt x="512775" y="33274"/>
                  </a:lnTo>
                  <a:lnTo>
                    <a:pt x="512775" y="0"/>
                  </a:lnTo>
                  <a:lnTo>
                    <a:pt x="579437" y="66675"/>
                  </a:lnTo>
                  <a:close/>
                </a:path>
              </a:pathLst>
            </a:custGeom>
            <a:ln w="9525">
              <a:solidFill>
                <a:srgbClr val="3E5B03"/>
              </a:solidFill>
            </a:ln>
          </p:spPr>
          <p:txBody>
            <a:bodyPr wrap="square" lIns="0" tIns="0" rIns="0" bIns="0" rtlCol="0"/>
            <a:lstStyle/>
            <a:p>
              <a:endParaRPr/>
            </a:p>
          </p:txBody>
        </p:sp>
        <p:pic>
          <p:nvPicPr>
            <p:cNvPr id="56" name="object 56"/>
            <p:cNvPicPr/>
            <p:nvPr/>
          </p:nvPicPr>
          <p:blipFill>
            <a:blip r:embed="rId10" cstate="print"/>
            <a:stretch>
              <a:fillRect/>
            </a:stretch>
          </p:blipFill>
          <p:spPr>
            <a:xfrm>
              <a:off x="438912" y="4895024"/>
              <a:ext cx="665962" cy="230187"/>
            </a:xfrm>
            <a:prstGeom prst="rect">
              <a:avLst/>
            </a:prstGeom>
          </p:spPr>
        </p:pic>
        <p:sp>
          <p:nvSpPr>
            <p:cNvPr id="57" name="object 57"/>
            <p:cNvSpPr/>
            <p:nvPr/>
          </p:nvSpPr>
          <p:spPr>
            <a:xfrm>
              <a:off x="465137" y="4927599"/>
              <a:ext cx="579755" cy="133350"/>
            </a:xfrm>
            <a:custGeom>
              <a:avLst/>
              <a:gdLst/>
              <a:ahLst/>
              <a:cxnLst/>
              <a:rect l="l" t="t" r="r" b="b"/>
              <a:pathLst>
                <a:path w="579755" h="133350">
                  <a:moveTo>
                    <a:pt x="512775" y="0"/>
                  </a:moveTo>
                  <a:lnTo>
                    <a:pt x="512775" y="33274"/>
                  </a:lnTo>
                  <a:lnTo>
                    <a:pt x="0" y="33274"/>
                  </a:lnTo>
                  <a:lnTo>
                    <a:pt x="0" y="99949"/>
                  </a:lnTo>
                  <a:lnTo>
                    <a:pt x="512775" y="99949"/>
                  </a:lnTo>
                  <a:lnTo>
                    <a:pt x="512775" y="133350"/>
                  </a:lnTo>
                  <a:lnTo>
                    <a:pt x="579437" y="66675"/>
                  </a:lnTo>
                  <a:lnTo>
                    <a:pt x="512775" y="0"/>
                  </a:lnTo>
                  <a:close/>
                </a:path>
              </a:pathLst>
            </a:custGeom>
            <a:solidFill>
              <a:srgbClr val="7DB605"/>
            </a:solidFill>
          </p:spPr>
          <p:txBody>
            <a:bodyPr wrap="square" lIns="0" tIns="0" rIns="0" bIns="0" rtlCol="0"/>
            <a:lstStyle/>
            <a:p>
              <a:endParaRPr/>
            </a:p>
          </p:txBody>
        </p:sp>
        <p:sp>
          <p:nvSpPr>
            <p:cNvPr id="58" name="object 58"/>
            <p:cNvSpPr/>
            <p:nvPr/>
          </p:nvSpPr>
          <p:spPr>
            <a:xfrm>
              <a:off x="465137" y="4927599"/>
              <a:ext cx="579755" cy="133350"/>
            </a:xfrm>
            <a:custGeom>
              <a:avLst/>
              <a:gdLst/>
              <a:ahLst/>
              <a:cxnLst/>
              <a:rect l="l" t="t" r="r" b="b"/>
              <a:pathLst>
                <a:path w="579755" h="133350">
                  <a:moveTo>
                    <a:pt x="579437" y="66675"/>
                  </a:moveTo>
                  <a:lnTo>
                    <a:pt x="512775" y="133350"/>
                  </a:lnTo>
                  <a:lnTo>
                    <a:pt x="512775" y="99949"/>
                  </a:lnTo>
                  <a:lnTo>
                    <a:pt x="0" y="99949"/>
                  </a:lnTo>
                  <a:lnTo>
                    <a:pt x="0" y="33274"/>
                  </a:lnTo>
                  <a:lnTo>
                    <a:pt x="512775" y="33274"/>
                  </a:lnTo>
                  <a:lnTo>
                    <a:pt x="512775" y="0"/>
                  </a:lnTo>
                  <a:lnTo>
                    <a:pt x="579437" y="66675"/>
                  </a:lnTo>
                  <a:close/>
                </a:path>
              </a:pathLst>
            </a:custGeom>
            <a:ln w="9525">
              <a:solidFill>
                <a:srgbClr val="3E5B03"/>
              </a:solidFill>
            </a:ln>
          </p:spPr>
          <p:txBody>
            <a:bodyPr wrap="square" lIns="0" tIns="0" rIns="0" bIns="0" rtlCol="0"/>
            <a:lstStyle/>
            <a:p>
              <a:endParaRPr/>
            </a:p>
          </p:txBody>
        </p:sp>
        <p:pic>
          <p:nvPicPr>
            <p:cNvPr id="59" name="object 59"/>
            <p:cNvPicPr/>
            <p:nvPr/>
          </p:nvPicPr>
          <p:blipFill>
            <a:blip r:embed="rId10" cstate="print"/>
            <a:stretch>
              <a:fillRect/>
            </a:stretch>
          </p:blipFill>
          <p:spPr>
            <a:xfrm>
              <a:off x="438912" y="4742624"/>
              <a:ext cx="665962" cy="230187"/>
            </a:xfrm>
            <a:prstGeom prst="rect">
              <a:avLst/>
            </a:prstGeom>
          </p:spPr>
        </p:pic>
        <p:sp>
          <p:nvSpPr>
            <p:cNvPr id="60" name="object 60"/>
            <p:cNvSpPr/>
            <p:nvPr/>
          </p:nvSpPr>
          <p:spPr>
            <a:xfrm>
              <a:off x="465137" y="4775199"/>
              <a:ext cx="579755" cy="133350"/>
            </a:xfrm>
            <a:custGeom>
              <a:avLst/>
              <a:gdLst/>
              <a:ahLst/>
              <a:cxnLst/>
              <a:rect l="l" t="t" r="r" b="b"/>
              <a:pathLst>
                <a:path w="579755" h="133350">
                  <a:moveTo>
                    <a:pt x="512775" y="0"/>
                  </a:moveTo>
                  <a:lnTo>
                    <a:pt x="512775" y="33274"/>
                  </a:lnTo>
                  <a:lnTo>
                    <a:pt x="0" y="33274"/>
                  </a:lnTo>
                  <a:lnTo>
                    <a:pt x="0" y="99949"/>
                  </a:lnTo>
                  <a:lnTo>
                    <a:pt x="512775" y="99949"/>
                  </a:lnTo>
                  <a:lnTo>
                    <a:pt x="512775" y="133350"/>
                  </a:lnTo>
                  <a:lnTo>
                    <a:pt x="579437" y="66675"/>
                  </a:lnTo>
                  <a:lnTo>
                    <a:pt x="512775" y="0"/>
                  </a:lnTo>
                  <a:close/>
                </a:path>
              </a:pathLst>
            </a:custGeom>
            <a:solidFill>
              <a:srgbClr val="7DB605"/>
            </a:solidFill>
          </p:spPr>
          <p:txBody>
            <a:bodyPr wrap="square" lIns="0" tIns="0" rIns="0" bIns="0" rtlCol="0"/>
            <a:lstStyle/>
            <a:p>
              <a:endParaRPr/>
            </a:p>
          </p:txBody>
        </p:sp>
        <p:sp>
          <p:nvSpPr>
            <p:cNvPr id="61" name="object 61"/>
            <p:cNvSpPr/>
            <p:nvPr/>
          </p:nvSpPr>
          <p:spPr>
            <a:xfrm>
              <a:off x="465137" y="4775199"/>
              <a:ext cx="579755" cy="133350"/>
            </a:xfrm>
            <a:custGeom>
              <a:avLst/>
              <a:gdLst/>
              <a:ahLst/>
              <a:cxnLst/>
              <a:rect l="l" t="t" r="r" b="b"/>
              <a:pathLst>
                <a:path w="579755" h="133350">
                  <a:moveTo>
                    <a:pt x="579437" y="66675"/>
                  </a:moveTo>
                  <a:lnTo>
                    <a:pt x="512775" y="133350"/>
                  </a:lnTo>
                  <a:lnTo>
                    <a:pt x="512775" y="99949"/>
                  </a:lnTo>
                  <a:lnTo>
                    <a:pt x="0" y="99949"/>
                  </a:lnTo>
                  <a:lnTo>
                    <a:pt x="0" y="33274"/>
                  </a:lnTo>
                  <a:lnTo>
                    <a:pt x="512775" y="33274"/>
                  </a:lnTo>
                  <a:lnTo>
                    <a:pt x="512775" y="0"/>
                  </a:lnTo>
                  <a:lnTo>
                    <a:pt x="579437" y="66675"/>
                  </a:lnTo>
                  <a:close/>
                </a:path>
              </a:pathLst>
            </a:custGeom>
            <a:ln w="9525">
              <a:solidFill>
                <a:srgbClr val="3E5B03"/>
              </a:solidFill>
            </a:ln>
          </p:spPr>
          <p:txBody>
            <a:bodyPr wrap="square" lIns="0" tIns="0" rIns="0" bIns="0" rtlCol="0"/>
            <a:lstStyle/>
            <a:p>
              <a:endParaRPr/>
            </a:p>
          </p:txBody>
        </p:sp>
        <p:pic>
          <p:nvPicPr>
            <p:cNvPr id="62" name="object 62"/>
            <p:cNvPicPr/>
            <p:nvPr/>
          </p:nvPicPr>
          <p:blipFill>
            <a:blip r:embed="rId11" cstate="print"/>
            <a:stretch>
              <a:fillRect/>
            </a:stretch>
          </p:blipFill>
          <p:spPr>
            <a:xfrm>
              <a:off x="1057656" y="4715255"/>
              <a:ext cx="265252" cy="1083564"/>
            </a:xfrm>
            <a:prstGeom prst="rect">
              <a:avLst/>
            </a:prstGeom>
          </p:spPr>
        </p:pic>
        <p:sp>
          <p:nvSpPr>
            <p:cNvPr id="63" name="object 63"/>
            <p:cNvSpPr/>
            <p:nvPr/>
          </p:nvSpPr>
          <p:spPr>
            <a:xfrm>
              <a:off x="1084262" y="4775199"/>
              <a:ext cx="180975" cy="932180"/>
            </a:xfrm>
            <a:custGeom>
              <a:avLst/>
              <a:gdLst/>
              <a:ahLst/>
              <a:cxnLst/>
              <a:rect l="l" t="t" r="r" b="b"/>
              <a:pathLst>
                <a:path w="180975" h="932179">
                  <a:moveTo>
                    <a:pt x="90487" y="0"/>
                  </a:moveTo>
                  <a:lnTo>
                    <a:pt x="90487" y="232918"/>
                  </a:lnTo>
                  <a:lnTo>
                    <a:pt x="0" y="232918"/>
                  </a:lnTo>
                  <a:lnTo>
                    <a:pt x="0" y="698881"/>
                  </a:lnTo>
                  <a:lnTo>
                    <a:pt x="90487" y="698881"/>
                  </a:lnTo>
                  <a:lnTo>
                    <a:pt x="90487" y="931862"/>
                  </a:lnTo>
                  <a:lnTo>
                    <a:pt x="180975" y="465963"/>
                  </a:lnTo>
                  <a:lnTo>
                    <a:pt x="90487" y="0"/>
                  </a:lnTo>
                  <a:close/>
                </a:path>
              </a:pathLst>
            </a:custGeom>
            <a:solidFill>
              <a:srgbClr val="7DB605"/>
            </a:solidFill>
          </p:spPr>
          <p:txBody>
            <a:bodyPr wrap="square" lIns="0" tIns="0" rIns="0" bIns="0" rtlCol="0"/>
            <a:lstStyle/>
            <a:p>
              <a:endParaRPr/>
            </a:p>
          </p:txBody>
        </p:sp>
        <p:sp>
          <p:nvSpPr>
            <p:cNvPr id="64" name="object 64"/>
            <p:cNvSpPr/>
            <p:nvPr/>
          </p:nvSpPr>
          <p:spPr>
            <a:xfrm>
              <a:off x="1084262" y="4775199"/>
              <a:ext cx="180975" cy="932180"/>
            </a:xfrm>
            <a:custGeom>
              <a:avLst/>
              <a:gdLst/>
              <a:ahLst/>
              <a:cxnLst/>
              <a:rect l="l" t="t" r="r" b="b"/>
              <a:pathLst>
                <a:path w="180975" h="932179">
                  <a:moveTo>
                    <a:pt x="180975" y="465963"/>
                  </a:moveTo>
                  <a:lnTo>
                    <a:pt x="90487" y="931862"/>
                  </a:lnTo>
                  <a:lnTo>
                    <a:pt x="90487" y="698881"/>
                  </a:lnTo>
                  <a:lnTo>
                    <a:pt x="0" y="698881"/>
                  </a:lnTo>
                  <a:lnTo>
                    <a:pt x="0" y="232918"/>
                  </a:lnTo>
                  <a:lnTo>
                    <a:pt x="90487" y="232918"/>
                  </a:lnTo>
                  <a:lnTo>
                    <a:pt x="90487" y="0"/>
                  </a:lnTo>
                  <a:lnTo>
                    <a:pt x="180975" y="465963"/>
                  </a:lnTo>
                  <a:close/>
                </a:path>
              </a:pathLst>
            </a:custGeom>
            <a:ln w="9525">
              <a:solidFill>
                <a:srgbClr val="3E5B03"/>
              </a:solidFill>
            </a:ln>
          </p:spPr>
          <p:txBody>
            <a:bodyPr wrap="square" lIns="0" tIns="0" rIns="0" bIns="0" rtlCol="0"/>
            <a:lstStyle/>
            <a:p>
              <a:endParaRPr/>
            </a:p>
          </p:txBody>
        </p:sp>
      </p:grpSp>
      <p:grpSp>
        <p:nvGrpSpPr>
          <p:cNvPr id="65" name="object 65"/>
          <p:cNvGrpSpPr/>
          <p:nvPr/>
        </p:nvGrpSpPr>
        <p:grpSpPr>
          <a:xfrm>
            <a:off x="6644640" y="4588890"/>
            <a:ext cx="2207895" cy="1317625"/>
            <a:chOff x="6644640" y="4588890"/>
            <a:chExt cx="2207895" cy="1317625"/>
          </a:xfrm>
        </p:grpSpPr>
        <p:sp>
          <p:nvSpPr>
            <p:cNvPr id="66" name="object 66"/>
            <p:cNvSpPr/>
            <p:nvPr/>
          </p:nvSpPr>
          <p:spPr>
            <a:xfrm>
              <a:off x="6657975" y="4602225"/>
              <a:ext cx="2181225" cy="1290955"/>
            </a:xfrm>
            <a:custGeom>
              <a:avLst/>
              <a:gdLst/>
              <a:ahLst/>
              <a:cxnLst/>
              <a:rect l="l" t="t" r="r" b="b"/>
              <a:pathLst>
                <a:path w="2181225" h="1290954">
                  <a:moveTo>
                    <a:pt x="1966086" y="0"/>
                  </a:moveTo>
                  <a:lnTo>
                    <a:pt x="215138" y="0"/>
                  </a:lnTo>
                  <a:lnTo>
                    <a:pt x="165791" y="5678"/>
                  </a:lnTo>
                  <a:lnTo>
                    <a:pt x="120501" y="21854"/>
                  </a:lnTo>
                  <a:lnTo>
                    <a:pt x="80557" y="47236"/>
                  </a:lnTo>
                  <a:lnTo>
                    <a:pt x="47246" y="80533"/>
                  </a:lnTo>
                  <a:lnTo>
                    <a:pt x="21857" y="120455"/>
                  </a:lnTo>
                  <a:lnTo>
                    <a:pt x="5679" y="165711"/>
                  </a:lnTo>
                  <a:lnTo>
                    <a:pt x="0" y="215011"/>
                  </a:lnTo>
                  <a:lnTo>
                    <a:pt x="0" y="1075461"/>
                  </a:lnTo>
                  <a:lnTo>
                    <a:pt x="5679" y="1124786"/>
                  </a:lnTo>
                  <a:lnTo>
                    <a:pt x="21857" y="1170064"/>
                  </a:lnTo>
                  <a:lnTo>
                    <a:pt x="47246" y="1210005"/>
                  </a:lnTo>
                  <a:lnTo>
                    <a:pt x="80557" y="1243317"/>
                  </a:lnTo>
                  <a:lnTo>
                    <a:pt x="120501" y="1268710"/>
                  </a:lnTo>
                  <a:lnTo>
                    <a:pt x="165791" y="1284892"/>
                  </a:lnTo>
                  <a:lnTo>
                    <a:pt x="215138" y="1290574"/>
                  </a:lnTo>
                  <a:lnTo>
                    <a:pt x="1966086" y="1290574"/>
                  </a:lnTo>
                  <a:lnTo>
                    <a:pt x="2015433" y="1284892"/>
                  </a:lnTo>
                  <a:lnTo>
                    <a:pt x="2060723" y="1268710"/>
                  </a:lnTo>
                  <a:lnTo>
                    <a:pt x="2100667" y="1243317"/>
                  </a:lnTo>
                  <a:lnTo>
                    <a:pt x="2133978" y="1210005"/>
                  </a:lnTo>
                  <a:lnTo>
                    <a:pt x="2159367" y="1170064"/>
                  </a:lnTo>
                  <a:lnTo>
                    <a:pt x="2175545" y="1124786"/>
                  </a:lnTo>
                  <a:lnTo>
                    <a:pt x="2181225" y="1075461"/>
                  </a:lnTo>
                  <a:lnTo>
                    <a:pt x="2181225" y="215011"/>
                  </a:lnTo>
                  <a:lnTo>
                    <a:pt x="2175545" y="165711"/>
                  </a:lnTo>
                  <a:lnTo>
                    <a:pt x="2159367" y="120455"/>
                  </a:lnTo>
                  <a:lnTo>
                    <a:pt x="2133978" y="80533"/>
                  </a:lnTo>
                  <a:lnTo>
                    <a:pt x="2100667" y="47236"/>
                  </a:lnTo>
                  <a:lnTo>
                    <a:pt x="2060723" y="21854"/>
                  </a:lnTo>
                  <a:lnTo>
                    <a:pt x="2015433" y="5678"/>
                  </a:lnTo>
                  <a:lnTo>
                    <a:pt x="1966086" y="0"/>
                  </a:lnTo>
                  <a:close/>
                </a:path>
              </a:pathLst>
            </a:custGeom>
            <a:solidFill>
              <a:srgbClr val="2C7B9F"/>
            </a:solidFill>
          </p:spPr>
          <p:txBody>
            <a:bodyPr wrap="square" lIns="0" tIns="0" rIns="0" bIns="0" rtlCol="0"/>
            <a:lstStyle/>
            <a:p>
              <a:endParaRPr/>
            </a:p>
          </p:txBody>
        </p:sp>
        <p:sp>
          <p:nvSpPr>
            <p:cNvPr id="67" name="object 67"/>
            <p:cNvSpPr/>
            <p:nvPr/>
          </p:nvSpPr>
          <p:spPr>
            <a:xfrm>
              <a:off x="6657975" y="4602225"/>
              <a:ext cx="2181225" cy="1290955"/>
            </a:xfrm>
            <a:custGeom>
              <a:avLst/>
              <a:gdLst/>
              <a:ahLst/>
              <a:cxnLst/>
              <a:rect l="l" t="t" r="r" b="b"/>
              <a:pathLst>
                <a:path w="2181225" h="1290954">
                  <a:moveTo>
                    <a:pt x="0" y="215011"/>
                  </a:moveTo>
                  <a:lnTo>
                    <a:pt x="5679" y="165711"/>
                  </a:lnTo>
                  <a:lnTo>
                    <a:pt x="21857" y="120455"/>
                  </a:lnTo>
                  <a:lnTo>
                    <a:pt x="47246" y="80533"/>
                  </a:lnTo>
                  <a:lnTo>
                    <a:pt x="80557" y="47236"/>
                  </a:lnTo>
                  <a:lnTo>
                    <a:pt x="120501" y="21854"/>
                  </a:lnTo>
                  <a:lnTo>
                    <a:pt x="165791" y="5678"/>
                  </a:lnTo>
                  <a:lnTo>
                    <a:pt x="215138" y="0"/>
                  </a:lnTo>
                  <a:lnTo>
                    <a:pt x="1966086" y="0"/>
                  </a:lnTo>
                  <a:lnTo>
                    <a:pt x="2015433" y="5678"/>
                  </a:lnTo>
                  <a:lnTo>
                    <a:pt x="2060723" y="21854"/>
                  </a:lnTo>
                  <a:lnTo>
                    <a:pt x="2100667" y="47236"/>
                  </a:lnTo>
                  <a:lnTo>
                    <a:pt x="2133978" y="80533"/>
                  </a:lnTo>
                  <a:lnTo>
                    <a:pt x="2159367" y="120455"/>
                  </a:lnTo>
                  <a:lnTo>
                    <a:pt x="2175545" y="165711"/>
                  </a:lnTo>
                  <a:lnTo>
                    <a:pt x="2181225" y="215011"/>
                  </a:lnTo>
                  <a:lnTo>
                    <a:pt x="2181225" y="1075461"/>
                  </a:lnTo>
                  <a:lnTo>
                    <a:pt x="2175545" y="1124786"/>
                  </a:lnTo>
                  <a:lnTo>
                    <a:pt x="2159367" y="1170064"/>
                  </a:lnTo>
                  <a:lnTo>
                    <a:pt x="2133978" y="1210005"/>
                  </a:lnTo>
                  <a:lnTo>
                    <a:pt x="2100667" y="1243317"/>
                  </a:lnTo>
                  <a:lnTo>
                    <a:pt x="2060723" y="1268710"/>
                  </a:lnTo>
                  <a:lnTo>
                    <a:pt x="2015433" y="1284892"/>
                  </a:lnTo>
                  <a:lnTo>
                    <a:pt x="1966086" y="1290574"/>
                  </a:lnTo>
                  <a:lnTo>
                    <a:pt x="215138" y="1290574"/>
                  </a:lnTo>
                  <a:lnTo>
                    <a:pt x="165791" y="1284892"/>
                  </a:lnTo>
                  <a:lnTo>
                    <a:pt x="120501" y="1268710"/>
                  </a:lnTo>
                  <a:lnTo>
                    <a:pt x="80557" y="1243317"/>
                  </a:lnTo>
                  <a:lnTo>
                    <a:pt x="47246" y="1210005"/>
                  </a:lnTo>
                  <a:lnTo>
                    <a:pt x="21857" y="1170064"/>
                  </a:lnTo>
                  <a:lnTo>
                    <a:pt x="5679" y="1124786"/>
                  </a:lnTo>
                  <a:lnTo>
                    <a:pt x="0" y="1075461"/>
                  </a:lnTo>
                  <a:lnTo>
                    <a:pt x="0" y="215011"/>
                  </a:lnTo>
                  <a:close/>
                </a:path>
              </a:pathLst>
            </a:custGeom>
            <a:ln w="26424">
              <a:solidFill>
                <a:srgbClr val="1D5874"/>
              </a:solidFill>
            </a:ln>
          </p:spPr>
          <p:txBody>
            <a:bodyPr wrap="square" lIns="0" tIns="0" rIns="0" bIns="0" rtlCol="0"/>
            <a:lstStyle/>
            <a:p>
              <a:endParaRPr/>
            </a:p>
          </p:txBody>
        </p:sp>
      </p:grpSp>
      <p:sp>
        <p:nvSpPr>
          <p:cNvPr id="68" name="object 68"/>
          <p:cNvSpPr txBox="1"/>
          <p:nvPr/>
        </p:nvSpPr>
        <p:spPr>
          <a:xfrm>
            <a:off x="7049769" y="4850383"/>
            <a:ext cx="1398270" cy="757555"/>
          </a:xfrm>
          <a:prstGeom prst="rect">
            <a:avLst/>
          </a:prstGeom>
        </p:spPr>
        <p:txBody>
          <a:bodyPr vert="horz" wrap="square" lIns="0" tIns="12700" rIns="0" bIns="0" rtlCol="0">
            <a:spAutoFit/>
          </a:bodyPr>
          <a:lstStyle/>
          <a:p>
            <a:pPr marL="29209" marR="5080" indent="-17145">
              <a:lnSpc>
                <a:spcPct val="100000"/>
              </a:lnSpc>
              <a:spcBef>
                <a:spcPts val="100"/>
              </a:spcBef>
            </a:pPr>
            <a:r>
              <a:rPr sz="2400" b="1" dirty="0">
                <a:solidFill>
                  <a:srgbClr val="FFFFFF"/>
                </a:solidFill>
                <a:latin typeface="Calibri"/>
                <a:cs typeface="Calibri"/>
              </a:rPr>
              <a:t>Batch</a:t>
            </a:r>
            <a:r>
              <a:rPr sz="2400" b="1" spc="-95" dirty="0">
                <a:solidFill>
                  <a:srgbClr val="FFFFFF"/>
                </a:solidFill>
                <a:latin typeface="Calibri"/>
                <a:cs typeface="Calibri"/>
              </a:rPr>
              <a:t> </a:t>
            </a:r>
            <a:r>
              <a:rPr sz="2400" b="1" spc="-20" dirty="0">
                <a:solidFill>
                  <a:srgbClr val="FFFFFF"/>
                </a:solidFill>
                <a:latin typeface="Calibri"/>
                <a:cs typeface="Calibri"/>
              </a:rPr>
              <a:t>Data </a:t>
            </a:r>
            <a:r>
              <a:rPr sz="2400" b="1" spc="-10" dirty="0">
                <a:solidFill>
                  <a:srgbClr val="FFFFFF"/>
                </a:solidFill>
                <a:latin typeface="Calibri"/>
                <a:cs typeface="Calibri"/>
              </a:rPr>
              <a:t>Processing</a:t>
            </a:r>
            <a:endParaRPr sz="2400">
              <a:latin typeface="Calibri"/>
              <a:cs typeface="Calibri"/>
            </a:endParaRPr>
          </a:p>
        </p:txBody>
      </p:sp>
      <p:grpSp>
        <p:nvGrpSpPr>
          <p:cNvPr id="69" name="object 69"/>
          <p:cNvGrpSpPr/>
          <p:nvPr/>
        </p:nvGrpSpPr>
        <p:grpSpPr>
          <a:xfrm>
            <a:off x="1548887" y="4630161"/>
            <a:ext cx="2206625" cy="1200150"/>
            <a:chOff x="1548887" y="4630161"/>
            <a:chExt cx="2206625" cy="1200150"/>
          </a:xfrm>
        </p:grpSpPr>
        <p:sp>
          <p:nvSpPr>
            <p:cNvPr id="70" name="object 70"/>
            <p:cNvSpPr/>
            <p:nvPr/>
          </p:nvSpPr>
          <p:spPr>
            <a:xfrm>
              <a:off x="1562099" y="4643374"/>
              <a:ext cx="2179955" cy="1173480"/>
            </a:xfrm>
            <a:custGeom>
              <a:avLst/>
              <a:gdLst/>
              <a:ahLst/>
              <a:cxnLst/>
              <a:rect l="l" t="t" r="r" b="b"/>
              <a:pathLst>
                <a:path w="2179954" h="1173479">
                  <a:moveTo>
                    <a:pt x="1984121" y="0"/>
                  </a:moveTo>
                  <a:lnTo>
                    <a:pt x="195580" y="0"/>
                  </a:lnTo>
                  <a:lnTo>
                    <a:pt x="150716" y="5168"/>
                  </a:lnTo>
                  <a:lnTo>
                    <a:pt x="109542" y="19890"/>
                  </a:lnTo>
                  <a:lnTo>
                    <a:pt x="73229" y="42987"/>
                  </a:lnTo>
                  <a:lnTo>
                    <a:pt x="42947" y="73282"/>
                  </a:lnTo>
                  <a:lnTo>
                    <a:pt x="19868" y="109597"/>
                  </a:lnTo>
                  <a:lnTo>
                    <a:pt x="5162" y="150756"/>
                  </a:lnTo>
                  <a:lnTo>
                    <a:pt x="0" y="195580"/>
                  </a:lnTo>
                  <a:lnTo>
                    <a:pt x="0" y="977696"/>
                  </a:lnTo>
                  <a:lnTo>
                    <a:pt x="5162" y="1022529"/>
                  </a:lnTo>
                  <a:lnTo>
                    <a:pt x="19868" y="1063685"/>
                  </a:lnTo>
                  <a:lnTo>
                    <a:pt x="42947" y="1099990"/>
                  </a:lnTo>
                  <a:lnTo>
                    <a:pt x="73229" y="1130270"/>
                  </a:lnTo>
                  <a:lnTo>
                    <a:pt x="109542" y="1153352"/>
                  </a:lnTo>
                  <a:lnTo>
                    <a:pt x="150716" y="1168061"/>
                  </a:lnTo>
                  <a:lnTo>
                    <a:pt x="195580" y="1173226"/>
                  </a:lnTo>
                  <a:lnTo>
                    <a:pt x="1984121" y="1173226"/>
                  </a:lnTo>
                  <a:lnTo>
                    <a:pt x="2028944" y="1168061"/>
                  </a:lnTo>
                  <a:lnTo>
                    <a:pt x="2070103" y="1153352"/>
                  </a:lnTo>
                  <a:lnTo>
                    <a:pt x="2106418" y="1130270"/>
                  </a:lnTo>
                  <a:lnTo>
                    <a:pt x="2136713" y="1099990"/>
                  </a:lnTo>
                  <a:lnTo>
                    <a:pt x="2159810" y="1063685"/>
                  </a:lnTo>
                  <a:lnTo>
                    <a:pt x="2174532" y="1022529"/>
                  </a:lnTo>
                  <a:lnTo>
                    <a:pt x="2179701" y="977696"/>
                  </a:lnTo>
                  <a:lnTo>
                    <a:pt x="2179701" y="195580"/>
                  </a:lnTo>
                  <a:lnTo>
                    <a:pt x="2174532" y="150756"/>
                  </a:lnTo>
                  <a:lnTo>
                    <a:pt x="2159810" y="109597"/>
                  </a:lnTo>
                  <a:lnTo>
                    <a:pt x="2136713" y="73282"/>
                  </a:lnTo>
                  <a:lnTo>
                    <a:pt x="2106418" y="42987"/>
                  </a:lnTo>
                  <a:lnTo>
                    <a:pt x="2070103" y="19890"/>
                  </a:lnTo>
                  <a:lnTo>
                    <a:pt x="2028944" y="5168"/>
                  </a:lnTo>
                  <a:lnTo>
                    <a:pt x="1984121" y="0"/>
                  </a:lnTo>
                  <a:close/>
                </a:path>
              </a:pathLst>
            </a:custGeom>
            <a:solidFill>
              <a:srgbClr val="2C7B9F"/>
            </a:solidFill>
          </p:spPr>
          <p:txBody>
            <a:bodyPr wrap="square" lIns="0" tIns="0" rIns="0" bIns="0" rtlCol="0"/>
            <a:lstStyle/>
            <a:p>
              <a:endParaRPr/>
            </a:p>
          </p:txBody>
        </p:sp>
        <p:sp>
          <p:nvSpPr>
            <p:cNvPr id="71" name="object 71"/>
            <p:cNvSpPr/>
            <p:nvPr/>
          </p:nvSpPr>
          <p:spPr>
            <a:xfrm>
              <a:off x="1562099" y="4643374"/>
              <a:ext cx="2179955" cy="1173480"/>
            </a:xfrm>
            <a:custGeom>
              <a:avLst/>
              <a:gdLst/>
              <a:ahLst/>
              <a:cxnLst/>
              <a:rect l="l" t="t" r="r" b="b"/>
              <a:pathLst>
                <a:path w="2179954" h="1173479">
                  <a:moveTo>
                    <a:pt x="0" y="195580"/>
                  </a:moveTo>
                  <a:lnTo>
                    <a:pt x="5162" y="150756"/>
                  </a:lnTo>
                  <a:lnTo>
                    <a:pt x="19868" y="109597"/>
                  </a:lnTo>
                  <a:lnTo>
                    <a:pt x="42947" y="73282"/>
                  </a:lnTo>
                  <a:lnTo>
                    <a:pt x="73229" y="42987"/>
                  </a:lnTo>
                  <a:lnTo>
                    <a:pt x="109542" y="19890"/>
                  </a:lnTo>
                  <a:lnTo>
                    <a:pt x="150716" y="5168"/>
                  </a:lnTo>
                  <a:lnTo>
                    <a:pt x="195580" y="0"/>
                  </a:lnTo>
                  <a:lnTo>
                    <a:pt x="1984121" y="0"/>
                  </a:lnTo>
                  <a:lnTo>
                    <a:pt x="2028944" y="5168"/>
                  </a:lnTo>
                  <a:lnTo>
                    <a:pt x="2070103" y="19890"/>
                  </a:lnTo>
                  <a:lnTo>
                    <a:pt x="2106418" y="42987"/>
                  </a:lnTo>
                  <a:lnTo>
                    <a:pt x="2136713" y="73282"/>
                  </a:lnTo>
                  <a:lnTo>
                    <a:pt x="2159810" y="109597"/>
                  </a:lnTo>
                  <a:lnTo>
                    <a:pt x="2174532" y="150756"/>
                  </a:lnTo>
                  <a:lnTo>
                    <a:pt x="2179701" y="195580"/>
                  </a:lnTo>
                  <a:lnTo>
                    <a:pt x="2179701" y="977696"/>
                  </a:lnTo>
                  <a:lnTo>
                    <a:pt x="2174532" y="1022529"/>
                  </a:lnTo>
                  <a:lnTo>
                    <a:pt x="2159810" y="1063685"/>
                  </a:lnTo>
                  <a:lnTo>
                    <a:pt x="2136713" y="1099990"/>
                  </a:lnTo>
                  <a:lnTo>
                    <a:pt x="2106418" y="1130270"/>
                  </a:lnTo>
                  <a:lnTo>
                    <a:pt x="2070103" y="1153352"/>
                  </a:lnTo>
                  <a:lnTo>
                    <a:pt x="2028944" y="1168061"/>
                  </a:lnTo>
                  <a:lnTo>
                    <a:pt x="1984121" y="1173226"/>
                  </a:lnTo>
                  <a:lnTo>
                    <a:pt x="195580" y="1173226"/>
                  </a:lnTo>
                  <a:lnTo>
                    <a:pt x="150716" y="1168061"/>
                  </a:lnTo>
                  <a:lnTo>
                    <a:pt x="109542" y="1153352"/>
                  </a:lnTo>
                  <a:lnTo>
                    <a:pt x="73229" y="1130270"/>
                  </a:lnTo>
                  <a:lnTo>
                    <a:pt x="42947" y="1099990"/>
                  </a:lnTo>
                  <a:lnTo>
                    <a:pt x="19868" y="1063685"/>
                  </a:lnTo>
                  <a:lnTo>
                    <a:pt x="5162" y="1022529"/>
                  </a:lnTo>
                  <a:lnTo>
                    <a:pt x="0" y="977696"/>
                  </a:lnTo>
                  <a:lnTo>
                    <a:pt x="0" y="195580"/>
                  </a:lnTo>
                  <a:close/>
                </a:path>
              </a:pathLst>
            </a:custGeom>
            <a:ln w="26424">
              <a:solidFill>
                <a:srgbClr val="1D5874"/>
              </a:solidFill>
            </a:ln>
          </p:spPr>
          <p:txBody>
            <a:bodyPr wrap="square" lIns="0" tIns="0" rIns="0" bIns="0" rtlCol="0"/>
            <a:lstStyle/>
            <a:p>
              <a:endParaRPr/>
            </a:p>
          </p:txBody>
        </p:sp>
      </p:grpSp>
      <p:sp>
        <p:nvSpPr>
          <p:cNvPr id="72" name="object 72"/>
          <p:cNvSpPr txBox="1"/>
          <p:nvPr/>
        </p:nvSpPr>
        <p:spPr>
          <a:xfrm>
            <a:off x="1968754" y="4832984"/>
            <a:ext cx="1363980" cy="756920"/>
          </a:xfrm>
          <a:prstGeom prst="rect">
            <a:avLst/>
          </a:prstGeom>
        </p:spPr>
        <p:txBody>
          <a:bodyPr vert="horz" wrap="square" lIns="0" tIns="12700" rIns="0" bIns="0" rtlCol="0">
            <a:spAutoFit/>
          </a:bodyPr>
          <a:lstStyle/>
          <a:p>
            <a:pPr marL="12700" marR="5080" indent="318135">
              <a:lnSpc>
                <a:spcPct val="100000"/>
              </a:lnSpc>
              <a:spcBef>
                <a:spcPts val="100"/>
              </a:spcBef>
            </a:pPr>
            <a:r>
              <a:rPr sz="2400" b="1" spc="-20" dirty="0">
                <a:solidFill>
                  <a:srgbClr val="FFFFFF"/>
                </a:solidFill>
                <a:latin typeface="Calibri"/>
                <a:cs typeface="Calibri"/>
              </a:rPr>
              <a:t>Event </a:t>
            </a:r>
            <a:r>
              <a:rPr sz="2400" b="1" spc="-10" dirty="0">
                <a:solidFill>
                  <a:srgbClr val="FFFFFF"/>
                </a:solidFill>
                <a:latin typeface="Calibri"/>
                <a:cs typeface="Calibri"/>
              </a:rPr>
              <a:t>Processing</a:t>
            </a:r>
            <a:endParaRPr sz="2400">
              <a:latin typeface="Calibri"/>
              <a:cs typeface="Calibri"/>
            </a:endParaRPr>
          </a:p>
        </p:txBody>
      </p:sp>
      <p:grpSp>
        <p:nvGrpSpPr>
          <p:cNvPr id="73" name="object 73"/>
          <p:cNvGrpSpPr/>
          <p:nvPr/>
        </p:nvGrpSpPr>
        <p:grpSpPr>
          <a:xfrm>
            <a:off x="4388988" y="5084186"/>
            <a:ext cx="1449070" cy="601345"/>
            <a:chOff x="4388988" y="5084186"/>
            <a:chExt cx="1449070" cy="601345"/>
          </a:xfrm>
        </p:grpSpPr>
        <p:sp>
          <p:nvSpPr>
            <p:cNvPr id="74" name="object 74"/>
            <p:cNvSpPr/>
            <p:nvPr/>
          </p:nvSpPr>
          <p:spPr>
            <a:xfrm>
              <a:off x="4402201" y="5097399"/>
              <a:ext cx="1422400" cy="575310"/>
            </a:xfrm>
            <a:custGeom>
              <a:avLst/>
              <a:gdLst/>
              <a:ahLst/>
              <a:cxnLst/>
              <a:rect l="l" t="t" r="r" b="b"/>
              <a:pathLst>
                <a:path w="1422400" h="575310">
                  <a:moveTo>
                    <a:pt x="1326514" y="0"/>
                  </a:moveTo>
                  <a:lnTo>
                    <a:pt x="95758" y="0"/>
                  </a:lnTo>
                  <a:lnTo>
                    <a:pt x="58453" y="7534"/>
                  </a:lnTo>
                  <a:lnTo>
                    <a:pt x="28019" y="28082"/>
                  </a:lnTo>
                  <a:lnTo>
                    <a:pt x="7514" y="58560"/>
                  </a:lnTo>
                  <a:lnTo>
                    <a:pt x="0" y="95884"/>
                  </a:lnTo>
                  <a:lnTo>
                    <a:pt x="0" y="478916"/>
                  </a:lnTo>
                  <a:lnTo>
                    <a:pt x="7514" y="516220"/>
                  </a:lnTo>
                  <a:lnTo>
                    <a:pt x="28019" y="546677"/>
                  </a:lnTo>
                  <a:lnTo>
                    <a:pt x="58453" y="567210"/>
                  </a:lnTo>
                  <a:lnTo>
                    <a:pt x="95758" y="574738"/>
                  </a:lnTo>
                  <a:lnTo>
                    <a:pt x="1326514" y="574738"/>
                  </a:lnTo>
                  <a:lnTo>
                    <a:pt x="1363839" y="567210"/>
                  </a:lnTo>
                  <a:lnTo>
                    <a:pt x="1394317" y="546677"/>
                  </a:lnTo>
                  <a:lnTo>
                    <a:pt x="1414865" y="516220"/>
                  </a:lnTo>
                  <a:lnTo>
                    <a:pt x="1422400" y="478916"/>
                  </a:lnTo>
                  <a:lnTo>
                    <a:pt x="1422400" y="95884"/>
                  </a:lnTo>
                  <a:lnTo>
                    <a:pt x="1414865" y="58560"/>
                  </a:lnTo>
                  <a:lnTo>
                    <a:pt x="1394317" y="28082"/>
                  </a:lnTo>
                  <a:lnTo>
                    <a:pt x="1363839" y="7534"/>
                  </a:lnTo>
                  <a:lnTo>
                    <a:pt x="1326514" y="0"/>
                  </a:lnTo>
                  <a:close/>
                </a:path>
              </a:pathLst>
            </a:custGeom>
            <a:solidFill>
              <a:srgbClr val="234957"/>
            </a:solidFill>
          </p:spPr>
          <p:txBody>
            <a:bodyPr wrap="square" lIns="0" tIns="0" rIns="0" bIns="0" rtlCol="0"/>
            <a:lstStyle/>
            <a:p>
              <a:endParaRPr/>
            </a:p>
          </p:txBody>
        </p:sp>
        <p:sp>
          <p:nvSpPr>
            <p:cNvPr id="75" name="object 75"/>
            <p:cNvSpPr/>
            <p:nvPr/>
          </p:nvSpPr>
          <p:spPr>
            <a:xfrm>
              <a:off x="4402201" y="5097399"/>
              <a:ext cx="1422400" cy="575310"/>
            </a:xfrm>
            <a:custGeom>
              <a:avLst/>
              <a:gdLst/>
              <a:ahLst/>
              <a:cxnLst/>
              <a:rect l="l" t="t" r="r" b="b"/>
              <a:pathLst>
                <a:path w="1422400" h="575310">
                  <a:moveTo>
                    <a:pt x="0" y="95884"/>
                  </a:moveTo>
                  <a:lnTo>
                    <a:pt x="7514" y="58560"/>
                  </a:lnTo>
                  <a:lnTo>
                    <a:pt x="28019" y="28082"/>
                  </a:lnTo>
                  <a:lnTo>
                    <a:pt x="58453" y="7534"/>
                  </a:lnTo>
                  <a:lnTo>
                    <a:pt x="95758" y="0"/>
                  </a:lnTo>
                  <a:lnTo>
                    <a:pt x="1326514" y="0"/>
                  </a:lnTo>
                  <a:lnTo>
                    <a:pt x="1363839" y="7534"/>
                  </a:lnTo>
                  <a:lnTo>
                    <a:pt x="1394317" y="28082"/>
                  </a:lnTo>
                  <a:lnTo>
                    <a:pt x="1414865" y="58560"/>
                  </a:lnTo>
                  <a:lnTo>
                    <a:pt x="1422400" y="95884"/>
                  </a:lnTo>
                  <a:lnTo>
                    <a:pt x="1422400" y="478916"/>
                  </a:lnTo>
                  <a:lnTo>
                    <a:pt x="1414865" y="516220"/>
                  </a:lnTo>
                  <a:lnTo>
                    <a:pt x="1394317" y="546677"/>
                  </a:lnTo>
                  <a:lnTo>
                    <a:pt x="1363839" y="567210"/>
                  </a:lnTo>
                  <a:lnTo>
                    <a:pt x="1326514" y="574738"/>
                  </a:lnTo>
                  <a:lnTo>
                    <a:pt x="95758" y="574738"/>
                  </a:lnTo>
                  <a:lnTo>
                    <a:pt x="58453" y="567210"/>
                  </a:lnTo>
                  <a:lnTo>
                    <a:pt x="28019" y="546677"/>
                  </a:lnTo>
                  <a:lnTo>
                    <a:pt x="7514" y="516220"/>
                  </a:lnTo>
                  <a:lnTo>
                    <a:pt x="0" y="478916"/>
                  </a:lnTo>
                  <a:lnTo>
                    <a:pt x="0" y="95884"/>
                  </a:lnTo>
                  <a:close/>
                </a:path>
              </a:pathLst>
            </a:custGeom>
            <a:ln w="26424">
              <a:solidFill>
                <a:srgbClr val="17343D"/>
              </a:solidFill>
            </a:ln>
          </p:spPr>
          <p:txBody>
            <a:bodyPr wrap="square" lIns="0" tIns="0" rIns="0" bIns="0" rtlCol="0"/>
            <a:lstStyle/>
            <a:p>
              <a:endParaRPr/>
            </a:p>
          </p:txBody>
        </p:sp>
      </p:grpSp>
      <p:sp>
        <p:nvSpPr>
          <p:cNvPr id="76" name="object 76"/>
          <p:cNvSpPr txBox="1"/>
          <p:nvPr/>
        </p:nvSpPr>
        <p:spPr>
          <a:xfrm>
            <a:off x="4662678" y="5117338"/>
            <a:ext cx="901700" cy="513080"/>
          </a:xfrm>
          <a:prstGeom prst="rect">
            <a:avLst/>
          </a:prstGeom>
        </p:spPr>
        <p:txBody>
          <a:bodyPr vert="horz" wrap="square" lIns="0" tIns="12065" rIns="0" bIns="0" rtlCol="0">
            <a:spAutoFit/>
          </a:bodyPr>
          <a:lstStyle/>
          <a:p>
            <a:pPr marL="12700" marR="5080" indent="53340">
              <a:lnSpc>
                <a:spcPct val="100000"/>
              </a:lnSpc>
              <a:spcBef>
                <a:spcPts val="95"/>
              </a:spcBef>
            </a:pPr>
            <a:r>
              <a:rPr sz="1600" b="1" spc="-10" dirty="0">
                <a:solidFill>
                  <a:srgbClr val="FFFFFF"/>
                </a:solidFill>
                <a:latin typeface="Calibri"/>
                <a:cs typeface="Calibri"/>
              </a:rPr>
              <a:t>Dataflow Languages</a:t>
            </a:r>
            <a:endParaRPr sz="1600">
              <a:latin typeface="Calibri"/>
              <a:cs typeface="Calibri"/>
            </a:endParaRPr>
          </a:p>
        </p:txBody>
      </p:sp>
      <p:sp>
        <p:nvSpPr>
          <p:cNvPr id="77" name="object 77"/>
          <p:cNvSpPr txBox="1"/>
          <p:nvPr/>
        </p:nvSpPr>
        <p:spPr>
          <a:xfrm>
            <a:off x="4378325" y="2692463"/>
            <a:ext cx="1184275" cy="271780"/>
          </a:xfrm>
          <a:prstGeom prst="rect">
            <a:avLst/>
          </a:prstGeom>
          <a:ln w="26424">
            <a:solidFill>
              <a:srgbClr val="234957"/>
            </a:solidFill>
          </a:ln>
        </p:spPr>
        <p:txBody>
          <a:bodyPr vert="horz" wrap="square" lIns="0" tIns="1270" rIns="0" bIns="0" rtlCol="0">
            <a:spAutoFit/>
          </a:bodyPr>
          <a:lstStyle/>
          <a:p>
            <a:pPr marL="165735">
              <a:lnSpc>
                <a:spcPct val="100000"/>
              </a:lnSpc>
              <a:spcBef>
                <a:spcPts val="10"/>
              </a:spcBef>
            </a:pPr>
            <a:r>
              <a:rPr sz="1600" b="1" spc="-10" dirty="0">
                <a:latin typeface="Calibri"/>
                <a:cs typeface="Calibri"/>
              </a:rPr>
              <a:t>Serverless</a:t>
            </a:r>
            <a:endParaRPr sz="1600">
              <a:latin typeface="Calibri"/>
              <a:cs typeface="Calibri"/>
            </a:endParaRPr>
          </a:p>
        </p:txBody>
      </p:sp>
      <p:pic>
        <p:nvPicPr>
          <p:cNvPr id="78" name="object 78"/>
          <p:cNvPicPr/>
          <p:nvPr/>
        </p:nvPicPr>
        <p:blipFill>
          <a:blip r:embed="rId12" cstate="print"/>
          <a:stretch>
            <a:fillRect/>
          </a:stretch>
        </p:blipFill>
        <p:spPr>
          <a:xfrm>
            <a:off x="8221726" y="5741987"/>
            <a:ext cx="1339723" cy="69691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4040" y="1501216"/>
            <a:ext cx="8448675" cy="4509135"/>
          </a:xfrm>
          <a:prstGeom prst="rect">
            <a:avLst/>
          </a:prstGeom>
        </p:spPr>
        <p:txBody>
          <a:bodyPr vert="horz" wrap="square" lIns="0" tIns="13335" rIns="0" bIns="0" rtlCol="0">
            <a:spAutoFit/>
          </a:bodyPr>
          <a:lstStyle/>
          <a:p>
            <a:pPr marL="195580" indent="-182880">
              <a:lnSpc>
                <a:spcPts val="2160"/>
              </a:lnSpc>
              <a:spcBef>
                <a:spcPts val="105"/>
              </a:spcBef>
              <a:buClr>
                <a:srgbClr val="2C7B9F"/>
              </a:buClr>
              <a:buSzPct val="85000"/>
              <a:buFont typeface="Arial MT"/>
              <a:buChar char="•"/>
              <a:tabLst>
                <a:tab pos="195580" algn="l"/>
              </a:tabLst>
            </a:pPr>
            <a:r>
              <a:rPr sz="2000" spc="-10" dirty="0">
                <a:latin typeface="Calibri"/>
                <a:cs typeface="Calibri"/>
              </a:rPr>
              <a:t>“Services”(REST).</a:t>
            </a:r>
            <a:r>
              <a:rPr sz="2000" spc="-40" dirty="0">
                <a:latin typeface="Calibri"/>
                <a:cs typeface="Calibri"/>
              </a:rPr>
              <a:t> </a:t>
            </a:r>
            <a:r>
              <a:rPr sz="2000" dirty="0">
                <a:latin typeface="Calibri"/>
                <a:cs typeface="Calibri"/>
              </a:rPr>
              <a:t>Accessed</a:t>
            </a:r>
            <a:r>
              <a:rPr sz="2000" spc="-35" dirty="0">
                <a:latin typeface="Calibri"/>
                <a:cs typeface="Calibri"/>
              </a:rPr>
              <a:t> </a:t>
            </a:r>
            <a:r>
              <a:rPr sz="2000" dirty="0">
                <a:latin typeface="Calibri"/>
                <a:cs typeface="Calibri"/>
              </a:rPr>
              <a:t>by</a:t>
            </a:r>
            <a:r>
              <a:rPr sz="2000" spc="-45" dirty="0">
                <a:latin typeface="Calibri"/>
                <a:cs typeface="Calibri"/>
              </a:rPr>
              <a:t> </a:t>
            </a:r>
            <a:r>
              <a:rPr sz="2000" dirty="0">
                <a:latin typeface="Calibri"/>
                <a:cs typeface="Calibri"/>
              </a:rPr>
              <a:t>millions</a:t>
            </a:r>
            <a:r>
              <a:rPr sz="2000" spc="-30"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devices</a:t>
            </a:r>
            <a:r>
              <a:rPr sz="2000" spc="-30" dirty="0">
                <a:latin typeface="Calibri"/>
                <a:cs typeface="Calibri"/>
              </a:rPr>
              <a:t> </a:t>
            </a:r>
            <a:r>
              <a:rPr sz="2000" dirty="0">
                <a:latin typeface="Calibri"/>
                <a:cs typeface="Calibri"/>
              </a:rPr>
              <a:t>(smartphones,</a:t>
            </a:r>
            <a:r>
              <a:rPr sz="2000" spc="-35" dirty="0">
                <a:latin typeface="Calibri"/>
                <a:cs typeface="Calibri"/>
              </a:rPr>
              <a:t> </a:t>
            </a:r>
            <a:r>
              <a:rPr sz="2000" dirty="0">
                <a:latin typeface="Calibri"/>
                <a:cs typeface="Calibri"/>
              </a:rPr>
              <a:t>tablets,</a:t>
            </a:r>
            <a:r>
              <a:rPr sz="2000" spc="-25" dirty="0">
                <a:latin typeface="Calibri"/>
                <a:cs typeface="Calibri"/>
              </a:rPr>
              <a:t> </a:t>
            </a:r>
            <a:r>
              <a:rPr sz="2000" spc="-10" dirty="0">
                <a:latin typeface="Calibri"/>
                <a:cs typeface="Calibri"/>
              </a:rPr>
              <a:t>PCs?)…</a:t>
            </a:r>
            <a:endParaRPr sz="2000">
              <a:latin typeface="Calibri"/>
              <a:cs typeface="Calibri"/>
            </a:endParaRPr>
          </a:p>
          <a:p>
            <a:pPr marL="194945">
              <a:lnSpc>
                <a:spcPts val="2160"/>
              </a:lnSpc>
            </a:pPr>
            <a:r>
              <a:rPr sz="2000" dirty="0">
                <a:latin typeface="Calibri"/>
                <a:cs typeface="Calibri"/>
              </a:rPr>
              <a:t>RPC,</a:t>
            </a:r>
            <a:r>
              <a:rPr sz="2000" spc="10" dirty="0">
                <a:latin typeface="Calibri"/>
                <a:cs typeface="Calibri"/>
              </a:rPr>
              <a:t> </a:t>
            </a:r>
            <a:r>
              <a:rPr sz="2000" dirty="0">
                <a:latin typeface="Calibri"/>
                <a:cs typeface="Calibri"/>
              </a:rPr>
              <a:t>mostly</a:t>
            </a:r>
            <a:r>
              <a:rPr sz="2000" spc="15" dirty="0">
                <a:latin typeface="Calibri"/>
                <a:cs typeface="Calibri"/>
              </a:rPr>
              <a:t> </a:t>
            </a:r>
            <a:r>
              <a:rPr sz="2000" spc="-20" dirty="0">
                <a:latin typeface="Calibri"/>
                <a:cs typeface="Calibri"/>
              </a:rPr>
              <a:t>consumer-</a:t>
            </a:r>
            <a:r>
              <a:rPr sz="2000" spc="-10" dirty="0">
                <a:latin typeface="Calibri"/>
                <a:cs typeface="Calibri"/>
              </a:rPr>
              <a:t>based</a:t>
            </a:r>
            <a:endParaRPr sz="2000">
              <a:latin typeface="Calibri"/>
              <a:cs typeface="Calibri"/>
            </a:endParaRPr>
          </a:p>
          <a:p>
            <a:pPr marL="467995" lvl="1" indent="-180975">
              <a:lnSpc>
                <a:spcPct val="100000"/>
              </a:lnSpc>
              <a:spcBef>
                <a:spcPts val="10"/>
              </a:spcBef>
              <a:buClr>
                <a:srgbClr val="2C7B9F"/>
              </a:buClr>
              <a:buSzPct val="83333"/>
              <a:buFont typeface="Arial MT"/>
              <a:buChar char="•"/>
              <a:tabLst>
                <a:tab pos="467995" algn="l"/>
              </a:tabLst>
            </a:pPr>
            <a:r>
              <a:rPr sz="1800" spc="-25" dirty="0">
                <a:latin typeface="Calibri"/>
                <a:cs typeface="Calibri"/>
              </a:rPr>
              <a:t>Traffic</a:t>
            </a:r>
            <a:r>
              <a:rPr sz="1800" spc="-55" dirty="0">
                <a:latin typeface="Calibri"/>
                <a:cs typeface="Calibri"/>
              </a:rPr>
              <a:t> </a:t>
            </a:r>
            <a:r>
              <a:rPr sz="1800" dirty="0">
                <a:latin typeface="Calibri"/>
                <a:cs typeface="Calibri"/>
              </a:rPr>
              <a:t>varies</a:t>
            </a:r>
            <a:r>
              <a:rPr sz="1800" spc="-35" dirty="0">
                <a:latin typeface="Calibri"/>
                <a:cs typeface="Calibri"/>
              </a:rPr>
              <a:t> </a:t>
            </a:r>
            <a:r>
              <a:rPr sz="1800" dirty="0">
                <a:latin typeface="Calibri"/>
                <a:cs typeface="Calibri"/>
              </a:rPr>
              <a:t>wildly…</a:t>
            </a:r>
            <a:r>
              <a:rPr sz="1800" spc="-50" dirty="0">
                <a:latin typeface="Calibri"/>
                <a:cs typeface="Calibri"/>
              </a:rPr>
              <a:t> </a:t>
            </a:r>
            <a:r>
              <a:rPr sz="1800" dirty="0">
                <a:latin typeface="Calibri"/>
                <a:cs typeface="Calibri"/>
              </a:rPr>
              <a:t>agile</a:t>
            </a:r>
            <a:r>
              <a:rPr sz="1800" spc="-25" dirty="0">
                <a:latin typeface="Calibri"/>
                <a:cs typeface="Calibri"/>
              </a:rPr>
              <a:t> </a:t>
            </a:r>
            <a:r>
              <a:rPr sz="1800" spc="-10" dirty="0">
                <a:latin typeface="Calibri"/>
                <a:cs typeface="Calibri"/>
              </a:rPr>
              <a:t>scalability</a:t>
            </a:r>
            <a:endParaRPr sz="1800">
              <a:latin typeface="Calibri"/>
              <a:cs typeface="Calibri"/>
            </a:endParaRPr>
          </a:p>
          <a:p>
            <a:pPr marL="467995" lvl="1" indent="-180975">
              <a:lnSpc>
                <a:spcPct val="100000"/>
              </a:lnSpc>
              <a:buClr>
                <a:srgbClr val="2C7B9F"/>
              </a:buClr>
              <a:buSzPct val="83333"/>
              <a:buFont typeface="Arial MT"/>
              <a:buChar char="•"/>
              <a:tabLst>
                <a:tab pos="467995" algn="l"/>
              </a:tabLst>
            </a:pPr>
            <a:r>
              <a:rPr sz="1800" spc="-10" dirty="0">
                <a:latin typeface="Calibri"/>
                <a:cs typeface="Calibri"/>
              </a:rPr>
              <a:t>Replication,</a:t>
            </a:r>
            <a:r>
              <a:rPr sz="1800" spc="-35" dirty="0">
                <a:latin typeface="Calibri"/>
                <a:cs typeface="Calibri"/>
              </a:rPr>
              <a:t> </a:t>
            </a:r>
            <a:r>
              <a:rPr sz="1800" dirty="0">
                <a:latin typeface="Calibri"/>
                <a:cs typeface="Calibri"/>
              </a:rPr>
              <a:t>load</a:t>
            </a:r>
            <a:r>
              <a:rPr sz="1800" spc="-45" dirty="0">
                <a:latin typeface="Calibri"/>
                <a:cs typeface="Calibri"/>
              </a:rPr>
              <a:t> </a:t>
            </a:r>
            <a:r>
              <a:rPr sz="1800" dirty="0">
                <a:latin typeface="Calibri"/>
                <a:cs typeface="Calibri"/>
              </a:rPr>
              <a:t>balancing,</a:t>
            </a:r>
            <a:r>
              <a:rPr sz="1800" spc="-45" dirty="0">
                <a:latin typeface="Calibri"/>
                <a:cs typeface="Calibri"/>
              </a:rPr>
              <a:t> </a:t>
            </a:r>
            <a:r>
              <a:rPr sz="1800" dirty="0">
                <a:latin typeface="Calibri"/>
                <a:cs typeface="Calibri"/>
              </a:rPr>
              <a:t>caches,</a:t>
            </a:r>
            <a:r>
              <a:rPr sz="1800" spc="-50" dirty="0">
                <a:latin typeface="Calibri"/>
                <a:cs typeface="Calibri"/>
              </a:rPr>
              <a:t> </a:t>
            </a:r>
            <a:r>
              <a:rPr sz="1800" spc="-10" dirty="0">
                <a:latin typeface="Calibri"/>
                <a:cs typeface="Calibri"/>
              </a:rPr>
              <a:t>state</a:t>
            </a:r>
            <a:r>
              <a:rPr sz="1800" spc="-60" dirty="0">
                <a:latin typeface="Calibri"/>
                <a:cs typeface="Calibri"/>
              </a:rPr>
              <a:t> </a:t>
            </a:r>
            <a:r>
              <a:rPr sz="1800" spc="-10" dirty="0">
                <a:latin typeface="Calibri"/>
                <a:cs typeface="Calibri"/>
              </a:rPr>
              <a:t>management</a:t>
            </a:r>
            <a:endParaRPr sz="1800">
              <a:latin typeface="Calibri"/>
              <a:cs typeface="Calibri"/>
            </a:endParaRPr>
          </a:p>
          <a:p>
            <a:pPr marL="467995" lvl="1" indent="-180975">
              <a:lnSpc>
                <a:spcPts val="2155"/>
              </a:lnSpc>
              <a:buClr>
                <a:srgbClr val="2C7B9F"/>
              </a:buClr>
              <a:buSzPct val="83333"/>
              <a:buFont typeface="Arial MT"/>
              <a:buChar char="•"/>
              <a:tabLst>
                <a:tab pos="467995" algn="l"/>
              </a:tabLst>
            </a:pPr>
            <a:r>
              <a:rPr sz="1800" dirty="0">
                <a:latin typeface="Calibri"/>
                <a:cs typeface="Calibri"/>
              </a:rPr>
              <a:t>CDNs</a:t>
            </a:r>
            <a:r>
              <a:rPr sz="1800" spc="-50" dirty="0">
                <a:latin typeface="Calibri"/>
                <a:cs typeface="Calibri"/>
              </a:rPr>
              <a:t> </a:t>
            </a:r>
            <a:r>
              <a:rPr sz="1800" dirty="0">
                <a:latin typeface="Calibri"/>
                <a:cs typeface="Calibri"/>
              </a:rPr>
              <a:t>have</a:t>
            </a:r>
            <a:r>
              <a:rPr sz="1800" spc="-40" dirty="0">
                <a:latin typeface="Calibri"/>
                <a:cs typeface="Calibri"/>
              </a:rPr>
              <a:t> </a:t>
            </a:r>
            <a:r>
              <a:rPr sz="1800" dirty="0">
                <a:latin typeface="Calibri"/>
                <a:cs typeface="Calibri"/>
              </a:rPr>
              <a:t>similar</a:t>
            </a:r>
            <a:r>
              <a:rPr sz="1800" spc="-45" dirty="0">
                <a:latin typeface="Calibri"/>
                <a:cs typeface="Calibri"/>
              </a:rPr>
              <a:t> </a:t>
            </a:r>
            <a:r>
              <a:rPr sz="1800" spc="-10" dirty="0">
                <a:latin typeface="Calibri"/>
                <a:cs typeface="Calibri"/>
              </a:rPr>
              <a:t>requirements</a:t>
            </a:r>
            <a:endParaRPr sz="1800">
              <a:latin typeface="Calibri"/>
              <a:cs typeface="Calibri"/>
            </a:endParaRPr>
          </a:p>
          <a:p>
            <a:pPr marL="195580" indent="-182880">
              <a:lnSpc>
                <a:spcPts val="2395"/>
              </a:lnSpc>
              <a:buClr>
                <a:srgbClr val="2C7B9F"/>
              </a:buClr>
              <a:buSzPct val="85000"/>
              <a:buFont typeface="Arial MT"/>
              <a:buChar char="•"/>
              <a:tabLst>
                <a:tab pos="195580" algn="l"/>
              </a:tabLst>
            </a:pPr>
            <a:r>
              <a:rPr sz="2000" dirty="0">
                <a:latin typeface="Calibri"/>
                <a:cs typeface="Calibri"/>
              </a:rPr>
              <a:t>Data</a:t>
            </a:r>
            <a:r>
              <a:rPr sz="2000" spc="-55" dirty="0">
                <a:latin typeface="Calibri"/>
                <a:cs typeface="Calibri"/>
              </a:rPr>
              <a:t> </a:t>
            </a:r>
            <a:r>
              <a:rPr sz="2000" dirty="0">
                <a:latin typeface="Calibri"/>
                <a:cs typeface="Calibri"/>
              </a:rPr>
              <a:t>acquisition</a:t>
            </a:r>
            <a:r>
              <a:rPr sz="2000" spc="-55" dirty="0">
                <a:latin typeface="Calibri"/>
                <a:cs typeface="Calibri"/>
              </a:rPr>
              <a:t> </a:t>
            </a:r>
            <a:r>
              <a:rPr sz="2000" spc="-10" dirty="0">
                <a:latin typeface="Calibri"/>
                <a:cs typeface="Calibri"/>
              </a:rPr>
              <a:t>services</a:t>
            </a:r>
            <a:endParaRPr sz="2000">
              <a:latin typeface="Calibri"/>
              <a:cs typeface="Calibri"/>
            </a:endParaRPr>
          </a:p>
          <a:p>
            <a:pPr marL="467995" lvl="1" indent="-180975">
              <a:lnSpc>
                <a:spcPct val="100000"/>
              </a:lnSpc>
              <a:spcBef>
                <a:spcPts val="10"/>
              </a:spcBef>
              <a:buClr>
                <a:srgbClr val="2C7B9F"/>
              </a:buClr>
              <a:buSzPct val="83333"/>
              <a:buFont typeface="Arial MT"/>
              <a:buChar char="•"/>
              <a:tabLst>
                <a:tab pos="467995" algn="l"/>
              </a:tabLst>
            </a:pPr>
            <a:r>
              <a:rPr sz="1800" dirty="0">
                <a:latin typeface="Calibri"/>
                <a:cs typeface="Calibri"/>
              </a:rPr>
              <a:t>Real</a:t>
            </a:r>
            <a:r>
              <a:rPr sz="1800" spc="-40" dirty="0">
                <a:latin typeface="Calibri"/>
                <a:cs typeface="Calibri"/>
              </a:rPr>
              <a:t> </a:t>
            </a:r>
            <a:r>
              <a:rPr sz="1800" dirty="0">
                <a:latin typeface="Calibri"/>
                <a:cs typeface="Calibri"/>
              </a:rPr>
              <a:t>time</a:t>
            </a:r>
            <a:r>
              <a:rPr sz="1800" spc="-40" dirty="0">
                <a:latin typeface="Calibri"/>
                <a:cs typeface="Calibri"/>
              </a:rPr>
              <a:t> </a:t>
            </a:r>
            <a:r>
              <a:rPr sz="1800" spc="-10" dirty="0">
                <a:latin typeface="Calibri"/>
                <a:cs typeface="Calibri"/>
              </a:rPr>
              <a:t>requirements</a:t>
            </a:r>
            <a:endParaRPr sz="1800">
              <a:latin typeface="Calibri"/>
              <a:cs typeface="Calibri"/>
            </a:endParaRPr>
          </a:p>
          <a:p>
            <a:pPr marL="467995" lvl="1" indent="-180975">
              <a:lnSpc>
                <a:spcPts val="2155"/>
              </a:lnSpc>
              <a:buClr>
                <a:srgbClr val="2C7B9F"/>
              </a:buClr>
              <a:buSzPct val="83333"/>
              <a:buFont typeface="Arial MT"/>
              <a:buChar char="•"/>
              <a:tabLst>
                <a:tab pos="467995" algn="l"/>
              </a:tabLst>
            </a:pPr>
            <a:r>
              <a:rPr sz="1800" spc="-10" dirty="0">
                <a:latin typeface="Calibri"/>
                <a:cs typeface="Calibri"/>
              </a:rPr>
              <a:t>Scalability,</a:t>
            </a:r>
            <a:r>
              <a:rPr sz="1800" spc="-80" dirty="0">
                <a:latin typeface="Calibri"/>
                <a:cs typeface="Calibri"/>
              </a:rPr>
              <a:t> </a:t>
            </a:r>
            <a:r>
              <a:rPr sz="1800" dirty="0">
                <a:latin typeface="Calibri"/>
                <a:cs typeface="Calibri"/>
              </a:rPr>
              <a:t>reliability</a:t>
            </a:r>
            <a:r>
              <a:rPr sz="1800" spc="-75" dirty="0">
                <a:latin typeface="Calibri"/>
                <a:cs typeface="Calibri"/>
              </a:rPr>
              <a:t> </a:t>
            </a:r>
            <a:r>
              <a:rPr sz="1800" spc="-10" dirty="0">
                <a:latin typeface="Calibri"/>
                <a:cs typeface="Calibri"/>
              </a:rPr>
              <a:t>challenges</a:t>
            </a:r>
            <a:endParaRPr sz="1800">
              <a:latin typeface="Calibri"/>
              <a:cs typeface="Calibri"/>
            </a:endParaRPr>
          </a:p>
          <a:p>
            <a:pPr marL="195580" indent="-182880">
              <a:lnSpc>
                <a:spcPts val="2395"/>
              </a:lnSpc>
              <a:buClr>
                <a:srgbClr val="2C7B9F"/>
              </a:buClr>
              <a:buSzPct val="85000"/>
              <a:buFont typeface="Arial MT"/>
              <a:buChar char="•"/>
              <a:tabLst>
                <a:tab pos="195580" algn="l"/>
              </a:tabLst>
            </a:pPr>
            <a:r>
              <a:rPr sz="2000" dirty="0">
                <a:latin typeface="Calibri"/>
                <a:cs typeface="Calibri"/>
              </a:rPr>
              <a:t>Data</a:t>
            </a:r>
            <a:r>
              <a:rPr sz="2000" spc="-75" dirty="0">
                <a:latin typeface="Calibri"/>
                <a:cs typeface="Calibri"/>
              </a:rPr>
              <a:t> </a:t>
            </a:r>
            <a:r>
              <a:rPr sz="2000" dirty="0">
                <a:latin typeface="Calibri"/>
                <a:cs typeface="Calibri"/>
              </a:rPr>
              <a:t>processing</a:t>
            </a:r>
            <a:r>
              <a:rPr sz="2000" spc="-75" dirty="0">
                <a:latin typeface="Calibri"/>
                <a:cs typeface="Calibri"/>
              </a:rPr>
              <a:t> </a:t>
            </a:r>
            <a:r>
              <a:rPr sz="2000" spc="-10" dirty="0">
                <a:latin typeface="Calibri"/>
                <a:cs typeface="Calibri"/>
              </a:rPr>
              <a:t>services.</a:t>
            </a:r>
            <a:endParaRPr sz="2000">
              <a:latin typeface="Calibri"/>
              <a:cs typeface="Calibri"/>
            </a:endParaRPr>
          </a:p>
          <a:p>
            <a:pPr marL="467995" lvl="1" indent="-180975">
              <a:lnSpc>
                <a:spcPct val="100000"/>
              </a:lnSpc>
              <a:spcBef>
                <a:spcPts val="5"/>
              </a:spcBef>
              <a:buClr>
                <a:srgbClr val="2C7B9F"/>
              </a:buClr>
              <a:buSzPct val="83333"/>
              <a:buFont typeface="Arial MT"/>
              <a:buChar char="•"/>
              <a:tabLst>
                <a:tab pos="467995" algn="l"/>
              </a:tabLst>
            </a:pPr>
            <a:r>
              <a:rPr sz="1800" dirty="0">
                <a:latin typeface="Calibri"/>
                <a:cs typeface="Calibri"/>
              </a:rPr>
              <a:t>Huge</a:t>
            </a:r>
            <a:r>
              <a:rPr sz="1800" spc="-35" dirty="0">
                <a:latin typeface="Calibri"/>
                <a:cs typeface="Calibri"/>
              </a:rPr>
              <a:t> </a:t>
            </a:r>
            <a:r>
              <a:rPr sz="1800" dirty="0">
                <a:latin typeface="Calibri"/>
                <a:cs typeface="Calibri"/>
              </a:rPr>
              <a:t>amounts</a:t>
            </a:r>
            <a:r>
              <a:rPr sz="1800" spc="-5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data</a:t>
            </a:r>
            <a:r>
              <a:rPr sz="1800" spc="-50" dirty="0">
                <a:latin typeface="Calibri"/>
                <a:cs typeface="Calibri"/>
              </a:rPr>
              <a:t> </a:t>
            </a:r>
            <a:r>
              <a:rPr sz="1800" dirty="0">
                <a:latin typeface="Calibri"/>
                <a:cs typeface="Calibri"/>
              </a:rPr>
              <a:t>//</a:t>
            </a:r>
            <a:r>
              <a:rPr sz="1800" spc="-30" dirty="0">
                <a:latin typeface="Calibri"/>
                <a:cs typeface="Calibri"/>
              </a:rPr>
              <a:t> </a:t>
            </a:r>
            <a:r>
              <a:rPr sz="1800" dirty="0">
                <a:latin typeface="Calibri"/>
                <a:cs typeface="Calibri"/>
              </a:rPr>
              <a:t>millions</a:t>
            </a:r>
            <a:r>
              <a:rPr sz="1800" spc="-30" dirty="0">
                <a:latin typeface="Calibri"/>
                <a:cs typeface="Calibri"/>
              </a:rPr>
              <a:t> </a:t>
            </a:r>
            <a:r>
              <a:rPr sz="1800" dirty="0">
                <a:latin typeface="Calibri"/>
                <a:cs typeface="Calibri"/>
              </a:rPr>
              <a:t>of</a:t>
            </a:r>
            <a:r>
              <a:rPr sz="1800" spc="-35" dirty="0">
                <a:latin typeface="Calibri"/>
                <a:cs typeface="Calibri"/>
              </a:rPr>
              <a:t> </a:t>
            </a:r>
            <a:r>
              <a:rPr sz="1800" spc="-10" dirty="0">
                <a:latin typeface="Calibri"/>
                <a:cs typeface="Calibri"/>
              </a:rPr>
              <a:t>devices</a:t>
            </a:r>
            <a:endParaRPr sz="1800">
              <a:latin typeface="Calibri"/>
              <a:cs typeface="Calibri"/>
            </a:endParaRPr>
          </a:p>
          <a:p>
            <a:pPr marL="467995" lvl="1" indent="-180975">
              <a:lnSpc>
                <a:spcPct val="100000"/>
              </a:lnSpc>
              <a:buClr>
                <a:srgbClr val="2C7B9F"/>
              </a:buClr>
              <a:buSzPct val="83333"/>
              <a:buFont typeface="Arial MT"/>
              <a:buChar char="•"/>
              <a:tabLst>
                <a:tab pos="467995" algn="l"/>
              </a:tabLst>
            </a:pPr>
            <a:r>
              <a:rPr sz="1800" spc="-10" dirty="0">
                <a:latin typeface="Calibri"/>
                <a:cs typeface="Calibri"/>
              </a:rPr>
              <a:t>Parallel</a:t>
            </a:r>
            <a:r>
              <a:rPr sz="1800" spc="-40" dirty="0">
                <a:latin typeface="Calibri"/>
                <a:cs typeface="Calibri"/>
              </a:rPr>
              <a:t> </a:t>
            </a:r>
            <a:r>
              <a:rPr sz="1800" dirty="0">
                <a:latin typeface="Calibri"/>
                <a:cs typeface="Calibri"/>
              </a:rPr>
              <a:t>computing</a:t>
            </a:r>
            <a:r>
              <a:rPr sz="1800" spc="-30" dirty="0">
                <a:latin typeface="Calibri"/>
                <a:cs typeface="Calibri"/>
              </a:rPr>
              <a:t> </a:t>
            </a:r>
            <a:r>
              <a:rPr sz="1800" spc="-10" dirty="0">
                <a:latin typeface="Calibri"/>
                <a:cs typeface="Calibri"/>
              </a:rPr>
              <a:t>languages</a:t>
            </a:r>
            <a:endParaRPr sz="1800">
              <a:latin typeface="Calibri"/>
              <a:cs typeface="Calibri"/>
            </a:endParaRPr>
          </a:p>
          <a:p>
            <a:pPr marL="467995" lvl="1" indent="-180975">
              <a:lnSpc>
                <a:spcPct val="100000"/>
              </a:lnSpc>
              <a:spcBef>
                <a:spcPts val="5"/>
              </a:spcBef>
              <a:buClr>
                <a:srgbClr val="2C7B9F"/>
              </a:buClr>
              <a:buSzPct val="83333"/>
              <a:buFont typeface="Arial MT"/>
              <a:buChar char="•"/>
              <a:tabLst>
                <a:tab pos="467995" algn="l"/>
              </a:tabLst>
            </a:pPr>
            <a:r>
              <a:rPr sz="1800" spc="-10" dirty="0">
                <a:latin typeface="Calibri"/>
                <a:cs typeface="Calibri"/>
              </a:rPr>
              <a:t>Dataflow</a:t>
            </a:r>
            <a:r>
              <a:rPr sz="1800" spc="-60" dirty="0">
                <a:latin typeface="Calibri"/>
                <a:cs typeface="Calibri"/>
              </a:rPr>
              <a:t> </a:t>
            </a:r>
            <a:r>
              <a:rPr sz="1800" spc="-10" dirty="0">
                <a:latin typeface="Calibri"/>
                <a:cs typeface="Calibri"/>
              </a:rPr>
              <a:t>languages</a:t>
            </a:r>
            <a:endParaRPr sz="1800">
              <a:latin typeface="Calibri"/>
              <a:cs typeface="Calibri"/>
            </a:endParaRPr>
          </a:p>
          <a:p>
            <a:pPr marL="467995" lvl="1" indent="-180975">
              <a:lnSpc>
                <a:spcPts val="2155"/>
              </a:lnSpc>
              <a:buClr>
                <a:srgbClr val="2C7B9F"/>
              </a:buClr>
              <a:buSzPct val="83333"/>
              <a:buFont typeface="Arial MT"/>
              <a:buChar char="•"/>
              <a:tabLst>
                <a:tab pos="467995" algn="l"/>
              </a:tabLst>
            </a:pPr>
            <a:r>
              <a:rPr sz="1800" spc="-10" dirty="0">
                <a:latin typeface="Calibri"/>
                <a:cs typeface="Calibri"/>
              </a:rPr>
              <a:t>Scalability,</a:t>
            </a:r>
            <a:r>
              <a:rPr sz="1800" spc="-75" dirty="0">
                <a:latin typeface="Calibri"/>
                <a:cs typeface="Calibri"/>
              </a:rPr>
              <a:t> </a:t>
            </a:r>
            <a:r>
              <a:rPr sz="1800" spc="-10" dirty="0">
                <a:latin typeface="Calibri"/>
                <a:cs typeface="Calibri"/>
              </a:rPr>
              <a:t>reliability</a:t>
            </a:r>
            <a:endParaRPr sz="1800">
              <a:latin typeface="Calibri"/>
              <a:cs typeface="Calibri"/>
            </a:endParaRPr>
          </a:p>
          <a:p>
            <a:pPr marL="195580" indent="-182880">
              <a:lnSpc>
                <a:spcPts val="2395"/>
              </a:lnSpc>
              <a:buClr>
                <a:srgbClr val="2C7B9F"/>
              </a:buClr>
              <a:buSzPct val="85000"/>
              <a:buFont typeface="Arial MT"/>
              <a:buChar char="•"/>
              <a:tabLst>
                <a:tab pos="195580" algn="l"/>
              </a:tabLst>
            </a:pPr>
            <a:r>
              <a:rPr sz="2000" dirty="0">
                <a:latin typeface="Calibri"/>
                <a:cs typeface="Calibri"/>
              </a:rPr>
              <a:t>Data</a:t>
            </a:r>
            <a:r>
              <a:rPr sz="2000" spc="-55" dirty="0">
                <a:latin typeface="Calibri"/>
                <a:cs typeface="Calibri"/>
              </a:rPr>
              <a:t> </a:t>
            </a:r>
            <a:r>
              <a:rPr sz="2000" spc="-10" dirty="0">
                <a:latin typeface="Calibri"/>
                <a:cs typeface="Calibri"/>
              </a:rPr>
              <a:t>storage</a:t>
            </a:r>
            <a:endParaRPr sz="2000">
              <a:latin typeface="Calibri"/>
              <a:cs typeface="Calibri"/>
            </a:endParaRPr>
          </a:p>
          <a:p>
            <a:pPr marL="467995" lvl="1" indent="-180975">
              <a:lnSpc>
                <a:spcPct val="100000"/>
              </a:lnSpc>
              <a:spcBef>
                <a:spcPts val="5"/>
              </a:spcBef>
              <a:buClr>
                <a:srgbClr val="2C7B9F"/>
              </a:buClr>
              <a:buSzPct val="83333"/>
              <a:buFont typeface="Arial MT"/>
              <a:buChar char="•"/>
              <a:tabLst>
                <a:tab pos="467995" algn="l"/>
              </a:tabLst>
            </a:pPr>
            <a:r>
              <a:rPr sz="1800" dirty="0">
                <a:latin typeface="Calibri"/>
                <a:cs typeface="Calibri"/>
              </a:rPr>
              <a:t>Scalability</a:t>
            </a:r>
            <a:r>
              <a:rPr sz="1800" spc="-15" dirty="0">
                <a:latin typeface="Calibri"/>
                <a:cs typeface="Calibri"/>
              </a:rPr>
              <a:t> </a:t>
            </a:r>
            <a:r>
              <a:rPr sz="1800" dirty="0">
                <a:latin typeface="Calibri"/>
                <a:cs typeface="Calibri"/>
              </a:rPr>
              <a:t>-&gt;</a:t>
            </a:r>
            <a:r>
              <a:rPr sz="1800" spc="-25" dirty="0">
                <a:latin typeface="Calibri"/>
                <a:cs typeface="Calibri"/>
              </a:rPr>
              <a:t> </a:t>
            </a:r>
            <a:r>
              <a:rPr sz="1800" spc="-10" dirty="0">
                <a:latin typeface="Calibri"/>
                <a:cs typeface="Calibri"/>
              </a:rPr>
              <a:t>Partitioning</a:t>
            </a:r>
            <a:endParaRPr sz="1800">
              <a:latin typeface="Calibri"/>
              <a:cs typeface="Calibri"/>
            </a:endParaRPr>
          </a:p>
          <a:p>
            <a:pPr marL="467995" lvl="1" indent="-180975">
              <a:lnSpc>
                <a:spcPct val="100000"/>
              </a:lnSpc>
              <a:spcBef>
                <a:spcPts val="5"/>
              </a:spcBef>
              <a:buClr>
                <a:srgbClr val="2C7B9F"/>
              </a:buClr>
              <a:buSzPct val="83333"/>
              <a:buFont typeface="Arial MT"/>
              <a:buChar char="•"/>
              <a:tabLst>
                <a:tab pos="467995" algn="l"/>
              </a:tabLst>
            </a:pPr>
            <a:r>
              <a:rPr sz="1800" dirty="0">
                <a:latin typeface="Calibri"/>
                <a:cs typeface="Calibri"/>
              </a:rPr>
              <a:t>Data</a:t>
            </a:r>
            <a:r>
              <a:rPr sz="1800" spc="-30" dirty="0">
                <a:latin typeface="Calibri"/>
                <a:cs typeface="Calibri"/>
              </a:rPr>
              <a:t> </a:t>
            </a:r>
            <a:r>
              <a:rPr sz="1800" spc="-20" dirty="0">
                <a:latin typeface="Calibri"/>
                <a:cs typeface="Calibri"/>
              </a:rPr>
              <a:t>interoperability,</a:t>
            </a:r>
            <a:r>
              <a:rPr sz="1800" spc="-25" dirty="0">
                <a:latin typeface="Calibri"/>
                <a:cs typeface="Calibri"/>
              </a:rPr>
              <a:t> </a:t>
            </a:r>
            <a:r>
              <a:rPr sz="1800" spc="-10" dirty="0">
                <a:latin typeface="Calibri"/>
                <a:cs typeface="Calibri"/>
              </a:rPr>
              <a:t>Merging</a:t>
            </a:r>
            <a:endParaRPr sz="1800">
              <a:latin typeface="Calibri"/>
              <a:cs typeface="Calibri"/>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“Cloud</a:t>
            </a:r>
            <a:r>
              <a:rPr spc="-130" dirty="0"/>
              <a:t> </a:t>
            </a:r>
            <a:r>
              <a:rPr spc="-114" dirty="0"/>
              <a:t>applications”</a:t>
            </a:r>
            <a:r>
              <a:rPr spc="-155" dirty="0"/>
              <a:t> </a:t>
            </a:r>
            <a:r>
              <a:rPr spc="-70" dirty="0"/>
              <a:t>components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63</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61338"/>
            <a:ext cx="8674735" cy="3644900"/>
          </a:xfrm>
          <a:prstGeom prst="rect">
            <a:avLst/>
          </a:prstGeom>
        </p:spPr>
        <p:txBody>
          <a:bodyPr vert="horz" wrap="square" lIns="0" tIns="13335" rIns="0" bIns="0" rtlCol="0">
            <a:spAutoFit/>
          </a:bodyPr>
          <a:lstStyle/>
          <a:p>
            <a:pPr marL="355600" marR="5080" indent="-343535">
              <a:lnSpc>
                <a:spcPct val="100000"/>
              </a:lnSpc>
              <a:spcBef>
                <a:spcPts val="105"/>
              </a:spcBef>
              <a:buClr>
                <a:srgbClr val="2C7B9F"/>
              </a:buClr>
              <a:buSzPct val="84375"/>
              <a:buFont typeface="Arial MT"/>
              <a:buChar char="•"/>
              <a:tabLst>
                <a:tab pos="355600" algn="l"/>
                <a:tab pos="7106284" algn="l"/>
              </a:tabLst>
            </a:pPr>
            <a:r>
              <a:rPr sz="3200" dirty="0">
                <a:latin typeface="Arial MT"/>
                <a:cs typeface="Arial MT"/>
              </a:rPr>
              <a:t>Mobile</a:t>
            </a:r>
            <a:r>
              <a:rPr sz="3200" spc="-70" dirty="0">
                <a:latin typeface="Arial MT"/>
                <a:cs typeface="Arial MT"/>
              </a:rPr>
              <a:t> </a:t>
            </a:r>
            <a:r>
              <a:rPr sz="3200" dirty="0">
                <a:latin typeface="Arial MT"/>
                <a:cs typeface="Arial MT"/>
              </a:rPr>
              <a:t>Services</a:t>
            </a:r>
            <a:r>
              <a:rPr sz="3200" spc="-65" dirty="0">
                <a:latin typeface="Arial MT"/>
                <a:cs typeface="Arial MT"/>
              </a:rPr>
              <a:t> </a:t>
            </a:r>
            <a:r>
              <a:rPr sz="3200" dirty="0">
                <a:latin typeface="Arial MT"/>
                <a:cs typeface="Arial MT"/>
              </a:rPr>
              <a:t>which</a:t>
            </a:r>
            <a:r>
              <a:rPr sz="3200" spc="-45" dirty="0">
                <a:latin typeface="Arial MT"/>
                <a:cs typeface="Arial MT"/>
              </a:rPr>
              <a:t> </a:t>
            </a:r>
            <a:r>
              <a:rPr sz="3200" dirty="0">
                <a:latin typeface="Arial MT"/>
                <a:cs typeface="Arial MT"/>
              </a:rPr>
              <a:t>rely</a:t>
            </a:r>
            <a:r>
              <a:rPr sz="3200" spc="-40" dirty="0">
                <a:latin typeface="Arial MT"/>
                <a:cs typeface="Arial MT"/>
              </a:rPr>
              <a:t> </a:t>
            </a:r>
            <a:r>
              <a:rPr sz="3200" dirty="0">
                <a:latin typeface="Arial MT"/>
                <a:cs typeface="Arial MT"/>
              </a:rPr>
              <a:t>on</a:t>
            </a:r>
            <a:r>
              <a:rPr sz="3200" spc="-60" dirty="0">
                <a:latin typeface="Arial MT"/>
                <a:cs typeface="Arial MT"/>
              </a:rPr>
              <a:t> </a:t>
            </a:r>
            <a:r>
              <a:rPr sz="3200" dirty="0">
                <a:latin typeface="Arial MT"/>
                <a:cs typeface="Arial MT"/>
              </a:rPr>
              <a:t>large</a:t>
            </a:r>
            <a:r>
              <a:rPr sz="3200" spc="-114" dirty="0">
                <a:latin typeface="Arial MT"/>
                <a:cs typeface="Arial MT"/>
              </a:rPr>
              <a:t> </a:t>
            </a:r>
            <a:r>
              <a:rPr sz="3200" spc="-20" dirty="0">
                <a:latin typeface="Arial MT"/>
                <a:cs typeface="Arial MT"/>
              </a:rPr>
              <a:t>data </a:t>
            </a:r>
            <a:r>
              <a:rPr sz="3200" dirty="0">
                <a:latin typeface="Arial MT"/>
                <a:cs typeface="Arial MT"/>
              </a:rPr>
              <a:t>centres</a:t>
            </a:r>
            <a:r>
              <a:rPr sz="3200" spc="-65" dirty="0">
                <a:latin typeface="Arial MT"/>
                <a:cs typeface="Arial MT"/>
              </a:rPr>
              <a:t> </a:t>
            </a:r>
            <a:r>
              <a:rPr sz="3200" dirty="0">
                <a:latin typeface="Arial MT"/>
                <a:cs typeface="Arial MT"/>
              </a:rPr>
              <a:t>which</a:t>
            </a:r>
            <a:r>
              <a:rPr sz="3200" spc="-45" dirty="0">
                <a:latin typeface="Arial MT"/>
                <a:cs typeface="Arial MT"/>
              </a:rPr>
              <a:t> </a:t>
            </a:r>
            <a:r>
              <a:rPr sz="3200" dirty="0">
                <a:latin typeface="Arial MT"/>
                <a:cs typeface="Arial MT"/>
              </a:rPr>
              <a:t>are</a:t>
            </a:r>
            <a:r>
              <a:rPr sz="3200" spc="-45" dirty="0">
                <a:latin typeface="Arial MT"/>
                <a:cs typeface="Arial MT"/>
              </a:rPr>
              <a:t> </a:t>
            </a:r>
            <a:r>
              <a:rPr sz="3200" dirty="0">
                <a:latin typeface="Arial MT"/>
                <a:cs typeface="Arial MT"/>
              </a:rPr>
              <a:t>most</a:t>
            </a:r>
            <a:r>
              <a:rPr sz="3200" spc="-60" dirty="0">
                <a:latin typeface="Arial MT"/>
                <a:cs typeface="Arial MT"/>
              </a:rPr>
              <a:t> </a:t>
            </a:r>
            <a:r>
              <a:rPr sz="3200" spc="-10" dirty="0">
                <a:latin typeface="Arial MT"/>
                <a:cs typeface="Arial MT"/>
              </a:rPr>
              <a:t>conveniently</a:t>
            </a:r>
            <a:r>
              <a:rPr sz="3200" dirty="0">
                <a:latin typeface="Arial MT"/>
                <a:cs typeface="Arial MT"/>
              </a:rPr>
              <a:t>	stored</a:t>
            </a:r>
            <a:r>
              <a:rPr sz="3200" spc="-65" dirty="0">
                <a:latin typeface="Arial MT"/>
                <a:cs typeface="Arial MT"/>
              </a:rPr>
              <a:t> </a:t>
            </a:r>
            <a:r>
              <a:rPr sz="3200" spc="-25" dirty="0">
                <a:latin typeface="Arial MT"/>
                <a:cs typeface="Arial MT"/>
              </a:rPr>
              <a:t>in </a:t>
            </a:r>
            <a:r>
              <a:rPr sz="3200" dirty="0">
                <a:latin typeface="Arial MT"/>
                <a:cs typeface="Arial MT"/>
              </a:rPr>
              <a:t>large</a:t>
            </a:r>
            <a:r>
              <a:rPr sz="3200" spc="-80" dirty="0">
                <a:latin typeface="Arial MT"/>
                <a:cs typeface="Arial MT"/>
              </a:rPr>
              <a:t> </a:t>
            </a:r>
            <a:r>
              <a:rPr sz="3200" dirty="0">
                <a:latin typeface="Arial MT"/>
                <a:cs typeface="Arial MT"/>
              </a:rPr>
              <a:t>data</a:t>
            </a:r>
            <a:r>
              <a:rPr sz="3200" spc="-135" dirty="0">
                <a:latin typeface="Arial MT"/>
                <a:cs typeface="Arial MT"/>
              </a:rPr>
              <a:t> </a:t>
            </a:r>
            <a:r>
              <a:rPr sz="3200" spc="-10" dirty="0">
                <a:latin typeface="Arial MT"/>
                <a:cs typeface="Arial MT"/>
              </a:rPr>
              <a:t>centres</a:t>
            </a:r>
            <a:endParaRPr sz="3200">
              <a:latin typeface="Arial MT"/>
              <a:cs typeface="Arial MT"/>
            </a:endParaRPr>
          </a:p>
          <a:p>
            <a:pPr marL="354330" marR="1759585" indent="-342265" algn="just">
              <a:lnSpc>
                <a:spcPct val="100000"/>
              </a:lnSpc>
              <a:spcBef>
                <a:spcPts val="805"/>
              </a:spcBef>
              <a:buClr>
                <a:srgbClr val="2C7B9F"/>
              </a:buClr>
              <a:buSzPct val="84375"/>
              <a:buChar char="•"/>
              <a:tabLst>
                <a:tab pos="355600" algn="l"/>
              </a:tabLst>
            </a:pPr>
            <a:r>
              <a:rPr sz="3200" spc="-45" dirty="0">
                <a:latin typeface="Arial MT"/>
                <a:cs typeface="Arial MT"/>
              </a:rPr>
              <a:t>Additionally,</a:t>
            </a:r>
            <a:r>
              <a:rPr sz="3200" spc="-85" dirty="0">
                <a:latin typeface="Arial MT"/>
                <a:cs typeface="Arial MT"/>
              </a:rPr>
              <a:t> </a:t>
            </a:r>
            <a:r>
              <a:rPr sz="3200" dirty="0">
                <a:latin typeface="Arial MT"/>
                <a:cs typeface="Arial MT"/>
              </a:rPr>
              <a:t>it</a:t>
            </a:r>
            <a:r>
              <a:rPr sz="3200" spc="-25" dirty="0">
                <a:latin typeface="Arial MT"/>
                <a:cs typeface="Arial MT"/>
              </a:rPr>
              <a:t> </a:t>
            </a:r>
            <a:r>
              <a:rPr sz="3200" dirty="0">
                <a:latin typeface="Arial MT"/>
                <a:cs typeface="Arial MT"/>
              </a:rPr>
              <a:t>is</a:t>
            </a:r>
            <a:r>
              <a:rPr sz="3200" spc="-35" dirty="0">
                <a:latin typeface="Arial MT"/>
                <a:cs typeface="Arial MT"/>
              </a:rPr>
              <a:t> </a:t>
            </a:r>
            <a:r>
              <a:rPr sz="3200" dirty="0">
                <a:latin typeface="Arial MT"/>
                <a:cs typeface="Arial MT"/>
              </a:rPr>
              <a:t>desirable</a:t>
            </a:r>
            <a:r>
              <a:rPr sz="3200" spc="-85" dirty="0">
                <a:latin typeface="Arial MT"/>
                <a:cs typeface="Arial MT"/>
              </a:rPr>
              <a:t> </a:t>
            </a:r>
            <a:r>
              <a:rPr sz="3200" dirty="0">
                <a:latin typeface="Arial MT"/>
                <a:cs typeface="Arial MT"/>
              </a:rPr>
              <a:t>to</a:t>
            </a:r>
            <a:r>
              <a:rPr sz="3200" spc="-35" dirty="0">
                <a:latin typeface="Arial MT"/>
                <a:cs typeface="Arial MT"/>
              </a:rPr>
              <a:t> </a:t>
            </a:r>
            <a:r>
              <a:rPr sz="3200" dirty="0">
                <a:latin typeface="Arial MT"/>
                <a:cs typeface="Arial MT"/>
              </a:rPr>
              <a:t>limit</a:t>
            </a:r>
            <a:r>
              <a:rPr sz="3200" spc="-40" dirty="0">
                <a:latin typeface="Arial MT"/>
                <a:cs typeface="Arial MT"/>
              </a:rPr>
              <a:t> </a:t>
            </a:r>
            <a:r>
              <a:rPr sz="3200" spc="-25" dirty="0">
                <a:latin typeface="Arial MT"/>
                <a:cs typeface="Arial MT"/>
              </a:rPr>
              <a:t>the 	</a:t>
            </a:r>
            <a:r>
              <a:rPr sz="3200" dirty="0">
                <a:latin typeface="Arial MT"/>
                <a:cs typeface="Arial MT"/>
              </a:rPr>
              <a:t>computation</a:t>
            </a:r>
            <a:r>
              <a:rPr sz="3200" spc="-95" dirty="0">
                <a:latin typeface="Arial MT"/>
                <a:cs typeface="Arial MT"/>
              </a:rPr>
              <a:t> </a:t>
            </a:r>
            <a:r>
              <a:rPr sz="3200" dirty="0">
                <a:latin typeface="Arial MT"/>
                <a:cs typeface="Arial MT"/>
              </a:rPr>
              <a:t>carried</a:t>
            </a:r>
            <a:r>
              <a:rPr sz="3200" spc="-60" dirty="0">
                <a:latin typeface="Arial MT"/>
                <a:cs typeface="Arial MT"/>
              </a:rPr>
              <a:t> </a:t>
            </a:r>
            <a:r>
              <a:rPr sz="3200" dirty="0">
                <a:latin typeface="Arial MT"/>
                <a:cs typeface="Arial MT"/>
              </a:rPr>
              <a:t>out</a:t>
            </a:r>
            <a:r>
              <a:rPr sz="3200" spc="-45" dirty="0">
                <a:latin typeface="Arial MT"/>
                <a:cs typeface="Arial MT"/>
              </a:rPr>
              <a:t> </a:t>
            </a:r>
            <a:r>
              <a:rPr sz="3200" dirty="0">
                <a:latin typeface="Arial MT"/>
                <a:cs typeface="Arial MT"/>
              </a:rPr>
              <a:t>on</a:t>
            </a:r>
            <a:r>
              <a:rPr sz="3200" spc="-65" dirty="0">
                <a:latin typeface="Arial MT"/>
                <a:cs typeface="Arial MT"/>
              </a:rPr>
              <a:t> </a:t>
            </a:r>
            <a:r>
              <a:rPr sz="3200" dirty="0">
                <a:latin typeface="Arial MT"/>
                <a:cs typeface="Arial MT"/>
              </a:rPr>
              <a:t>a</a:t>
            </a:r>
            <a:r>
              <a:rPr sz="3200" spc="-35" dirty="0">
                <a:latin typeface="Arial MT"/>
                <a:cs typeface="Arial MT"/>
              </a:rPr>
              <a:t> </a:t>
            </a:r>
            <a:r>
              <a:rPr sz="3200" spc="-10" dirty="0">
                <a:latin typeface="Arial MT"/>
                <a:cs typeface="Arial MT"/>
              </a:rPr>
              <a:t>mobile 	</a:t>
            </a:r>
            <a:r>
              <a:rPr sz="3200" dirty="0">
                <a:latin typeface="Arial MT"/>
                <a:cs typeface="Arial MT"/>
              </a:rPr>
              <a:t>device</a:t>
            </a:r>
            <a:r>
              <a:rPr sz="3200" spc="-95" dirty="0">
                <a:latin typeface="Arial MT"/>
                <a:cs typeface="Arial MT"/>
              </a:rPr>
              <a:t> </a:t>
            </a:r>
            <a:r>
              <a:rPr sz="3200" dirty="0">
                <a:latin typeface="Arial MT"/>
                <a:cs typeface="Arial MT"/>
              </a:rPr>
              <a:t>to</a:t>
            </a:r>
            <a:r>
              <a:rPr sz="3200" spc="-50" dirty="0">
                <a:latin typeface="Arial MT"/>
                <a:cs typeface="Arial MT"/>
              </a:rPr>
              <a:t> </a:t>
            </a:r>
            <a:r>
              <a:rPr sz="3200" dirty="0">
                <a:latin typeface="Arial MT"/>
                <a:cs typeface="Arial MT"/>
              </a:rPr>
              <a:t>maximise</a:t>
            </a:r>
            <a:r>
              <a:rPr sz="3200" spc="-55" dirty="0">
                <a:latin typeface="Arial MT"/>
                <a:cs typeface="Arial MT"/>
              </a:rPr>
              <a:t> </a:t>
            </a:r>
            <a:r>
              <a:rPr sz="3200" dirty="0">
                <a:latin typeface="Arial MT"/>
                <a:cs typeface="Arial MT"/>
              </a:rPr>
              <a:t>battery</a:t>
            </a:r>
            <a:r>
              <a:rPr sz="3200" spc="-150" dirty="0">
                <a:latin typeface="Arial MT"/>
                <a:cs typeface="Arial MT"/>
              </a:rPr>
              <a:t> </a:t>
            </a:r>
            <a:r>
              <a:rPr sz="3200" spc="-20" dirty="0">
                <a:latin typeface="Arial MT"/>
                <a:cs typeface="Arial MT"/>
              </a:rPr>
              <a:t>life</a:t>
            </a:r>
            <a:endParaRPr sz="3200">
              <a:latin typeface="Arial MT"/>
              <a:cs typeface="Arial MT"/>
            </a:endParaRPr>
          </a:p>
          <a:p>
            <a:pPr marL="354965" indent="-342265" algn="just">
              <a:lnSpc>
                <a:spcPct val="100000"/>
              </a:lnSpc>
              <a:spcBef>
                <a:spcPts val="805"/>
              </a:spcBef>
              <a:buClr>
                <a:srgbClr val="2C7B9F"/>
              </a:buClr>
              <a:buSzPct val="84375"/>
              <a:buChar char="•"/>
              <a:tabLst>
                <a:tab pos="354965" algn="l"/>
              </a:tabLst>
            </a:pPr>
            <a:r>
              <a:rPr sz="3200" dirty="0">
                <a:latin typeface="Arial MT"/>
                <a:cs typeface="Arial MT"/>
              </a:rPr>
              <a:t>Google</a:t>
            </a:r>
            <a:r>
              <a:rPr sz="3200" spc="-90" dirty="0">
                <a:latin typeface="Arial MT"/>
                <a:cs typeface="Arial MT"/>
              </a:rPr>
              <a:t> </a:t>
            </a:r>
            <a:r>
              <a:rPr sz="3200" dirty="0">
                <a:latin typeface="Arial MT"/>
                <a:cs typeface="Arial MT"/>
              </a:rPr>
              <a:t>Maps</a:t>
            </a:r>
            <a:r>
              <a:rPr sz="3200" spc="-55" dirty="0">
                <a:latin typeface="Arial MT"/>
                <a:cs typeface="Arial MT"/>
              </a:rPr>
              <a:t> </a:t>
            </a:r>
            <a:r>
              <a:rPr sz="3200" dirty="0">
                <a:latin typeface="Arial MT"/>
                <a:cs typeface="Arial MT"/>
              </a:rPr>
              <a:t>is</a:t>
            </a:r>
            <a:r>
              <a:rPr sz="3200" spc="-15" dirty="0">
                <a:latin typeface="Arial MT"/>
                <a:cs typeface="Arial MT"/>
              </a:rPr>
              <a:t> </a:t>
            </a:r>
            <a:r>
              <a:rPr sz="3200" dirty="0">
                <a:latin typeface="Arial MT"/>
                <a:cs typeface="Arial MT"/>
              </a:rPr>
              <a:t>a</a:t>
            </a:r>
            <a:r>
              <a:rPr sz="3200" spc="-30" dirty="0">
                <a:latin typeface="Arial MT"/>
                <a:cs typeface="Arial MT"/>
              </a:rPr>
              <a:t> </a:t>
            </a:r>
            <a:r>
              <a:rPr sz="3200" dirty="0">
                <a:latin typeface="Arial MT"/>
                <a:cs typeface="Arial MT"/>
              </a:rPr>
              <a:t>good</a:t>
            </a:r>
            <a:r>
              <a:rPr sz="3200" spc="-70" dirty="0">
                <a:latin typeface="Arial MT"/>
                <a:cs typeface="Arial MT"/>
              </a:rPr>
              <a:t> </a:t>
            </a:r>
            <a:r>
              <a:rPr sz="3200" dirty="0">
                <a:latin typeface="Arial MT"/>
                <a:cs typeface="Arial MT"/>
              </a:rPr>
              <a:t>example</a:t>
            </a:r>
            <a:r>
              <a:rPr sz="3200" spc="-75" dirty="0">
                <a:latin typeface="Arial MT"/>
                <a:cs typeface="Arial MT"/>
              </a:rPr>
              <a:t> </a:t>
            </a:r>
            <a:r>
              <a:rPr sz="3200" dirty="0">
                <a:latin typeface="Arial MT"/>
                <a:cs typeface="Arial MT"/>
              </a:rPr>
              <a:t>of</a:t>
            </a:r>
            <a:r>
              <a:rPr sz="3200" spc="-95" dirty="0">
                <a:latin typeface="Arial MT"/>
                <a:cs typeface="Arial MT"/>
              </a:rPr>
              <a:t> </a:t>
            </a:r>
            <a:r>
              <a:rPr sz="3200" spc="-20" dirty="0">
                <a:latin typeface="Arial MT"/>
                <a:cs typeface="Arial MT"/>
              </a:rPr>
              <a:t>this</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0" dirty="0"/>
              <a:t>Mobile</a:t>
            </a:r>
            <a:r>
              <a:rPr spc="-170" dirty="0"/>
              <a:t> </a:t>
            </a:r>
            <a:r>
              <a:rPr spc="-120" dirty="0"/>
              <a:t>Interactive</a:t>
            </a:r>
            <a:r>
              <a:rPr spc="-390" dirty="0"/>
              <a:t> </a:t>
            </a:r>
            <a:r>
              <a:rPr spc="-85" dirty="0"/>
              <a:t>Applications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12570"/>
            <a:ext cx="8743315" cy="4246880"/>
          </a:xfrm>
          <a:prstGeom prst="rect">
            <a:avLst/>
          </a:prstGeom>
        </p:spPr>
        <p:txBody>
          <a:bodyPr vert="horz" wrap="square" lIns="0" tIns="67945" rIns="0" bIns="0" rtlCol="0">
            <a:spAutoFit/>
          </a:bodyPr>
          <a:lstStyle/>
          <a:p>
            <a:pPr marL="354330" marR="5080" indent="-342265" algn="just">
              <a:lnSpc>
                <a:spcPts val="3460"/>
              </a:lnSpc>
              <a:spcBef>
                <a:spcPts val="535"/>
              </a:spcBef>
              <a:buClr>
                <a:srgbClr val="2C7B9F"/>
              </a:buClr>
              <a:buSzPct val="84375"/>
              <a:buFont typeface="Arial MT"/>
              <a:buChar char="•"/>
              <a:tabLst>
                <a:tab pos="355600" algn="l"/>
              </a:tabLst>
            </a:pPr>
            <a:r>
              <a:rPr sz="3200" dirty="0">
                <a:latin typeface="Arial MT"/>
                <a:cs typeface="Arial MT"/>
              </a:rPr>
              <a:t>Batch</a:t>
            </a:r>
            <a:r>
              <a:rPr sz="3200" spc="434" dirty="0">
                <a:latin typeface="Arial MT"/>
                <a:cs typeface="Arial MT"/>
              </a:rPr>
              <a:t>  </a:t>
            </a:r>
            <a:r>
              <a:rPr sz="3200" dirty="0">
                <a:latin typeface="Arial MT"/>
                <a:cs typeface="Arial MT"/>
              </a:rPr>
              <a:t>processing</a:t>
            </a:r>
            <a:r>
              <a:rPr sz="3200" spc="445" dirty="0">
                <a:latin typeface="Arial MT"/>
                <a:cs typeface="Arial MT"/>
              </a:rPr>
              <a:t>  </a:t>
            </a:r>
            <a:r>
              <a:rPr sz="3200" dirty="0">
                <a:latin typeface="Arial MT"/>
                <a:cs typeface="Arial MT"/>
              </a:rPr>
              <a:t>and</a:t>
            </a:r>
            <a:r>
              <a:rPr sz="3200" spc="434" dirty="0">
                <a:latin typeface="Arial MT"/>
                <a:cs typeface="Arial MT"/>
              </a:rPr>
              <a:t>  </a:t>
            </a:r>
            <a:r>
              <a:rPr sz="3200" dirty="0">
                <a:latin typeface="Arial MT"/>
                <a:cs typeface="Arial MT"/>
              </a:rPr>
              <a:t>analytics</a:t>
            </a:r>
            <a:r>
              <a:rPr sz="3200" spc="445" dirty="0">
                <a:latin typeface="Arial MT"/>
                <a:cs typeface="Arial MT"/>
              </a:rPr>
              <a:t>  </a:t>
            </a:r>
            <a:r>
              <a:rPr sz="3200" dirty="0">
                <a:latin typeface="Arial MT"/>
                <a:cs typeface="Arial MT"/>
              </a:rPr>
              <a:t>jobs</a:t>
            </a:r>
            <a:r>
              <a:rPr sz="3200" spc="445" dirty="0">
                <a:latin typeface="Arial MT"/>
                <a:cs typeface="Arial MT"/>
              </a:rPr>
              <a:t>  </a:t>
            </a:r>
            <a:r>
              <a:rPr sz="3200" spc="-25" dirty="0">
                <a:latin typeface="Arial MT"/>
                <a:cs typeface="Arial MT"/>
              </a:rPr>
              <a:t>can 	</a:t>
            </a:r>
            <a:r>
              <a:rPr sz="3200" dirty="0">
                <a:latin typeface="Arial MT"/>
                <a:cs typeface="Arial MT"/>
              </a:rPr>
              <a:t>analyse</a:t>
            </a:r>
            <a:r>
              <a:rPr sz="3200" spc="420" dirty="0">
                <a:latin typeface="Arial MT"/>
                <a:cs typeface="Arial MT"/>
              </a:rPr>
              <a:t> </a:t>
            </a:r>
            <a:r>
              <a:rPr sz="3200" dirty="0">
                <a:latin typeface="Arial MT"/>
                <a:cs typeface="Arial MT"/>
              </a:rPr>
              <a:t>terabytes</a:t>
            </a:r>
            <a:r>
              <a:rPr sz="3200" spc="430" dirty="0">
                <a:latin typeface="Arial MT"/>
                <a:cs typeface="Arial MT"/>
              </a:rPr>
              <a:t> </a:t>
            </a:r>
            <a:r>
              <a:rPr sz="3200" dirty="0">
                <a:latin typeface="Arial MT"/>
                <a:cs typeface="Arial MT"/>
              </a:rPr>
              <a:t>of</a:t>
            </a:r>
            <a:r>
              <a:rPr sz="3200" spc="440" dirty="0">
                <a:latin typeface="Arial MT"/>
                <a:cs typeface="Arial MT"/>
              </a:rPr>
              <a:t> </a:t>
            </a:r>
            <a:r>
              <a:rPr sz="3200" dirty="0">
                <a:latin typeface="Arial MT"/>
                <a:cs typeface="Arial MT"/>
              </a:rPr>
              <a:t>data</a:t>
            </a:r>
            <a:r>
              <a:rPr sz="3200" spc="415" dirty="0">
                <a:latin typeface="Arial MT"/>
                <a:cs typeface="Arial MT"/>
              </a:rPr>
              <a:t> </a:t>
            </a:r>
            <a:r>
              <a:rPr sz="3200" dirty="0">
                <a:latin typeface="Arial MT"/>
                <a:cs typeface="Arial MT"/>
              </a:rPr>
              <a:t>and</a:t>
            </a:r>
            <a:r>
              <a:rPr sz="3200" spc="440" dirty="0">
                <a:latin typeface="Arial MT"/>
                <a:cs typeface="Arial MT"/>
              </a:rPr>
              <a:t> </a:t>
            </a:r>
            <a:r>
              <a:rPr sz="3200" dirty="0">
                <a:latin typeface="Arial MT"/>
                <a:cs typeface="Arial MT"/>
              </a:rPr>
              <a:t>take</a:t>
            </a:r>
            <a:r>
              <a:rPr sz="3200" spc="430" dirty="0">
                <a:latin typeface="Arial MT"/>
                <a:cs typeface="Arial MT"/>
              </a:rPr>
              <a:t> </a:t>
            </a:r>
            <a:r>
              <a:rPr sz="3200" dirty="0">
                <a:latin typeface="Arial MT"/>
                <a:cs typeface="Arial MT"/>
              </a:rPr>
              <a:t>hours</a:t>
            </a:r>
            <a:r>
              <a:rPr sz="3200" spc="445" dirty="0">
                <a:latin typeface="Arial MT"/>
                <a:cs typeface="Arial MT"/>
              </a:rPr>
              <a:t>  </a:t>
            </a:r>
            <a:r>
              <a:rPr sz="3200" spc="-25" dirty="0">
                <a:latin typeface="Arial MT"/>
                <a:cs typeface="Arial MT"/>
              </a:rPr>
              <a:t>to 	</a:t>
            </a:r>
            <a:r>
              <a:rPr sz="3200" spc="-10" dirty="0">
                <a:latin typeface="Arial MT"/>
                <a:cs typeface="Arial MT"/>
              </a:rPr>
              <a:t>finish</a:t>
            </a:r>
            <a:endParaRPr sz="3200">
              <a:latin typeface="Arial MT"/>
              <a:cs typeface="Arial MT"/>
            </a:endParaRPr>
          </a:p>
          <a:p>
            <a:pPr marL="354330" marR="96520" indent="-342265" algn="just">
              <a:lnSpc>
                <a:spcPts val="3460"/>
              </a:lnSpc>
              <a:spcBef>
                <a:spcPts val="795"/>
              </a:spcBef>
              <a:buClr>
                <a:srgbClr val="2C7B9F"/>
              </a:buClr>
              <a:buSzPct val="84375"/>
              <a:buChar char="•"/>
              <a:tabLst>
                <a:tab pos="355600" algn="l"/>
              </a:tabLst>
            </a:pPr>
            <a:r>
              <a:rPr sz="3200" dirty="0">
                <a:latin typeface="Arial MT"/>
                <a:cs typeface="Arial MT"/>
              </a:rPr>
              <a:t>If</a:t>
            </a:r>
            <a:r>
              <a:rPr sz="3200" spc="190" dirty="0">
                <a:latin typeface="Arial MT"/>
                <a:cs typeface="Arial MT"/>
              </a:rPr>
              <a:t> </a:t>
            </a:r>
            <a:r>
              <a:rPr sz="3200" dirty="0">
                <a:latin typeface="Arial MT"/>
                <a:cs typeface="Arial MT"/>
              </a:rPr>
              <a:t>there</a:t>
            </a:r>
            <a:r>
              <a:rPr sz="3200" spc="200" dirty="0">
                <a:latin typeface="Arial MT"/>
                <a:cs typeface="Arial MT"/>
              </a:rPr>
              <a:t> </a:t>
            </a:r>
            <a:r>
              <a:rPr sz="3200" dirty="0">
                <a:latin typeface="Arial MT"/>
                <a:cs typeface="Arial MT"/>
              </a:rPr>
              <a:t>is</a:t>
            </a:r>
            <a:r>
              <a:rPr sz="3200" spc="204" dirty="0">
                <a:latin typeface="Arial MT"/>
                <a:cs typeface="Arial MT"/>
              </a:rPr>
              <a:t> </a:t>
            </a:r>
            <a:r>
              <a:rPr sz="3200" dirty="0">
                <a:latin typeface="Arial MT"/>
                <a:cs typeface="Arial MT"/>
              </a:rPr>
              <a:t>enough</a:t>
            </a:r>
            <a:r>
              <a:rPr sz="3200" spc="185" dirty="0">
                <a:latin typeface="Arial MT"/>
                <a:cs typeface="Arial MT"/>
              </a:rPr>
              <a:t> </a:t>
            </a:r>
            <a:r>
              <a:rPr sz="3200" dirty="0">
                <a:latin typeface="Arial MT"/>
                <a:cs typeface="Arial MT"/>
              </a:rPr>
              <a:t>parallelism,</a:t>
            </a:r>
            <a:r>
              <a:rPr sz="3200" spc="180" dirty="0">
                <a:latin typeface="Arial MT"/>
                <a:cs typeface="Arial MT"/>
              </a:rPr>
              <a:t> </a:t>
            </a:r>
            <a:r>
              <a:rPr sz="3200" dirty="0">
                <a:latin typeface="Arial MT"/>
                <a:cs typeface="Arial MT"/>
              </a:rPr>
              <a:t>users</a:t>
            </a:r>
            <a:r>
              <a:rPr sz="3200" spc="190" dirty="0">
                <a:latin typeface="Arial MT"/>
                <a:cs typeface="Arial MT"/>
              </a:rPr>
              <a:t> </a:t>
            </a:r>
            <a:r>
              <a:rPr sz="3200" dirty="0">
                <a:latin typeface="Arial MT"/>
                <a:cs typeface="Arial MT"/>
              </a:rPr>
              <a:t>can</a:t>
            </a:r>
            <a:r>
              <a:rPr sz="3200" spc="195" dirty="0">
                <a:latin typeface="Arial MT"/>
                <a:cs typeface="Arial MT"/>
              </a:rPr>
              <a:t>  </a:t>
            </a:r>
            <a:r>
              <a:rPr sz="3200" spc="-25" dirty="0">
                <a:latin typeface="Arial MT"/>
                <a:cs typeface="Arial MT"/>
              </a:rPr>
              <a:t>use 	</a:t>
            </a:r>
            <a:r>
              <a:rPr sz="3200" dirty="0">
                <a:latin typeface="Arial MT"/>
                <a:cs typeface="Arial MT"/>
              </a:rPr>
              <a:t>hundreds</a:t>
            </a:r>
            <a:r>
              <a:rPr sz="3200" spc="125" dirty="0">
                <a:latin typeface="Arial MT"/>
                <a:cs typeface="Arial MT"/>
              </a:rPr>
              <a:t>  </a:t>
            </a:r>
            <a:r>
              <a:rPr sz="3200" dirty="0">
                <a:latin typeface="Arial MT"/>
                <a:cs typeface="Arial MT"/>
              </a:rPr>
              <a:t>of</a:t>
            </a:r>
            <a:r>
              <a:rPr sz="3200" spc="120" dirty="0">
                <a:latin typeface="Arial MT"/>
                <a:cs typeface="Arial MT"/>
              </a:rPr>
              <a:t>  </a:t>
            </a:r>
            <a:r>
              <a:rPr sz="3200" dirty="0">
                <a:latin typeface="Arial MT"/>
                <a:cs typeface="Arial MT"/>
              </a:rPr>
              <a:t>servers</a:t>
            </a:r>
            <a:r>
              <a:rPr sz="3200" spc="125" dirty="0">
                <a:latin typeface="Arial MT"/>
                <a:cs typeface="Arial MT"/>
              </a:rPr>
              <a:t>  </a:t>
            </a:r>
            <a:r>
              <a:rPr sz="3200" dirty="0">
                <a:latin typeface="Arial MT"/>
                <a:cs typeface="Arial MT"/>
              </a:rPr>
              <a:t>to</a:t>
            </a:r>
            <a:r>
              <a:rPr sz="3200" spc="120" dirty="0">
                <a:latin typeface="Arial MT"/>
                <a:cs typeface="Arial MT"/>
              </a:rPr>
              <a:t>  </a:t>
            </a:r>
            <a:r>
              <a:rPr sz="3200" dirty="0">
                <a:latin typeface="Arial MT"/>
                <a:cs typeface="Arial MT"/>
              </a:rPr>
              <a:t>complete</a:t>
            </a:r>
            <a:r>
              <a:rPr sz="3200" spc="120" dirty="0">
                <a:latin typeface="Arial MT"/>
                <a:cs typeface="Arial MT"/>
              </a:rPr>
              <a:t>  </a:t>
            </a:r>
            <a:r>
              <a:rPr sz="3200" dirty="0">
                <a:latin typeface="Arial MT"/>
                <a:cs typeface="Arial MT"/>
              </a:rPr>
              <a:t>the</a:t>
            </a:r>
            <a:r>
              <a:rPr sz="3200" spc="459" dirty="0">
                <a:latin typeface="Arial MT"/>
                <a:cs typeface="Arial MT"/>
              </a:rPr>
              <a:t>   </a:t>
            </a:r>
            <a:r>
              <a:rPr sz="3200" spc="-25" dirty="0">
                <a:latin typeface="Arial MT"/>
                <a:cs typeface="Arial MT"/>
              </a:rPr>
              <a:t>job 	</a:t>
            </a:r>
            <a:r>
              <a:rPr sz="3200" spc="-10" dirty="0">
                <a:latin typeface="Arial MT"/>
                <a:cs typeface="Arial MT"/>
              </a:rPr>
              <a:t>quickly</a:t>
            </a:r>
            <a:endParaRPr sz="3200">
              <a:latin typeface="Arial MT"/>
              <a:cs typeface="Arial MT"/>
            </a:endParaRPr>
          </a:p>
          <a:p>
            <a:pPr marL="355600" marR="1477010" indent="-343535">
              <a:lnSpc>
                <a:spcPts val="3500"/>
              </a:lnSpc>
              <a:spcBef>
                <a:spcPts val="795"/>
              </a:spcBef>
              <a:buClr>
                <a:srgbClr val="2C7B9F"/>
              </a:buClr>
              <a:buSzPct val="84375"/>
              <a:buChar char="•"/>
              <a:tabLst>
                <a:tab pos="355600" algn="l"/>
              </a:tabLst>
            </a:pPr>
            <a:r>
              <a:rPr sz="3200" spc="-145" dirty="0">
                <a:latin typeface="Arial MT"/>
                <a:cs typeface="Arial MT"/>
              </a:rPr>
              <a:t>Tools</a:t>
            </a:r>
            <a:r>
              <a:rPr sz="3200" spc="-170" dirty="0">
                <a:latin typeface="Arial MT"/>
                <a:cs typeface="Arial MT"/>
              </a:rPr>
              <a:t> </a:t>
            </a:r>
            <a:r>
              <a:rPr sz="3200" dirty="0">
                <a:latin typeface="Arial MT"/>
                <a:cs typeface="Arial MT"/>
              </a:rPr>
              <a:t>such</a:t>
            </a:r>
            <a:r>
              <a:rPr sz="3200" spc="-40" dirty="0">
                <a:latin typeface="Arial MT"/>
                <a:cs typeface="Arial MT"/>
              </a:rPr>
              <a:t> </a:t>
            </a:r>
            <a:r>
              <a:rPr sz="3200" dirty="0">
                <a:latin typeface="Arial MT"/>
                <a:cs typeface="Arial MT"/>
              </a:rPr>
              <a:t>as</a:t>
            </a:r>
            <a:r>
              <a:rPr sz="3200" spc="-5" dirty="0">
                <a:latin typeface="Arial MT"/>
                <a:cs typeface="Arial MT"/>
              </a:rPr>
              <a:t> </a:t>
            </a:r>
            <a:r>
              <a:rPr sz="3200" dirty="0">
                <a:latin typeface="Arial MT"/>
                <a:cs typeface="Arial MT"/>
              </a:rPr>
              <a:t>Hadoop</a:t>
            </a:r>
            <a:r>
              <a:rPr sz="3200" spc="-70" dirty="0">
                <a:latin typeface="Arial MT"/>
                <a:cs typeface="Arial MT"/>
              </a:rPr>
              <a:t> </a:t>
            </a:r>
            <a:r>
              <a:rPr sz="3200" dirty="0">
                <a:latin typeface="Arial MT"/>
                <a:cs typeface="Arial MT"/>
              </a:rPr>
              <a:t>can</a:t>
            </a:r>
            <a:r>
              <a:rPr sz="3200" spc="-25" dirty="0">
                <a:latin typeface="Arial MT"/>
                <a:cs typeface="Arial MT"/>
              </a:rPr>
              <a:t> </a:t>
            </a:r>
            <a:r>
              <a:rPr sz="3200" dirty="0">
                <a:latin typeface="Arial MT"/>
                <a:cs typeface="Arial MT"/>
              </a:rPr>
              <a:t>be</a:t>
            </a:r>
            <a:r>
              <a:rPr sz="3200" spc="-40" dirty="0">
                <a:latin typeface="Arial MT"/>
                <a:cs typeface="Arial MT"/>
              </a:rPr>
              <a:t> </a:t>
            </a:r>
            <a:r>
              <a:rPr sz="3200" dirty="0">
                <a:latin typeface="Arial MT"/>
                <a:cs typeface="Arial MT"/>
              </a:rPr>
              <a:t>used</a:t>
            </a:r>
            <a:r>
              <a:rPr sz="3200" spc="-30" dirty="0">
                <a:latin typeface="Arial MT"/>
                <a:cs typeface="Arial MT"/>
              </a:rPr>
              <a:t> </a:t>
            </a:r>
            <a:r>
              <a:rPr sz="3200" spc="-25" dirty="0">
                <a:latin typeface="Arial MT"/>
                <a:cs typeface="Arial MT"/>
              </a:rPr>
              <a:t>to </a:t>
            </a:r>
            <a:r>
              <a:rPr sz="3200" dirty="0">
                <a:latin typeface="Arial MT"/>
                <a:cs typeface="Arial MT"/>
              </a:rPr>
              <a:t>reduce</a:t>
            </a:r>
            <a:r>
              <a:rPr sz="3200" spc="-65" dirty="0">
                <a:latin typeface="Arial MT"/>
                <a:cs typeface="Arial MT"/>
              </a:rPr>
              <a:t> </a:t>
            </a:r>
            <a:r>
              <a:rPr sz="3200" dirty="0">
                <a:latin typeface="Arial MT"/>
                <a:cs typeface="Arial MT"/>
              </a:rPr>
              <a:t>the</a:t>
            </a:r>
            <a:r>
              <a:rPr sz="3200" spc="-35" dirty="0">
                <a:latin typeface="Arial MT"/>
                <a:cs typeface="Arial MT"/>
              </a:rPr>
              <a:t> </a:t>
            </a:r>
            <a:r>
              <a:rPr sz="3200" dirty="0">
                <a:latin typeface="Arial MT"/>
                <a:cs typeface="Arial MT"/>
              </a:rPr>
              <a:t>complexity</a:t>
            </a:r>
            <a:r>
              <a:rPr sz="3200" spc="-35" dirty="0">
                <a:latin typeface="Arial MT"/>
                <a:cs typeface="Arial MT"/>
              </a:rPr>
              <a:t> </a:t>
            </a:r>
            <a:r>
              <a:rPr sz="3200" dirty="0">
                <a:latin typeface="Arial MT"/>
                <a:cs typeface="Arial MT"/>
              </a:rPr>
              <a:t>of</a:t>
            </a:r>
            <a:r>
              <a:rPr sz="3200" spc="-190" dirty="0">
                <a:latin typeface="Arial MT"/>
                <a:cs typeface="Arial MT"/>
              </a:rPr>
              <a:t> </a:t>
            </a:r>
            <a:r>
              <a:rPr sz="3200" spc="-10" dirty="0">
                <a:latin typeface="Arial MT"/>
                <a:cs typeface="Arial MT"/>
              </a:rPr>
              <a:t>implementing </a:t>
            </a:r>
            <a:r>
              <a:rPr sz="3200" dirty="0">
                <a:latin typeface="Arial MT"/>
                <a:cs typeface="Arial MT"/>
              </a:rPr>
              <a:t>these</a:t>
            </a:r>
            <a:r>
              <a:rPr sz="3200" spc="-100" dirty="0">
                <a:latin typeface="Arial MT"/>
                <a:cs typeface="Arial MT"/>
              </a:rPr>
              <a:t> </a:t>
            </a:r>
            <a:r>
              <a:rPr sz="3200" spc="-20" dirty="0">
                <a:latin typeface="Arial MT"/>
                <a:cs typeface="Arial MT"/>
              </a:rPr>
              <a:t>jobs</a:t>
            </a:r>
            <a:endParaRPr sz="32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14" dirty="0"/>
              <a:t>Parallel</a:t>
            </a:r>
            <a:r>
              <a:rPr spc="-215" dirty="0"/>
              <a:t> </a:t>
            </a:r>
            <a:r>
              <a:rPr spc="-110" dirty="0"/>
              <a:t>batch</a:t>
            </a:r>
            <a:r>
              <a:rPr spc="-150" dirty="0"/>
              <a:t> </a:t>
            </a:r>
            <a:r>
              <a:rPr spc="-85" dirty="0"/>
              <a:t>processing</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6231" y="1512570"/>
            <a:ext cx="8742680" cy="3792854"/>
          </a:xfrm>
          <a:prstGeom prst="rect">
            <a:avLst/>
          </a:prstGeom>
        </p:spPr>
        <p:txBody>
          <a:bodyPr vert="horz" wrap="square" lIns="0" tIns="61594" rIns="0" bIns="0" rtlCol="0">
            <a:spAutoFit/>
          </a:bodyPr>
          <a:lstStyle/>
          <a:p>
            <a:pPr marL="355600" marR="475615" indent="-343535">
              <a:lnSpc>
                <a:spcPct val="90000"/>
              </a:lnSpc>
              <a:spcBef>
                <a:spcPts val="484"/>
              </a:spcBef>
              <a:buClr>
                <a:srgbClr val="2C7B9F"/>
              </a:buClr>
              <a:buSzPct val="84375"/>
              <a:buFont typeface="Arial MT"/>
              <a:buChar char="•"/>
              <a:tabLst>
                <a:tab pos="355600" algn="l"/>
                <a:tab pos="4690745" algn="l"/>
              </a:tabLst>
            </a:pPr>
            <a:r>
              <a:rPr sz="3200" dirty="0">
                <a:latin typeface="Arial MT"/>
                <a:cs typeface="Arial MT"/>
              </a:rPr>
              <a:t>The</a:t>
            </a:r>
            <a:r>
              <a:rPr sz="3200" spc="-70" dirty="0">
                <a:latin typeface="Arial MT"/>
                <a:cs typeface="Arial MT"/>
              </a:rPr>
              <a:t> </a:t>
            </a:r>
            <a:r>
              <a:rPr sz="3200" dirty="0">
                <a:latin typeface="Arial MT"/>
                <a:cs typeface="Arial MT"/>
              </a:rPr>
              <a:t>latest</a:t>
            </a:r>
            <a:r>
              <a:rPr sz="3200" spc="-75" dirty="0">
                <a:latin typeface="Arial MT"/>
                <a:cs typeface="Arial MT"/>
              </a:rPr>
              <a:t> </a:t>
            </a:r>
            <a:r>
              <a:rPr sz="3200" dirty="0">
                <a:latin typeface="Arial MT"/>
                <a:cs typeface="Arial MT"/>
              </a:rPr>
              <a:t>versions</a:t>
            </a:r>
            <a:r>
              <a:rPr sz="3200" spc="-85" dirty="0">
                <a:latin typeface="Arial MT"/>
                <a:cs typeface="Arial MT"/>
              </a:rPr>
              <a:t> </a:t>
            </a:r>
            <a:r>
              <a:rPr sz="3200" dirty="0">
                <a:latin typeface="Arial MT"/>
                <a:cs typeface="Arial MT"/>
              </a:rPr>
              <a:t>of</a:t>
            </a:r>
            <a:r>
              <a:rPr sz="3200" spc="-45" dirty="0">
                <a:latin typeface="Arial MT"/>
                <a:cs typeface="Arial MT"/>
              </a:rPr>
              <a:t> </a:t>
            </a:r>
            <a:r>
              <a:rPr sz="3200" dirty="0">
                <a:latin typeface="Arial MT"/>
                <a:cs typeface="Arial MT"/>
              </a:rPr>
              <a:t>mathematics</a:t>
            </a:r>
            <a:r>
              <a:rPr sz="3200" spc="-85" dirty="0">
                <a:latin typeface="Arial MT"/>
                <a:cs typeface="Arial MT"/>
              </a:rPr>
              <a:t> </a:t>
            </a:r>
            <a:r>
              <a:rPr sz="3200" spc="-10" dirty="0">
                <a:latin typeface="Arial MT"/>
                <a:cs typeface="Arial MT"/>
              </a:rPr>
              <a:t>software </a:t>
            </a:r>
            <a:r>
              <a:rPr sz="3200" dirty="0">
                <a:latin typeface="Arial MT"/>
                <a:cs typeface="Arial MT"/>
              </a:rPr>
              <a:t>package</a:t>
            </a:r>
            <a:r>
              <a:rPr sz="3200" spc="-120" dirty="0">
                <a:latin typeface="Arial MT"/>
                <a:cs typeface="Arial MT"/>
              </a:rPr>
              <a:t> </a:t>
            </a:r>
            <a:r>
              <a:rPr sz="3200" dirty="0">
                <a:latin typeface="Arial MT"/>
                <a:cs typeface="Arial MT"/>
              </a:rPr>
              <a:t>Matlab</a:t>
            </a:r>
            <a:r>
              <a:rPr sz="3200" spc="-105" dirty="0">
                <a:latin typeface="Arial MT"/>
                <a:cs typeface="Arial MT"/>
              </a:rPr>
              <a:t> </a:t>
            </a:r>
            <a:r>
              <a:rPr sz="3200" dirty="0">
                <a:latin typeface="Arial MT"/>
                <a:cs typeface="Arial MT"/>
              </a:rPr>
              <a:t>and</a:t>
            </a:r>
            <a:r>
              <a:rPr sz="3200" spc="-85" dirty="0">
                <a:latin typeface="Arial MT"/>
                <a:cs typeface="Arial MT"/>
              </a:rPr>
              <a:t> </a:t>
            </a:r>
            <a:r>
              <a:rPr sz="3200" dirty="0">
                <a:latin typeface="Arial MT"/>
                <a:cs typeface="Arial MT"/>
              </a:rPr>
              <a:t>Mathematica</a:t>
            </a:r>
            <a:r>
              <a:rPr sz="3200" spc="-110" dirty="0">
                <a:latin typeface="Arial MT"/>
                <a:cs typeface="Arial MT"/>
              </a:rPr>
              <a:t> </a:t>
            </a:r>
            <a:r>
              <a:rPr sz="3200" spc="-25" dirty="0">
                <a:latin typeface="Arial MT"/>
                <a:cs typeface="Arial MT"/>
              </a:rPr>
              <a:t>are </a:t>
            </a:r>
            <a:r>
              <a:rPr sz="3200" dirty="0">
                <a:latin typeface="Arial MT"/>
                <a:cs typeface="Arial MT"/>
              </a:rPr>
              <a:t>capable</a:t>
            </a:r>
            <a:r>
              <a:rPr sz="3200" spc="-65" dirty="0">
                <a:latin typeface="Arial MT"/>
                <a:cs typeface="Arial MT"/>
              </a:rPr>
              <a:t> </a:t>
            </a:r>
            <a:r>
              <a:rPr sz="3200" dirty="0">
                <a:latin typeface="Arial MT"/>
                <a:cs typeface="Arial MT"/>
              </a:rPr>
              <a:t>of</a:t>
            </a:r>
            <a:r>
              <a:rPr sz="3200" spc="-40" dirty="0">
                <a:latin typeface="Arial MT"/>
                <a:cs typeface="Arial MT"/>
              </a:rPr>
              <a:t> </a:t>
            </a:r>
            <a:r>
              <a:rPr sz="3200" dirty="0">
                <a:latin typeface="Arial MT"/>
                <a:cs typeface="Arial MT"/>
              </a:rPr>
              <a:t>using</a:t>
            </a:r>
            <a:r>
              <a:rPr sz="3200" spc="-160" dirty="0">
                <a:latin typeface="Arial MT"/>
                <a:cs typeface="Arial MT"/>
              </a:rPr>
              <a:t> </a:t>
            </a:r>
            <a:r>
              <a:rPr sz="3200" spc="-10" dirty="0">
                <a:latin typeface="Arial MT"/>
                <a:cs typeface="Arial MT"/>
              </a:rPr>
              <a:t>Cloud</a:t>
            </a:r>
            <a:r>
              <a:rPr sz="3200" dirty="0">
                <a:latin typeface="Arial MT"/>
                <a:cs typeface="Arial MT"/>
              </a:rPr>
              <a:t>	Computing</a:t>
            </a:r>
            <a:r>
              <a:rPr sz="3200" spc="-145" dirty="0">
                <a:latin typeface="Arial MT"/>
                <a:cs typeface="Arial MT"/>
              </a:rPr>
              <a:t> </a:t>
            </a:r>
            <a:r>
              <a:rPr sz="3200" spc="-25" dirty="0">
                <a:latin typeface="Arial MT"/>
                <a:cs typeface="Arial MT"/>
              </a:rPr>
              <a:t>to </a:t>
            </a:r>
            <a:r>
              <a:rPr sz="3200" dirty="0">
                <a:latin typeface="Arial MT"/>
                <a:cs typeface="Arial MT"/>
              </a:rPr>
              <a:t>perform</a:t>
            </a:r>
            <a:r>
              <a:rPr sz="3200" spc="-75" dirty="0">
                <a:latin typeface="Arial MT"/>
                <a:cs typeface="Arial MT"/>
              </a:rPr>
              <a:t> </a:t>
            </a:r>
            <a:r>
              <a:rPr sz="3200" dirty="0">
                <a:latin typeface="Arial MT"/>
                <a:cs typeface="Arial MT"/>
              </a:rPr>
              <a:t>expensive</a:t>
            </a:r>
            <a:r>
              <a:rPr sz="3200" spc="-60" dirty="0">
                <a:latin typeface="Arial MT"/>
                <a:cs typeface="Arial MT"/>
              </a:rPr>
              <a:t> </a:t>
            </a:r>
            <a:r>
              <a:rPr sz="3200" spc="-10" dirty="0">
                <a:latin typeface="Arial MT"/>
                <a:cs typeface="Arial MT"/>
              </a:rPr>
              <a:t>evaluations</a:t>
            </a:r>
            <a:endParaRPr sz="3200">
              <a:latin typeface="Arial MT"/>
              <a:cs typeface="Arial MT"/>
            </a:endParaRPr>
          </a:p>
          <a:p>
            <a:pPr marL="354330" marR="5080" indent="-342265" algn="just">
              <a:lnSpc>
                <a:spcPct val="91100"/>
              </a:lnSpc>
              <a:spcBef>
                <a:spcPts val="810"/>
              </a:spcBef>
              <a:buClr>
                <a:srgbClr val="2C7B9F"/>
              </a:buClr>
              <a:buSzPct val="84375"/>
              <a:buChar char="•"/>
              <a:tabLst>
                <a:tab pos="355600" algn="l"/>
              </a:tabLst>
            </a:pPr>
            <a:r>
              <a:rPr sz="3200" dirty="0">
                <a:latin typeface="Arial MT"/>
                <a:cs typeface="Arial MT"/>
              </a:rPr>
              <a:t>Other</a:t>
            </a:r>
            <a:r>
              <a:rPr sz="3200" spc="330" dirty="0">
                <a:latin typeface="Arial MT"/>
                <a:cs typeface="Arial MT"/>
              </a:rPr>
              <a:t>  </a:t>
            </a:r>
            <a:r>
              <a:rPr sz="3200" dirty="0">
                <a:latin typeface="Arial MT"/>
                <a:cs typeface="Arial MT"/>
              </a:rPr>
              <a:t>applications</a:t>
            </a:r>
            <a:r>
              <a:rPr sz="3200" spc="340" dirty="0">
                <a:latin typeface="Arial MT"/>
                <a:cs typeface="Arial MT"/>
              </a:rPr>
              <a:t>  </a:t>
            </a:r>
            <a:r>
              <a:rPr sz="3200" dirty="0">
                <a:latin typeface="Arial MT"/>
                <a:cs typeface="Arial MT"/>
              </a:rPr>
              <a:t>could</a:t>
            </a:r>
            <a:r>
              <a:rPr sz="3200" spc="330" dirty="0">
                <a:latin typeface="Arial MT"/>
                <a:cs typeface="Arial MT"/>
              </a:rPr>
              <a:t>  </a:t>
            </a:r>
            <a:r>
              <a:rPr sz="3200" dirty="0">
                <a:latin typeface="Arial MT"/>
                <a:cs typeface="Arial MT"/>
              </a:rPr>
              <a:t>benefit</a:t>
            </a:r>
            <a:r>
              <a:rPr sz="3200" spc="340" dirty="0">
                <a:latin typeface="Arial MT"/>
                <a:cs typeface="Arial MT"/>
              </a:rPr>
              <a:t>  </a:t>
            </a:r>
            <a:r>
              <a:rPr sz="3200" dirty="0">
                <a:latin typeface="Arial MT"/>
                <a:cs typeface="Arial MT"/>
              </a:rPr>
              <a:t>from</a:t>
            </a:r>
            <a:r>
              <a:rPr sz="3200" spc="325" dirty="0">
                <a:latin typeface="Arial MT"/>
                <a:cs typeface="Arial MT"/>
              </a:rPr>
              <a:t>  </a:t>
            </a:r>
            <a:r>
              <a:rPr sz="3200" spc="-20" dirty="0">
                <a:latin typeface="Arial MT"/>
                <a:cs typeface="Arial MT"/>
              </a:rPr>
              <a:t>this 	</a:t>
            </a:r>
            <a:r>
              <a:rPr sz="3200" dirty="0">
                <a:latin typeface="Arial MT"/>
                <a:cs typeface="Arial MT"/>
              </a:rPr>
              <a:t>provided</a:t>
            </a:r>
            <a:r>
              <a:rPr sz="3200" spc="15" dirty="0">
                <a:latin typeface="Arial MT"/>
                <a:cs typeface="Arial MT"/>
              </a:rPr>
              <a:t>  </a:t>
            </a:r>
            <a:r>
              <a:rPr sz="3200" dirty="0">
                <a:latin typeface="Arial MT"/>
                <a:cs typeface="Arial MT"/>
              </a:rPr>
              <a:t>it</a:t>
            </a:r>
            <a:r>
              <a:rPr sz="3200" spc="20" dirty="0">
                <a:latin typeface="Arial MT"/>
                <a:cs typeface="Arial MT"/>
              </a:rPr>
              <a:t>  </a:t>
            </a:r>
            <a:r>
              <a:rPr sz="3200" dirty="0">
                <a:latin typeface="Arial MT"/>
                <a:cs typeface="Arial MT"/>
              </a:rPr>
              <a:t>is</a:t>
            </a:r>
            <a:r>
              <a:rPr sz="3200" spc="20" dirty="0">
                <a:latin typeface="Arial MT"/>
                <a:cs typeface="Arial MT"/>
              </a:rPr>
              <a:t>  </a:t>
            </a:r>
            <a:r>
              <a:rPr sz="3200" dirty="0">
                <a:latin typeface="Arial MT"/>
                <a:cs typeface="Arial MT"/>
              </a:rPr>
              <a:t>quicker</a:t>
            </a:r>
            <a:r>
              <a:rPr sz="3200" spc="20" dirty="0">
                <a:latin typeface="Arial MT"/>
                <a:cs typeface="Arial MT"/>
              </a:rPr>
              <a:t>  </a:t>
            </a:r>
            <a:r>
              <a:rPr sz="3200" dirty="0">
                <a:latin typeface="Arial MT"/>
                <a:cs typeface="Arial MT"/>
              </a:rPr>
              <a:t>to</a:t>
            </a:r>
            <a:r>
              <a:rPr sz="3200" spc="20" dirty="0">
                <a:latin typeface="Arial MT"/>
                <a:cs typeface="Arial MT"/>
              </a:rPr>
              <a:t>  </a:t>
            </a:r>
            <a:r>
              <a:rPr sz="3200" dirty="0">
                <a:latin typeface="Arial MT"/>
                <a:cs typeface="Arial MT"/>
              </a:rPr>
              <a:t>move</a:t>
            </a:r>
            <a:r>
              <a:rPr sz="3200" spc="10" dirty="0">
                <a:latin typeface="Arial MT"/>
                <a:cs typeface="Arial MT"/>
              </a:rPr>
              <a:t>  </a:t>
            </a:r>
            <a:r>
              <a:rPr sz="3200" dirty="0">
                <a:latin typeface="Arial MT"/>
                <a:cs typeface="Arial MT"/>
              </a:rPr>
              <a:t>data</a:t>
            </a:r>
            <a:r>
              <a:rPr sz="3200" spc="15" dirty="0">
                <a:latin typeface="Arial MT"/>
                <a:cs typeface="Arial MT"/>
              </a:rPr>
              <a:t>  </a:t>
            </a:r>
            <a:r>
              <a:rPr sz="3200" dirty="0">
                <a:latin typeface="Arial MT"/>
                <a:cs typeface="Arial MT"/>
              </a:rPr>
              <a:t>to</a:t>
            </a:r>
            <a:r>
              <a:rPr sz="3200" spc="25" dirty="0">
                <a:latin typeface="Arial MT"/>
                <a:cs typeface="Arial MT"/>
              </a:rPr>
              <a:t>  </a:t>
            </a:r>
            <a:r>
              <a:rPr sz="3200" spc="-25" dirty="0">
                <a:latin typeface="Arial MT"/>
                <a:cs typeface="Arial MT"/>
              </a:rPr>
              <a:t>and 	</a:t>
            </a:r>
            <a:r>
              <a:rPr sz="3200" dirty="0">
                <a:latin typeface="Arial MT"/>
                <a:cs typeface="Arial MT"/>
              </a:rPr>
              <a:t>from</a:t>
            </a:r>
            <a:r>
              <a:rPr sz="3200" spc="-40" dirty="0">
                <a:latin typeface="Arial MT"/>
                <a:cs typeface="Arial MT"/>
              </a:rPr>
              <a:t> </a:t>
            </a:r>
            <a:r>
              <a:rPr sz="3200" dirty="0">
                <a:latin typeface="Arial MT"/>
                <a:cs typeface="Arial MT"/>
              </a:rPr>
              <a:t>the</a:t>
            </a:r>
            <a:r>
              <a:rPr sz="3200" spc="-75" dirty="0">
                <a:latin typeface="Arial MT"/>
                <a:cs typeface="Arial MT"/>
              </a:rPr>
              <a:t> </a:t>
            </a:r>
            <a:r>
              <a:rPr sz="3200" spc="-10" dirty="0">
                <a:latin typeface="Arial MT"/>
                <a:cs typeface="Arial MT"/>
              </a:rPr>
              <a:t>cloud</a:t>
            </a:r>
            <a:endParaRPr sz="3200">
              <a:latin typeface="Arial MT"/>
              <a:cs typeface="Arial MT"/>
            </a:endParaRPr>
          </a:p>
          <a:p>
            <a:pPr marL="354965" indent="-342265" algn="just">
              <a:lnSpc>
                <a:spcPct val="100000"/>
              </a:lnSpc>
              <a:spcBef>
                <a:spcPts val="300"/>
              </a:spcBef>
              <a:buClr>
                <a:srgbClr val="2C7B9F"/>
              </a:buClr>
              <a:buSzPct val="84375"/>
              <a:buChar char="•"/>
              <a:tabLst>
                <a:tab pos="354965" algn="l"/>
              </a:tabLst>
            </a:pPr>
            <a:r>
              <a:rPr sz="3200" dirty="0">
                <a:latin typeface="Arial MT"/>
                <a:cs typeface="Arial MT"/>
              </a:rPr>
              <a:t>3DS</a:t>
            </a:r>
            <a:r>
              <a:rPr sz="3200" spc="-40" dirty="0">
                <a:latin typeface="Arial MT"/>
                <a:cs typeface="Arial MT"/>
              </a:rPr>
              <a:t> </a:t>
            </a:r>
            <a:r>
              <a:rPr sz="3200" dirty="0">
                <a:latin typeface="Arial MT"/>
                <a:cs typeface="Arial MT"/>
              </a:rPr>
              <a:t>Max</a:t>
            </a:r>
            <a:r>
              <a:rPr sz="3200" spc="-45" dirty="0">
                <a:latin typeface="Arial MT"/>
                <a:cs typeface="Arial MT"/>
              </a:rPr>
              <a:t> </a:t>
            </a:r>
            <a:r>
              <a:rPr sz="3200" dirty="0">
                <a:latin typeface="Arial MT"/>
                <a:cs typeface="Arial MT"/>
              </a:rPr>
              <a:t>supports</a:t>
            </a:r>
            <a:r>
              <a:rPr sz="3200" spc="-45" dirty="0">
                <a:latin typeface="Arial MT"/>
                <a:cs typeface="Arial MT"/>
              </a:rPr>
              <a:t> </a:t>
            </a:r>
            <a:r>
              <a:rPr sz="3200" dirty="0">
                <a:latin typeface="Arial MT"/>
                <a:cs typeface="Arial MT"/>
              </a:rPr>
              <a:t>rendering</a:t>
            </a:r>
            <a:r>
              <a:rPr sz="3200" spc="-95" dirty="0">
                <a:latin typeface="Arial MT"/>
                <a:cs typeface="Arial MT"/>
              </a:rPr>
              <a:t> </a:t>
            </a:r>
            <a:r>
              <a:rPr sz="3200" dirty="0">
                <a:latin typeface="Arial MT"/>
                <a:cs typeface="Arial MT"/>
              </a:rPr>
              <a:t>in</a:t>
            </a:r>
            <a:r>
              <a:rPr sz="3200" spc="-20" dirty="0">
                <a:latin typeface="Arial MT"/>
                <a:cs typeface="Arial MT"/>
              </a:rPr>
              <a:t> </a:t>
            </a:r>
            <a:r>
              <a:rPr sz="3200" dirty="0">
                <a:latin typeface="Arial MT"/>
                <a:cs typeface="Arial MT"/>
              </a:rPr>
              <a:t>the</a:t>
            </a:r>
            <a:r>
              <a:rPr sz="3200" spc="-145" dirty="0">
                <a:latin typeface="Arial MT"/>
                <a:cs typeface="Arial MT"/>
              </a:rPr>
              <a:t> </a:t>
            </a:r>
            <a:r>
              <a:rPr sz="3200" spc="-10" dirty="0">
                <a:latin typeface="Arial MT"/>
                <a:cs typeface="Arial MT"/>
              </a:rPr>
              <a:t>cloud</a:t>
            </a:r>
            <a:endParaRPr sz="3200">
              <a:latin typeface="Arial MT"/>
              <a:cs typeface="Arial MT"/>
            </a:endParaRPr>
          </a:p>
        </p:txBody>
      </p:sp>
      <p:sp>
        <p:nvSpPr>
          <p:cNvPr id="3" name="object 3"/>
          <p:cNvSpPr txBox="1">
            <a:spLocks noGrp="1"/>
          </p:cNvSpPr>
          <p:nvPr>
            <p:ph type="title"/>
          </p:nvPr>
        </p:nvSpPr>
        <p:spPr>
          <a:xfrm>
            <a:off x="574040" y="438658"/>
            <a:ext cx="7542530" cy="1122680"/>
          </a:xfrm>
          <a:prstGeom prst="rect">
            <a:avLst/>
          </a:prstGeom>
        </p:spPr>
        <p:txBody>
          <a:bodyPr vert="horz" wrap="square" lIns="0" tIns="12700" rIns="0" bIns="0" rtlCol="0">
            <a:spAutoFit/>
          </a:bodyPr>
          <a:lstStyle/>
          <a:p>
            <a:pPr marL="12700" marR="5080">
              <a:lnSpc>
                <a:spcPct val="100000"/>
              </a:lnSpc>
              <a:spcBef>
                <a:spcPts val="100"/>
              </a:spcBef>
              <a:tabLst>
                <a:tab pos="6047740" algn="l"/>
              </a:tabLst>
            </a:pPr>
            <a:r>
              <a:rPr sz="3600" dirty="0"/>
              <a:t>Extension</a:t>
            </a:r>
            <a:r>
              <a:rPr sz="3600" spc="-95" dirty="0"/>
              <a:t> </a:t>
            </a:r>
            <a:r>
              <a:rPr sz="3600" dirty="0"/>
              <a:t>of</a:t>
            </a:r>
            <a:r>
              <a:rPr sz="3600" spc="-70" dirty="0"/>
              <a:t> </a:t>
            </a:r>
            <a:r>
              <a:rPr sz="3600" spc="-20" dirty="0"/>
              <a:t>compute-</a:t>
            </a:r>
            <a:r>
              <a:rPr sz="3600" spc="-10" dirty="0"/>
              <a:t>intensive</a:t>
            </a:r>
            <a:r>
              <a:rPr sz="3600" dirty="0"/>
              <a:t>	</a:t>
            </a:r>
            <a:r>
              <a:rPr sz="3600" spc="-20" dirty="0"/>
              <a:t>desktop </a:t>
            </a:r>
            <a:r>
              <a:rPr sz="3600" spc="-10" dirty="0"/>
              <a:t>applications</a:t>
            </a:r>
            <a:endParaRPr sz="360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530"/>
              </a:lnSpc>
            </a:pPr>
            <a:r>
              <a:rPr spc="-25" dirty="0">
                <a:solidFill>
                  <a:srgbClr val="234957"/>
                </a:solidFill>
              </a:rP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1852</TotalTime>
  <Words>4337</Words>
  <Application>Microsoft Office PowerPoint</Application>
  <PresentationFormat>A4 Paper (210x297 mm)</PresentationFormat>
  <Paragraphs>529</Paragraphs>
  <Slides>60</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MS PGothic</vt:lpstr>
      <vt:lpstr>Aptos</vt:lpstr>
      <vt:lpstr>Arial</vt:lpstr>
      <vt:lpstr>Arial MT</vt:lpstr>
      <vt:lpstr>Calibri</vt:lpstr>
      <vt:lpstr>Calibri Light</vt:lpstr>
      <vt:lpstr>Times New Roman</vt:lpstr>
      <vt:lpstr>Trebuchet MS</vt:lpstr>
      <vt:lpstr>Wingdings</vt:lpstr>
      <vt:lpstr>Office Theme</vt:lpstr>
      <vt:lpstr>Cloud computing</vt:lpstr>
      <vt:lpstr>Contents</vt:lpstr>
      <vt:lpstr>Virtualisation</vt:lpstr>
      <vt:lpstr>Origins of virtualisation</vt:lpstr>
      <vt:lpstr>Origins of virtualisation</vt:lpstr>
      <vt:lpstr>Virtualisation advantages</vt:lpstr>
      <vt:lpstr>Virtual Machine images</vt:lpstr>
      <vt:lpstr>VMM Architecture</vt:lpstr>
      <vt:lpstr>Virtualisation Performance</vt:lpstr>
      <vt:lpstr>Virtual Containers</vt:lpstr>
      <vt:lpstr>Traditional virtualisation vs Virtual Containers</vt:lpstr>
      <vt:lpstr>Virtual Containers vs virtual machines</vt:lpstr>
      <vt:lpstr>Contents</vt:lpstr>
      <vt:lpstr>What’s a Datacentre?</vt:lpstr>
      <vt:lpstr>Barcelona Supercomputing Center</vt:lpstr>
      <vt:lpstr>Datacentres</vt:lpstr>
      <vt:lpstr>Datacentres</vt:lpstr>
      <vt:lpstr>Datacentres</vt:lpstr>
      <vt:lpstr>Datacenter architecture: is it something new?</vt:lpstr>
      <vt:lpstr>What if a Datacenter is not enough?</vt:lpstr>
      <vt:lpstr>Datacenters are geographically distributed</vt:lpstr>
      <vt:lpstr>Datacenter architecture</vt:lpstr>
      <vt:lpstr>Datacenter architecture</vt:lpstr>
      <vt:lpstr>Datacenter architecture</vt:lpstr>
      <vt:lpstr>Datacenter architecture</vt:lpstr>
      <vt:lpstr>Datacenter architecture</vt:lpstr>
      <vt:lpstr>Datacenter architecture</vt:lpstr>
      <vt:lpstr>Datacenter architecture</vt:lpstr>
      <vt:lpstr>Datacentre Physical Architecture</vt:lpstr>
      <vt:lpstr>Datacentre shared resources</vt:lpstr>
      <vt:lpstr>Datacentre Design Requirements</vt:lpstr>
      <vt:lpstr>Datacentre Costs</vt:lpstr>
      <vt:lpstr>Contents</vt:lpstr>
      <vt:lpstr>Scalability</vt:lpstr>
      <vt:lpstr>Utility Computing</vt:lpstr>
      <vt:lpstr>Cloud Computing</vt:lpstr>
      <vt:lpstr>Essential Cloud Characteristics</vt:lpstr>
      <vt:lpstr>Cloud driver: cost saving, capacity planning</vt:lpstr>
      <vt:lpstr>Cloud driver: agility</vt:lpstr>
      <vt:lpstr>Elasticity: Shifting the Risk</vt:lpstr>
      <vt:lpstr>Elasticity: Shifting the Risk</vt:lpstr>
      <vt:lpstr>Elasticity: Shifting the Risk</vt:lpstr>
      <vt:lpstr>Elasticity: Shifting the Risk</vt:lpstr>
      <vt:lpstr>Elasticity: Shifting the Risk</vt:lpstr>
      <vt:lpstr>Elasticity: Shifting the Risk</vt:lpstr>
      <vt:lpstr>Elasticity: Shifting the Risk</vt:lpstr>
      <vt:lpstr>Elasticity: Shifting the Risk</vt:lpstr>
      <vt:lpstr>Transference of Risk</vt:lpstr>
      <vt:lpstr>Transference of Risk</vt:lpstr>
      <vt:lpstr>The cloud is a money maker</vt:lpstr>
      <vt:lpstr>Cloud Service Models (NIST)</vt:lpstr>
      <vt:lpstr>IaaS vs PaaS</vt:lpstr>
      <vt:lpstr>Cloud Deployment Models (NIST)</vt:lpstr>
      <vt:lpstr>Contents</vt:lpstr>
      <vt:lpstr>What is NOW Cloud Computing?</vt:lpstr>
      <vt:lpstr>Cloud-based applications</vt:lpstr>
      <vt:lpstr>“Cloud applications” components</vt:lpstr>
      <vt:lpstr>Mobile Interactive Applications</vt:lpstr>
      <vt:lpstr>Parallel batch processing</vt:lpstr>
      <vt:lpstr>Extension of compute-intensive desktop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TecnologiasSoftware-1-Proceso</dc:title>
  <dc:creator>Felix Cuadrado Latasa</dc:creator>
  <cp:lastModifiedBy>bilal yasin</cp:lastModifiedBy>
  <cp:revision>6</cp:revision>
  <dcterms:created xsi:type="dcterms:W3CDTF">2025-01-19T12:41:39Z</dcterms:created>
  <dcterms:modified xsi:type="dcterms:W3CDTF">2026-09-22T05:03:13Z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2024-09-24T00:00:00Z</vt:filetime>
  </property>
  <property fmtid="{D5CDD505-2E9C-101B-9397-08002B2CF9AE}" pid="3" name="Creator">
    <vt:lpwstr>Microsoft® PowerPoint® for Microsoft 365</vt:lpwstr>
  </property>
  <property fmtid="{D5CDD505-2E9C-101B-9397-08002B2CF9AE}" pid="4" name="LastSaved">
    <vt:filetime>2025-01-19T00:00:00Z</vt:filetime>
  </property>
  <property fmtid="{D5CDD505-2E9C-101B-9397-08002B2CF9AE}" pid="5" name="Producer">
    <vt:lpwstr>Microsoft® PowerPoint® for Microsoft 365</vt:lpwstr>
  </property>
</Properties>
</file>